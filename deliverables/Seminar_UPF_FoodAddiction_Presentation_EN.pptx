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5.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6.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1bbb6de-26c1-11b7-d2b1-bc5ded87d6f2}">
          <p14:sldIdLst>
            <p14:sldId id="256"/>
            <p14:sldId id="257"/>
            <p14:sldId id="258"/>
            <p14:sldId id="259"/>
            <p14:sldId id="260"/>
            <p14:sldId id="261"/>
          </p14:sldIdLst>
        </p14:section>
        <p14:section name="1 Ultra-processed foods" id="{feacd622-a5fb-692f-64cb-c7bdd42478c3}">
          <p14:sldIdLst>
            <p14:sldId id="262"/>
            <p14:sldId id="263"/>
            <p14:sldId id="264"/>
            <p14:sldId id="265"/>
            <p14:sldId id="266"/>
          </p14:sldIdLst>
        </p14:section>
        <p14:section name="2 Food addiction" id="{7fdb5906-31b8-a0e7-53c2-066297b3e4a4}">
          <p14:sldIdLst>
            <p14:sldId id="267"/>
            <p14:sldId id="268"/>
            <p14:sldId id="269"/>
            <p14:sldId id="270"/>
            <p14:sldId id="271"/>
            <p14:sldId id="272"/>
            <p14:sldId id="273"/>
          </p14:sldIdLst>
        </p14:section>
        <p14:section name="3 Mechanisms" id="{98494750-2d29-e393-f901-806a38ea0138}">
          <p14:sldIdLst>
            <p14:sldId id="274"/>
            <p14:sldId id="275"/>
            <p14:sldId id="276"/>
            <p14:sldId id="277"/>
            <p14:sldId id="278"/>
          </p14:sldIdLst>
        </p14:section>
        <p14:section name="4 Human evidence" id="{4c5a7769-8d17-088c-a10b-ddd180ce6e8c}">
          <p14:sldIdLst>
            <p14:sldId id="279"/>
            <p14:sldId id="280"/>
            <p14:sldId id="281"/>
            <p14:sldId id="282"/>
            <p14:sldId id="283"/>
          </p14:sldIdLst>
        </p14:section>
        <p14:section name="5 The debate" id="{aef15b09-f154-ab77-ab76-d7b090228769}">
          <p14:sldIdLst>
            <p14:sldId id="284"/>
            <p14:sldId id="285"/>
            <p14:sldId id="286"/>
          </p14:sldIdLst>
        </p14:section>
        <p14:section name="6 Policy" id="{6a965abc-a4d4-e198-8c88-cd10859075f0}">
          <p14:sldIdLst>
            <p14:sldId id="287"/>
            <p14:sldId id="288"/>
            <p14:sldId id="289"/>
            <p14:sldId id="290"/>
            <p14:sldId id="291"/>
            <p14:sldId id="292"/>
          </p14:sldIdLst>
        </p14:section>
        <p14:section name="7 Vulnerable groups and clinic" id="{9654300c-cbe9-310f-5fc5-70ae675c4bd2}">
          <p14:sldIdLst>
            <p14:sldId id="293"/>
            <p14:sldId id="294"/>
            <p14:sldId id="295"/>
          </p14:sldIdLst>
        </p14:section>
        <p14:section name="8 Conclusions" id="{fb4fa937-30e7-591c-719f-e38dfb5acce5}">
          <p14:sldIdLst>
            <p14:sldId id="296"/>
            <p14:sldId id="297"/>
            <p14:sldId id="298"/>
          </p14:sldIdLst>
        </p14:section>
        <p14:section name="Backup" id="{698c6e02-5160-baf0-5d23-74b0735b4a66}">
          <p14:sldIdLst>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n-lt"/>
              </a:defRPr>
            </a:pPr>
            <a:r>
              <a:rPr sz="1400" b="0" i="0" u="none" strike="noStrike">
                <a:solidFill>
                  <a:srgbClr val="1F3A5F"/>
                </a:solidFill>
                <a:latin typeface="+mn-lt"/>
              </a:rPr>
              <a:t>Share of daily energy from UPF (%)</a:t>
            </a:r>
          </a:p>
        </c:rich>
      </c:tx>
      <c:layout/>
      <c:overlay val="0"/>
    </c:title>
    <c:autoTitleDeleted val="0"/>
    <c:plotArea>
      <c:layout/>
      <c:barChart>
        <c:barDir val="bar"/>
        <c:grouping val="clustered"/>
        <c:varyColors val="0"/>
        <c:ser>
          <c:idx val="0"/>
          <c:order val="0"/>
          <c:tx>
            <c:strRef>
              <c:f>Sheet1!$B$1</c:f>
              <c:strCache>
                <c:ptCount val="1"/>
                <c:pt idx="0">
                  <c:v>UPF share of energy</c:v>
                </c:pt>
              </c:strCache>
            </c:strRef>
          </c:tx>
          <c:spPr>
            <a:solidFill>
              <a:srgbClr val="7B98B8"/>
            </a:solidFill>
            <a:effectLst/>
          </c:spPr>
          <c:invertIfNegative val="0"/>
          <c:dLbls>
            <c:numFmt formatCode="General&quot;%&quot;" sourceLinked="0"/>
            <c:txPr>
              <a:bodyPr/>
              <a:lstStyle/>
              <a:p>
                <a:pPr>
                  <a:defRPr b="1" i="0" strike="noStrike" sz="13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7B98B8"/>
              </a:solidFill>
              <a:effectLst/>
            </c:spPr>
          </c:dPt>
          <c:dPt>
            <c:idx val="1"/>
            <c:invertIfNegative val="0"/>
            <c:bubble3D val="0"/>
            <c:spPr>
              <a:solidFill>
                <a:srgbClr val="B3393C"/>
              </a:solidFill>
              <a:effectLst/>
            </c:spPr>
          </c:dPt>
          <c:dPt>
            <c:idx val="2"/>
            <c:invertIfNegative val="0"/>
            <c:bubble3D val="0"/>
            <c:spPr>
              <a:solidFill>
                <a:srgbClr val="7B98B8"/>
              </a:solidFill>
              <a:effectLst/>
            </c:spPr>
          </c:dPt>
          <c:dPt>
            <c:idx val="3"/>
            <c:invertIfNegative val="0"/>
            <c:bubble3D val="0"/>
            <c:spPr>
              <a:solidFill>
                <a:srgbClr val="7B98B8"/>
              </a:solidFill>
              <a:effectLst/>
            </c:spPr>
          </c:dPt>
          <c:dPt>
            <c:idx val="4"/>
            <c:invertIfNegative val="0"/>
            <c:bubble3D val="0"/>
            <c:spPr>
              <a:solidFill>
                <a:srgbClr val="7B98B8"/>
              </a:solidFill>
              <a:effectLst/>
            </c:spPr>
          </c:dPt>
          <c:dPt>
            <c:idx val="5"/>
            <c:invertIfNegative val="0"/>
            <c:bubble3D val="0"/>
            <c:spPr>
              <a:solidFill>
                <a:srgbClr val="7B98B8"/>
              </a:solidFill>
              <a:effectLst/>
            </c:spPr>
          </c:dPt>
          <c:cat>
            <c:multiLvlStrRef>
              <c:f>Sheet1!$A$2:$A$7</c:f>
              <c:multiLvlStrCache>
                <c:ptCount val="6"/>
                <c:lvl>
                  <c:pt idx="0">
                    <c:v>Italy</c:v>
                  </c:pt>
                  <c:pt idx="1">
                    <c:v>Tehran (TLGS sample)</c:v>
                  </c:pt>
                  <c:pt idx="2">
                    <c:v>Brazil</c:v>
                  </c:pt>
                  <c:pt idx="3">
                    <c:v>UK adults</c:v>
                  </c:pt>
                  <c:pt idx="4">
                    <c:v>US adults</c:v>
                  </c:pt>
                  <c:pt idx="5">
                    <c:v>UK adolescents</c:v>
                  </c:pt>
                </c:lvl>
              </c:multiLvlStrCache>
            </c:multiLvlStrRef>
          </c:cat>
          <c:val>
            <c:numRef>
              <c:f>Sheet1!$B$2:$B$7</c:f>
              <c:numCache>
                <c:formatCode>General</c:formatCode>
                <c:ptCount val="6"/>
                <c:pt idx="0">
                  <c:v>10</c:v>
                </c:pt>
                <c:pt idx="1">
                  <c:v>13.4</c:v>
                </c:pt>
                <c:pt idx="2">
                  <c:v>20</c:v>
                </c:pt>
                <c:pt idx="3">
                  <c:v>54.3</c:v>
                </c:pt>
                <c:pt idx="4">
                  <c:v>58.2</c:v>
                </c:pt>
                <c:pt idx="5">
                  <c:v>66</c:v>
                </c:pt>
              </c:numCache>
            </c:numRef>
          </c:val>
        </c:ser>
        <c:dLbls>
          <c:numFmt formatCode="General&quot;%&quot;" sourceLinked="0"/>
          <c:txPr>
            <a:bodyPr/>
            <a:lstStyle/>
            <a:p>
              <a:pPr>
                <a:defRPr b="1" i="0" strike="noStrike" sz="1300" u="none">
                  <a:solidFill>
                    <a:srgbClr val="1B1F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75"/>
          <c:min val="0"/>
        </c:scaling>
        <c:delete val="0"/>
        <c:axPos val="b"/>
        <c:majorGridlines>
          <c:spPr>
            <a:ln w="9525"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682"/>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n-lt"/>
              </a:defRPr>
            </a:pPr>
            <a:r>
              <a:rPr sz="1400" b="0" i="0" u="none" strike="noStrike">
                <a:solidFill>
                  <a:srgbClr val="1F3A5F"/>
                </a:solidFill>
                <a:latin typeface="+mn-lt"/>
              </a:rPr>
              <a:t>Prevalence of YFAS-defined food addiction (%)</a:t>
            </a:r>
          </a:p>
        </c:rich>
      </c:tx>
      <c:layout/>
      <c:overlay val="0"/>
    </c:title>
    <c:autoTitleDeleted val="0"/>
    <c:plotArea>
      <c:layout/>
      <c:barChart>
        <c:barDir val="col"/>
        <c:grouping val="clustered"/>
        <c:varyColors val="0"/>
        <c:ser>
          <c:idx val="0"/>
          <c:order val="0"/>
          <c:tx>
            <c:strRef>
              <c:f>Sheet1!$B$1</c:f>
              <c:strCache>
                <c:ptCount val="1"/>
                <c:pt idx="0">
                  <c:v>Prevalence</c:v>
                </c:pt>
              </c:strCache>
            </c:strRef>
          </c:tx>
          <c:spPr>
            <a:solidFill>
              <a:srgbClr val="3B7D5A"/>
            </a:solidFill>
            <a:effectLst/>
          </c:spPr>
          <c:invertIfNegative val="0"/>
          <c:dLbls>
            <c:numFmt formatCode="General&quot;%&quot;" sourceLinked="0"/>
            <c:txPr>
              <a:bodyPr/>
              <a:lstStyle/>
              <a:p>
                <a:pPr>
                  <a:defRPr b="1" i="0" strike="noStrike" sz="13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3B7D5A"/>
              </a:solidFill>
              <a:effectLst/>
            </c:spPr>
          </c:dPt>
          <c:dPt>
            <c:idx val="1"/>
            <c:invertIfNegative val="0"/>
            <c:bubble3D val="0"/>
            <c:spPr>
              <a:solidFill>
                <a:srgbClr val="2A7A8C"/>
              </a:solidFill>
              <a:effectLst/>
            </c:spPr>
          </c:dPt>
          <c:dPt>
            <c:idx val="2"/>
            <c:invertIfNegative val="0"/>
            <c:bubble3D val="0"/>
            <c:spPr>
              <a:solidFill>
                <a:srgbClr val="2A7A8C"/>
              </a:solidFill>
              <a:effectLst/>
            </c:spPr>
          </c:dPt>
          <c:dPt>
            <c:idx val="3"/>
            <c:invertIfNegative val="0"/>
            <c:bubble3D val="0"/>
            <c:spPr>
              <a:solidFill>
                <a:srgbClr val="5B6B8C"/>
              </a:solidFill>
              <a:effectLst/>
            </c:spPr>
          </c:dPt>
          <c:dPt>
            <c:idx val="4"/>
            <c:invertIfNegative val="0"/>
            <c:bubble3D val="0"/>
            <c:spPr>
              <a:solidFill>
                <a:srgbClr val="D88A1F"/>
              </a:solidFill>
              <a:effectLst/>
            </c:spPr>
          </c:dPt>
          <c:dPt>
            <c:idx val="5"/>
            <c:invertIfNegative val="0"/>
            <c:bubble3D val="0"/>
            <c:spPr>
              <a:solidFill>
                <a:srgbClr val="B3393C"/>
              </a:solidFill>
              <a:effectLst/>
            </c:spPr>
          </c:dPt>
          <c:dPt>
            <c:idx val="6"/>
            <c:invertIfNegative val="0"/>
            <c:bubble3D val="0"/>
            <c:spPr>
              <a:solidFill>
                <a:srgbClr val="6A4C93"/>
              </a:solidFill>
              <a:effectLst/>
            </c:spPr>
          </c:dPt>
          <c:cat>
            <c:multiLvlStrRef>
              <c:f>Sheet1!$A$2:$A$8</c:f>
              <c:multiLvlStrCache>
                <c:ptCount val="7"/>
                <c:lvl>
                  <c:pt idx="0">
                    <c:v>Normal weight</c:v>
                  </c:pt>
                  <c:pt idx="1">
                    <c:v>Children</c:v>
                  </c:pt>
                  <c:pt idx="2">
                    <c:v>Adults</c:v>
                  </c:pt>
                  <c:pt idx="3">
                    <c:v>All samples</c:v>
                  </c:pt>
                  <c:pt idx="4">
                    <c:v>Overweight or obesity</c:v>
                  </c:pt>
                  <c:pt idx="5">
                    <c:v>Bariatric candidates</c:v>
                  </c:pt>
                  <c:pt idx="6">
                    <c:v>Binge-eating disorder</c:v>
                  </c:pt>
                </c:lvl>
              </c:multiLvlStrCache>
            </c:multiLvlStrRef>
          </c:cat>
          <c:val>
            <c:numRef>
              <c:f>Sheet1!$B$2:$B$8</c:f>
              <c:numCache>
                <c:formatCode>General</c:formatCode>
                <c:ptCount val="7"/>
                <c:pt idx="0">
                  <c:v>11.1</c:v>
                </c:pt>
                <c:pt idx="1">
                  <c:v>12</c:v>
                </c:pt>
                <c:pt idx="2">
                  <c:v>14</c:v>
                </c:pt>
                <c:pt idx="3">
                  <c:v>19.9</c:v>
                </c:pt>
                <c:pt idx="4">
                  <c:v>24.9</c:v>
                </c:pt>
                <c:pt idx="5">
                  <c:v>32</c:v>
                </c:pt>
                <c:pt idx="6">
                  <c:v>50</c:v>
                </c:pt>
              </c:numCache>
            </c:numRef>
          </c:val>
        </c:ser>
        <c:dLbls>
          <c:numFmt formatCode="General&quot;%&quot;" sourceLinked="0"/>
          <c:txPr>
            <a:bodyPr/>
            <a:lstStyle/>
            <a:p>
              <a:pPr>
                <a:defRPr b="1" i="0" strike="noStrike" sz="1300" u="none">
                  <a:solidFill>
                    <a:srgbClr val="1B1F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2"/>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n-lt"/>
              </a:defRPr>
            </a:pPr>
            <a:r>
              <a:rPr sz="1400" b="0" i="0" u="none" strike="noStrike">
                <a:solidFill>
                  <a:srgbClr val="1F3A5F"/>
                </a:solidFill>
                <a:latin typeface="+mn-lt"/>
              </a:rPr>
              <a:t>Extra ad libitum intake on the UPF diet (kcal/day)</a:t>
            </a:r>
          </a:p>
        </c:rich>
      </c:tx>
      <c:layout/>
      <c:overlay val="0"/>
    </c:title>
    <c:autoTitleDeleted val="0"/>
    <c:plotArea>
      <c:layout/>
      <c:barChart>
        <c:barDir val="col"/>
        <c:grouping val="clustered"/>
        <c:varyColors val="0"/>
        <c:ser>
          <c:idx val="0"/>
          <c:order val="0"/>
          <c:tx>
            <c:strRef>
              <c:f>Sheet1!$B$1</c:f>
              <c:strCache>
                <c:ptCount val="1"/>
                <c:pt idx="0">
                  <c:v>Difference</c:v>
                </c:pt>
              </c:strCache>
            </c:strRef>
          </c:tx>
          <c:spPr>
            <a:solidFill>
              <a:srgbClr val="B3393C"/>
            </a:solidFill>
            <a:effectLst/>
          </c:spPr>
          <c:invertIfNegative val="0"/>
          <c:dLbls>
            <c:numFmt formatCode="+0;−0;0" sourceLinked="0"/>
            <c:txPr>
              <a:bodyPr/>
              <a:lstStyle/>
              <a:p>
                <a:pPr>
                  <a:defRPr b="1" i="0" strike="noStrike" sz="14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B3393C"/>
              </a:solidFill>
              <a:effectLst/>
            </c:spPr>
          </c:dPt>
          <c:dPt>
            <c:idx val="1"/>
            <c:invertIfNegative val="0"/>
            <c:bubble3D val="0"/>
            <c:spPr>
              <a:solidFill>
                <a:srgbClr val="D88A1F"/>
              </a:solidFill>
              <a:effectLst/>
            </c:spPr>
          </c:dPt>
          <c:dPt>
            <c:idx val="2"/>
            <c:invertIfNegative val="0"/>
            <c:bubble3D val="0"/>
            <c:spPr>
              <a:solidFill>
                <a:srgbClr val="C9A22B"/>
              </a:solidFill>
              <a:effectLst/>
            </c:spPr>
          </c:dPt>
          <c:dPt>
            <c:idx val="3"/>
            <c:invertIfNegative val="0"/>
            <c:bubble3D val="0"/>
            <c:spPr>
              <a:solidFill>
                <a:srgbClr val="9AA0A6"/>
              </a:solidFill>
              <a:effectLst/>
            </c:spPr>
          </c:dPt>
          <c:cat>
            <c:multiLvlStrRef>
              <c:f>Sheet1!$A$2:$A$5</c:f>
              <c:multiLvlStrCache>
                <c:ptCount val="4"/>
                <c:lvl>
                  <c:pt idx="0">
                    <c:v>Total energy</c:v>
                  </c:pt>
                  <c:pt idx="1">
                    <c:v>Carbohydrate</c:v>
                  </c:pt>
                  <c:pt idx="2">
                    <c:v>Fat</c:v>
                  </c:pt>
                  <c:pt idx="3">
                    <c:v>Protein</c:v>
                  </c:pt>
                </c:lvl>
              </c:multiLvlStrCache>
            </c:multiLvlStrRef>
          </c:cat>
          <c:val>
            <c:numRef>
              <c:f>Sheet1!$B$2:$B$5</c:f>
              <c:numCache>
                <c:formatCode>General</c:formatCode>
                <c:ptCount val="4"/>
                <c:pt idx="0">
                  <c:v>508</c:v>
                </c:pt>
                <c:pt idx="1">
                  <c:v>280</c:v>
                </c:pt>
                <c:pt idx="2">
                  <c:v>230</c:v>
                </c:pt>
                <c:pt idx="3">
                  <c:v>-2</c:v>
                </c:pt>
              </c:numCache>
            </c:numRef>
          </c:val>
        </c:ser>
        <c:dLbls>
          <c:numFmt formatCode="+0;−0;0" sourceLinked="0"/>
          <c:txPr>
            <a:bodyPr/>
            <a:lstStyle/>
            <a:p>
              <a:pPr>
                <a:defRPr b="1" i="0" strike="noStrike" sz="1400" u="none">
                  <a:solidFill>
                    <a:srgbClr val="1B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600"/>
          <c:min val="-100"/>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2"/>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50" b="0" i="0" u="none" strike="noStrike">
                <a:solidFill>
                  <a:srgbClr val="1F3A5F"/>
                </a:solidFill>
                <a:latin typeface="+mn-lt"/>
              </a:defRPr>
            </a:pPr>
            <a:r>
              <a:rPr sz="1350" b="0" i="0" u="none" strike="noStrike">
                <a:solidFill>
                  <a:srgbClr val="1F3A5F"/>
                </a:solidFill>
                <a:latin typeface="+mn-lt"/>
              </a:rPr>
              <a:t>Relative weight change over 8 weeks</a:t>
            </a:r>
          </a:p>
        </c:rich>
      </c:tx>
      <c:layout/>
      <c:overlay val="0"/>
    </c:title>
    <c:autoTitleDeleted val="0"/>
    <c:plotArea>
      <c:layout/>
      <c:barChart>
        <c:barDir val="col"/>
        <c:grouping val="clustered"/>
        <c:varyColors val="0"/>
        <c:ser>
          <c:idx val="0"/>
          <c:order val="0"/>
          <c:tx>
            <c:strRef>
              <c:f>Sheet1!$B$1</c:f>
              <c:strCache>
                <c:ptCount val="1"/>
                <c:pt idx="0">
                  <c:v>Weight change</c:v>
                </c:pt>
              </c:strCache>
            </c:strRef>
          </c:tx>
          <c:spPr>
            <a:solidFill>
              <a:srgbClr val="3B7D5A"/>
            </a:solidFill>
            <a:effectLst/>
          </c:spPr>
          <c:invertIfNegative val="0"/>
          <c:dLbls>
            <c:numFmt formatCode="0.00&quot;%&quot;" sourceLinked="0"/>
            <c:txPr>
              <a:bodyPr/>
              <a:lstStyle/>
              <a:p>
                <a:pPr>
                  <a:defRPr b="1" i="0" strike="noStrike" sz="14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3B7D5A"/>
              </a:solidFill>
              <a:effectLst/>
            </c:spPr>
          </c:dPt>
          <c:dPt>
            <c:idx val="1"/>
            <c:invertIfNegative val="0"/>
            <c:bubble3D val="0"/>
            <c:spPr>
              <a:solidFill>
                <a:srgbClr val="B3393C"/>
              </a:solidFill>
              <a:effectLst/>
            </c:spPr>
          </c:dPt>
          <c:cat>
            <c:multiLvlStrRef>
              <c:f>Sheet1!$A$2:$A$3</c:f>
              <c:multiLvlStrCache>
                <c:ptCount val="2"/>
                <c:lvl>
                  <c:pt idx="0">
                    <c:v>Minimally processed</c:v>
                  </c:pt>
                  <c:pt idx="1">
                    <c:v>Ultra-processed</c:v>
                  </c:pt>
                </c:lvl>
              </c:multiLvlStrCache>
            </c:multiLvlStrRef>
          </c:cat>
          <c:val>
            <c:numRef>
              <c:f>Sheet1!$B$2:$B$3</c:f>
              <c:numCache>
                <c:formatCode>General</c:formatCode>
                <c:ptCount val="2"/>
                <c:pt idx="0">
                  <c:v>-2.06</c:v>
                </c:pt>
                <c:pt idx="1">
                  <c:v>-1.05</c:v>
                </c:pt>
              </c:numCache>
            </c:numRef>
          </c:val>
        </c:ser>
        <c:dLbls>
          <c:numFmt formatCode="0.00&quot;%&quot;" sourceLinked="0"/>
          <c:txPr>
            <a:bodyPr/>
            <a:lstStyle/>
            <a:p>
              <a:pPr>
                <a:defRPr b="1" i="0" strike="noStrike" sz="1400" u="none">
                  <a:solidFill>
                    <a:srgbClr val="1B1F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high"/>
        <c:spPr>
          <a:ln w="12700" cap="flat">
            <a:solidFill>
              <a:srgbClr val="888888"/>
            </a:solidFill>
            <a:prstDash val="solid"/>
            <a:round/>
          </a:ln>
        </c:spPr>
        <c:txPr>
          <a:bodyPr/>
          <a:lstStyle/>
          <a:p>
            <a:pPr>
              <a:defRPr sz="125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
          <c:min val="-2.5"/>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82"/>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A5F"/>
                </a:solidFill>
                <a:latin typeface="+mn-lt"/>
              </a:defRPr>
            </a:pPr>
            <a:r>
              <a:rPr sz="1300" b="0" i="0" u="none" strike="noStrike">
                <a:solidFill>
                  <a:srgbClr val="1F3A5F"/>
                </a:solidFill>
                <a:latin typeface="+mn-lt"/>
              </a:rPr>
              <a:t>Purchases vs counterfactual (household purchase data; first year and three years)</a:t>
            </a:r>
          </a:p>
        </c:rich>
      </c:tx>
      <c:layout/>
      <c:overlay val="0"/>
    </c:title>
    <c:autoTitleDeleted val="0"/>
    <c:plotArea>
      <c:layout/>
      <c:barChart>
        <c:barDir val="bar"/>
        <c:grouping val="clustered"/>
        <c:varyColors val="0"/>
        <c:ser>
          <c:idx val="0"/>
          <c:order val="0"/>
          <c:tx>
            <c:strRef>
              <c:f>Sheet1!$B$1</c:f>
              <c:strCache>
                <c:ptCount val="1"/>
                <c:pt idx="0">
                  <c:v>Change</c:v>
                </c:pt>
              </c:strCache>
            </c:strRef>
          </c:tx>
          <c:spPr>
            <a:solidFill>
              <a:srgbClr val="B3393C"/>
            </a:solidFill>
            <a:effectLst/>
          </c:spPr>
          <c:invertIfNegative val="0"/>
          <c:dLbls>
            <c:numFmt formatCode="0.0&quot;%&quot;" sourceLinked="0"/>
            <c:txPr>
              <a:bodyPr/>
              <a:lstStyle/>
              <a:p>
                <a:pPr>
                  <a:defRPr b="1" i="0" strike="noStrike" sz="12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B3393C"/>
              </a:solidFill>
              <a:effectLst/>
            </c:spPr>
          </c:dPt>
          <c:dPt>
            <c:idx val="1"/>
            <c:invertIfNegative val="0"/>
            <c:bubble3D val="0"/>
            <c:spPr>
              <a:solidFill>
                <a:srgbClr val="C25A5D"/>
              </a:solidFill>
              <a:effectLst/>
            </c:spPr>
          </c:dPt>
          <c:dPt>
            <c:idx val="2"/>
            <c:invertIfNegative val="0"/>
            <c:bubble3D val="0"/>
            <c:spPr>
              <a:solidFill>
                <a:srgbClr val="C25A5D"/>
              </a:solidFill>
              <a:effectLst/>
            </c:spPr>
          </c:dPt>
          <c:dPt>
            <c:idx val="3"/>
            <c:invertIfNegative val="0"/>
            <c:bubble3D val="0"/>
            <c:spPr>
              <a:solidFill>
                <a:srgbClr val="C25A5D"/>
              </a:solidFill>
              <a:effectLst/>
            </c:spPr>
          </c:dPt>
          <c:dPt>
            <c:idx val="4"/>
            <c:invertIfNegative val="0"/>
            <c:bubble3D val="0"/>
            <c:spPr>
              <a:solidFill>
                <a:srgbClr val="C25A5D"/>
              </a:solidFill>
              <a:effectLst/>
            </c:spPr>
          </c:dPt>
          <c:dPt>
            <c:idx val="5"/>
            <c:invertIfNegative val="0"/>
            <c:bubble3D val="0"/>
            <c:spPr>
              <a:solidFill>
                <a:srgbClr val="7B98B8"/>
              </a:solidFill>
              <a:effectLst/>
            </c:spPr>
          </c:dPt>
          <c:dPt>
            <c:idx val="6"/>
            <c:invertIfNegative val="0"/>
            <c:bubble3D val="0"/>
            <c:spPr>
              <a:solidFill>
                <a:srgbClr val="7B98B8"/>
              </a:solidFill>
              <a:effectLst/>
            </c:spPr>
          </c:dPt>
          <c:cat>
            <c:multiLvlStrRef>
              <c:f>Sheet1!$A$2:$A$8</c:f>
              <c:multiLvlStrCache>
                <c:ptCount val="7"/>
                <c:lvl>
                  <c:pt idx="0">
                    <c:v>Regulated beverages (year 1)</c:v>
                  </c:pt>
                  <c:pt idx="1">
                    <c:v>Sugar, regulated products</c:v>
                  </c:pt>
                  <c:pt idx="2">
                    <c:v>Sodium, regulated products</c:v>
                  </c:pt>
                  <c:pt idx="3">
                    <c:v>Saturated fat, regulated products</c:v>
                  </c:pt>
                  <c:pt idx="4">
                    <c:v>Energy, regulated products</c:v>
                  </c:pt>
                  <c:pt idx="5">
                    <c:v>Sugar, whole basket (net)</c:v>
                  </c:pt>
                  <c:pt idx="6">
                    <c:v>Energy, whole basket (net)</c:v>
                  </c:pt>
                </c:lvl>
              </c:multiLvlStrCache>
            </c:multiLvlStrRef>
          </c:cat>
          <c:val>
            <c:numRef>
              <c:f>Sheet1!$B$2:$B$8</c:f>
              <c:numCache>
                <c:formatCode>General</c:formatCode>
                <c:ptCount val="7"/>
                <c:pt idx="0">
                  <c:v>-23.7</c:v>
                </c:pt>
                <c:pt idx="1">
                  <c:v>-36.8</c:v>
                </c:pt>
                <c:pt idx="2">
                  <c:v>-21.9</c:v>
                </c:pt>
                <c:pt idx="3">
                  <c:v>-15.7</c:v>
                </c:pt>
                <c:pt idx="4">
                  <c:v>-23</c:v>
                </c:pt>
                <c:pt idx="5">
                  <c:v>-20.2</c:v>
                </c:pt>
                <c:pt idx="6">
                  <c:v>-8.3</c:v>
                </c:pt>
              </c:numCache>
            </c:numRef>
          </c:val>
        </c:ser>
        <c:dLbls>
          <c:numFmt formatCode="0.0&quot;%&quot;" sourceLinked="0"/>
          <c:txPr>
            <a:bodyPr/>
            <a:lstStyle/>
            <a:p>
              <a:pPr>
                <a:defRPr b="1" i="0" strike="noStrike" sz="1200" u="none">
                  <a:solidFill>
                    <a:srgbClr val="1B1F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high"/>
        <c:spPr>
          <a:ln w="12700" cap="flat">
            <a:solidFill>
              <a:srgbClr val="888888"/>
            </a:solidFill>
            <a:prstDash val="solid"/>
            <a:round/>
          </a:ln>
        </c:spPr>
        <c:txPr>
          <a:bodyPr/>
          <a:lstStyle/>
          <a:p>
            <a:pPr>
              <a:defRPr sz="115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
          <c:min val="-45"/>
        </c:scaling>
        <c:delete val="0"/>
        <c:axPos val="b"/>
        <c:majorGridlines>
          <c:spPr>
            <a:ln w="9525"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50" b="0" i="0" u="none" strike="noStrike">
                <a:solidFill>
                  <a:srgbClr val="6B7682"/>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All households</c:v>
                </c:pt>
              </c:strCache>
            </c:strRef>
          </c:tx>
          <c:spPr>
            <a:solidFill>
              <a:srgbClr val="E0A84E"/>
            </a:solidFill>
            <a:effectLst/>
          </c:spPr>
          <c:invertIfNegative val="0"/>
          <c:dLbls>
            <c:numFmt formatCode="0.0&quot;%&quot;" sourceLinked="0"/>
            <c:txPr>
              <a:bodyPr/>
              <a:lstStyle/>
              <a:p>
                <a:pPr>
                  <a:defRPr b="1" i="0" strike="noStrike" sz="1100" u="none">
                    <a:solidFill>
                      <a:srgbClr val="1B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Year 1</c:v>
                  </c:pt>
                  <c:pt idx="1">
                    <c:v>Year 2</c:v>
                  </c:pt>
                </c:lvl>
              </c:multiLvlStrCache>
            </c:multiLvlStrRef>
          </c:cat>
          <c:val>
            <c:numRef>
              <c:f>Sheet1!$B$2:$B$3</c:f>
              <c:numCache>
                <c:formatCode>General</c:formatCode>
                <c:ptCount val="2"/>
                <c:pt idx="0">
                  <c:v>-5.5</c:v>
                </c:pt>
                <c:pt idx="1">
                  <c:v>-9.7</c:v>
                </c:pt>
              </c:numCache>
            </c:numRef>
          </c:val>
        </c:ser>
        <c:ser>
          <c:idx val="1"/>
          <c:order val="1"/>
          <c:tx>
            <c:strRef>
              <c:f>Sheet1!$C$1</c:f>
              <c:strCache>
                <c:ptCount val="1"/>
                <c:pt idx="0">
                  <c:v>Lowest SES</c:v>
                </c:pt>
              </c:strCache>
            </c:strRef>
          </c:tx>
          <c:spPr>
            <a:solidFill>
              <a:srgbClr val="B06A0A"/>
            </a:solidFill>
            <a:effectLst/>
          </c:spPr>
          <c:invertIfNegative val="0"/>
          <c:dLbls>
            <c:numFmt formatCode="0.0&quot;%&quot;" sourceLinked="0"/>
            <c:txPr>
              <a:bodyPr/>
              <a:lstStyle/>
              <a:p>
                <a:pPr>
                  <a:defRPr b="1" i="0" strike="noStrike" sz="1100" u="none">
                    <a:solidFill>
                      <a:srgbClr val="1B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Year 1</c:v>
                  </c:pt>
                  <c:pt idx="1">
                    <c:v>Year 2</c:v>
                  </c:pt>
                </c:lvl>
              </c:multiLvlStrCache>
            </c:multiLvlStrRef>
          </c:cat>
          <c:val>
            <c:numRef>
              <c:f>Sheet1!$C$2:$C$3</c:f>
              <c:numCache>
                <c:formatCode>General</c:formatCode>
                <c:ptCount val="2"/>
                <c:pt idx="0">
                  <c:v>-9</c:v>
                </c:pt>
                <c:pt idx="1">
                  <c:v>-14.3</c:v>
                </c:pt>
              </c:numCache>
            </c:numRef>
          </c:val>
        </c:ser>
        <c:dLbls>
          <c:numFmt formatCode="0.0&quot;%&quot;" sourceLinked="0"/>
          <c:txPr>
            <a:bodyPr/>
            <a:lstStyle/>
            <a:p>
              <a:pPr>
                <a:defRPr b="1" i="0" strike="noStrike" sz="1100" u="none">
                  <a:solidFill>
                    <a:srgbClr val="1B1F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high"/>
        <c:spPr>
          <a:ln w="12700" cap="flat">
            <a:solidFill>
              <a:srgbClr val="888888"/>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
          <c:min val="-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۰:۴۰   |   زمان تجمعی: ۰:۴۰</a:t>
            </a:r>
          </a:p>
          <a:p>
            <a:pPr rtl="1" algn="r">
              <a:spcAft>
                <a:spcPts val="600"/>
              </a:spcAft>
            </a:pPr>
            <a:r>
              <a:rPr lang="fa-IR" sz="1400" dirty="0">
                <a:cs typeface="Tahoma"/>
              </a:rPr>
              <a:t>با سلام و احترام خدمت استاد گرامی، جناب آقای دکتر پورآرام، و دوستان عزیز. من یاسمین آیت‌اللهی هستم و موضوع سمینار امروز «غذاهای فوق‌فرآوری‌شده و رفتارهای غذایی اعتیادگونه؛ از سازوکارهای عصبی‌زیستی تا سیاست‌گذاری تغذیه‌ی جامعه» است.</a:t>
            </a:r>
          </a:p>
          <a:p>
            <a:pPr rtl="1" algn="r">
              <a:spcAft>
                <a:spcPts val="600"/>
              </a:spcAft>
            </a:pPr>
            <a:r>
              <a:rPr lang="fa-IR" sz="1400" dirty="0">
                <a:cs typeface="Tahoma"/>
              </a:rPr>
              <a:t>سه هشت‌ضلعیِ این اسلاید، نقشه‌ی کل ارائه‌اند: «فرآوری»، یعنی خودِ محصول؛ «رفتار»، یعنی آنچه در مغز و در رفتار خوردن ما رخ می‌دهد؛ و «سیاست»، یعنی کاری که در سطح جامعه می‌توان کرد. شکل هشت‌ضلعی را هم عمداً انتخاب کرده‌ام؛ در ادامه می‌بینید که همین شکل، نماد برچسب‌های هشداری شیلی است.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۱:۲۵</a:t>
            </a:r>
          </a:p>
          <a:p>
            <a:pPr rtl="1" algn="r">
              <a:spcAft>
                <a:spcPts val="600"/>
              </a:spcAft>
            </a:pPr>
            <a:r>
              <a:rPr lang="fa-IR" sz="1400" dirty="0">
                <a:cs typeface="Tahoma"/>
              </a:rPr>
              <a:t>ارائه در هشت بخش تنظیم شده است: تعریف و میزان مصرف غذاهای فوق‌فرآوری‌شده؛ سازه‌ی «اعتیاد غذایی» و ابزار سنجش آن؛ سازوکارهای پیشنهادی؛ شواهد انسانی از کارآزمایی‌ها و کوهورت‌ها؛ مناظره‌ی علمی بر سر واژه‌ی «اعتیاد»؛ سیاست‌ها؛ گروه‌های آسیب‌پذیر و دلالت‌های بالینی؛ و در پایان جمع‌بندی و اولویت‌های ایران.</a:t>
            </a:r>
          </a:p>
          <a:p>
            <a:pPr rtl="1" algn="r">
              <a:spcAft>
                <a:spcPts val="600"/>
              </a:spcAft>
            </a:pPr>
            <a:r>
              <a:rPr lang="fa-IR" sz="1400" dirty="0">
                <a:cs typeface="Tahoma"/>
              </a:rPr>
              <a:t>یک پرسش راهنما در تمام ارائه همراه ما خواهد بود که در کادر پایین می‌بینید: «آیا پیش از اقدام درباره‌ی غذاهای فوق‌فرآوری‌شده، باید ثابت کنیم غذا اعتیادآور است؟» خواهش می‌کنم این پرسش را در ذهن داشته باشید؛ در پایان، پاسخ روشن خودم را به آن خواهم گفت. [مکث کوتاه]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۱:۱۰   |   زمان تجمعی: ۲:۳۵</a:t>
            </a:r>
          </a:p>
          <a:p>
            <a:pPr rtl="1" algn="r">
              <a:spcAft>
                <a:spcPts val="600"/>
              </a:spcAft>
            </a:pPr>
            <a:r>
              <a:rPr lang="fa-IR" sz="1400" dirty="0">
                <a:cs typeface="Tahoma"/>
              </a:rPr>
              <a:t>چرا این موضوع امروز مهم است؟ به چهار عدد نگاه کنید. در بزرگسالان آمریکایی حدود ۵۸ درصد انرژی دریافتی از گروه چهارم نوا، یعنی غذاهای فوق‌فرآوری‌شده، تأمین می‌شود؛ در بزرگسالان بریتانیا ۵۴ درصد و در نوجوانان این کشور حدود ۶۶ درصد. در تهران، در نمونه‌ی مطالعه‌ی قند و لیپید تهران، میانه‌ی این سهم ۱۳٫۴ درصد است؛ کمتر، اما بدون پایش منظم. و در برآوردهای تجمیعی، حدود ۱۴ درصد بزرگسالان و ۱۲ درصد کودکان معیارهای «اعتیاد غذایی» را بر اساس مقیاس ییل برآورده می‌کنند.</a:t>
            </a:r>
          </a:p>
          <a:p>
            <a:pPr rtl="1" algn="r">
              <a:spcAft>
                <a:spcPts val="600"/>
              </a:spcAft>
            </a:pPr>
            <a:r>
              <a:rPr lang="fa-IR" sz="1400" dirty="0">
                <a:cs typeface="Tahoma"/>
              </a:rPr>
              <a:t>[اشاره به کادر سمت راست] معمایی که ما را به این موضوع می‌کشاند این است: چاقی هم‌زمان در جمعیت‌های بسیار متفاوت افزایش یافته، که با «انتخاب فردی» به‌تنهایی توضیح‌پذیر نیست؛ این محصولات بر عرضه‌ی غذای کشورهای پردرآمد غالب‌اند و در کشورهای با درآمد متوسط به‌سرعت گسترش می‌یابند؛ و برخی از آن‌ها طوری طراحی شده‌اند که بسیار پاداش‌دهنده باشند. پرسش این است: آیا عدسی «اعتیاد» می‌تواند پرخوری اجباری را توضیح دهد؟</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۱:۰۵   |   زمان تجمعی: ۳:۴۰</a:t>
            </a:r>
          </a:p>
          <a:p>
            <a:pPr rtl="1" algn="r">
              <a:spcAft>
                <a:spcPts val="600"/>
              </a:spcAft>
            </a:pPr>
            <a:r>
              <a:rPr lang="fa-IR" sz="1400" dirty="0">
                <a:cs typeface="Tahoma"/>
              </a:rPr>
              <a:t>برای اینکه بحث دقیق بماند، ادعای کلیِ «غذاهای فوق‌فرآوری‌شده اعتیادآورند» را به سه ادعای جدا، به‌علاوه‌ی یک پرسش سیاستی، تفکیک کرده‌ام؛ و شواهد هر کدام یکسان نیست.</a:t>
            </a:r>
          </a:p>
          <a:p>
            <a:pPr rtl="1" algn="r">
              <a:spcAft>
                <a:spcPts val="600"/>
              </a:spcAft>
            </a:pPr>
            <a:r>
              <a:rPr lang="fa-IR" sz="1400" dirty="0">
                <a:cs typeface="Tahoma"/>
              </a:rPr>
              <a:t>ادعای الف: مصرف این غذاها با دریافت انرژی بیشتر و پیامدهای نامطلوب سلامت همراه است. برای آن کارآزمایی تغذیه‌ای کنترل‌شده، کوهورت بزرگ و مرور چتری داریم؛ شواهد نسبتاً قوی است. ادعای ب: برخی از این محصولات با خوردن اعتیادگونه مرتبط‌اند؛ شواهد محدود و عمدتاً مقطعی است. ادعای ج: این رفتارها واقعاً «اعتیاد» به معنای بالینی‌اند؛ این ادعا حل‌نشده است و در DSM-5-TR و ICD-11 پذیرفته نشده. و ادعای د: مداخلات محیطی، خرید و ترکیب محصولات را تغییر می‌دهند؛ برای پیامدهای میانی، شواهد قوی است.</a:t>
            </a:r>
          </a:p>
          <a:p>
            <a:pPr rtl="1" algn="r">
              <a:spcAft>
                <a:spcPts val="600"/>
              </a:spcAft>
            </a:pPr>
            <a:r>
              <a:rPr lang="fa-IR" sz="1400" dirty="0">
                <a:cs typeface="Tahoma"/>
              </a:rPr>
              <a:t>نکته‌ی کلیدی در کادر پایین است: این ردیف‌ها مستقل‌اند. رد کردن ادعای ج، ادعای الف یا د را باطل نمی‌کند؛ و همین استقلال، کلید پاسخ به پرسش راهنمای ماست.</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۰:۴۰   |   زمان تجمعی: ۴:۲۰</a:t>
            </a:r>
          </a:p>
          <a:p>
            <a:pPr rtl="1" algn="r">
              <a:spcAft>
                <a:spcPts val="600"/>
              </a:spcAft>
            </a:pPr>
            <a:r>
              <a:rPr lang="fa-IR" sz="1400" dirty="0">
                <a:cs typeface="Tahoma"/>
              </a:rPr>
              <a:t>درباره‌ی روش کار: منابع با جست‌وجوی هدفمند در PubMed، Web of Science، Scopus و Google Scholar گردآوری شد و اولویت با مرورهای چتری، متاآنالیزها، کارآزمایی‌های تصادفی، کوهورت‌های بیش از ده هزار نفر و مطالعات ایرانی بود. وزن هر مطالعه را طراحی، خطر سوگیری، دقت، مستقیم‌بودن و سازگاری تعیین کرد، نه تازگی آن؛ در مجموع ۱۱۷ منبع استناد شده است.</a:t>
            </a:r>
          </a:p>
          <a:p>
            <a:pPr rtl="1" algn="r">
              <a:spcAft>
                <a:spcPts val="600"/>
              </a:spcAft>
            </a:pPr>
            <a:r>
              <a:rPr lang="fa-IR" sz="1400" dirty="0">
                <a:cs typeface="Tahoma"/>
              </a:rPr>
              <a:t>صادقانه بگویم: این یک مرور روایتی با جست‌وجوی ساختاریافته است، نه مرور نظام‌مند؛ بنابراین نتیجه‌گیری‌ها را باید «سنتز روایتی ساختاریافته» دانست.</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۵:۰۵</a:t>
            </a:r>
          </a:p>
          <a:p>
            <a:pPr rtl="1" algn="r">
              <a:spcAft>
                <a:spcPts val="600"/>
              </a:spcAft>
            </a:pPr>
            <a:r>
              <a:rPr lang="fa-IR" sz="1400" dirty="0">
                <a:cs typeface="Tahoma"/>
              </a:rPr>
              <a:t>این خط زمانی نشان می‌دهد دو جریان پژوهشی چگونه به هم رسیدند. نقطه‌های بنفش، علم اعتیادند: از ابداع اصطلاح «اعتیاد غذایی» توسط راندولف در ۱۹۵۶، تا مطالعه‌ی PET وانگ و ولکاو در ۲۰۰۱، مدل‌های حیوانی و معرفی مقیاس ییل در ۲۰۰۹. نقطه‌های سبز، سیاست‌اند: راهنمای غذایی برزیل در ۲۰۱۴، قانون شیلی در ۲۰۱۶ و مالیات نوشیدنی‌های شیرین بریتانیا در ۲۰۱۸.</a:t>
            </a:r>
          </a:p>
          <a:p>
            <a:pPr rtl="1" algn="r">
              <a:spcAft>
                <a:spcPts val="600"/>
              </a:spcAft>
            </a:pPr>
            <a:r>
              <a:rPr lang="fa-IR" sz="1400" dirty="0">
                <a:cs typeface="Tahoma"/>
              </a:rPr>
              <a:t>و نقطه‌ی قرمز، کارآزمایی هال در ۲۰۱۹ است؛ یکی از مهم‌ترین شواهد تجربی که نشان داد رژیم فوق‌فرآوری‌شده، در شرایط کنترل‌شده، دریافت انرژی را حدود ۵۰۸ کیلوکالری در روز بالا می‌برد. محل تلاقی این دو خط، پرسش امروز ماست.</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۵:۱۵</a:t>
            </a:r>
          </a:p>
          <a:p>
            <a:pPr rtl="1" algn="r">
              <a:spcAft>
                <a:spcPts val="600"/>
              </a:spcAft>
            </a:pPr>
            <a:r>
              <a:rPr lang="fa-IR" sz="1400" dirty="0">
                <a:cs typeface="Tahoma"/>
              </a:rPr>
              <a:t>بخش اول: غذاهای فوق‌فرآوری‌شده چیستند و چه سهمی از رژیم ما را تشکیل می‌دهند؟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۶:۱۵</a:t>
            </a:r>
          </a:p>
          <a:p>
            <a:pPr rtl="1" algn="r">
              <a:spcAft>
                <a:spcPts val="600"/>
              </a:spcAft>
            </a:pPr>
            <a:r>
              <a:rPr lang="fa-IR" sz="1400" dirty="0">
                <a:cs typeface="Tahoma"/>
              </a:rPr>
              <a:t>طبقه‌بندی نوا غذاها را نه بر اساس مواد مغذی، بلکه بر اساس میزان و هدف فرآوری صنعتی در چهار گروه قرار می‌دهد: گروه یک، غذاهای فرآوری‌نشده یا کم‌فرآوری‌شده مثل میوه، سبزی، حبوبات، تخم‌مرغ، گوشت تازه و شیر؛ گروه دو، مواد اولیه‌ی آشپزی مثل روغن، کره، نمک و شکر؛ گروه سه، غذاهای فرآوری‌شده مثل نان تازه، پنیر، کنسرو سبزی و ترشی؛ و گروه چهار، غذاهای فوق‌فرآوری‌شده مثل نوشابه، تنقلات بسته‌بندی، شیرینی‌های صنعتی، سوسیس و غذاهای آماده.</a:t>
            </a:r>
          </a:p>
          <a:p>
            <a:pPr rtl="1" algn="r">
              <a:spcAft>
                <a:spcPts val="600"/>
              </a:spcAft>
            </a:pPr>
            <a:r>
              <a:rPr lang="fa-IR" sz="1400" dirty="0">
                <a:cs typeface="Tahoma"/>
              </a:rPr>
              <a:t>یک قاعده‌ی سرانگشتی در پایین اسلاید آمده: اگر در فهرست ترکیبات ماده‌ای ببینید که در آشپزخانه‌ی خانگی به‌ندرت استفاده می‌شود، مثل شربت ذرت پرفروکتوز، روغن هیدروژنه، مالتودکسترین یا ایزوله‌ی پروتئین، یا یک افزودنی «آرایشی» مثل طعم‌دهنده، رنگ، امولسیفایر یا شیرین‌کننده، به احتمال زیاد با محصول گروه چهار سروکار دارید.</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۷:۰۵</a:t>
            </a:r>
          </a:p>
          <a:p>
            <a:pPr rtl="1" algn="r">
              <a:spcAft>
                <a:spcPts val="600"/>
              </a:spcAft>
            </a:pPr>
            <a:r>
              <a:rPr lang="fa-IR" sz="1400" dirty="0">
                <a:cs typeface="Tahoma"/>
              </a:rPr>
              <a:t>چه چیزی این محصولات را متفاوت می‌کند؟ هفت ویژگی روی اسلاید است: چگالی انرژی بالا؛ تخریب ماتریکس غذایی که جویدن، سرعت خوردن و دسترسی مواد مغذی را تغییر می‌دهد؛ ترکیب چربی و کربوهیدرات تصفیه‌شده که در غذاهای کامل نادر است؛ بار گلایسمی بالا و فیبر کم؛ بافت نرم و خوردن سریع؛ افزودنی‌های حسی و فناورانه؛ و در سطح کل رژیم، پروفایل نامطلوب‌تر مواد مغذی.</a:t>
            </a:r>
          </a:p>
          <a:p>
            <a:pPr rtl="1" algn="r">
              <a:spcAft>
                <a:spcPts val="600"/>
              </a:spcAft>
            </a:pPr>
            <a:r>
              <a:rPr lang="fa-IR" sz="1400" dirty="0">
                <a:cs typeface="Tahoma"/>
              </a:rPr>
              <a:t>[اشاره به کارت قرمز] یک مثال عددی از پیمایش ملی بریتانیا: سهم انرژی از قندهای آزاد از ۹٫۹ درصد در پایین‌ترین پنجک مصرف به ۱۵٫۴ درصد در بالاترین پنجک می‌رسد و فیبر از ۸٫۴ به ۶٫۹ گرم در هر هزار کیلوکالری کم می‌شود.</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۰:۴۰   |   زمان تجمعی: ۷:۴۵</a:t>
            </a:r>
          </a:p>
          <a:p>
            <a:pPr rtl="1" algn="r">
              <a:spcAft>
                <a:spcPts val="600"/>
              </a:spcAft>
            </a:pPr>
            <a:r>
              <a:rPr lang="fa-IR" sz="1400" dirty="0">
                <a:cs typeface="Tahoma"/>
              </a:rPr>
              <a:t>اما نوا بی‌منتقد نیست. چهار نقد اصلی: معیارهای عملیاتی مبهم که باعث طبقه‌بندی ناهمسان غذاهای مرزی می‌شود؛ یکی نبودن میزان فرآوری با کیفیت تغذیه‌ای، چون اعضای گروه چهار بسیار ناهمگن‌اند؛ مخلوط شدن نقش‌های مختلف فرآوری؛ و سیستم‌های طبقه‌بندی رقیب که برای یک رژیم واحد برآوردهای متفاوت می‌دهند.</a:t>
            </a:r>
          </a:p>
          <a:p>
            <a:pPr rtl="1" algn="r">
              <a:spcAft>
                <a:spcPts val="600"/>
              </a:spcAft>
            </a:pPr>
            <a:r>
              <a:rPr lang="fa-IR" sz="1400" dirty="0">
                <a:cs typeface="Tahoma"/>
              </a:rPr>
              <a:t>نمودار ون سمت راست یک هشدار مفهومی است: «فوق‌فرآوری‌شده»، «فوق‌خوش‌طعم» یا hyper-palatable و «بسیار فرآوری‌شده» سه مفهوم هم‌پوشان ولی متمایزند. همچنین «اعتیاد غذایی»، «خوردن اعتیادی» و «خوردن با فقدان کنترل» را نباید یکی گرفت.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۸:۳۵</a:t>
            </a:r>
          </a:p>
          <a:p>
            <a:pPr rtl="1" algn="r">
              <a:spcAft>
                <a:spcPts val="600"/>
              </a:spcAft>
            </a:pPr>
            <a:r>
              <a:rPr lang="fa-IR" sz="1400" dirty="0">
                <a:cs typeface="Tahoma"/>
              </a:rPr>
              <a:t>چقدر از این غذاها می‌خوریم؟ از حدود ۱۰ درصد انرژی در ایتالیا تا ۲۰ درصد در برزیل، بیش از ۵۰ درصد در بریتانیا و آمریکا و ۶۶ درصد در نوجوانان بریتانیایی. ستون قرمز تهران است: میانه‌ی ۱۳٫۴ درصد انرژی، یعنی حدود ۹۱ گرم در روز. این مقایسه فقط توصیفی است، چون سال، سن، روش سنجش رژیم و کدگذاری نوا متفاوت است.</a:t>
            </a:r>
          </a:p>
          <a:p>
            <a:pPr rtl="1" algn="r">
              <a:spcAft>
                <a:spcPts val="600"/>
              </a:spcAft>
            </a:pPr>
            <a:r>
              <a:rPr lang="fa-IR" sz="1400" dirty="0">
                <a:cs typeface="Tahoma"/>
              </a:rPr>
              <a:t>داده‌های ایران پراکنده است: در کوهورت قند و لیپید تهران، مصرف بالاتر با خطر بیشتر پیش‌دیابت همراه بود، با نسبت خطر ۱٫۲۸، اما با دیابت نوع دو ارتباط معناداری نداشت. برآوردهای دیگر از ۸٫۵ تا ۲۰٫۲ درصد متغیرند. و مهم‌ترین شکاف: هیچ پایش ملی منظمی از مصرف این غذاها نداریم.</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۸:۴۵</a:t>
            </a:r>
          </a:p>
          <a:p>
            <a:pPr rtl="1" algn="r">
              <a:spcAft>
                <a:spcPts val="600"/>
              </a:spcAft>
            </a:pPr>
            <a:r>
              <a:rPr lang="fa-IR" sz="1400" dirty="0">
                <a:cs typeface="Tahoma"/>
              </a:rPr>
              <a:t>بخش دوم: آیا «اعتیاد غذایی» سازه‌ای معتبر است و چگونه سنجیده می‌شود؟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۹:۳۵</a:t>
            </a:r>
          </a:p>
          <a:p>
            <a:pPr rtl="1" algn="r">
              <a:spcAft>
                <a:spcPts val="600"/>
              </a:spcAft>
            </a:pPr>
            <a:r>
              <a:rPr lang="fa-IR" sz="1400" dirty="0">
                <a:cs typeface="Tahoma"/>
              </a:rPr>
              <a:t>تعریف کاری اعتیاد غذایی: الگویی از خوردن با ویژگی‌های شبیه اختلالات مصرف مواد؛ ولع شدید، تلاش‌های مکرر و ناموفق برای کم کردن، صرف وقت زیاد برای تهیه و خوردن غذا، ادامه‌ی خوردن با وجود آسیب و گاهی علائم شبه‌ترک.</a:t>
            </a:r>
          </a:p>
          <a:p>
            <a:pPr rtl="1" algn="r">
              <a:spcAft>
                <a:spcPts val="600"/>
              </a:spcAft>
            </a:pPr>
            <a:r>
              <a:rPr lang="fa-IR" sz="1400" dirty="0">
                <a:cs typeface="Tahoma"/>
              </a:rPr>
              <a:t>اما توجه کنید: نه در DSM-5-TR و نه در ICD-11 تشخیص رسمی نیست؛ ICD-11 در بخش اختلالات ناشی از رفتارهای اعتیادی فقط قمار و بازی را آورده است. تفاوت آن با دو تشخیص رسمی هم مهم است: اختلال پرخوری با دوره‌های پرخوری همراه با فقدان کنترل و بدون رفتار جبرانی تعریف می‌شود و پرخوری عصبی با رفتار جبرانی؛ اما اعتیاد غذایی یک سازه‌ی پژوهشی است و لزوماً دوره‌ی پرخوری لازم ندارد.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۱۰:۲۰</a:t>
            </a:r>
          </a:p>
          <a:p>
            <a:pPr rtl="1" algn="r">
              <a:spcAft>
                <a:spcPts val="600"/>
              </a:spcAft>
            </a:pPr>
            <a:r>
              <a:rPr lang="fa-IR" sz="1400" dirty="0">
                <a:cs typeface="Tahoma"/>
              </a:rPr>
              <a:t>این جدول یازده معیار اختلال مصرف مواد در DSM-5 را به زبان خوردن ترجمه کرده است. معیارهای سبز، مثل مصرف بیش از حد مورد نظر، تلاش ناموفق برای کنترل، ولع و ادامه با وجود آسیب، پشتوانه‌ی تجربی دارند؛ نارنجی‌ها فقط «قابل تصور»ند؛ و معیار ترک قرمز است، چون با کمبود انرژی مخدوش می‌شود.</a:t>
            </a:r>
          </a:p>
          <a:p>
            <a:pPr rtl="1" algn="r">
              <a:spcAft>
                <a:spcPts val="600"/>
              </a:spcAft>
            </a:pPr>
            <a:r>
              <a:rPr lang="fa-IR" sz="1400" dirty="0">
                <a:cs typeface="Tahoma"/>
              </a:rPr>
              <a:t>[اشاره به دو کارت سمت راست] دو نکته: اول، استاندارد نامتقارن است؛ هیچ ماده‌ای همه‌ی معیارها را ندارد، مثلاً تنباکو سندرم مسمومیت ندارد. دوم، در DSM-5 آستانه‌ی «خفیف» دو معیار است، در حالی که DSM-IV سه معیار لازم داشت؛ انتقال مستقیم این آستانه به غذا خطر بیش‌برآورد شیوع را دارد.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۰:۵۵   |   زمان تجمعی: ۱۱:۱۵</a:t>
            </a:r>
          </a:p>
          <a:p>
            <a:pPr rtl="1" algn="r">
              <a:spcAft>
                <a:spcPts val="600"/>
              </a:spcAft>
            </a:pPr>
            <a:r>
              <a:rPr lang="fa-IR" sz="1400" dirty="0">
                <a:cs typeface="Tahoma"/>
              </a:rPr>
              <a:t>ابزار اصلی سنجش، مقیاس اعتیاد غذایی ییل یا YFAS است: نسخه‌ی اول در ۲۰۰۹ بر پایه‌ی DSM-IV با ۲۵ گویه؛ نسخه‌ی کودکان در ۲۰۱۳؛ YFAS 2.0 بر پایه‌ی DSM-5 با ۳۵ گویه، یازده علامت و سطوح خفیف، متوسط و شدید در ۲۰۱۶؛ و نسخه‌ی کوتاه ۱۳ گویه‌ای در ۲۰۱۷.</a:t>
            </a:r>
          </a:p>
          <a:p>
            <a:pPr rtl="1" algn="r">
              <a:spcAft>
                <a:spcPts val="600"/>
              </a:spcAft>
            </a:pPr>
            <a:r>
              <a:rPr lang="fa-IR" sz="1400" dirty="0">
                <a:cs typeface="Tahoma"/>
              </a:rPr>
              <a:t>خوشبختانه نسخه‌های فارسی هم اعتباریابی شده‌اند: قنبری و همکاران در ۴۵۱ دانشجو، تاجیک اسماعیلی و همکاران در کاندیداهای جراحی چاقی با آلفای کرونباخ ۰٫۸۹، و نیرومند سروندانی و همکاران با نمونه‌ی ۹۶۰۶ نفری.</a:t>
            </a:r>
          </a:p>
          <a:p>
            <a:pPr rtl="1" algn="r">
              <a:spcAft>
                <a:spcPts val="600"/>
              </a:spcAft>
            </a:pPr>
            <a:r>
              <a:rPr lang="fa-IR" sz="1400" dirty="0">
                <a:cs typeface="Tahoma"/>
              </a:rPr>
              <a:t>[اشاره به کادر قرمز] اما به مسئله‌ی «دَوری بودن» توجه کنید: ابزاری که از معیارهای مصرف مواد ساخته شده، به‌تنهایی نمی‌تواند وجود خودِ سازه را ثابت کند. پس هر عدد شیوع را باید «اعتیاد غذایی تعریف‌شده با YFAS» بخوانیم.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۰:۵۵   |   زمان تجمعی: ۱۲:۱۰</a:t>
            </a:r>
          </a:p>
          <a:p>
            <a:pPr rtl="1" algn="r">
              <a:spcAft>
                <a:spcPts val="600"/>
              </a:spcAft>
            </a:pPr>
            <a:r>
              <a:rPr lang="fa-IR" sz="1400" dirty="0">
                <a:cs typeface="Tahoma"/>
              </a:rPr>
              <a:t>شیوع اعتیاد غذایی تعریف‌شده با YFAS به این بستگی دارد که چه کسی، با کدام نسخه و کدام نقطه‌ی برش سنجیده شود: ۱۱٫۱ درصد در افراد با وزن طبیعی، حدود ۱۲ درصد در کودکان، ۱۴ درصد در بزرگسالان، ۲۴٫۹ درصد در افراد دارای اضافه‌وزن یا چاقی، ۳۲ درصد در کاندیداهای جراحی چاقی و بیش از ۵۰ درصد در اختلال پرخوری.</a:t>
            </a:r>
          </a:p>
          <a:p>
            <a:pPr rtl="1" algn="r">
              <a:spcAft>
                <a:spcPts val="600"/>
              </a:spcAft>
            </a:pPr>
            <a:r>
              <a:rPr lang="fa-IR" sz="1400" dirty="0">
                <a:cs typeface="Tahoma"/>
              </a:rPr>
              <a:t>دو احتیاط: یک متاآنالیز درباره‌ی پرخوری عصبی برآوردهایی داد که با مطالعات اولیه، که اغلب بالای ۸۰ تا ۹۵ درصد بودند، نمی‌خواند و اصلاحیه‌ی بعدی کم‌برآوردی را تأیید کرد. و مقایسه‌ی ۱۴ درصد اعتیاد غذایی با ۱۳٫۹ درصد اختلال مصرف الکل هم‌ارزی نیست؛ یکی از مصاحبه‌ی تشخیصی آمده و دیگری از خودگزارشی.</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۱۲:۵۵</a:t>
            </a:r>
          </a:p>
          <a:p>
            <a:pPr rtl="1" algn="r">
              <a:spcAft>
                <a:spcPts val="600"/>
              </a:spcAft>
            </a:pPr>
            <a:r>
              <a:rPr lang="fa-IR" sz="1400" dirty="0">
                <a:cs typeface="Tahoma"/>
              </a:rPr>
              <a:t>کدام غذاها بیشتر با خوردن اعتیادگونه مرتبط‌اند؟ در رتبه‌بندی ۳۵ غذا در مطالعه‌ی شولته در ۲۰۱۵، پیتزا، شکلات، چیپس، کلوچه، بستنی، سیب‌زمینی سرخ‌کرده، چیزبرگر و نوشابه در صدر بودند؛ همه فرآوری‌شده، پرچرب و با بار گلایسمی بالا. و خیار، هویج، لوبیا، سیب، برنج قهوه‌ای، بروکلی، موز و آب در انتهای فهرست.</a:t>
            </a:r>
          </a:p>
          <a:p>
            <a:pPr rtl="1" algn="r">
              <a:spcAft>
                <a:spcPts val="600"/>
              </a:spcAft>
            </a:pPr>
            <a:r>
              <a:rPr lang="fa-IR" sz="1400" dirty="0">
                <a:cs typeface="Tahoma"/>
              </a:rPr>
              <a:t>حامیان این دیدگاه به قیاس «پتانسیل سوءمصرف» اشاره می‌کنند: دوز بالاتر چربی و کربوهیدرات تصفیه‌شده در هر لقمه و سرعت جذب بیشتر. ولی این یک قیاس است، نه هم‌ارزی فارماکوکینتیک؛ هضم یک وعده‌ی غذا با رسیدن یک دارو به مغز یکی نیست.</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۰:۴۰   |   زمان تجمعی: ۱۳:۳۵</a:t>
            </a:r>
          </a:p>
          <a:p>
            <a:pPr rtl="1" algn="r">
              <a:spcAft>
                <a:spcPts val="600"/>
              </a:spcAft>
            </a:pPr>
            <a:r>
              <a:rPr lang="fa-IR" sz="1400" dirty="0">
                <a:cs typeface="Tahoma"/>
              </a:rPr>
              <a:t>ضعیف‌ترین حلقه‌ی این زنجیره «ترک» است. مقیاس ترک غذاهای بسیار فرآوری‌شده یا ProWS نشان داده افراد پس از کم کردن این غذاها تحریک‌پذیری، خستگی، بی‌قراری و ولع را گزارش می‌کنند، با اوج در روزهای دوم تا پنجم.</a:t>
            </a:r>
          </a:p>
          <a:p>
            <a:pPr rtl="1" algn="r">
              <a:spcAft>
                <a:spcPts val="600"/>
              </a:spcAft>
            </a:pPr>
            <a:r>
              <a:rPr lang="fa-IR" sz="1400" dirty="0">
                <a:cs typeface="Tahoma"/>
              </a:rPr>
              <a:t>[اشاره به نمودار ون] اما مسئله اینجاست: اگر فرد هم‌زمان شیرینی و کالری را کم کند، این علائم را نمی‌توان به «ترک قند» نسبت داد؛ کمبود عمومی انرژی هم همین علائم را می‌دهد. به‌علاوه، داده‌ها گذشته‌نگر و خودگزارشی‌اند، انتظار در کسانی که خود را «معتاد» می‌دانند اثر دارد و هیچ نشانگر زیستی عینی وجود ندارد.</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۱۳:۴۵</a:t>
            </a:r>
          </a:p>
          <a:p>
            <a:pPr rtl="1" algn="r">
              <a:spcAft>
                <a:spcPts val="600"/>
              </a:spcAft>
            </a:pPr>
            <a:r>
              <a:rPr lang="fa-IR" sz="1400" dirty="0">
                <a:cs typeface="Tahoma"/>
              </a:rPr>
              <a:t>بخش سوم: چرا ممکن است غذاهای فوق‌فرآوری‌شده متفاوت عمل کنند؟</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۱۴:۳۰</a:t>
            </a:r>
          </a:p>
          <a:p>
            <a:pPr rtl="1" algn="r">
              <a:spcAft>
                <a:spcPts val="600"/>
              </a:spcAft>
            </a:pPr>
            <a:r>
              <a:rPr lang="fa-IR" sz="1400" dirty="0">
                <a:cs typeface="Tahoma"/>
              </a:rPr>
              <a:t>این مدل مفهومی، کل استدلال را در یک تصویر خلاصه می‌کند. در سمت چپ سه ورودی داریم: ویژگی‌های محصول، یعنی فرآوری، ترکیب چربی و کربوهیدرات و بار گلایسمی؛ محیط غذایی، یعنی دسترسی، قیمت و بازاریابی؛ و آسیب‌پذیری فردی. این‌ها از راه دو دسته سازوکار میانجی عمل می‌کنند: پاسخ فیزیولوژیک، مثل جذب سریع و پیام‌رسانی روده و مغز، و مدارهای پاداش عصبی در جسم مخطط. خروجی، فنوتیپ رفتاری خوردن اعتیادگونه و در نهایت پیامدهای سلامت است.</a:t>
            </a:r>
          </a:p>
          <a:p>
            <a:pPr rtl="1" algn="r">
              <a:spcAft>
                <a:spcPts val="600"/>
              </a:spcAft>
            </a:pPr>
            <a:r>
              <a:rPr lang="fa-IR" sz="1400" dirty="0">
                <a:cs typeface="Tahoma"/>
              </a:rPr>
              <a:t>اما تأکید می‌کنم: فلش‌ها خط‌چین‌اند؛ یعنی مسیرهای فرضی‌اند، نه علیت اثبات‌شده. هر فلش یک پرسش پژوهشی قابل آزمون است.</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۱:۱۰   |   زمان تجمعی: ۱۵:۴۰</a:t>
            </a:r>
          </a:p>
          <a:p>
            <a:pPr rtl="1" algn="r">
              <a:spcAft>
                <a:spcPts val="600"/>
              </a:spcAft>
            </a:pPr>
            <a:r>
              <a:rPr lang="fa-IR" sz="1400" dirty="0">
                <a:cs typeface="Tahoma"/>
              </a:rPr>
              <a:t>دو سازوکار پیشنهادی مشخص. اول، سرعت تحویل: در علم اعتیاد، هرچه ماده سریع‌تر به مغز برسد، تقویت‌کنندگی‌اش بیشتر است. فرضیه این است که فرآوری، با تخریب ماتریکس و حذف فیبر، تحویل کربوهیدرات را سریع‌تر می‌کند. مطالعه‌ی کلاسیک هابر در ۱۹۷۷ مثال خوبی است: آب سیب بدون فیبر بسیار سریع‌تر از سیب کامل خورده شد، افزایش انسولین بیشتری داشت و بعد از آن افت برگشتی قند خون دیده شد. البته آب‌میوه لزوماً گروه چهار نیست؛ درس این مثال درباره‌ی ساختار غذاست.</a:t>
            </a:r>
          </a:p>
          <a:p>
            <a:pPr rtl="1" algn="r">
              <a:spcAft>
                <a:spcPts val="600"/>
              </a:spcAft>
            </a:pPr>
            <a:r>
              <a:rPr lang="fa-IR" sz="1400" dirty="0">
                <a:cs typeface="Tahoma"/>
              </a:rPr>
              <a:t>دوم، اثر فوق‌جمعی چربی و کربوهیدرات: دی‌فلیچه‌آنتونیو و همکاران نشان دادند غذاهایی که هر دو را دارند، تمایل به پرداخت بیشتر و پاسخ بزرگ‌تری در جسم مخطط ایجاد می‌کنند؛ بیش از جمع اثر هر کدام، حتی وقتی آشنایی، میزان علاقه و کالری یکسان بود. توضیح تکاملی این است که این ترکیب در غذاهای طبیعی نادر بوده؛ اما این فرضیه در انسان آزموده نشده و اثر فوق‌جمعی با اثر اعتیادآور یکی نیست.</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۱۶:۴۰</a:t>
            </a:r>
          </a:p>
          <a:p>
            <a:pPr rtl="1" algn="r">
              <a:spcAft>
                <a:spcPts val="600"/>
              </a:spcAft>
            </a:pPr>
            <a:r>
              <a:rPr lang="fa-IR" sz="1400" dirty="0">
                <a:cs typeface="Tahoma"/>
              </a:rPr>
              <a:t>درباره‌ی دوپامین سه مدل رقیب داریم که پیش‌بینی‌های متفاوتی دارند. مدل نقص پاداش می‌گوید سیگنال‌دهی کمتر دوپامین، فرد را به خوردن بیشتر برای رسیدن به همان پاداش وامی‌دارد؛ شاهد اصلی، مطالعه‌ی PET وانگ و ولکاو در ۲۰۰۱ است که دسترسی کمتر گیرنده‌ی D2 را در چاقی نشان داد، اما مقطعی بود و جهت علیت را نمی‌گوید؛ و مدل حیوانی جانسون و کنی که موش‌های تغذیه‌شده با رژیم کافه‌تریا حتی با وجود تنبیه به خوردن ادامه دادند.</a:t>
            </a:r>
          </a:p>
          <a:p>
            <a:pPr rtl="1" algn="r">
              <a:spcAft>
                <a:spcPts val="600"/>
              </a:spcAft>
            </a:pPr>
            <a:r>
              <a:rPr lang="fa-IR" sz="1400" dirty="0">
                <a:cs typeface="Tahoma"/>
              </a:rPr>
              <a:t>مدل حساس‌سازی انگیزشی رابینسون و بریج می‌گوید «خواستن» حساس می‌شود، بی‌آنکه «لذت بردن» بیشتر شود. و مدل عادت تا اجبار اوریت و رابینز می‌گوید کنترل رفتار از هدف‌محور به عادتی و به جسم مخطط پشتی منتقل می‌شود. [اشاره به کادر پایین] هشدار مهم: استناد گزینشی به یافته‌هایی که با یک مدل جور درمی‌آیند، سازه را به‌طور مصنوعی تقویت می‌کند.</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۱۷:۴۰</a:t>
            </a:r>
          </a:p>
          <a:p>
            <a:pPr rtl="1" algn="r">
              <a:spcAft>
                <a:spcPts val="600"/>
              </a:spcAft>
            </a:pPr>
            <a:r>
              <a:rPr lang="fa-IR" sz="1400" dirty="0">
                <a:cs typeface="Tahoma"/>
              </a:rPr>
              <a:t>سیستم‌های دیگر: اوپیوئیدها با «لذت بردن» مرتبط‌اند و واریانت‌های OPRM1 و DRD2 در اختلال پرخوری بررسی شده‌اند؛ اما همبستگی، علیت نیست. شواهد ژنتیکی ضعیف است: یافته‌های ژن‌های کاندید مثل DRD2 Taq1A خوب تکرار نشده‌اند و امروز رویکردهای ژنوم‌گستر ترجیح داده می‌شوند. اندوکانابینوئیدها یک درس عبرت‌اند: ریمونابانت، آنتاگونیست گیرنده‌ی CB1، وزن را کم کرد، اما به دلیل افسردگی و افکار خودکشی از بازار اروپا خارج شد.</a:t>
            </a:r>
          </a:p>
          <a:p>
            <a:pPr rtl="1" algn="r">
              <a:spcAft>
                <a:spcPts val="600"/>
              </a:spcAft>
            </a:pPr>
            <a:r>
              <a:rPr lang="fa-IR" sz="1400" dirty="0">
                <a:cs typeface="Tahoma"/>
              </a:rPr>
              <a:t>و داروهای مبتنی بر GLP-1: سماگلوتاید در یک کارآزمایی کوچک ۳۰ نفره ولع غذا را کم کرد؛ و در یک کارآزمایی ۴۸ نفره در اختلال مصرف الکل، تعداد نوشیدنی در روزهای مصرف و ولع کاهش یافت، اما تعداد روزهای مصرف تغییری نکرد. این شواهد فرضیه‌سازند: کاهش ولع پس از یک دارو اعتیاد را ثابت نمی‌کند، چون این داروها اشتها، سیری و دریافت را هم تغییر می‌دهند.</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۱۷:۵۰</a:t>
            </a:r>
          </a:p>
          <a:p>
            <a:pPr rtl="1" algn="r">
              <a:spcAft>
                <a:spcPts val="600"/>
              </a:spcAft>
            </a:pPr>
            <a:r>
              <a:rPr lang="fa-IR" sz="1400" dirty="0">
                <a:cs typeface="Tahoma"/>
              </a:rPr>
              <a:t>بخش چهارم: کارآزمایی‌ها و کوهورت‌ها واقعاً چه نشان می‌دهند؟</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۱۸:۵۰</a:t>
            </a:r>
          </a:p>
          <a:p>
            <a:pPr rtl="1" algn="r">
              <a:spcAft>
                <a:spcPts val="600"/>
              </a:spcAft>
            </a:pPr>
            <a:r>
              <a:rPr lang="fa-IR" sz="1400" dirty="0">
                <a:cs typeface="Tahoma"/>
              </a:rPr>
              <a:t>مهم‌ترین شاهد تجربی، کارآزمایی بستری هال و همکاران در ۲۰۱۹ است. بیست بزرگسال چهار هفته بستری شدند و به ترتیب تصادفی، دو هفته رژیم فوق‌فرآوری‌شده و دو هفته رژیم کم‌فرآوری‌شده گرفتند؛ دو رژیم از نظر انرژی ارائه‌شده، درشت‌مغذی‌ها، قند، سدیم و فیبر جور شده بودند و افراد هرقدر می‌خواستند می‌خوردند.</a:t>
            </a:r>
          </a:p>
          <a:p>
            <a:pPr rtl="1" algn="r">
              <a:spcAft>
                <a:spcPts val="600"/>
              </a:spcAft>
            </a:pPr>
            <a:r>
              <a:rPr lang="fa-IR" sz="1400" dirty="0">
                <a:cs typeface="Tahoma"/>
              </a:rPr>
              <a:t>[اشاره به نمودار] نتیجه: ۵۰۸ کیلوکالری دریافت بیشتر در روز، عمدتاً از کربوهیدرات و چربی، نه پروتئین؛ ۰٫۹ کیلوگرم افزایش وزن در برابر ۰٫۹ کیلوگرم کاهش؛ و سرعت خوردن ۴۸ در برابر ۳۱ کیلوکالری در دقیقه. ثابت ماندن پروتئین با فرضیه‌ی اهرم پروتئین سازگار است، ولی کارآزمایی برای آزمون آن طراحی نشده بود.</a:t>
            </a:r>
          </a:p>
          <a:p>
            <a:pPr rtl="1" algn="r">
              <a:spcAft>
                <a:spcPts val="600"/>
              </a:spcAft>
            </a:pPr>
            <a:r>
              <a:rPr lang="fa-IR" sz="1400" dirty="0">
                <a:cs typeface="Tahoma"/>
              </a:rPr>
              <a:t>محدودیت‌ها: نمونه‌ی کوچک، مدت کوتاه، شرایط بستری و تفاوت هم‌زمان در چگالی انرژی بخش غیرنوشیدنی و سرعت خوردن؛ و مهم‌تر از همه، هیچ سنجشی از خوردن اعتیادگونه نداشت.</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۱۹:۴۰</a:t>
            </a:r>
          </a:p>
          <a:p>
            <a:pPr rtl="1" algn="r">
              <a:spcAft>
                <a:spcPts val="600"/>
              </a:spcAft>
            </a:pPr>
            <a:r>
              <a:rPr lang="fa-IR" sz="1400" dirty="0">
                <a:cs typeface="Tahoma"/>
              </a:rPr>
              <a:t>کارآزمایی جدیدتر، مطالعه‌ی متقاطع دیکن و همکاران در ۲۰۲۵ در انگلستان است: ۵۵ نفر تصادفی‌سازی و ۵۰ نفر تحلیل شدند، با نمایه‌ی توده‌ی بدنی ۲۵ تا کمتر از ۴۰ و مصرف معمول دست‌کم ۵۰ درصد انرژی از این غذاها؛ هر رژیم هشت هفته، با چهار هفته دوره‌ی شست‌وشو. نکته‌ی جالب: هر دو رژیم بر اساس راهنمای غذایی رسمی بریتانیا طراحی شدند.</a:t>
            </a:r>
          </a:p>
          <a:p>
            <a:pPr rtl="1" algn="r">
              <a:spcAft>
                <a:spcPts val="600"/>
              </a:spcAft>
            </a:pPr>
            <a:r>
              <a:rPr lang="fa-IR" sz="1400" dirty="0">
                <a:cs typeface="Tahoma"/>
              </a:rPr>
              <a:t>هر دو رژیم کاهش وزن دادند، اما رژیم کم‌فرآوری‌شده ۲٫۰۶ درصد در برابر ۱٫۰۵ درصد؛ تفاوت ۱٫۰۱ واحد درصد، با فاصله‌ی اطمینان منفی ۱٫۸۷ تا منفی ۰٫۱۴. اما مثل هال، این رژیم‌ها بسته‌ای از ویژگی‌ها بودند، یعنی چگالی انرژی، سرعت خوردن و خوش‌طعمی، و «فرآوری» به‌تنهایی جدا نشده است.</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۰:۵۵   |   زمان تجمعی: ۲۰:۳۵</a:t>
            </a:r>
          </a:p>
          <a:p>
            <a:pPr rtl="1" algn="r">
              <a:spcAft>
                <a:spcPts val="600"/>
              </a:spcAft>
            </a:pPr>
            <a:r>
              <a:rPr lang="fa-IR" sz="1400" dirty="0">
                <a:cs typeface="Tahoma"/>
              </a:rPr>
              <a:t>مرور چتری لین و همکاران در BMJ، سال ۲۰۲۴: ۴۵ تحلیل تجمیعی از ۱۴ متاآنالیز با حدود ۹٫۹ میلیون مشارکت؛ توجه کنید، «مشارکت»، نه فرد منحصربه‌فرد. ۳۲ مورد از ۴۵، یعنی ۷۱ درصد، ارتباط مستقیم با آسیب نشان دادند. شواهد «قانع‌کننده» یا کلاس یک برای مرگ قلبی‌عروقی با خطر نسبی ۱٫۵۰، دیابت نوع دو به ازای هر ۱۰ درصد افزایش سهم انرژی با ۱٫۱۲، اضطراب و اختلالات روانی شایع به دست آمد.</a:t>
            </a:r>
          </a:p>
          <a:p>
            <a:pPr rtl="1" algn="r">
              <a:spcAft>
                <a:spcPts val="600"/>
              </a:spcAft>
            </a:pPr>
            <a:r>
              <a:rPr lang="fa-IR" sz="1400" dirty="0">
                <a:cs typeface="Tahoma"/>
              </a:rPr>
              <a:t>[اشاره به ستون GRADE] اما همین مرگ قلبی‌عروقیِ کلاس یک، قطعیت «بسیار پایین» دارد. در کل هیچ پیامدی قطعیت بالا نداشت: ۴ متوسط، ۲۲ پایین و ۱۹ بسیار پایین. پیام: «کلاس اعتبار» یک ارتباط با «قطعیت شواهد» یکی نیست، و شواهد عمدتاً مشاهده‌ای است.</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۲۱:۲۵</a:t>
            </a:r>
          </a:p>
          <a:p>
            <a:pPr rtl="1" algn="r">
              <a:spcAft>
                <a:spcPts val="600"/>
              </a:spcAft>
            </a:pPr>
            <a:r>
              <a:rPr lang="fa-IR" sz="1400" dirty="0">
                <a:cs typeface="Tahoma"/>
              </a:rPr>
              <a:t>کوهورت‌های بزرگ هم سیگنال‌های سازگار ولی پیامدهای ناهمگن نشان می‌دهند. در NutriNet-Santé فرانسه با حدود ۱۰۵ هزار نفر، هر ۱۰ درصد افزایش سهم انرژی با ۱۲ درصد افزایش خطر کل سرطان و ۱۱ درصد سرطان پستان همراه بود، حتی پس از تعدیل کیفیت رژیم. در EPIC، الگو در ۲۵ محل سرطان یکسان نبود. و در کوهورت قند و لیپید تهران، خطر پیش‌دیابت ۲۸ درصد بیشتر بود، اما ارتباطی با دیابت نوع دو دیده نشد.</a:t>
            </a:r>
          </a:p>
          <a:p>
            <a:pPr rtl="1" algn="r">
              <a:spcAft>
                <a:spcPts val="600"/>
              </a:spcAft>
            </a:pPr>
            <a:r>
              <a:rPr lang="fa-IR" sz="1400" dirty="0">
                <a:cs typeface="Tahoma"/>
              </a:rPr>
              <a:t>[اشاره به کادر قرمز] اما مهم‌ترین نکته‌ی این بخش: هیچ‌کدام از این کارآزمایی‌ها، مرور چتری یا کوهورت‌ها، خوردن اعتیادگونه یا نمره‌ی YFAS را نسنجیده‌اند. همه به ادعای الف پاسخ می‌دهند، نه ادعای ب.</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۲۱:۳۵</a:t>
            </a:r>
          </a:p>
          <a:p>
            <a:pPr rtl="1" algn="r">
              <a:spcAft>
                <a:spcPts val="600"/>
              </a:spcAft>
            </a:pPr>
            <a:r>
              <a:rPr lang="fa-IR" sz="1400" dirty="0">
                <a:cs typeface="Tahoma"/>
              </a:rPr>
              <a:t>بخش پنجم: آیا «اعتیادآور» واژه‌ی درستی است؟</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۲۲:۳۵</a:t>
            </a:r>
          </a:p>
          <a:p>
            <a:pPr rtl="1" algn="r">
              <a:spcAft>
                <a:spcPts val="600"/>
              </a:spcAft>
            </a:pPr>
            <a:r>
              <a:rPr lang="fa-IR" sz="1400" dirty="0">
                <a:cs typeface="Tahoma"/>
              </a:rPr>
              <a:t>دو روایت رقیب. موافقان، به‌ویژه گیرهارت و دی‌فلیچه‌آنتونیو در ۲۰۲۳، معیارهایی را به کار می‌برند که گزارش جراح عمومی آمریکا در ۱۹۸۸ برای اعتیادآور بودن تنباکو استفاده کرد: مصرف اجباری، اثرات روان‌گردان، تقویت‌کنندگی، و معیار چهارمی که بعدها افزوده شد، یعنی ولع شدید. به نظر آن‌ها غذاهای بسیار فرآوری‌شده هر چهار معیار را دارند و لازم نیست «ماده‌ی فعال» واحدی پیدا کنیم؛ همان‌طور که در تنباکو، سرعت تحویل و طراحی محصول اهمیت دارد.</a:t>
            </a:r>
          </a:p>
          <a:p>
            <a:pPr rtl="1" algn="r">
              <a:spcAft>
                <a:spcPts val="600"/>
              </a:spcAft>
            </a:pPr>
            <a:r>
              <a:rPr lang="fa-IR" sz="1400" dirty="0">
                <a:cs typeface="Tahoma"/>
              </a:rPr>
              <a:t>مخالفان سه استدلال دارند: عامل اعتیادآور مشخص نشده؛ قند؟ چربی؟ ترکیب آن‌ها؟ شواهد تصویربرداری انسانی ناهمگن و گاه متناقض است. و واژه نادرست است؛ هبه‌براند پیشنهاد می‌کند «اعتیاد به خوردن» بگوییم، چون رفتار اعتیادگونه است، نه ماده. این بحث هنوز زنده است؛ از مناظره‌ی فلچر و کنی در ۲۰۱۸ تا مناظره‌ی رسمی ۲۰۲۱.</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۰:۴۵   |   زمان تجمعی: ۲۳:۲۰</a:t>
            </a:r>
          </a:p>
          <a:p>
            <a:pPr rtl="1" algn="r">
              <a:spcAft>
                <a:spcPts val="600"/>
              </a:spcAft>
            </a:pPr>
            <a:r>
              <a:rPr lang="fa-IR" sz="1400" dirty="0">
                <a:cs typeface="Tahoma"/>
              </a:rPr>
              <a:t>پیش از استناد به اعتیاد، باید توضیح‌های ساده‌تر را بررسی کنیم: چگالی انرژی، یعنی انرژی بیشتر در همان حجم؛ اهرم پروتئین، یعنی رقیق شدن پروتئین ما را وادار می‌کند برای رسیدن به هدف پروتئینی بیشتر بخوریم؛ سرعت خوردن، به دلیل بافت نرم و جویدن کمتر؛ و چرخه‌ی محدودیت و پرخوری. این توضیح‌ها رقیب انحصاری مدل اعتیاد نیستند؛ وزن هر کدام در افراد مختلف فرق می‌کند و مدل اعتیاد شاید در یک زیرگروه آسیب‌پذیر قدرت تبیینی بیشتری داشته باشد.</a:t>
            </a:r>
          </a:p>
          <a:p>
            <a:pPr rtl="1" algn="r">
              <a:spcAft>
                <a:spcPts val="600"/>
              </a:spcAft>
            </a:pPr>
            <a:r>
              <a:rPr lang="fa-IR" sz="1400" dirty="0">
                <a:cs typeface="Tahoma"/>
              </a:rPr>
              <a:t>[اشاره به سمت راست] محدودیت‌های روش‌شناختی شواهد هم این‌هاست: طبقه‌بندی نادرست در ابزارهای سنجش رژیم، مخدوش‌کنندگی باقیمانده، علیت معکوس، سوگیری معناداری اضافی و خودگزارشی بودن YFAS.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۲۳:۳۰</a:t>
            </a:r>
          </a:p>
          <a:p>
            <a:pPr rtl="1" algn="r">
              <a:spcAft>
                <a:spcPts val="600"/>
              </a:spcAft>
            </a:pPr>
            <a:r>
              <a:rPr lang="fa-IR" sz="1400" dirty="0">
                <a:cs typeface="Tahoma"/>
              </a:rPr>
              <a:t>بخش ششم: بی‌آنکه این مناظره حل شود، چه می‌توان کرد؟</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۲۴:۲۰</a:t>
            </a:r>
          </a:p>
          <a:p>
            <a:pPr rtl="1" algn="r">
              <a:spcAft>
                <a:spcPts val="600"/>
              </a:spcAft>
            </a:pPr>
            <a:r>
              <a:rPr lang="fa-IR" sz="1400" dirty="0">
                <a:cs typeface="Tahoma"/>
              </a:rPr>
              <a:t>هرم تأثیر سلامت فریدن پاسخ را نشان می‌دهد. در رأس هرم، مشاوره و آموزش است که بیشترین تلاش فردی را می‌طلبد و کمترین تأثیر جمعیتی را دارد؛ در قاعده، عوامل اجتماعی‌اقتصادی و تغییر بستر، به‌گونه‌ای که انتخاب سالم، انتخاب پیش‌فرض شود. اگر محصولات و محیط، دریافت را بیش از نیاز بالا می‌برند، آموزش به‌تنهایی بار تغییر را بر دوش فرد می‌گذارد.</a:t>
            </a:r>
          </a:p>
          <a:p>
            <a:pPr rtl="1" algn="r">
              <a:spcAft>
                <a:spcPts val="600"/>
              </a:spcAft>
            </a:pPr>
            <a:r>
              <a:rPr lang="fa-IR" sz="1400" dirty="0">
                <a:cs typeface="Tahoma"/>
              </a:rPr>
              <a:t>از نظر عدالت هم، مداخلات ساختاری و مالی می‌توانند شکاف‌ها را کم کنند؛ در مکزیک بیشترین کاهش خرید در کم‌درآمدترین خانوارها بود. اما دقت کنید: بیشتر ارزشیابی‌ها خرید، اصلاح فرمولاسیون یا مواجهه با تبلیغات را می‌سنجند، نه دریافت یا بیماری را.</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۲۵:۱۰</a:t>
            </a:r>
          </a:p>
          <a:p>
            <a:pPr rtl="1" algn="r">
              <a:spcAft>
                <a:spcPts val="600"/>
              </a:spcAft>
            </a:pPr>
            <a:r>
              <a:rPr lang="fa-IR" sz="1400" dirty="0">
                <a:cs typeface="Tahoma"/>
              </a:rPr>
              <a:t>قانون ۲۰۶۰۶ شیلی، که از ۲۰۱۶ مرحله‌به‌مرحله اجرا شد، یک بسته‌ی سیاستی سه‌جزئی است: برچسب هشدار هشت‌ضلعی سیاه برای محصولات «پرقند»، «پرسدیم»، «پرچربی اشباع» و «پرکالری»؛ محدودیت بازاریابی برای کودکان؛ و ممنوعیت فروش این محصولات در مدارس.</a:t>
            </a:r>
          </a:p>
          <a:p>
            <a:pPr rtl="1" algn="r">
              <a:spcAft>
                <a:spcPts val="600"/>
              </a:spcAft>
            </a:pPr>
            <a:r>
              <a:rPr lang="fa-IR" sz="1400" dirty="0">
                <a:cs typeface="Tahoma"/>
              </a:rPr>
              <a:t>[اشاره به نمودار] نتایج در مقایسه با سناریوی خلاف واقع: در سال اول، خرید نوشیدنی‌های مشمول ۲۳٫۷ درصد کمتر بود؛ و پس از سه سال، قند خریداری‌شده از محصولات مشمول ۳۶٫۸ درصد، سدیم ۲۱٫۹، چربی اشباع ۱۵٫۷ و انرژی ۲۳ درصد کمتر بود؛ در کل سبد خرید، کاهش خالص بین ۸٫۳ تا ۲۰٫۲ درصد. اما این اثرِ کل بسته است، نه برچسب به‌تنهایی؛ و خرید با دریافت یکی نیست.</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۱:۱۰   |   زمان تجمعی: ۲۶:۲۰</a:t>
            </a:r>
          </a:p>
          <a:p>
            <a:pPr rtl="1" algn="r">
              <a:spcAft>
                <a:spcPts val="600"/>
              </a:spcAft>
            </a:pPr>
            <a:r>
              <a:rPr lang="fa-IR" sz="1400" dirty="0">
                <a:cs typeface="Tahoma"/>
              </a:rPr>
              <a:t>مالیات نوشیدنی‌های شیرین، با دو طراحی متفاوت. مکزیک در ۲۰۱۴ مالیات ثابت یک پزو در هر لیتر گذاشت: خرید در سال اول ۵٫۵ درصد و در سال دوم ۹٫۷ درصد کم شد، یعنی میانگین ۷٫۶ درصد، و در کم‌درآمدترین خانوارها ۹ و ۱۴٫۳ درصد. البته عدالت خودکار نیست؛ بار مالی تنازلی و جایگزینی باید سنجیده شود.</a:t>
            </a:r>
          </a:p>
          <a:p>
            <a:pPr rtl="1" algn="r">
              <a:spcAft>
                <a:spcPts val="600"/>
              </a:spcAft>
            </a:pPr>
            <a:r>
              <a:rPr lang="fa-IR" sz="1400" dirty="0">
                <a:cs typeface="Tahoma"/>
              </a:rPr>
              <a:t>بریتانیا در ۲۰۱۸ مالیات پلکانی بر پایه‌ی محتوای قند اجرا کرد: ۲۴ پنس در هر لیتر برای ۸ گرم و بیشتر در ۱۰۰ میلی‌لیتر، ۱۸ پنس برای ۵ تا کمتر از ۸ گرم و معافیت زیر ۵ گرم. این طراحی تولیدکنندگان را به اصلاح فرمول واداشت: تا فوریه‌ی ۲۰۱۹ فقط ۱۵٫۴ درصد نوشیدنی‌ها بالای آستانه‌ی پایین ماندند، یعنی ۳۳٫۸ واحد درصد کمتر از روند پیش از سیاست.</a:t>
            </a:r>
          </a:p>
          <a:p>
            <a:pPr rtl="1" algn="r">
              <a:spcAft>
                <a:spcPts val="600"/>
              </a:spcAft>
            </a:pPr>
            <a:r>
              <a:rPr lang="fa-IR" sz="1400" dirty="0">
                <a:cs typeface="Tahoma"/>
              </a:rPr>
              <a:t>[اشاره به کادر پایین] برای ایران، مالیات پلکانی بر حسب گرم قند ارزش مدل‌سازی دارد، نه توصیه‌ی قطعی؛ و به داده‌های کشش قیمتی، جایگزینی، تورم و توان اجرا نیاز دارد.</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۲۷:۲۰</a:t>
            </a:r>
          </a:p>
          <a:p>
            <a:pPr rtl="1" algn="r">
              <a:spcAft>
                <a:spcPts val="600"/>
              </a:spcAft>
            </a:pPr>
            <a:r>
              <a:rPr lang="fa-IR" sz="1400" dirty="0">
                <a:cs typeface="Tahoma"/>
              </a:rPr>
              <a:t>سه اهرم دیگر. بازاریابی برای کودکان: سازمان جهانی بهداشت از ۲۰۱۰ توصیه‌هایی دارد؛ بریتانیا از ۵ ژانویه‌ی ۲۰۲۶ تبلیغ تلویزیونی محصولات «کم‌سالم» پیش از ساعت ۹ شب و تبلیغات آنلاین پولی را محدود کرده؛ و در شیلی مواجهه‌ی کودکان پیش‌دبستانی با این تبلیغات ۴۴ درصد و نوجوانان ۵۸ درصد کم شد. محیط غذایی مدرسه. و راهنماهای غذایی مبتنی بر فرآوری، با «قاعده‌ی طلایی» راهنمای برزیل: همیشه غذای طبیعی یا کم‌فرآوری‌شده و وعده‌های تازه‌پخت را به غذای فوق‌فرآوری‌شده ترجیح دهید.</a:t>
            </a:r>
          </a:p>
          <a:p>
            <a:pPr rtl="1" algn="r">
              <a:spcAft>
                <a:spcPts val="600"/>
              </a:spcAft>
            </a:pPr>
            <a:r>
              <a:rPr lang="fa-IR" sz="1400" dirty="0">
                <a:cs typeface="Tahoma"/>
              </a:rPr>
              <a:t>و قیاس تنباکو: شرکت‌های تنباکوی آمریکا بین ۱۹۸۰ تا ۲۰۰۱ مالک شرکت‌های بزرگ غذایی بودند و محصولاتشان احتمال بیشتری داشت که فوق‌خوش‌طعم باشند. این قیاس برای تحلیل «عوامل تجاری تعیین‌کننده‌ی سلامت» مفید است، اما محدودیت دارد: غذا ضروری است، این گروه ناهمگن است و «نیکوتین» واحدی ندارد.</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۰:۴۰   |   زمان تجمعی: ۲۸:۰۰</a:t>
            </a:r>
          </a:p>
          <a:p>
            <a:pPr rtl="1" algn="r">
              <a:spcAft>
                <a:spcPts val="600"/>
              </a:spcAft>
            </a:pPr>
            <a:r>
              <a:rPr lang="fa-IR" sz="1400" dirty="0">
                <a:cs typeface="Tahoma"/>
              </a:rPr>
              <a:t>این جدول گزینه‌های ایران را جمع‌بندی می‌کند: برای هر مداخله، اثر مستندشده، که همه پیامدهای میانی‌اند، و تسهیل‌کننده و مانع در ایران. مثلاً برای بسته‌ی برچسب هشدار، زیرساخت موجود برچسب‌گذاری تغذیه‌ای تسهیل‌کننده است و بازنگری مقررات، هماهنگی بین‌بخشی و مقاومت صنعت مانع. ستون‌های امکان‌پذیری، ارزیابی کیفی من است، نه تحلیل رسمی ذی‌نفعان.</a:t>
            </a:r>
          </a:p>
          <a:p>
            <a:pPr rtl="1" algn="r">
              <a:spcAft>
                <a:spcPts val="600"/>
              </a:spcAft>
            </a:pPr>
            <a:r>
              <a:rPr lang="fa-IR" sz="1400" dirty="0">
                <a:cs typeface="Tahoma"/>
              </a:rPr>
              <a:t>[اشاره به ردیف برجسته] ردیف آخر را برجسته کرده‌ام: پایش ملی مصرف این غذاها. این پیش‌نیاز ارزشیابی همه‌ی مداخلات دیگر است؛ بدون داده‌ی پایه نمی‌توانیم بفهمیم هیچ سیاستی اثر داشته یا نه.</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۰:۱۰   |   زمان تجمعی: ۲۸:۱۰</a:t>
            </a:r>
          </a:p>
          <a:p>
            <a:pPr rtl="1" algn="r">
              <a:spcAft>
                <a:spcPts val="600"/>
              </a:spcAft>
            </a:pPr>
            <a:r>
              <a:rPr lang="fa-IR" sz="1400" dirty="0">
                <a:cs typeface="Tahoma"/>
              </a:rPr>
              <a:t>بخش هفتم: چه کسانی بیشتر در معرض خطرند و پیام ما به بالین چیست؟</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۱:۱۵   |   زمان تجمعی: ۲۹:۲۵</a:t>
            </a:r>
          </a:p>
          <a:p>
            <a:pPr rtl="1" algn="r">
              <a:spcAft>
                <a:spcPts val="600"/>
              </a:spcAft>
            </a:pPr>
            <a:r>
              <a:rPr lang="fa-IR" sz="1400" dirty="0">
                <a:cs typeface="Tahoma"/>
              </a:rPr>
              <a:t>سه گروه آسیب‌پذیر. کودکان و نوجوانان: شیوع اعتیاد غذایی تعریف‌شده با YFAS حدود ۱۵ درصد در کل نمونه‌ها، ۱۲ درصد در نمونه‌های جامعه و ۱۹ درصد در کودکان دارای اضافه‌وزن یا چاقی است؛ کنترل پیش‌پیشانی هنوز در حال بلوغ است، مواجهه با بازاریابی زیاد است و ترجیحات غذایی زود شکل می‌گیرند، هرچند قابل تغییر می‌مانند.</a:t>
            </a:r>
          </a:p>
          <a:p>
            <a:pPr rtl="1" algn="r">
              <a:spcAft>
                <a:spcPts val="600"/>
              </a:spcAft>
            </a:pPr>
            <a:r>
              <a:rPr lang="fa-IR" sz="1400" dirty="0">
                <a:cs typeface="Tahoma"/>
              </a:rPr>
              <a:t>چاقی و اختلالات خوردن: رابطه همبستگی است، نه یکسانی؛ ۱۱٫۱ درصد در وزن طبیعی در برابر ۲۴٫۹ درصد در اضافه‌وزن؛ پس نمایه‌ی توده‌ی بدنی جانشین مناسبی برای این رفتار نیست. در اختلال پرخوری هم‌پوشانی زیاد اما ناقص است.</a:t>
            </a:r>
          </a:p>
          <a:p>
            <a:pPr rtl="1" algn="r">
              <a:spcAft>
                <a:spcPts val="600"/>
              </a:spcAft>
            </a:pPr>
            <a:r>
              <a:rPr lang="fa-IR" sz="1400" dirty="0">
                <a:cs typeface="Tahoma"/>
              </a:rPr>
              <a:t>سلامت روان و درآمد: نسبت شانس ۱٫۴۴ برای افسردگی و ۱٫۴۸ برای اضطراب، عمدتاً از مطالعات مقطعی و احتمالاً دوسویه. در ایران، تورم با مصرف بیشتر غلات و کمتر میوه همراه بوده و در دوره‌ی تحریم، مصرف بیشتر گروه‌های غذایی، به‌ویژه در خانوارهای کم‌درآمد، کاهش و مصرف نان افزایش یافته است. پس هر سیاست محدودکننده باید جایگزین سالمِ مقرون‌به‌صرفه را تضمین کند.</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۱:۰۰   |   زمان تجمعی: ۳۰:۲۵</a:t>
            </a:r>
          </a:p>
          <a:p>
            <a:pPr rtl="1" algn="r">
              <a:spcAft>
                <a:spcPts val="600"/>
              </a:spcAft>
            </a:pPr>
            <a:r>
              <a:rPr lang="fa-IR" sz="1400" dirty="0">
                <a:cs typeface="Tahoma"/>
              </a:rPr>
              <a:t>در بالین: آیا باید به بیمار بگوییم «غذاهای محرک» را کاملاً کنار بگذارد؟ غذا را نمی‌توان کنار گذاشت؛ پیشنهادها به غذاها یا ویژگی‌های خاص محدود می‌شود. الگوهای حمایت همتا، مثل پرخوران گمنام، درمان مبتنی بر شواهد نیستند؛ فقط یک مطالعه‌ی آزمایشی ۱۰ تا ۱۴ هفته‌ای داریم؛ و محدودسازی خودش می‌تواند پرخوری را تداوم بخشد. در مقابل، درمان شناختی‌رفتاری و درمان بین‌فردی در اختلال پرخوری شواهد قوی دارند و کاهش آسیب در درمان اعتیاد هم پذیرفته است.</a:t>
            </a:r>
          </a:p>
          <a:p>
            <a:pPr rtl="1" algn="r">
              <a:spcAft>
                <a:spcPts val="600"/>
              </a:spcAft>
            </a:pPr>
            <a:r>
              <a:rPr lang="fa-IR" sz="1400" dirty="0">
                <a:cs typeface="Tahoma"/>
              </a:rPr>
              <a:t>انگ هم دولبه است: در یک آزمایش، قاب‌بندی اعتیاد سرزنش را کم کرد؛ اما باور به اعتیاد غذایی ممکن است به محدودسازی، ولع و پرخوری بینجامد، که هنوز فرضیه است. نتیجه‌ی بالینی: توصیه‌ی عمومی به پرهیز نکنیم، پس از ارزیابی بالینی فردی‌سازی کنیم و از زبان اعتیاد طوری استفاده کنیم که عاملیت فرد نادیده گرفته نشود.</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۰:۵۰   |   زمان تجمعی: ۳۱:۱۵</a:t>
            </a:r>
          </a:p>
          <a:p>
            <a:pPr rtl="1" algn="r">
              <a:spcAft>
                <a:spcPts val="600"/>
              </a:spcAft>
            </a:pPr>
            <a:r>
              <a:rPr lang="fa-IR" sz="1400" dirty="0">
                <a:cs typeface="Tahoma"/>
              </a:rPr>
              <a:t>محدودیت‌های این مرور: روایتی است و ممکن است سوگیری انتخاب داشته باشد؛ معیارها از پیش تعیین نشده و GRADE یکسان اعمال نشده؛ نتایج کارآزمایی چهاربازویی NIH هنوز منتشر نشده؛ شواهد ایرانی پراکنده است؛ و این حوزه به‌سرعت تغییر می‌کند.</a:t>
            </a:r>
          </a:p>
          <a:p>
            <a:pPr rtl="1" algn="r">
              <a:spcAft>
                <a:spcPts val="600"/>
              </a:spcAft>
            </a:pPr>
            <a:r>
              <a:rPr lang="fa-IR" sz="1400" dirty="0">
                <a:cs typeface="Tahoma"/>
              </a:rPr>
              <a:t>هشت شکاف پژوهشی روی اسلاید است؛ از شناسایی عامل فعال با کارآزمایی‌های عاملی و اعتبار سازه‌ی YFAS با مصاحبه‌ی ساختاریافته، تا کارآزمایی حذف انتخابی با انرژی یکسان برای بررسی ترک. [اشاره به دو کارت قرمز] اما دو شکاف آخر اولویت مستقیم جامعه‌ی تغذیه‌ی ماست: افزودن ماژول فرآوری به پیمایش ملی تغذیه، با ثبت نام و برند محصول، فهرست ترکیبات و نوع بسته‌بندی؛ و ارزشیابی برچسب‌های رنگی ایران با تحلیل سری زمانی منقطع.</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۱:۱۰   |   زمان تجمعی: ۳۲:۲۵</a:t>
            </a:r>
          </a:p>
          <a:p>
            <a:pPr rtl="1" algn="r">
              <a:spcAft>
                <a:spcPts val="600"/>
              </a:spcAft>
            </a:pPr>
            <a:r>
              <a:rPr lang="fa-IR" sz="1400" dirty="0">
                <a:cs typeface="Tahoma"/>
              </a:rPr>
              <a:t>پنج پیام اصلی. یک: غذاهای فوق‌فرآوری‌شده با دریافت انرژی بیشتر، افزایش وزن و ۳۲ پیامد از ۴۵ پیامد مرتبط‌اند؛ شواهد نسبتاً قوی است، هرچند قطعیت شواهد مشاهده‌ای بیشتر پایین است. دو: اعتیاد غذایی حل‌نشده است؛ نه رد شده، نه اثبات. سه: موضعی باز و قابل آزمون؛ چگالی انرژی، سرعت خوردن و اهرم پروتئین بخش بزرگی را توضیح می‌دهند و اعتیاد شاید فقط برای زیرگروهی صدق کند که هنوز تعریف نشده. چهار: می‌توان همین حالا عمل کرد؛ برچسب، مالیات و محدودیت بازاریابی و فروش در مدارس، خرید، فرمولاسیون و مواجهه با تبلیغات را تغییر می‌دهند.</a:t>
            </a:r>
          </a:p>
          <a:p>
            <a:pPr rtl="1" algn="r">
              <a:spcAft>
                <a:spcPts val="600"/>
              </a:spcAft>
            </a:pPr>
            <a:r>
              <a:rPr lang="fa-IR" sz="1400" dirty="0">
                <a:cs typeface="Tahoma"/>
              </a:rPr>
              <a:t>و پنج، سه اولویت برای ایران: پایش ملی منظم، تقویت و ارزشیابی نظام برچسب‌گذاری موجود و حفاظت از محیط غذایی مدارس؛ این‌ها اولویت‌هایی برای ارزشیابی‌اند، نه توصیه‌هایی مبتنی بر شواهد ایرانی.</a:t>
            </a:r>
          </a:p>
          <a:p>
            <a:pPr rtl="1" algn="r">
              <a:spcAft>
                <a:spcPts val="600"/>
              </a:spcAft>
            </a:pPr>
            <a:r>
              <a:rPr lang="fa-IR" sz="1400" dirty="0">
                <a:cs typeface="Tahoma"/>
              </a:rPr>
              <a:t>[مکث؛ رو به مخاطب] و پاسخ پرسش راهنما: خیر. اقدام مبتنی بر شواهد درباره‌ی غذاهای فوق‌فرآوری‌شده لازم نیست منتظر پایان مناظره‌ی اعتیاد بماند.</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زمان پیشنهادی: ۰:۲۰   |   زمان تجمعی: ۳۲:۴۵</a:t>
            </a:r>
          </a:p>
          <a:p>
            <a:pPr rtl="1" algn="r">
              <a:spcAft>
                <a:spcPts val="600"/>
              </a:spcAft>
            </a:pPr>
            <a:r>
              <a:rPr lang="fa-IR" sz="1400" dirty="0">
                <a:cs typeface="Tahoma"/>
              </a:rPr>
              <a:t>از توجه شما سپاسگزارم. منابع کلیدی برای مطالعه‌ی بیشتر روی اسلاید آمده است. خوشحال می‌شوم پرسش‌ها و نظرات شما را بشنوم.</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اسلاید پشتیبان (فقط در صورت پرسش)</a:t>
            </a:r>
          </a:p>
          <a:p>
            <a:pPr rtl="1" algn="r">
              <a:spcAft>
                <a:spcPts val="600"/>
              </a:spcAft>
            </a:pPr>
            <a:r>
              <a:rPr lang="fa-IR" sz="1400" dirty="0">
                <a:cs typeface="Tahoma"/>
              </a:rPr>
              <a:t>اسلاید پشتیبان؛ فقط در صورت پرسش نشان دهید. این جدول ۴ سمینار است و استدلال‌های موافق و مخالف را در هفت حوزه کنار هم می‌گذارد: عامل اعتیادآور، شواهد عصبی، ترک، واژه، وضعیت تشخیصی، دلالت سیاستی و انگ. برای پرسش‌هایی مثل «بالاخره موافقید یا مخالف؟» از این جدول شروع کنید و نشان دهید هر دو طرف در کدام حوزه قوی‌ترند.</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spcAft>
                <a:spcPts val="600"/>
              </a:spcAft>
            </a:pPr>
            <a:r>
              <a:rPr lang="fa-IR" sz="1400" b="1" dirty="0">
                <a:cs typeface="Tahoma"/>
              </a:rPr>
              <a:t>اسلاید پشتیبان (فقط در صورت پرسش)</a:t>
            </a:r>
          </a:p>
          <a:p>
            <a:pPr rtl="1" algn="r">
              <a:spcAft>
                <a:spcPts val="600"/>
              </a:spcAft>
            </a:pPr>
            <a:r>
              <a:rPr lang="fa-IR" sz="1400" dirty="0">
                <a:cs typeface="Tahoma"/>
              </a:rPr>
              <a:t>اسلاید پشتیبان؛ برگه‌ی اعداد کلیدی. اگر عددی پرسیده شد که در اسلاید اصلی نیست، این اسلاید را نشان دهید. یادآوری: این اعداد از طراحی‌ها و جمعیت‌های متفاوت آمده‌اند و مستقیماً قابل مقایسه نیستند.</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691640"/>
            <a:ext cx="7223760" cy="16002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685800" y="3474720"/>
            <a:ext cx="6949440" cy="822960"/>
          </a:xfrm>
          <a:prstGeom prst="rect">
            <a:avLst/>
          </a:prstGeom>
          <a:noFill/>
          <a:ln/>
        </p:spPr>
        <p:txBody>
          <a:bodyPr wrap="square" rtlCol="0"/>
          <a:lstStyle>
            <a:lvl1pPr algn="l" indent="0" marL="0">
              <a:buNone/>
              <a:defRPr lang="en-US" sz="2100" dirty="0">
                <a:solidFill>
                  <a:srgbClr val="CADCFC"/>
                </a:solidFill>
                <a:latin typeface="Calibri" pitchFamily="34" charset="0"/>
                <a:ea typeface="Calibri" pitchFamily="34" charset="-122"/>
                <a:cs typeface="Calibri" pitchFamily="34" charset="-120"/>
              </a:defRPr>
            </a:lvl1pPr>
          </a:lstStyle>
          <a:p>
            <a:pPr algn="l" indent="0" marL="0">
              <a:buNone/>
            </a:pPr>
            <a:endParaRPr lang="en-US" sz="2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2788920" y="2331720"/>
            <a:ext cx="7589520" cy="1005840"/>
          </a:xfrm>
          <a:prstGeom prst="rect">
            <a:avLst/>
          </a:prstGeom>
          <a:noFill/>
          <a:ln/>
        </p:spPr>
        <p:txBody>
          <a:bodyPr wrap="square" rtlCol="0"/>
          <a:lstStyle>
            <a:lvl1pPr algn="l" indent="0" marL="0">
              <a:buNone/>
              <a:defRPr lang="en-US" sz="4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2788920" y="3383280"/>
            <a:ext cx="7589520" cy="731520"/>
          </a:xfrm>
          <a:prstGeom prst="rect">
            <a:avLst/>
          </a:prstGeom>
          <a:noFill/>
          <a:ln/>
        </p:spPr>
        <p:txBody>
          <a:bodyPr wrap="square" rtlCol="0"/>
          <a:lstStyle>
            <a:lvl1pPr algn="l" indent="0" marL="0">
              <a:buNone/>
              <a:defRPr lang="en-US" sz="2100" i="1" dirty="0">
                <a:solidFill>
                  <a:srgbClr val="CADCFC"/>
                </a:solidFill>
                <a:latin typeface="Calibri" pitchFamily="34" charset="0"/>
                <a:ea typeface="Calibri" pitchFamily="34" charset="-122"/>
                <a:cs typeface="Calibri" pitchFamily="34" charset="-120"/>
              </a:defRPr>
            </a:lvl1pPr>
          </a:lstStyle>
          <a:p>
            <a:pPr algn="l" indent="0" marL="0">
              <a:buNone/>
            </a:pPr>
            <a:endParaRPr lang="en-US" sz="2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82296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7A8591"/>
                </a:solidFill>
                <a:latin typeface="Calibri" pitchFamily="34" charset="0"/>
                <a:ea typeface="Calibri" pitchFamily="34" charset="-122"/>
                <a:cs typeface="Calibri" pitchFamily="34" charset="-120"/>
              </a:rPr>
              <a:t>Ultra-Processed Foods and Addictive-Like Eating  |  Seminar, Autumn 2026</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68580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7.xml"/><Relationship Id="rId3" Type="http://schemas.openxmlformats.org/officeDocument/2006/relationships/slide" Target="slide7.xml"/><Relationship Id="rId4" Type="http://schemas.openxmlformats.org/officeDocument/2006/relationships/slide" Target="slide12.xml"/><Relationship Id="rId6" Type="http://schemas.openxmlformats.org/officeDocument/2006/relationships/slide" Target="slide12.xml"/><Relationship Id="rId7" Type="http://schemas.openxmlformats.org/officeDocument/2006/relationships/slide" Target="slide19.xml"/><Relationship Id="rId9" Type="http://schemas.openxmlformats.org/officeDocument/2006/relationships/slide" Target="slide19.xml"/><Relationship Id="rId10" Type="http://schemas.openxmlformats.org/officeDocument/2006/relationships/slide" Target="slide24.xml"/><Relationship Id="rId12" Type="http://schemas.openxmlformats.org/officeDocument/2006/relationships/slide" Target="slide24.xml"/><Relationship Id="rId13" Type="http://schemas.openxmlformats.org/officeDocument/2006/relationships/slide" Target="slide29.xml"/><Relationship Id="rId15" Type="http://schemas.openxmlformats.org/officeDocument/2006/relationships/slide" Target="slide29.xml"/><Relationship Id="rId16" Type="http://schemas.openxmlformats.org/officeDocument/2006/relationships/slide" Target="slide32.xml"/><Relationship Id="rId18" Type="http://schemas.openxmlformats.org/officeDocument/2006/relationships/slide" Target="slide32.xml"/><Relationship Id="rId19" Type="http://schemas.openxmlformats.org/officeDocument/2006/relationships/slide" Target="slide38.xml"/><Relationship Id="rId21" Type="http://schemas.openxmlformats.org/officeDocument/2006/relationships/slide" Target="slide38.xml"/><Relationship Id="rId22" Type="http://schemas.openxmlformats.org/officeDocument/2006/relationships/slide" Target="slide41.xml"/><Relationship Id="rId24" Type="http://schemas.openxmlformats.org/officeDocument/2006/relationships/slide" Target="slide41.xml"/><Relationship Id="rId2" Type="http://schemas.openxmlformats.org/officeDocument/2006/relationships/image" Target="../media/image-2-1.png"/><Relationship Id="rId5" Type="http://schemas.openxmlformats.org/officeDocument/2006/relationships/image" Target="../media/image-2-2.png"/><Relationship Id="rId8" Type="http://schemas.openxmlformats.org/officeDocument/2006/relationships/image" Target="../media/image-2-3.png"/><Relationship Id="rId11" Type="http://schemas.openxmlformats.org/officeDocument/2006/relationships/image" Target="../media/image-2-4.png"/><Relationship Id="rId14" Type="http://schemas.openxmlformats.org/officeDocument/2006/relationships/image" Target="../media/image-2-5.png"/><Relationship Id="rId17" Type="http://schemas.openxmlformats.org/officeDocument/2006/relationships/image" Target="../media/image-2-6.png"/><Relationship Id="rId20" Type="http://schemas.openxmlformats.org/officeDocument/2006/relationships/image" Target="../media/image-2-7.png"/><Relationship Id="rId23"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slideLayout" Target="../slideLayouts/slideLayout4.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4.png"/><Relationship Id="rId5" Type="http://schemas.openxmlformats.org/officeDocument/2006/relationships/image" Target="../media/image-13-4.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4-1.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6-1.png"/><Relationship Id="rId3" Type="http://schemas.openxmlformats.org/officeDocument/2006/relationships/image" Target="../media/image-26-2.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9-1.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4.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32-1.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4" Type="http://schemas.openxmlformats.org/officeDocument/2006/relationships/chart" Target="/ppt/charts/chart5.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slideLayout" Target="../slideLayouts/slideLayout4.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35-1.png"/><Relationship Id="rId3" Type="http://schemas.openxmlformats.org/officeDocument/2006/relationships/image" Target="../media/image-35-2.png"/><Relationship Id="rId4" Type="http://schemas.openxmlformats.org/officeDocument/2006/relationships/image" Target="../media/image-35-3.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38-1.png"/><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5" Type="http://schemas.openxmlformats.org/officeDocument/2006/relationships/slideLayout" Target="../slideLayouts/slideLayout5.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logoframe"/>
          <p:cNvSpPr/>
          <p:nvPr/>
        </p:nvSpPr>
        <p:spPr>
          <a:xfrm>
            <a:off x="685800" y="548640"/>
            <a:ext cx="960120" cy="960120"/>
          </a:xfrm>
          <a:prstGeom prst="roundRect">
            <a:avLst>
              <a:gd name="adj" fmla="val 11429"/>
            </a:avLst>
          </a:prstGeom>
          <a:solidFill>
            <a:srgbClr val="FFFFFF"/>
          </a:solidFill>
          <a:ln w="12700">
            <a:solidFill>
              <a:srgbClr val="FFFFFF"/>
            </a:solidFill>
            <a:prstDash val="solid"/>
          </a:ln>
        </p:spPr>
      </p:sp>
      <p:pic>
        <p:nvPicPr>
          <p:cNvPr id="4" name="logo" descr="Tehran University of Medical Sciences logo">    </p:cNvPr>
          <p:cNvPicPr>
            <a:picLocks noChangeAspect="1"/>
          </p:cNvPicPr>
          <p:nvPr/>
        </p:nvPicPr>
        <p:blipFill>
          <a:blip r:embed="rId1"/>
          <a:stretch>
            <a:fillRect/>
          </a:stretch>
        </p:blipFill>
        <p:spPr>
          <a:xfrm>
            <a:off x="777240" y="640080"/>
            <a:ext cx="777240" cy="777240"/>
          </a:xfrm>
          <a:prstGeom prst="rect">
            <a:avLst/>
          </a:prstGeom>
        </p:spPr>
      </p:pic>
      <p:sp>
        <p:nvSpPr>
          <p:cNvPr id="5" name="Text 1"/>
          <p:cNvSpPr txBox="1"/>
          <p:nvPr/>
        </p:nvSpPr>
        <p:spPr>
          <a:xfrm>
            <a:off x="1828800" y="676656"/>
            <a:ext cx="5486400" cy="347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Tehran University of Medical Sciences</a:t>
            </a:r>
            <a:endParaRPr lang="en-US" sz="1600" dirty="0"/>
          </a:p>
        </p:txBody>
      </p:sp>
      <p:sp>
        <p:nvSpPr>
          <p:cNvPr id="6" name="Text 2"/>
          <p:cNvSpPr txBox="1"/>
          <p:nvPr/>
        </p:nvSpPr>
        <p:spPr>
          <a:xfrm>
            <a:off x="1828800" y="1024128"/>
            <a:ext cx="5943600" cy="3200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Nutritional Sciences and Dietetics  ·  Graduate Seminar</a:t>
            </a:r>
            <a:endParaRPr lang="en-US" sz="1300" dirty="0"/>
          </a:p>
        </p:txBody>
      </p:sp>
      <p:sp>
        <p:nvSpPr>
          <p:cNvPr id="7" name="Text 0"/>
          <p:cNvSpPr/>
          <p:nvPr>
            <p:ph idx="100" type="title" hasCustomPrompt="1"/>
          </p:nvPr>
        </p:nvSpPr>
        <p:spPr>
          <a:xfrm>
            <a:off x="685800" y="1691640"/>
            <a:ext cx="7223760" cy="16002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Ultra-Processed Foods and Addictive-Like Eating Behaviors</a:t>
            </a:r>
            <a:endParaRPr lang="en-US" sz="3600" dirty="0"/>
          </a:p>
        </p:txBody>
      </p:sp>
      <p:sp>
        <p:nvSpPr>
          <p:cNvPr id="8" name="Text 0"/>
          <p:cNvSpPr/>
          <p:nvPr>
            <p:ph idx="101" type="body" hasCustomPrompt="1"/>
          </p:nvPr>
        </p:nvSpPr>
        <p:spPr>
          <a:xfrm>
            <a:off x="685800" y="3474720"/>
            <a:ext cx="6949440" cy="822960"/>
          </a:xfrm>
          <a:prstGeom prst="rect">
            <a:avLst/>
          </a:prstGeom>
          <a:noFill/>
          <a:ln/>
        </p:spPr>
        <p:txBody>
          <a:bodyPr wrap="square" lIns="0" tIns="0" rIns="0" bIns="0" rtlCol="0" anchor="t"/>
          <a:lstStyle/>
          <a:p>
            <a:pPr algn="l" indent="0" marL="0">
              <a:buNone/>
            </a:pPr>
            <a:r>
              <a:rPr lang="en-US" sz="2100" dirty="0">
                <a:solidFill>
                  <a:srgbClr val="CADCFC"/>
                </a:solidFill>
                <a:latin typeface="Calibri" pitchFamily="34" charset="0"/>
                <a:ea typeface="Calibri" pitchFamily="34" charset="-122"/>
                <a:cs typeface="Calibri" pitchFamily="34" charset="-120"/>
              </a:rPr>
              <a:t>From Neurobiological Mechanisms to Community Nutrition Policy</a:t>
            </a:r>
            <a:endParaRPr lang="en-US" sz="2100" dirty="0"/>
          </a:p>
        </p:txBody>
      </p:sp>
      <p:sp>
        <p:nvSpPr>
          <p:cNvPr id="9" name="Text 5"/>
          <p:cNvSpPr txBox="1"/>
          <p:nvPr/>
        </p:nvSpPr>
        <p:spPr>
          <a:xfrm>
            <a:off x="685800" y="4800600"/>
            <a:ext cx="548640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Yasmin Ayatollahi</a:t>
            </a:r>
            <a:endParaRPr lang="en-US" sz="2000" dirty="0"/>
          </a:p>
        </p:txBody>
      </p:sp>
      <p:sp>
        <p:nvSpPr>
          <p:cNvPr id="10" name="Text 6"/>
          <p:cNvSpPr txBox="1"/>
          <p:nvPr/>
        </p:nvSpPr>
        <p:spPr>
          <a:xfrm>
            <a:off x="685800" y="521208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Course instructor: Dr. Pouraram   ·   Autumn 2026</a:t>
            </a:r>
            <a:endParaRPr lang="en-US" sz="1400" dirty="0"/>
          </a:p>
        </p:txBody>
      </p:sp>
      <p:sp>
        <p:nvSpPr>
          <p:cNvPr id="11" name="oct0"/>
          <p:cNvSpPr/>
          <p:nvPr/>
        </p:nvSpPr>
        <p:spPr>
          <a:xfrm>
            <a:off x="8275320" y="1234440"/>
            <a:ext cx="1783080" cy="1783080"/>
          </a:xfrm>
          <a:prstGeom prst="octagon">
            <a:avLst/>
          </a:prstGeom>
          <a:solidFill>
            <a:srgbClr val="B3393C"/>
          </a:solidFill>
          <a:ln w="38100">
            <a:solidFill>
              <a:srgbClr val="FFFFFF"/>
            </a:solidFill>
            <a:prstDash val="solid"/>
          </a:ln>
        </p:spPr>
      </p:sp>
      <p:pic>
        <p:nvPicPr>
          <p:cNvPr id="12" name="octic0" descr="Processing">    </p:cNvPr>
          <p:cNvPicPr>
            <a:picLocks noChangeAspect="1"/>
          </p:cNvPicPr>
          <p:nvPr/>
        </p:nvPicPr>
        <p:blipFill>
          <a:blip r:embed="rId2"/>
          <a:stretch>
            <a:fillRect/>
          </a:stretch>
        </p:blipFill>
        <p:spPr>
          <a:xfrm>
            <a:off x="8810244" y="1626718"/>
            <a:ext cx="713232" cy="713232"/>
          </a:xfrm>
          <a:prstGeom prst="rect">
            <a:avLst/>
          </a:prstGeom>
        </p:spPr>
      </p:pic>
      <p:sp>
        <p:nvSpPr>
          <p:cNvPr id="13" name="Text 8"/>
          <p:cNvSpPr txBox="1"/>
          <p:nvPr/>
        </p:nvSpPr>
        <p:spPr>
          <a:xfrm>
            <a:off x="8275320" y="2411273"/>
            <a:ext cx="1783080" cy="274320"/>
          </a:xfrm>
          <a:prstGeom prst="rect">
            <a:avLst/>
          </a:prstGeom>
          <a:noFill/>
          <a:ln/>
        </p:spPr>
        <p:txBody>
          <a:bodyPr wrap="square" lIns="0" tIns="0" rIns="0" bIns="0" rtlCol="0" anchor="t"/>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PROCESSING</a:t>
            </a:r>
            <a:endParaRPr lang="en-US" sz="1200" dirty="0"/>
          </a:p>
        </p:txBody>
      </p:sp>
      <p:sp>
        <p:nvSpPr>
          <p:cNvPr id="14" name="oct1"/>
          <p:cNvSpPr/>
          <p:nvPr/>
        </p:nvSpPr>
        <p:spPr>
          <a:xfrm>
            <a:off x="9921240" y="2606040"/>
            <a:ext cx="1783080" cy="1783080"/>
          </a:xfrm>
          <a:prstGeom prst="octagon">
            <a:avLst/>
          </a:prstGeom>
          <a:solidFill>
            <a:srgbClr val="6A4C93"/>
          </a:solidFill>
          <a:ln w="38100">
            <a:solidFill>
              <a:srgbClr val="FFFFFF"/>
            </a:solidFill>
            <a:prstDash val="solid"/>
          </a:ln>
        </p:spPr>
      </p:sp>
      <p:pic>
        <p:nvPicPr>
          <p:cNvPr id="15" name="octic1" descr="Behavior">    </p:cNvPr>
          <p:cNvPicPr>
            <a:picLocks noChangeAspect="1"/>
          </p:cNvPicPr>
          <p:nvPr/>
        </p:nvPicPr>
        <p:blipFill>
          <a:blip r:embed="rId3"/>
          <a:stretch>
            <a:fillRect/>
          </a:stretch>
        </p:blipFill>
        <p:spPr>
          <a:xfrm>
            <a:off x="10456164" y="2998318"/>
            <a:ext cx="713232" cy="713232"/>
          </a:xfrm>
          <a:prstGeom prst="rect">
            <a:avLst/>
          </a:prstGeom>
        </p:spPr>
      </p:pic>
      <p:sp>
        <p:nvSpPr>
          <p:cNvPr id="16" name="Text 10"/>
          <p:cNvSpPr txBox="1"/>
          <p:nvPr/>
        </p:nvSpPr>
        <p:spPr>
          <a:xfrm>
            <a:off x="9921240" y="3782873"/>
            <a:ext cx="1783080" cy="274320"/>
          </a:xfrm>
          <a:prstGeom prst="rect">
            <a:avLst/>
          </a:prstGeom>
          <a:noFill/>
          <a:ln/>
        </p:spPr>
        <p:txBody>
          <a:bodyPr wrap="square" lIns="0" tIns="0" rIns="0" bIns="0" rtlCol="0" anchor="t"/>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BEHAVIOR</a:t>
            </a:r>
            <a:endParaRPr lang="en-US" sz="1200" dirty="0"/>
          </a:p>
        </p:txBody>
      </p:sp>
      <p:sp>
        <p:nvSpPr>
          <p:cNvPr id="17" name="oct2"/>
          <p:cNvSpPr/>
          <p:nvPr/>
        </p:nvSpPr>
        <p:spPr>
          <a:xfrm>
            <a:off x="8275320" y="3977640"/>
            <a:ext cx="1783080" cy="1783080"/>
          </a:xfrm>
          <a:prstGeom prst="octagon">
            <a:avLst/>
          </a:prstGeom>
          <a:solidFill>
            <a:srgbClr val="3B7D5A"/>
          </a:solidFill>
          <a:ln w="38100">
            <a:solidFill>
              <a:srgbClr val="FFFFFF"/>
            </a:solidFill>
            <a:prstDash val="solid"/>
          </a:ln>
        </p:spPr>
      </p:sp>
      <p:pic>
        <p:nvPicPr>
          <p:cNvPr id="18" name="octic2" descr="Policy">    </p:cNvPr>
          <p:cNvPicPr>
            <a:picLocks noChangeAspect="1"/>
          </p:cNvPicPr>
          <p:nvPr/>
        </p:nvPicPr>
        <p:blipFill>
          <a:blip r:embed="rId4"/>
          <a:stretch>
            <a:fillRect/>
          </a:stretch>
        </p:blipFill>
        <p:spPr>
          <a:xfrm>
            <a:off x="8810244" y="4369918"/>
            <a:ext cx="713232" cy="713232"/>
          </a:xfrm>
          <a:prstGeom prst="rect">
            <a:avLst/>
          </a:prstGeom>
        </p:spPr>
      </p:pic>
      <p:sp>
        <p:nvSpPr>
          <p:cNvPr id="19" name="Text 12"/>
          <p:cNvSpPr txBox="1"/>
          <p:nvPr/>
        </p:nvSpPr>
        <p:spPr>
          <a:xfrm>
            <a:off x="8275320" y="5154473"/>
            <a:ext cx="1783080" cy="274320"/>
          </a:xfrm>
          <a:prstGeom prst="rect">
            <a:avLst/>
          </a:prstGeom>
          <a:noFill/>
          <a:ln/>
        </p:spPr>
        <p:txBody>
          <a:bodyPr wrap="square" lIns="0" tIns="0" rIns="0" bIns="0" rtlCol="0" anchor="t"/>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POLICY</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Roadmap</a:t>
            </a:r>
            <a:endParaRPr lang="en-US" sz="3200" dirty="0"/>
          </a:p>
        </p:txBody>
      </p:sp>
      <p:sp>
        <p:nvSpPr>
          <p:cNvPr id="4" name="agline"/>
          <p:cNvSpPr/>
          <p:nvPr/>
        </p:nvSpPr>
        <p:spPr>
          <a:xfrm>
            <a:off x="1115568" y="2377440"/>
            <a:ext cx="9953244" cy="0"/>
          </a:xfrm>
          <a:prstGeom prst="line">
            <a:avLst/>
          </a:prstGeom>
          <a:noFill/>
          <a:ln w="25400">
            <a:solidFill>
              <a:srgbClr val="D5DCE3"/>
            </a:solidFill>
            <a:prstDash val="dash"/>
          </a:ln>
        </p:spPr>
      </p:sp>
      <p:sp>
        <p:nvSpPr>
          <p:cNvPr id="5" name="anim1_1">
            <a:hlinkClick r:id="rId1" tooltip="Ultra-processed foods" action="ppaction://hlinksldjump"/>
          </p:cNvPr>
          <p:cNvSpPr/>
          <p:nvPr/>
        </p:nvSpPr>
        <p:spPr>
          <a:xfrm>
            <a:off x="658368" y="1920240"/>
            <a:ext cx="914400" cy="914400"/>
          </a:xfrm>
          <a:prstGeom prst="ellipse">
            <a:avLst/>
          </a:prstGeom>
          <a:solidFill>
            <a:srgbClr val="B3393C"/>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6" name="anim1_2" descr="Ultra-processed foods">
            <a:hlinkClick r:id="rId3" tooltip="Ultra-processed foods" action="ppaction://hlinksldjump"/>
          </p:cNvPr>
          <p:cNvPicPr>
            <a:picLocks noChangeAspect="1"/>
          </p:cNvPicPr>
          <p:nvPr/>
        </p:nvPicPr>
        <p:blipFill>
          <a:blip r:embed="rId2"/>
          <a:stretch>
            <a:fillRect/>
          </a:stretch>
        </p:blipFill>
        <p:spPr>
          <a:xfrm>
            <a:off x="905256" y="2167128"/>
            <a:ext cx="420624" cy="420624"/>
          </a:xfrm>
          <a:prstGeom prst="rect">
            <a:avLst/>
          </a:prstGeom>
        </p:spPr>
      </p:pic>
      <p:sp>
        <p:nvSpPr>
          <p:cNvPr id="7" name="anim1_3"/>
          <p:cNvSpPr txBox="1"/>
          <p:nvPr/>
        </p:nvSpPr>
        <p:spPr>
          <a:xfrm>
            <a:off x="475488" y="1463040"/>
            <a:ext cx="1280160" cy="320040"/>
          </a:xfrm>
          <a:prstGeom prst="rect">
            <a:avLst/>
          </a:prstGeom>
          <a:noFill/>
          <a:ln/>
        </p:spPr>
        <p:txBody>
          <a:bodyPr wrap="square" lIns="0" tIns="0" rIns="0" bIns="0" rtlCol="0" anchor="t"/>
          <a:lstStyle/>
          <a:p>
            <a:pPr algn="ctr" indent="0" marL="0">
              <a:buNone/>
            </a:pPr>
            <a:r>
              <a:rPr lang="en-US" sz="1300" b="1" dirty="0">
                <a:solidFill>
                  <a:srgbClr val="B3393C"/>
                </a:solidFill>
                <a:latin typeface="Calibri" pitchFamily="34" charset="0"/>
                <a:ea typeface="Calibri" pitchFamily="34" charset="-122"/>
                <a:cs typeface="Calibri" pitchFamily="34" charset="-120"/>
              </a:rPr>
              <a:t>01</a:t>
            </a:r>
            <a:endParaRPr lang="en-US" sz="1300" dirty="0"/>
          </a:p>
        </p:txBody>
      </p:sp>
      <p:sp>
        <p:nvSpPr>
          <p:cNvPr id="8" name="anim1_4"/>
          <p:cNvSpPr txBox="1"/>
          <p:nvPr/>
        </p:nvSpPr>
        <p:spPr>
          <a:xfrm>
            <a:off x="429768" y="2971800"/>
            <a:ext cx="1371600" cy="566928"/>
          </a:xfrm>
          <a:prstGeom prst="rect">
            <a:avLst/>
          </a:prstGeom>
          <a:noFill/>
          <a:ln/>
        </p:spPr>
        <p:txBody>
          <a:bodyPr wrap="square" lIns="0" tIns="0" rIns="0" bIns="0" rtlCol="0" anchor="t"/>
          <a:lstStyle/>
          <a:p>
            <a:pPr algn="ctr" indent="0" marL="0">
              <a:buNone/>
            </a:pPr>
            <a:r>
              <a:rPr lang="en-US" sz="1350" b="1" dirty="0">
                <a:solidFill>
                  <a:srgbClr val="B3393C"/>
                </a:solidFill>
                <a:latin typeface="Calibri" pitchFamily="34" charset="0"/>
                <a:ea typeface="Calibri" pitchFamily="34" charset="-122"/>
                <a:cs typeface="Calibri" pitchFamily="34" charset="-120"/>
              </a:rPr>
              <a:t>Ultra-processed foods</a:t>
            </a:r>
            <a:endParaRPr lang="en-US" sz="1350" dirty="0"/>
          </a:p>
        </p:txBody>
      </p:sp>
      <p:sp>
        <p:nvSpPr>
          <p:cNvPr id="9" name="anim1_5"/>
          <p:cNvSpPr txBox="1"/>
          <p:nvPr/>
        </p:nvSpPr>
        <p:spPr>
          <a:xfrm>
            <a:off x="429768"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What are they and how much do we eat?</a:t>
            </a:r>
            <a:endParaRPr lang="en-US" sz="1150" dirty="0"/>
          </a:p>
        </p:txBody>
      </p:sp>
      <p:sp>
        <p:nvSpPr>
          <p:cNvPr id="10" name="anim2_6">
            <a:hlinkClick r:id="rId4" tooltip="Food addiction" action="ppaction://hlinksldjump"/>
          </p:cNvPr>
          <p:cNvSpPr/>
          <p:nvPr/>
        </p:nvSpPr>
        <p:spPr>
          <a:xfrm>
            <a:off x="2080260" y="1920240"/>
            <a:ext cx="914400" cy="914400"/>
          </a:xfrm>
          <a:prstGeom prst="ellipse">
            <a:avLst/>
          </a:prstGeom>
          <a:solidFill>
            <a:srgbClr val="6A4C93"/>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11" name="anim2_7" descr="Food addiction">
            <a:hlinkClick r:id="rId6" tooltip="Food addiction" action="ppaction://hlinksldjump"/>
          </p:cNvPr>
          <p:cNvPicPr>
            <a:picLocks noChangeAspect="1"/>
          </p:cNvPicPr>
          <p:nvPr/>
        </p:nvPicPr>
        <p:blipFill>
          <a:blip r:embed="rId5"/>
          <a:stretch>
            <a:fillRect/>
          </a:stretch>
        </p:blipFill>
        <p:spPr>
          <a:xfrm>
            <a:off x="2327148" y="2167128"/>
            <a:ext cx="420624" cy="420624"/>
          </a:xfrm>
          <a:prstGeom prst="rect">
            <a:avLst/>
          </a:prstGeom>
        </p:spPr>
      </p:pic>
      <p:sp>
        <p:nvSpPr>
          <p:cNvPr id="12" name="anim2_8"/>
          <p:cNvSpPr txBox="1"/>
          <p:nvPr/>
        </p:nvSpPr>
        <p:spPr>
          <a:xfrm>
            <a:off x="1897380" y="1463040"/>
            <a:ext cx="1280160" cy="320040"/>
          </a:xfrm>
          <a:prstGeom prst="rect">
            <a:avLst/>
          </a:prstGeom>
          <a:noFill/>
          <a:ln/>
        </p:spPr>
        <p:txBody>
          <a:bodyPr wrap="square" lIns="0" tIns="0" rIns="0" bIns="0" rtlCol="0" anchor="t"/>
          <a:lstStyle/>
          <a:p>
            <a:pPr algn="ctr" indent="0" marL="0">
              <a:buNone/>
            </a:pPr>
            <a:r>
              <a:rPr lang="en-US" sz="1300" b="1" dirty="0">
                <a:solidFill>
                  <a:srgbClr val="6A4C93"/>
                </a:solidFill>
                <a:latin typeface="Calibri" pitchFamily="34" charset="0"/>
                <a:ea typeface="Calibri" pitchFamily="34" charset="-122"/>
                <a:cs typeface="Calibri" pitchFamily="34" charset="-120"/>
              </a:rPr>
              <a:t>02</a:t>
            </a:r>
            <a:endParaRPr lang="en-US" sz="1300" dirty="0"/>
          </a:p>
        </p:txBody>
      </p:sp>
      <p:sp>
        <p:nvSpPr>
          <p:cNvPr id="13" name="anim2_9"/>
          <p:cNvSpPr txBox="1"/>
          <p:nvPr/>
        </p:nvSpPr>
        <p:spPr>
          <a:xfrm>
            <a:off x="1851660" y="2971800"/>
            <a:ext cx="1371600" cy="566928"/>
          </a:xfrm>
          <a:prstGeom prst="rect">
            <a:avLst/>
          </a:prstGeom>
          <a:noFill/>
          <a:ln/>
        </p:spPr>
        <p:txBody>
          <a:bodyPr wrap="square" lIns="0" tIns="0" rIns="0" bIns="0" rtlCol="0" anchor="t"/>
          <a:lstStyle/>
          <a:p>
            <a:pPr algn="ctr" indent="0" marL="0">
              <a:buNone/>
            </a:pPr>
            <a:r>
              <a:rPr lang="en-US" sz="1350" b="1" dirty="0">
                <a:solidFill>
                  <a:srgbClr val="6A4C93"/>
                </a:solidFill>
                <a:latin typeface="Calibri" pitchFamily="34" charset="0"/>
                <a:ea typeface="Calibri" pitchFamily="34" charset="-122"/>
                <a:cs typeface="Calibri" pitchFamily="34" charset="-120"/>
              </a:rPr>
              <a:t>Food addiction</a:t>
            </a:r>
            <a:endParaRPr lang="en-US" sz="1350" dirty="0"/>
          </a:p>
        </p:txBody>
      </p:sp>
      <p:sp>
        <p:nvSpPr>
          <p:cNvPr id="14" name="anim2_10"/>
          <p:cNvSpPr txBox="1"/>
          <p:nvPr/>
        </p:nvSpPr>
        <p:spPr>
          <a:xfrm>
            <a:off x="1851660"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Valid construct? How measured?</a:t>
            </a:r>
            <a:endParaRPr lang="en-US" sz="1150" dirty="0"/>
          </a:p>
        </p:txBody>
      </p:sp>
      <p:sp>
        <p:nvSpPr>
          <p:cNvPr id="15" name="anim3_11">
            <a:hlinkClick r:id="rId7" tooltip="Mechanisms" action="ppaction://hlinksldjump"/>
          </p:cNvPr>
          <p:cNvSpPr/>
          <p:nvPr/>
        </p:nvSpPr>
        <p:spPr>
          <a:xfrm>
            <a:off x="3502152" y="1920240"/>
            <a:ext cx="914400" cy="914400"/>
          </a:xfrm>
          <a:prstGeom prst="ellipse">
            <a:avLst/>
          </a:prstGeom>
          <a:solidFill>
            <a:srgbClr val="2A7A8C"/>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16" name="anim3_12" descr="Mechanisms">
            <a:hlinkClick r:id="rId9" tooltip="Mechanisms" action="ppaction://hlinksldjump"/>
          </p:cNvPr>
          <p:cNvPicPr>
            <a:picLocks noChangeAspect="1"/>
          </p:cNvPicPr>
          <p:nvPr/>
        </p:nvPicPr>
        <p:blipFill>
          <a:blip r:embed="rId8"/>
          <a:stretch>
            <a:fillRect/>
          </a:stretch>
        </p:blipFill>
        <p:spPr>
          <a:xfrm>
            <a:off x="3749040" y="2167128"/>
            <a:ext cx="420624" cy="420624"/>
          </a:xfrm>
          <a:prstGeom prst="rect">
            <a:avLst/>
          </a:prstGeom>
        </p:spPr>
      </p:pic>
      <p:sp>
        <p:nvSpPr>
          <p:cNvPr id="17" name="anim3_13"/>
          <p:cNvSpPr txBox="1"/>
          <p:nvPr/>
        </p:nvSpPr>
        <p:spPr>
          <a:xfrm>
            <a:off x="3319272" y="1463040"/>
            <a:ext cx="1280160" cy="320040"/>
          </a:xfrm>
          <a:prstGeom prst="rect">
            <a:avLst/>
          </a:prstGeom>
          <a:noFill/>
          <a:ln/>
        </p:spPr>
        <p:txBody>
          <a:bodyPr wrap="square" lIns="0" tIns="0" rIns="0" bIns="0" rtlCol="0" anchor="t"/>
          <a:lstStyle/>
          <a:p>
            <a:pPr algn="ctr" indent="0" marL="0">
              <a:buNone/>
            </a:pPr>
            <a:r>
              <a:rPr lang="en-US" sz="1300" b="1" dirty="0">
                <a:solidFill>
                  <a:srgbClr val="2A7A8C"/>
                </a:solidFill>
                <a:latin typeface="Calibri" pitchFamily="34" charset="0"/>
                <a:ea typeface="Calibri" pitchFamily="34" charset="-122"/>
                <a:cs typeface="Calibri" pitchFamily="34" charset="-120"/>
              </a:rPr>
              <a:t>03</a:t>
            </a:r>
            <a:endParaRPr lang="en-US" sz="1300" dirty="0"/>
          </a:p>
        </p:txBody>
      </p:sp>
      <p:sp>
        <p:nvSpPr>
          <p:cNvPr id="18" name="anim3_14"/>
          <p:cNvSpPr txBox="1"/>
          <p:nvPr/>
        </p:nvSpPr>
        <p:spPr>
          <a:xfrm>
            <a:off x="3273552" y="2971800"/>
            <a:ext cx="1371600" cy="566928"/>
          </a:xfrm>
          <a:prstGeom prst="rect">
            <a:avLst/>
          </a:prstGeom>
          <a:noFill/>
          <a:ln/>
        </p:spPr>
        <p:txBody>
          <a:bodyPr wrap="square" lIns="0" tIns="0" rIns="0" bIns="0" rtlCol="0" anchor="t"/>
          <a:lstStyle/>
          <a:p>
            <a:pPr algn="ctr" indent="0" marL="0">
              <a:buNone/>
            </a:pPr>
            <a:r>
              <a:rPr lang="en-US" sz="1350" b="1" dirty="0">
                <a:solidFill>
                  <a:srgbClr val="2A7A8C"/>
                </a:solidFill>
                <a:latin typeface="Calibri" pitchFamily="34" charset="0"/>
                <a:ea typeface="Calibri" pitchFamily="34" charset="-122"/>
                <a:cs typeface="Calibri" pitchFamily="34" charset="-120"/>
              </a:rPr>
              <a:t>Mechanisms</a:t>
            </a:r>
            <a:endParaRPr lang="en-US" sz="1350" dirty="0"/>
          </a:p>
        </p:txBody>
      </p:sp>
      <p:sp>
        <p:nvSpPr>
          <p:cNvPr id="19" name="anim3_15"/>
          <p:cNvSpPr txBox="1"/>
          <p:nvPr/>
        </p:nvSpPr>
        <p:spPr>
          <a:xfrm>
            <a:off x="3273552"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Why might UPF act differently?</a:t>
            </a:r>
            <a:endParaRPr lang="en-US" sz="1150" dirty="0"/>
          </a:p>
        </p:txBody>
      </p:sp>
      <p:sp>
        <p:nvSpPr>
          <p:cNvPr id="20" name="anim4_16">
            <a:hlinkClick r:id="rId10" tooltip="Human evidence" action="ppaction://hlinksldjump"/>
          </p:cNvPr>
          <p:cNvSpPr/>
          <p:nvPr/>
        </p:nvSpPr>
        <p:spPr>
          <a:xfrm>
            <a:off x="4924044" y="1920240"/>
            <a:ext cx="914400" cy="914400"/>
          </a:xfrm>
          <a:prstGeom prst="ellipse">
            <a:avLst/>
          </a:prstGeom>
          <a:solidFill>
            <a:srgbClr val="D88A1F"/>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21" name="anim4_17" descr="Human evidence">
            <a:hlinkClick r:id="rId12" tooltip="Human evidence" action="ppaction://hlinksldjump"/>
          </p:cNvPr>
          <p:cNvPicPr>
            <a:picLocks noChangeAspect="1"/>
          </p:cNvPicPr>
          <p:nvPr/>
        </p:nvPicPr>
        <p:blipFill>
          <a:blip r:embed="rId11"/>
          <a:stretch>
            <a:fillRect/>
          </a:stretch>
        </p:blipFill>
        <p:spPr>
          <a:xfrm>
            <a:off x="5170932" y="2167128"/>
            <a:ext cx="420624" cy="420624"/>
          </a:xfrm>
          <a:prstGeom prst="rect">
            <a:avLst/>
          </a:prstGeom>
        </p:spPr>
      </p:pic>
      <p:sp>
        <p:nvSpPr>
          <p:cNvPr id="22" name="anim4_18"/>
          <p:cNvSpPr txBox="1"/>
          <p:nvPr/>
        </p:nvSpPr>
        <p:spPr>
          <a:xfrm>
            <a:off x="4741164" y="1463040"/>
            <a:ext cx="1280160" cy="320040"/>
          </a:xfrm>
          <a:prstGeom prst="rect">
            <a:avLst/>
          </a:prstGeom>
          <a:noFill/>
          <a:ln/>
        </p:spPr>
        <p:txBody>
          <a:bodyPr wrap="square" lIns="0" tIns="0" rIns="0" bIns="0" rtlCol="0" anchor="t"/>
          <a:lstStyle/>
          <a:p>
            <a:pPr algn="ctr" indent="0" marL="0">
              <a:buNone/>
            </a:pPr>
            <a:r>
              <a:rPr lang="en-US" sz="1300" b="1" dirty="0">
                <a:solidFill>
                  <a:srgbClr val="D88A1F"/>
                </a:solidFill>
                <a:latin typeface="Calibri" pitchFamily="34" charset="0"/>
                <a:ea typeface="Calibri" pitchFamily="34" charset="-122"/>
                <a:cs typeface="Calibri" pitchFamily="34" charset="-120"/>
              </a:rPr>
              <a:t>04</a:t>
            </a:r>
            <a:endParaRPr lang="en-US" sz="1300" dirty="0"/>
          </a:p>
        </p:txBody>
      </p:sp>
      <p:sp>
        <p:nvSpPr>
          <p:cNvPr id="23" name="anim4_19"/>
          <p:cNvSpPr txBox="1"/>
          <p:nvPr/>
        </p:nvSpPr>
        <p:spPr>
          <a:xfrm>
            <a:off x="4695444" y="2971800"/>
            <a:ext cx="1371600" cy="566928"/>
          </a:xfrm>
          <a:prstGeom prst="rect">
            <a:avLst/>
          </a:prstGeom>
          <a:noFill/>
          <a:ln/>
        </p:spPr>
        <p:txBody>
          <a:bodyPr wrap="square" lIns="0" tIns="0" rIns="0" bIns="0" rtlCol="0" anchor="t"/>
          <a:lstStyle/>
          <a:p>
            <a:pPr algn="ctr" indent="0" marL="0">
              <a:buNone/>
            </a:pPr>
            <a:r>
              <a:rPr lang="en-US" sz="1350" b="1" dirty="0">
                <a:solidFill>
                  <a:srgbClr val="D88A1F"/>
                </a:solidFill>
                <a:latin typeface="Calibri" pitchFamily="34" charset="0"/>
                <a:ea typeface="Calibri" pitchFamily="34" charset="-122"/>
                <a:cs typeface="Calibri" pitchFamily="34" charset="-120"/>
              </a:rPr>
              <a:t>Human evidence</a:t>
            </a:r>
            <a:endParaRPr lang="en-US" sz="1350" dirty="0"/>
          </a:p>
        </p:txBody>
      </p:sp>
      <p:sp>
        <p:nvSpPr>
          <p:cNvPr id="24" name="anim4_20"/>
          <p:cNvSpPr txBox="1"/>
          <p:nvPr/>
        </p:nvSpPr>
        <p:spPr>
          <a:xfrm>
            <a:off x="4695444"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What do trials and cohorts show?</a:t>
            </a:r>
            <a:endParaRPr lang="en-US" sz="1150" dirty="0"/>
          </a:p>
        </p:txBody>
      </p:sp>
      <p:sp>
        <p:nvSpPr>
          <p:cNvPr id="25" name="anim5_21">
            <a:hlinkClick r:id="rId13" tooltip="The debate" action="ppaction://hlinksldjump"/>
          </p:cNvPr>
          <p:cNvSpPr/>
          <p:nvPr/>
        </p:nvSpPr>
        <p:spPr>
          <a:xfrm>
            <a:off x="6345936" y="1920240"/>
            <a:ext cx="914400" cy="914400"/>
          </a:xfrm>
          <a:prstGeom prst="ellipse">
            <a:avLst/>
          </a:prstGeom>
          <a:solidFill>
            <a:srgbClr val="5B6B8C"/>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26" name="anim5_22" descr="The debate">
            <a:hlinkClick r:id="rId15" tooltip="The debate" action="ppaction://hlinksldjump"/>
          </p:cNvPr>
          <p:cNvPicPr>
            <a:picLocks noChangeAspect="1"/>
          </p:cNvPicPr>
          <p:nvPr/>
        </p:nvPicPr>
        <p:blipFill>
          <a:blip r:embed="rId14"/>
          <a:stretch>
            <a:fillRect/>
          </a:stretch>
        </p:blipFill>
        <p:spPr>
          <a:xfrm>
            <a:off x="6592824" y="2167128"/>
            <a:ext cx="420624" cy="420624"/>
          </a:xfrm>
          <a:prstGeom prst="rect">
            <a:avLst/>
          </a:prstGeom>
        </p:spPr>
      </p:pic>
      <p:sp>
        <p:nvSpPr>
          <p:cNvPr id="27" name="anim5_23"/>
          <p:cNvSpPr txBox="1"/>
          <p:nvPr/>
        </p:nvSpPr>
        <p:spPr>
          <a:xfrm>
            <a:off x="6163056" y="1463040"/>
            <a:ext cx="1280160" cy="320040"/>
          </a:xfrm>
          <a:prstGeom prst="rect">
            <a:avLst/>
          </a:prstGeom>
          <a:noFill/>
          <a:ln/>
        </p:spPr>
        <p:txBody>
          <a:bodyPr wrap="square" lIns="0" tIns="0" rIns="0" bIns="0" rtlCol="0" anchor="t"/>
          <a:lstStyle/>
          <a:p>
            <a:pPr algn="ctr" indent="0" marL="0">
              <a:buNone/>
            </a:pPr>
            <a:r>
              <a:rPr lang="en-US" sz="1300" b="1" dirty="0">
                <a:solidFill>
                  <a:srgbClr val="5B6B8C"/>
                </a:solidFill>
                <a:latin typeface="Calibri" pitchFamily="34" charset="0"/>
                <a:ea typeface="Calibri" pitchFamily="34" charset="-122"/>
                <a:cs typeface="Calibri" pitchFamily="34" charset="-120"/>
              </a:rPr>
              <a:t>05</a:t>
            </a:r>
            <a:endParaRPr lang="en-US" sz="1300" dirty="0"/>
          </a:p>
        </p:txBody>
      </p:sp>
      <p:sp>
        <p:nvSpPr>
          <p:cNvPr id="28" name="anim5_24"/>
          <p:cNvSpPr txBox="1"/>
          <p:nvPr/>
        </p:nvSpPr>
        <p:spPr>
          <a:xfrm>
            <a:off x="6117336" y="2971800"/>
            <a:ext cx="1371600" cy="566928"/>
          </a:xfrm>
          <a:prstGeom prst="rect">
            <a:avLst/>
          </a:prstGeom>
          <a:noFill/>
          <a:ln/>
        </p:spPr>
        <p:txBody>
          <a:bodyPr wrap="square" lIns="0" tIns="0" rIns="0" bIns="0" rtlCol="0" anchor="t"/>
          <a:lstStyle/>
          <a:p>
            <a:pPr algn="ctr" indent="0" marL="0">
              <a:buNone/>
            </a:pPr>
            <a:r>
              <a:rPr lang="en-US" sz="1350" b="1" dirty="0">
                <a:solidFill>
                  <a:srgbClr val="5B6B8C"/>
                </a:solidFill>
                <a:latin typeface="Calibri" pitchFamily="34" charset="0"/>
                <a:ea typeface="Calibri" pitchFamily="34" charset="-122"/>
                <a:cs typeface="Calibri" pitchFamily="34" charset="-120"/>
              </a:rPr>
              <a:t>The debate</a:t>
            </a:r>
            <a:endParaRPr lang="en-US" sz="1350" dirty="0"/>
          </a:p>
        </p:txBody>
      </p:sp>
      <p:sp>
        <p:nvSpPr>
          <p:cNvPr id="29" name="anim5_25"/>
          <p:cNvSpPr txBox="1"/>
          <p:nvPr/>
        </p:nvSpPr>
        <p:spPr>
          <a:xfrm>
            <a:off x="6117336"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Is “addictive” the right word?</a:t>
            </a:r>
            <a:endParaRPr lang="en-US" sz="1150" dirty="0"/>
          </a:p>
        </p:txBody>
      </p:sp>
      <p:sp>
        <p:nvSpPr>
          <p:cNvPr id="30" name="anim6_26">
            <a:hlinkClick r:id="rId16" tooltip="Policy" action="ppaction://hlinksldjump"/>
          </p:cNvPr>
          <p:cNvSpPr/>
          <p:nvPr/>
        </p:nvSpPr>
        <p:spPr>
          <a:xfrm>
            <a:off x="7767828" y="1920240"/>
            <a:ext cx="914400" cy="914400"/>
          </a:xfrm>
          <a:prstGeom prst="ellipse">
            <a:avLst/>
          </a:prstGeom>
          <a:solidFill>
            <a:srgbClr val="3B7D5A"/>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31" name="anim6_27" descr="Policy">
            <a:hlinkClick r:id="rId18" tooltip="Policy" action="ppaction://hlinksldjump"/>
          </p:cNvPr>
          <p:cNvPicPr>
            <a:picLocks noChangeAspect="1"/>
          </p:cNvPicPr>
          <p:nvPr/>
        </p:nvPicPr>
        <p:blipFill>
          <a:blip r:embed="rId17"/>
          <a:stretch>
            <a:fillRect/>
          </a:stretch>
        </p:blipFill>
        <p:spPr>
          <a:xfrm>
            <a:off x="8014716" y="2167128"/>
            <a:ext cx="420624" cy="420624"/>
          </a:xfrm>
          <a:prstGeom prst="rect">
            <a:avLst/>
          </a:prstGeom>
        </p:spPr>
      </p:pic>
      <p:sp>
        <p:nvSpPr>
          <p:cNvPr id="32" name="anim6_28"/>
          <p:cNvSpPr txBox="1"/>
          <p:nvPr/>
        </p:nvSpPr>
        <p:spPr>
          <a:xfrm>
            <a:off x="7584948" y="1463040"/>
            <a:ext cx="1280160" cy="320040"/>
          </a:xfrm>
          <a:prstGeom prst="rect">
            <a:avLst/>
          </a:prstGeom>
          <a:noFill/>
          <a:ln/>
        </p:spPr>
        <p:txBody>
          <a:bodyPr wrap="square" lIns="0" tIns="0" rIns="0" bIns="0" rtlCol="0" anchor="t"/>
          <a:lstStyle/>
          <a:p>
            <a:pPr algn="ctr" indent="0" marL="0">
              <a:buNone/>
            </a:pPr>
            <a:r>
              <a:rPr lang="en-US" sz="1300" b="1" dirty="0">
                <a:solidFill>
                  <a:srgbClr val="3B7D5A"/>
                </a:solidFill>
                <a:latin typeface="Calibri" pitchFamily="34" charset="0"/>
                <a:ea typeface="Calibri" pitchFamily="34" charset="-122"/>
                <a:cs typeface="Calibri" pitchFamily="34" charset="-120"/>
              </a:rPr>
              <a:t>06</a:t>
            </a:r>
            <a:endParaRPr lang="en-US" sz="1300" dirty="0"/>
          </a:p>
        </p:txBody>
      </p:sp>
      <p:sp>
        <p:nvSpPr>
          <p:cNvPr id="33" name="anim6_29"/>
          <p:cNvSpPr txBox="1"/>
          <p:nvPr/>
        </p:nvSpPr>
        <p:spPr>
          <a:xfrm>
            <a:off x="7539228" y="2971800"/>
            <a:ext cx="1371600" cy="566928"/>
          </a:xfrm>
          <a:prstGeom prst="rect">
            <a:avLst/>
          </a:prstGeom>
          <a:noFill/>
          <a:ln/>
        </p:spPr>
        <p:txBody>
          <a:bodyPr wrap="square" lIns="0" tIns="0" rIns="0" bIns="0" rtlCol="0" anchor="t"/>
          <a:lstStyle/>
          <a:p>
            <a:pPr algn="ctr" indent="0" marL="0">
              <a:buNone/>
            </a:pPr>
            <a:r>
              <a:rPr lang="en-US" sz="1350" b="1" dirty="0">
                <a:solidFill>
                  <a:srgbClr val="3B7D5A"/>
                </a:solidFill>
                <a:latin typeface="Calibri" pitchFamily="34" charset="0"/>
                <a:ea typeface="Calibri" pitchFamily="34" charset="-122"/>
                <a:cs typeface="Calibri" pitchFamily="34" charset="-120"/>
              </a:rPr>
              <a:t>Policy</a:t>
            </a:r>
            <a:endParaRPr lang="en-US" sz="1350" dirty="0"/>
          </a:p>
        </p:txBody>
      </p:sp>
      <p:sp>
        <p:nvSpPr>
          <p:cNvPr id="34" name="anim6_30"/>
          <p:cNvSpPr txBox="1"/>
          <p:nvPr/>
        </p:nvSpPr>
        <p:spPr>
          <a:xfrm>
            <a:off x="7539228"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What works without settling the debate?</a:t>
            </a:r>
            <a:endParaRPr lang="en-US" sz="1150" dirty="0"/>
          </a:p>
        </p:txBody>
      </p:sp>
      <p:sp>
        <p:nvSpPr>
          <p:cNvPr id="35" name="anim7_31">
            <a:hlinkClick r:id="rId19" tooltip="Vulnerable groups and clinic" action="ppaction://hlinksldjump"/>
          </p:cNvPr>
          <p:cNvSpPr/>
          <p:nvPr/>
        </p:nvSpPr>
        <p:spPr>
          <a:xfrm>
            <a:off x="9189720" y="1920240"/>
            <a:ext cx="914400" cy="914400"/>
          </a:xfrm>
          <a:prstGeom prst="ellipse">
            <a:avLst/>
          </a:prstGeom>
          <a:solidFill>
            <a:srgbClr val="3F7FB5"/>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36" name="anim7_32" descr="Vulnerable groups and clinic">
            <a:hlinkClick r:id="rId21" tooltip="Vulnerable groups and clinic" action="ppaction://hlinksldjump"/>
          </p:cNvPr>
          <p:cNvPicPr>
            <a:picLocks noChangeAspect="1"/>
          </p:cNvPicPr>
          <p:nvPr/>
        </p:nvPicPr>
        <p:blipFill>
          <a:blip r:embed="rId20"/>
          <a:stretch>
            <a:fillRect/>
          </a:stretch>
        </p:blipFill>
        <p:spPr>
          <a:xfrm>
            <a:off x="9436608" y="2167128"/>
            <a:ext cx="420624" cy="420624"/>
          </a:xfrm>
          <a:prstGeom prst="rect">
            <a:avLst/>
          </a:prstGeom>
        </p:spPr>
      </p:pic>
      <p:sp>
        <p:nvSpPr>
          <p:cNvPr id="37" name="anim7_33"/>
          <p:cNvSpPr txBox="1"/>
          <p:nvPr/>
        </p:nvSpPr>
        <p:spPr>
          <a:xfrm>
            <a:off x="9006840" y="1463040"/>
            <a:ext cx="1280160" cy="320040"/>
          </a:xfrm>
          <a:prstGeom prst="rect">
            <a:avLst/>
          </a:prstGeom>
          <a:noFill/>
          <a:ln/>
        </p:spPr>
        <p:txBody>
          <a:bodyPr wrap="square" lIns="0" tIns="0" rIns="0" bIns="0" rtlCol="0" anchor="t"/>
          <a:lstStyle/>
          <a:p>
            <a:pPr algn="ctr" indent="0" marL="0">
              <a:buNone/>
            </a:pPr>
            <a:r>
              <a:rPr lang="en-US" sz="1300" b="1" dirty="0">
                <a:solidFill>
                  <a:srgbClr val="3F7FB5"/>
                </a:solidFill>
                <a:latin typeface="Calibri" pitchFamily="34" charset="0"/>
                <a:ea typeface="Calibri" pitchFamily="34" charset="-122"/>
                <a:cs typeface="Calibri" pitchFamily="34" charset="-120"/>
              </a:rPr>
              <a:t>07</a:t>
            </a:r>
            <a:endParaRPr lang="en-US" sz="1300" dirty="0"/>
          </a:p>
        </p:txBody>
      </p:sp>
      <p:sp>
        <p:nvSpPr>
          <p:cNvPr id="38" name="anim7_34"/>
          <p:cNvSpPr txBox="1"/>
          <p:nvPr/>
        </p:nvSpPr>
        <p:spPr>
          <a:xfrm>
            <a:off x="8961120" y="2971800"/>
            <a:ext cx="1371600" cy="566928"/>
          </a:xfrm>
          <a:prstGeom prst="rect">
            <a:avLst/>
          </a:prstGeom>
          <a:noFill/>
          <a:ln/>
        </p:spPr>
        <p:txBody>
          <a:bodyPr wrap="square" lIns="0" tIns="0" rIns="0" bIns="0" rtlCol="0" anchor="t"/>
          <a:lstStyle/>
          <a:p>
            <a:pPr algn="ctr" indent="0" marL="0">
              <a:buNone/>
            </a:pPr>
            <a:r>
              <a:rPr lang="en-US" sz="1350" b="1" dirty="0">
                <a:solidFill>
                  <a:srgbClr val="3F7FB5"/>
                </a:solidFill>
                <a:latin typeface="Calibri" pitchFamily="34" charset="0"/>
                <a:ea typeface="Calibri" pitchFamily="34" charset="-122"/>
                <a:cs typeface="Calibri" pitchFamily="34" charset="-120"/>
              </a:rPr>
              <a:t>Vulnerable groups and clinic</a:t>
            </a:r>
            <a:endParaRPr lang="en-US" sz="1350" dirty="0"/>
          </a:p>
        </p:txBody>
      </p:sp>
      <p:sp>
        <p:nvSpPr>
          <p:cNvPr id="39" name="anim7_35"/>
          <p:cNvSpPr txBox="1"/>
          <p:nvPr/>
        </p:nvSpPr>
        <p:spPr>
          <a:xfrm>
            <a:off x="8961120"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Children, eating disorders, stigma</a:t>
            </a:r>
            <a:endParaRPr lang="en-US" sz="1150" dirty="0"/>
          </a:p>
        </p:txBody>
      </p:sp>
      <p:sp>
        <p:nvSpPr>
          <p:cNvPr id="40" name="anim8_36">
            <a:hlinkClick r:id="rId22" tooltip="Conclusions" action="ppaction://hlinksldjump"/>
          </p:cNvPr>
          <p:cNvSpPr/>
          <p:nvPr/>
        </p:nvSpPr>
        <p:spPr>
          <a:xfrm>
            <a:off x="10611612" y="1920240"/>
            <a:ext cx="914400" cy="914400"/>
          </a:xfrm>
          <a:prstGeom prst="ellipse">
            <a:avLst/>
          </a:prstGeom>
          <a:solidFill>
            <a:srgbClr val="B3393C"/>
          </a:solidFill>
          <a:ln w="25400">
            <a:solidFill>
              <a:srgbClr val="FFFFFF"/>
            </a:solidFill>
            <a:prstDash val="solid"/>
          </a:ln>
          <a:effectLst>
            <a:outerShdw sx="100000" sy="100000" kx="0" ky="0" algn="bl" rotWithShape="0" blurRad="114300" dist="31750" dir="5400000">
              <a:srgbClr val="1B1F24">
                <a:alpha val="14000"/>
              </a:srgbClr>
            </a:outerShdw>
          </a:effectLst>
        </p:spPr>
      </p:sp>
      <p:pic>
        <p:nvPicPr>
          <p:cNvPr id="41" name="anim8_37" descr="Conclusions">
            <a:hlinkClick r:id="rId24" tooltip="Conclusions" action="ppaction://hlinksldjump"/>
          </p:cNvPr>
          <p:cNvPicPr>
            <a:picLocks noChangeAspect="1"/>
          </p:cNvPicPr>
          <p:nvPr/>
        </p:nvPicPr>
        <p:blipFill>
          <a:blip r:embed="rId23"/>
          <a:stretch>
            <a:fillRect/>
          </a:stretch>
        </p:blipFill>
        <p:spPr>
          <a:xfrm>
            <a:off x="10858500" y="2167128"/>
            <a:ext cx="420624" cy="420624"/>
          </a:xfrm>
          <a:prstGeom prst="rect">
            <a:avLst/>
          </a:prstGeom>
        </p:spPr>
      </p:pic>
      <p:sp>
        <p:nvSpPr>
          <p:cNvPr id="42" name="anim8_38"/>
          <p:cNvSpPr txBox="1"/>
          <p:nvPr/>
        </p:nvSpPr>
        <p:spPr>
          <a:xfrm>
            <a:off x="10428732" y="1463040"/>
            <a:ext cx="1280160" cy="320040"/>
          </a:xfrm>
          <a:prstGeom prst="rect">
            <a:avLst/>
          </a:prstGeom>
          <a:noFill/>
          <a:ln/>
        </p:spPr>
        <p:txBody>
          <a:bodyPr wrap="square" lIns="0" tIns="0" rIns="0" bIns="0" rtlCol="0" anchor="t"/>
          <a:lstStyle/>
          <a:p>
            <a:pPr algn="ctr" indent="0" marL="0">
              <a:buNone/>
            </a:pPr>
            <a:r>
              <a:rPr lang="en-US" sz="1300" b="1" dirty="0">
                <a:solidFill>
                  <a:srgbClr val="B3393C"/>
                </a:solidFill>
                <a:latin typeface="Calibri" pitchFamily="34" charset="0"/>
                <a:ea typeface="Calibri" pitchFamily="34" charset="-122"/>
                <a:cs typeface="Calibri" pitchFamily="34" charset="-120"/>
              </a:rPr>
              <a:t>08</a:t>
            </a:r>
            <a:endParaRPr lang="en-US" sz="1300" dirty="0"/>
          </a:p>
        </p:txBody>
      </p:sp>
      <p:sp>
        <p:nvSpPr>
          <p:cNvPr id="43" name="anim8_39"/>
          <p:cNvSpPr txBox="1"/>
          <p:nvPr/>
        </p:nvSpPr>
        <p:spPr>
          <a:xfrm>
            <a:off x="10383012" y="2971800"/>
            <a:ext cx="1371600" cy="566928"/>
          </a:xfrm>
          <a:prstGeom prst="rect">
            <a:avLst/>
          </a:prstGeom>
          <a:noFill/>
          <a:ln/>
        </p:spPr>
        <p:txBody>
          <a:bodyPr wrap="square" lIns="0" tIns="0" rIns="0" bIns="0" rtlCol="0" anchor="t"/>
          <a:lstStyle/>
          <a:p>
            <a:pPr algn="ctr" indent="0" marL="0">
              <a:buNone/>
            </a:pPr>
            <a:r>
              <a:rPr lang="en-US" sz="1350" b="1" dirty="0">
                <a:solidFill>
                  <a:srgbClr val="B3393C"/>
                </a:solidFill>
                <a:latin typeface="Calibri" pitchFamily="34" charset="0"/>
                <a:ea typeface="Calibri" pitchFamily="34" charset="-122"/>
                <a:cs typeface="Calibri" pitchFamily="34" charset="-120"/>
              </a:rPr>
              <a:t>Conclusions</a:t>
            </a:r>
            <a:endParaRPr lang="en-US" sz="1350" dirty="0"/>
          </a:p>
        </p:txBody>
      </p:sp>
      <p:sp>
        <p:nvSpPr>
          <p:cNvPr id="44" name="anim8_40"/>
          <p:cNvSpPr txBox="1"/>
          <p:nvPr/>
        </p:nvSpPr>
        <p:spPr>
          <a:xfrm>
            <a:off x="10383012" y="3566160"/>
            <a:ext cx="1371600" cy="777240"/>
          </a:xfrm>
          <a:prstGeom prst="rect">
            <a:avLst/>
          </a:prstGeom>
          <a:noFill/>
          <a:ln/>
        </p:spPr>
        <p:txBody>
          <a:bodyPr wrap="square" lIns="0" tIns="0" rIns="0" bIns="0" rtlCol="0" anchor="t"/>
          <a:lstStyle/>
          <a:p>
            <a:pPr algn="ctr" indent="0" marL="0">
              <a:buNone/>
            </a:pPr>
            <a:r>
              <a:rPr lang="en-US" sz="1150" dirty="0">
                <a:solidFill>
                  <a:srgbClr val="5F6B76"/>
                </a:solidFill>
                <a:latin typeface="Calibri" pitchFamily="34" charset="0"/>
                <a:ea typeface="Calibri" pitchFamily="34" charset="-122"/>
                <a:cs typeface="Calibri" pitchFamily="34" charset="-120"/>
              </a:rPr>
              <a:t>Take-home messages for Iran</a:t>
            </a:r>
            <a:endParaRPr lang="en-US" sz="1150" dirty="0"/>
          </a:p>
        </p:txBody>
      </p:sp>
      <p:sp>
        <p:nvSpPr>
          <p:cNvPr id="45" name="anim9_41"/>
          <p:cNvSpPr/>
          <p:nvPr/>
        </p:nvSpPr>
        <p:spPr>
          <a:xfrm>
            <a:off x="1463040" y="4709160"/>
            <a:ext cx="9235440" cy="1005840"/>
          </a:xfrm>
          <a:prstGeom prst="roundRect">
            <a:avLst>
              <a:gd name="adj" fmla="val 7273"/>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46" name="anim9_42"/>
          <p:cNvSpPr/>
          <p:nvPr/>
        </p:nvSpPr>
        <p:spPr>
          <a:xfrm>
            <a:off x="1691640" y="4846320"/>
            <a:ext cx="731520" cy="731520"/>
          </a:xfrm>
          <a:prstGeom prst="ellipse">
            <a:avLst/>
          </a:prstGeom>
          <a:solidFill>
            <a:srgbClr val="1F3A5F"/>
          </a:solidFill>
          <a:ln w="6350">
            <a:solidFill>
              <a:srgbClr val="1F3A5F"/>
            </a:solidFill>
            <a:prstDash val="solid"/>
          </a:ln>
        </p:spPr>
      </p:sp>
      <p:pic>
        <p:nvPicPr>
          <p:cNvPr id="47" name="anim9_43" descr="question icon">    </p:cNvPr>
          <p:cNvPicPr>
            <a:picLocks noChangeAspect="1"/>
          </p:cNvPicPr>
          <p:nvPr/>
        </p:nvPicPr>
        <p:blipFill>
          <a:blip r:embed="rId25"/>
          <a:stretch>
            <a:fillRect/>
          </a:stretch>
        </p:blipFill>
        <p:spPr>
          <a:xfrm>
            <a:off x="1889150" y="5043830"/>
            <a:ext cx="336499" cy="336499"/>
          </a:xfrm>
          <a:prstGeom prst="rect">
            <a:avLst/>
          </a:prstGeom>
        </p:spPr>
      </p:pic>
      <p:sp>
        <p:nvSpPr>
          <p:cNvPr id="48" name="anim9_44"/>
          <p:cNvSpPr txBox="1"/>
          <p:nvPr/>
        </p:nvSpPr>
        <p:spPr>
          <a:xfrm>
            <a:off x="2651760" y="4846320"/>
            <a:ext cx="7863840" cy="731520"/>
          </a:xfrm>
          <a:prstGeom prst="rect">
            <a:avLst/>
          </a:prstGeom>
          <a:noFill/>
          <a:ln/>
        </p:spPr>
        <p:txBody>
          <a:bodyPr wrap="square" lIns="0" tIns="0" rIns="0" bIns="0" rtlCol="0" anchor="ctr"/>
          <a:lstStyle/>
          <a:p>
            <a:pPr indent="0" marL="0">
              <a:buNone/>
            </a:pPr>
            <a:r>
              <a:rPr lang="en-US" sz="1700" b="1" dirty="0">
                <a:solidFill>
                  <a:srgbClr val="1F3A5F"/>
                </a:solidFill>
                <a:latin typeface="Calibri" pitchFamily="34" charset="0"/>
                <a:ea typeface="Calibri" pitchFamily="34" charset="-122"/>
                <a:cs typeface="Calibri" pitchFamily="34" charset="-120"/>
              </a:rPr>
              <a:t>Guiding question: </a:t>
            </a:r>
            <a:r>
              <a:rPr lang="en-US" sz="1700" dirty="0">
                <a:solidFill>
                  <a:srgbClr val="1B1F24"/>
                </a:solidFill>
                <a:latin typeface="Calibri" pitchFamily="34" charset="0"/>
                <a:ea typeface="Calibri" pitchFamily="34" charset="-122"/>
                <a:cs typeface="Calibri" pitchFamily="34" charset="-120"/>
              </a:rPr>
              <a:t>must we settle whether food is “addictive” before acting on ultra-processed foods?</a:t>
            </a:r>
            <a:endParaRPr lang="en-US" sz="1700" dirty="0"/>
          </a:p>
        </p:txBody>
      </p:sp>
      <p:sp>
        <p:nvSpPr>
          <p:cNvPr id="49" name="Text 37"/>
          <p:cNvSpPr txBox="1"/>
          <p:nvPr/>
        </p:nvSpPr>
        <p:spPr>
          <a:xfrm>
            <a:off x="548640" y="6053328"/>
            <a:ext cx="5486400" cy="274320"/>
          </a:xfrm>
          <a:prstGeom prst="rect">
            <a:avLst/>
          </a:prstGeom>
          <a:noFill/>
          <a:ln/>
        </p:spPr>
        <p:txBody>
          <a:bodyPr wrap="square" lIns="0" tIns="0" rIns="0" bIns="0" rtlCol="0" anchor="t"/>
          <a:lstStyle/>
          <a:p>
            <a:pPr indent="0" marL="0">
              <a:buNone/>
            </a:pPr>
            <a:r>
              <a:rPr lang="en-US" sz="1000" i="1" dirty="0">
                <a:solidFill>
                  <a:srgbClr val="7A8591"/>
                </a:solidFill>
                <a:latin typeface="Calibri" pitchFamily="34" charset="0"/>
                <a:ea typeface="Calibri" pitchFamily="34" charset="-122"/>
                <a:cs typeface="Calibri" pitchFamily="34" charset="-120"/>
              </a:rPr>
              <a:t>Click a circle to jump to that section; each divider links back here.</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44"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82" fill="hold">
                            <p:stCondLst>
                              <p:cond delay="380"/>
                            </p:stCondLst>
                            <p:childTnLst>
                              <p:par>
                                <p:cTn id="67" presetID="10" presetClass="entr" presetSubtype="0" fill="hold"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childTnLst>
                          </p:cTn>
                        </p:par>
                        <p:par>
                          <p:cTn id="98" fill="hold">
                            <p:stCondLst>
                              <p:cond delay="380"/>
                            </p:stCondLst>
                            <p:childTnLst>
                              <p:par>
                                <p:cTn id="83" presetID="10" presetClass="entr" presetSubtype="0" fill="hold"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childTnLst>
                          </p:cTn>
                        </p:par>
                        <p:par>
                          <p:cTn id="114" fill="hold">
                            <p:stCondLst>
                              <p:cond delay="380"/>
                            </p:stCondLst>
                            <p:childTnLst>
                              <p:par>
                                <p:cTn id="99" presetID="10" presetClass="entr" presetSubtype="0" fill="hold"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45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45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450"/>
                                        <p:tgtEl>
                                          <p:spTgt spid="39"/>
                                        </p:tgtEl>
                                      </p:cBhvr>
                                    </p:animEffect>
                                  </p:childTnLst>
                                </p:cTn>
                              </p:par>
                            </p:childTnLst>
                          </p:cTn>
                        </p:par>
                        <p:par>
                          <p:cTn id="130" fill="hold">
                            <p:stCondLst>
                              <p:cond delay="380"/>
                            </p:stCondLst>
                            <p:childTnLst>
                              <p:par>
                                <p:cTn id="115" presetID="10" presetClass="entr" presetSubtype="0" fill="hold" nodeType="after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par>
                                <p:cTn id="118" presetID="10"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50"/>
                                        <p:tgtEl>
                                          <p:spTgt spid="4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450"/>
                                        <p:tgtEl>
                                          <p:spTgt spid="4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450"/>
                                        <p:tgtEl>
                                          <p:spTgt spid="4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450"/>
                                        <p:tgtEl>
                                          <p:spTgt spid="44"/>
                                        </p:tgtEl>
                                      </p:cBhvr>
                                    </p:animEffect>
                                  </p:childTnLst>
                                </p:cTn>
                              </p:par>
                            </p:childTnLst>
                          </p:cTn>
                        </p:par>
                        <p:par>
                          <p:cTn id="143" fill="hold">
                            <p:stCondLst>
                              <p:cond delay="380"/>
                            </p:stCondLst>
                            <p:childTnLst>
                              <p:par>
                                <p:cTn id="131" presetID="10" presetClass="entr" presetSubtype="0" fill="hold" nodeType="after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450"/>
                                        <p:tgtEl>
                                          <p:spTgt spid="45"/>
                                        </p:tgtEl>
                                      </p:cBhvr>
                                    </p:animEffect>
                                  </p:childTnLst>
                                </p:cTn>
                              </p:par>
                              <p:par>
                                <p:cTn id="134" presetID="10" presetClass="entr" presetSubtype="0" fill="hold" nodeType="with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450"/>
                                        <p:tgtEl>
                                          <p:spTgt spid="46"/>
                                        </p:tgtEl>
                                      </p:cBhvr>
                                    </p:animEffect>
                                  </p:childTnLst>
                                </p:cTn>
                              </p:par>
                              <p:par>
                                <p:cTn id="137" presetID="10" presetClass="entr" presetSubtype="0" fill="hold" nodeType="with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450"/>
                                        <p:tgtEl>
                                          <p:spTgt spid="4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3" grpId="0" animBg="1"/>
      <p:bldP spid="14" grpId="0" animBg="1"/>
      <p:bldP spid="17" grpId="0" animBg="1"/>
      <p:bldP spid="18" grpId="0" animBg="1"/>
      <p:bldP spid="19" grpId="0" animBg="1"/>
      <p:bldP spid="22" grpId="0" animBg="1"/>
      <p:bldP spid="23" grpId="0" animBg="1"/>
      <p:bldP spid="24" grpId="0" animBg="1"/>
      <p:bldP spid="27" grpId="0" animBg="1"/>
      <p:bldP spid="28" grpId="0" animBg="1"/>
      <p:bldP spid="29" grpId="0" animBg="1"/>
      <p:bldP spid="32" grpId="0" animBg="1"/>
      <p:bldP spid="33" grpId="0" animBg="1"/>
      <p:bldP spid="34" grpId="0" animBg="1"/>
      <p:bldP spid="37" grpId="0" animBg="1"/>
      <p:bldP spid="38" grpId="0" animBg="1"/>
      <p:bldP spid="39" grpId="0" animBg="1"/>
      <p:bldP spid="42" grpId="0" animBg="1"/>
      <p:bldP spid="43" grpId="0" animBg="1"/>
      <p:bldP spid="44" grpId="0" animBg="1"/>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this question, why now?</a:t>
            </a:r>
            <a:endParaRPr lang="en-US" sz="3200" dirty="0"/>
          </a:p>
        </p:txBody>
      </p:sp>
      <p:sp>
        <p:nvSpPr>
          <p:cNvPr id="4" name="anim1_45"/>
          <p:cNvSpPr/>
          <p:nvPr/>
        </p:nvSpPr>
        <p:spPr>
          <a:xfrm>
            <a:off x="548640" y="1371600"/>
            <a:ext cx="260604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46"/>
          <p:cNvSpPr txBox="1"/>
          <p:nvPr/>
        </p:nvSpPr>
        <p:spPr>
          <a:xfrm>
            <a:off x="777240" y="1554480"/>
            <a:ext cx="2194560" cy="868680"/>
          </a:xfrm>
          <a:prstGeom prst="rect">
            <a:avLst/>
          </a:prstGeom>
          <a:noFill/>
          <a:ln/>
        </p:spPr>
        <p:txBody>
          <a:bodyPr wrap="square" lIns="0" tIns="0" rIns="0" bIns="0" rtlCol="0" anchor="ctr"/>
          <a:lstStyle/>
          <a:p>
            <a:pPr indent="0" marL="0">
              <a:buNone/>
            </a:pPr>
            <a:r>
              <a:rPr lang="en-US" sz="4600" b="1" dirty="0">
                <a:solidFill>
                  <a:srgbClr val="B3393C"/>
                </a:solidFill>
                <a:latin typeface="Cambria" pitchFamily="34" charset="0"/>
                <a:ea typeface="Cambria" pitchFamily="34" charset="-122"/>
                <a:cs typeface="Cambria" pitchFamily="34" charset="-120"/>
              </a:rPr>
              <a:t>58%</a:t>
            </a:r>
            <a:endParaRPr lang="en-US" sz="4600" dirty="0"/>
          </a:p>
        </p:txBody>
      </p:sp>
      <p:sp>
        <p:nvSpPr>
          <p:cNvPr id="6" name="anim1_47"/>
          <p:cNvSpPr txBox="1"/>
          <p:nvPr/>
        </p:nvSpPr>
        <p:spPr>
          <a:xfrm>
            <a:off x="777240" y="2450592"/>
            <a:ext cx="219456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of energy in US adults’ diets comes from NOVA group 4 (NHANES 2017–18)</a:t>
            </a:r>
            <a:endParaRPr lang="en-US" sz="1300" dirty="0"/>
          </a:p>
        </p:txBody>
      </p:sp>
      <p:sp>
        <p:nvSpPr>
          <p:cNvPr id="7" name="anim2_48"/>
          <p:cNvSpPr/>
          <p:nvPr/>
        </p:nvSpPr>
        <p:spPr>
          <a:xfrm>
            <a:off x="3337560" y="1371600"/>
            <a:ext cx="260604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8" name="anim2_49"/>
          <p:cNvSpPr txBox="1"/>
          <p:nvPr/>
        </p:nvSpPr>
        <p:spPr>
          <a:xfrm>
            <a:off x="3566160" y="1554480"/>
            <a:ext cx="2194560" cy="868680"/>
          </a:xfrm>
          <a:prstGeom prst="rect">
            <a:avLst/>
          </a:prstGeom>
          <a:noFill/>
          <a:ln/>
        </p:spPr>
        <p:txBody>
          <a:bodyPr wrap="square" lIns="0" tIns="0" rIns="0" bIns="0" rtlCol="0" anchor="ctr"/>
          <a:lstStyle/>
          <a:p>
            <a:pPr indent="0" marL="0">
              <a:buNone/>
            </a:pPr>
            <a:r>
              <a:rPr lang="en-US" sz="4600" b="1" dirty="0">
                <a:solidFill>
                  <a:srgbClr val="B3393C"/>
                </a:solidFill>
                <a:latin typeface="Cambria" pitchFamily="34" charset="0"/>
                <a:ea typeface="Cambria" pitchFamily="34" charset="-122"/>
                <a:cs typeface="Cambria" pitchFamily="34" charset="-120"/>
              </a:rPr>
              <a:t>54%</a:t>
            </a:r>
            <a:endParaRPr lang="en-US" sz="4600" dirty="0"/>
          </a:p>
        </p:txBody>
      </p:sp>
      <p:sp>
        <p:nvSpPr>
          <p:cNvPr id="9" name="anim2_50"/>
          <p:cNvSpPr txBox="1"/>
          <p:nvPr/>
        </p:nvSpPr>
        <p:spPr>
          <a:xfrm>
            <a:off x="3566160" y="2450592"/>
            <a:ext cx="219456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of energy in UK adults; about 66% in adolescents aged 11–18</a:t>
            </a:r>
            <a:endParaRPr lang="en-US" sz="1300" dirty="0"/>
          </a:p>
        </p:txBody>
      </p:sp>
      <p:sp>
        <p:nvSpPr>
          <p:cNvPr id="10" name="anim3_51"/>
          <p:cNvSpPr/>
          <p:nvPr/>
        </p:nvSpPr>
        <p:spPr>
          <a:xfrm>
            <a:off x="548640" y="3657600"/>
            <a:ext cx="260604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3_52"/>
          <p:cNvSpPr txBox="1"/>
          <p:nvPr/>
        </p:nvSpPr>
        <p:spPr>
          <a:xfrm>
            <a:off x="777240" y="3840480"/>
            <a:ext cx="2194560" cy="868680"/>
          </a:xfrm>
          <a:prstGeom prst="rect">
            <a:avLst/>
          </a:prstGeom>
          <a:noFill/>
          <a:ln/>
        </p:spPr>
        <p:txBody>
          <a:bodyPr wrap="square" lIns="0" tIns="0" rIns="0" bIns="0" rtlCol="0" anchor="ctr"/>
          <a:lstStyle/>
          <a:p>
            <a:pPr indent="0" marL="0">
              <a:buNone/>
            </a:pPr>
            <a:r>
              <a:rPr lang="en-US" sz="4600" b="1" dirty="0">
                <a:solidFill>
                  <a:srgbClr val="D88A1F"/>
                </a:solidFill>
                <a:latin typeface="Cambria" pitchFamily="34" charset="0"/>
                <a:ea typeface="Cambria" pitchFamily="34" charset="-122"/>
                <a:cs typeface="Cambria" pitchFamily="34" charset="-120"/>
              </a:rPr>
              <a:t>13.4%</a:t>
            </a:r>
            <a:endParaRPr lang="en-US" sz="4600" dirty="0"/>
          </a:p>
        </p:txBody>
      </p:sp>
      <p:sp>
        <p:nvSpPr>
          <p:cNvPr id="12" name="anim3_53"/>
          <p:cNvSpPr txBox="1"/>
          <p:nvPr/>
        </p:nvSpPr>
        <p:spPr>
          <a:xfrm>
            <a:off x="777240" y="4736592"/>
            <a:ext cx="219456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median UPF share of energy among Tehran adults (TLGS)</a:t>
            </a:r>
            <a:endParaRPr lang="en-US" sz="1300" dirty="0"/>
          </a:p>
        </p:txBody>
      </p:sp>
      <p:sp>
        <p:nvSpPr>
          <p:cNvPr id="13" name="anim4_54"/>
          <p:cNvSpPr/>
          <p:nvPr/>
        </p:nvSpPr>
        <p:spPr>
          <a:xfrm>
            <a:off x="3337560" y="3657600"/>
            <a:ext cx="260604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4" name="anim4_55"/>
          <p:cNvSpPr txBox="1"/>
          <p:nvPr/>
        </p:nvSpPr>
        <p:spPr>
          <a:xfrm>
            <a:off x="3566160" y="3840480"/>
            <a:ext cx="2194560" cy="868680"/>
          </a:xfrm>
          <a:prstGeom prst="rect">
            <a:avLst/>
          </a:prstGeom>
          <a:noFill/>
          <a:ln/>
        </p:spPr>
        <p:txBody>
          <a:bodyPr wrap="square" lIns="0" tIns="0" rIns="0" bIns="0" rtlCol="0" anchor="ctr"/>
          <a:lstStyle/>
          <a:p>
            <a:pPr indent="0" marL="0">
              <a:buNone/>
            </a:pPr>
            <a:r>
              <a:rPr lang="en-US" sz="4600" b="1" dirty="0">
                <a:solidFill>
                  <a:srgbClr val="6A4C93"/>
                </a:solidFill>
                <a:latin typeface="Cambria" pitchFamily="34" charset="0"/>
                <a:ea typeface="Cambria" pitchFamily="34" charset="-122"/>
                <a:cs typeface="Cambria" pitchFamily="34" charset="-120"/>
              </a:rPr>
              <a:t>14%</a:t>
            </a:r>
            <a:endParaRPr lang="en-US" sz="4600" dirty="0"/>
          </a:p>
        </p:txBody>
      </p:sp>
      <p:sp>
        <p:nvSpPr>
          <p:cNvPr id="15" name="anim4_56"/>
          <p:cNvSpPr txBox="1"/>
          <p:nvPr/>
        </p:nvSpPr>
        <p:spPr>
          <a:xfrm>
            <a:off x="3566160" y="4736592"/>
            <a:ext cx="219456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of adults meet YFAS “food addiction” criteria in pooled estimates (12% of children)</a:t>
            </a:r>
            <a:endParaRPr lang="en-US" sz="1300" dirty="0"/>
          </a:p>
        </p:txBody>
      </p:sp>
      <p:sp>
        <p:nvSpPr>
          <p:cNvPr id="16" name="anim5_57"/>
          <p:cNvSpPr/>
          <p:nvPr/>
        </p:nvSpPr>
        <p:spPr>
          <a:xfrm>
            <a:off x="6355080" y="1371600"/>
            <a:ext cx="5257800" cy="4389120"/>
          </a:xfrm>
          <a:prstGeom prst="roundRect">
            <a:avLst>
              <a:gd name="adj" fmla="val 1667"/>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17" name="anim5_58"/>
          <p:cNvSpPr txBox="1"/>
          <p:nvPr/>
        </p:nvSpPr>
        <p:spPr>
          <a:xfrm>
            <a:off x="6675120" y="1572768"/>
            <a:ext cx="4572000" cy="41148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The puzzle</a:t>
            </a:r>
            <a:endParaRPr lang="en-US" sz="2000" dirty="0"/>
          </a:p>
        </p:txBody>
      </p:sp>
      <p:sp>
        <p:nvSpPr>
          <p:cNvPr id="18" name="anim6_59"/>
          <p:cNvSpPr/>
          <p:nvPr/>
        </p:nvSpPr>
        <p:spPr>
          <a:xfrm>
            <a:off x="6675120" y="2148840"/>
            <a:ext cx="685800" cy="685800"/>
          </a:xfrm>
          <a:prstGeom prst="ellipse">
            <a:avLst/>
          </a:prstGeom>
          <a:solidFill>
            <a:srgbClr val="2A7A8C"/>
          </a:solidFill>
          <a:ln w="6350">
            <a:solidFill>
              <a:srgbClr val="2A7A8C"/>
            </a:solidFill>
            <a:prstDash val="solid"/>
          </a:ln>
        </p:spPr>
      </p:sp>
      <p:pic>
        <p:nvPicPr>
          <p:cNvPr id="19" name="anim6_60" descr="earth icon">    </p:cNvPr>
          <p:cNvPicPr>
            <a:picLocks noChangeAspect="1"/>
          </p:cNvPicPr>
          <p:nvPr/>
        </p:nvPicPr>
        <p:blipFill>
          <a:blip r:embed="rId1"/>
          <a:stretch>
            <a:fillRect/>
          </a:stretch>
        </p:blipFill>
        <p:spPr>
          <a:xfrm>
            <a:off x="6860286" y="2334006"/>
            <a:ext cx="315468" cy="315468"/>
          </a:xfrm>
          <a:prstGeom prst="rect">
            <a:avLst/>
          </a:prstGeom>
        </p:spPr>
      </p:pic>
      <p:sp>
        <p:nvSpPr>
          <p:cNvPr id="20" name="anim6_61"/>
          <p:cNvSpPr txBox="1"/>
          <p:nvPr/>
        </p:nvSpPr>
        <p:spPr>
          <a:xfrm>
            <a:off x="7589520" y="2103120"/>
            <a:ext cx="3794760" cy="1051560"/>
          </a:xfrm>
          <a:prstGeom prst="rect">
            <a:avLst/>
          </a:prstGeom>
          <a:noFill/>
          <a:ln/>
        </p:spPr>
        <p:txBody>
          <a:bodyPr wrap="square" lIns="0" tIns="0" rIns="0" bIns="0" rtlCol="0" anchor="ctr"/>
          <a:lstStyle/>
          <a:p>
            <a:pPr indent="0" marL="0">
              <a:buNone/>
            </a:pPr>
            <a:r>
              <a:rPr lang="en-US" sz="1450" dirty="0">
                <a:solidFill>
                  <a:srgbClr val="1B1F24"/>
                </a:solidFill>
                <a:latin typeface="Calibri" pitchFamily="34" charset="0"/>
                <a:ea typeface="Calibri" pitchFamily="34" charset="-122"/>
                <a:cs typeface="Calibri" pitchFamily="34" charset="-120"/>
              </a:rPr>
              <a:t>Obesity is rising simultaneously across very different populations — individual choice alone cannot explain it (GBD 2019; NCD-RisC).</a:t>
            </a:r>
            <a:endParaRPr lang="en-US" sz="1450" dirty="0"/>
          </a:p>
        </p:txBody>
      </p:sp>
      <p:sp>
        <p:nvSpPr>
          <p:cNvPr id="21" name="anim7_62"/>
          <p:cNvSpPr/>
          <p:nvPr/>
        </p:nvSpPr>
        <p:spPr>
          <a:xfrm>
            <a:off x="6675120" y="3337560"/>
            <a:ext cx="685800" cy="685800"/>
          </a:xfrm>
          <a:prstGeom prst="ellipse">
            <a:avLst/>
          </a:prstGeom>
          <a:solidFill>
            <a:srgbClr val="B3393C"/>
          </a:solidFill>
          <a:ln w="6350">
            <a:solidFill>
              <a:srgbClr val="B3393C"/>
            </a:solidFill>
            <a:prstDash val="solid"/>
          </a:ln>
        </p:spPr>
      </p:sp>
      <p:pic>
        <p:nvPicPr>
          <p:cNvPr id="22" name="anim7_63" descr="industry icon">    </p:cNvPr>
          <p:cNvPicPr>
            <a:picLocks noChangeAspect="1"/>
          </p:cNvPicPr>
          <p:nvPr/>
        </p:nvPicPr>
        <p:blipFill>
          <a:blip r:embed="rId2"/>
          <a:stretch>
            <a:fillRect/>
          </a:stretch>
        </p:blipFill>
        <p:spPr>
          <a:xfrm>
            <a:off x="6860286" y="3522726"/>
            <a:ext cx="315468" cy="315468"/>
          </a:xfrm>
          <a:prstGeom prst="rect">
            <a:avLst/>
          </a:prstGeom>
        </p:spPr>
      </p:pic>
      <p:sp>
        <p:nvSpPr>
          <p:cNvPr id="23" name="anim7_64"/>
          <p:cNvSpPr txBox="1"/>
          <p:nvPr/>
        </p:nvSpPr>
        <p:spPr>
          <a:xfrm>
            <a:off x="7589520" y="3291840"/>
            <a:ext cx="3794760" cy="1051560"/>
          </a:xfrm>
          <a:prstGeom prst="rect">
            <a:avLst/>
          </a:prstGeom>
          <a:noFill/>
          <a:ln/>
        </p:spPr>
        <p:txBody>
          <a:bodyPr wrap="square" lIns="0" tIns="0" rIns="0" bIns="0" rtlCol="0" anchor="ctr"/>
          <a:lstStyle/>
          <a:p>
            <a:pPr indent="0" marL="0">
              <a:buNone/>
            </a:pPr>
            <a:r>
              <a:rPr lang="en-US" sz="1450" dirty="0">
                <a:solidFill>
                  <a:srgbClr val="1B1F24"/>
                </a:solidFill>
                <a:latin typeface="Calibri" pitchFamily="34" charset="0"/>
                <a:ea typeface="Calibri" pitchFamily="34" charset="-122"/>
                <a:cs typeface="Calibri" pitchFamily="34" charset="-120"/>
              </a:rPr>
              <a:t>UPFs dominate food supplies in high-income countries and are expanding fast in middle-income countries.</a:t>
            </a:r>
            <a:endParaRPr lang="en-US" sz="1450" dirty="0"/>
          </a:p>
        </p:txBody>
      </p:sp>
      <p:sp>
        <p:nvSpPr>
          <p:cNvPr id="24" name="anim8_65"/>
          <p:cNvSpPr/>
          <p:nvPr/>
        </p:nvSpPr>
        <p:spPr>
          <a:xfrm>
            <a:off x="6675120" y="4526280"/>
            <a:ext cx="685800" cy="685800"/>
          </a:xfrm>
          <a:prstGeom prst="ellipse">
            <a:avLst/>
          </a:prstGeom>
          <a:solidFill>
            <a:srgbClr val="6A4C93"/>
          </a:solidFill>
          <a:ln w="6350">
            <a:solidFill>
              <a:srgbClr val="6A4C93"/>
            </a:solidFill>
            <a:prstDash val="solid"/>
          </a:ln>
        </p:spPr>
      </p:sp>
      <p:pic>
        <p:nvPicPr>
          <p:cNvPr id="25" name="anim8_66" descr="brain icon">    </p:cNvPr>
          <p:cNvPicPr>
            <a:picLocks noChangeAspect="1"/>
          </p:cNvPicPr>
          <p:nvPr/>
        </p:nvPicPr>
        <p:blipFill>
          <a:blip r:embed="rId3"/>
          <a:stretch>
            <a:fillRect/>
          </a:stretch>
        </p:blipFill>
        <p:spPr>
          <a:xfrm>
            <a:off x="6860286" y="4711446"/>
            <a:ext cx="315468" cy="315468"/>
          </a:xfrm>
          <a:prstGeom prst="rect">
            <a:avLst/>
          </a:prstGeom>
        </p:spPr>
      </p:pic>
      <p:sp>
        <p:nvSpPr>
          <p:cNvPr id="26" name="anim8_67"/>
          <p:cNvSpPr txBox="1"/>
          <p:nvPr/>
        </p:nvSpPr>
        <p:spPr>
          <a:xfrm>
            <a:off x="7589520" y="4480560"/>
            <a:ext cx="3794760" cy="1051560"/>
          </a:xfrm>
          <a:prstGeom prst="rect">
            <a:avLst/>
          </a:prstGeom>
          <a:noFill/>
          <a:ln/>
        </p:spPr>
        <p:txBody>
          <a:bodyPr wrap="square" lIns="0" tIns="0" rIns="0" bIns="0" rtlCol="0" anchor="ctr"/>
          <a:lstStyle/>
          <a:p>
            <a:pPr indent="0" marL="0">
              <a:buNone/>
            </a:pPr>
            <a:r>
              <a:rPr lang="en-US" sz="1450" dirty="0">
                <a:solidFill>
                  <a:srgbClr val="1B1F24"/>
                </a:solidFill>
                <a:latin typeface="Calibri" pitchFamily="34" charset="0"/>
                <a:ea typeface="Calibri" pitchFamily="34" charset="-122"/>
                <a:cs typeface="Calibri" pitchFamily="34" charset="-120"/>
              </a:rPr>
              <a:t>Some products are engineered to be highly rewarding. Could an “addiction” lens explain compulsive overconsumption?</a:t>
            </a:r>
            <a:endParaRPr lang="en-US" sz="1450" dirty="0"/>
          </a:p>
        </p:txBody>
      </p:sp>
      <p:sp>
        <p:nvSpPr>
          <p:cNvPr id="27" name="Text 21"/>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Steele et al. 2023; Rauber et al. 2020; Moslehi et al. 2024; Gearhardt et al. 2023; GBD 2019 Risk Factors Collaborators 2020; NCD-RisC 2024; Monteiro et al. 2013; Baker et al. 2020.</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12"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22" fill="hold">
                            <p:stCondLst>
                              <p:cond delay="38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childTnLst>
                          </p:cTn>
                        </p:par>
                        <p:par>
                          <p:cTn id="32" fill="hold">
                            <p:stCondLst>
                              <p:cond delay="380"/>
                            </p:stCondLst>
                            <p:childTnLst>
                              <p:par>
                                <p:cTn id="23" presetID="10"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childTnLst>
                          </p:cTn>
                        </p:par>
                        <p:par>
                          <p:cTn id="42" fill="hold">
                            <p:stCondLst>
                              <p:cond delay="380"/>
                            </p:stCondLst>
                            <p:childTnLst>
                              <p:par>
                                <p:cTn id="33" presetID="10" presetClass="entr" presetSubtype="0"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childTnLst>
                          </p:cTn>
                        </p:par>
                        <p:par>
                          <p:cTn id="49" fill="hold">
                            <p:stCondLst>
                              <p:cond delay="380"/>
                            </p:stCondLst>
                            <p:childTnLst>
                              <p:par>
                                <p:cTn id="43" presetID="10" presetClass="entr" presetSubtype="0"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childTnLst>
                          </p:cTn>
                        </p:par>
                        <p:par>
                          <p:cTn id="59" fill="hold">
                            <p:stCondLst>
                              <p:cond delay="380"/>
                            </p:stCondLst>
                            <p:childTnLst>
                              <p:par>
                                <p:cTn id="50" presetID="10" presetClass="entr" presetSubtype="0"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childTnLst>
                          </p:cTn>
                        </p:par>
                        <p:par>
                          <p:cTn id="69" fill="hold">
                            <p:stCondLst>
                              <p:cond delay="380"/>
                            </p:stCondLst>
                            <p:childTnLst>
                              <p:par>
                                <p:cTn id="60" presetID="10" presetClass="entr" presetSubtype="0" fill="hold" nodeType="after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45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childTnLst>
                          </p:cTn>
                        </p:par>
                        <p:par>
                          <p:cTn id="79" fill="hold">
                            <p:stCondLst>
                              <p:cond delay="380"/>
                            </p:stCondLst>
                            <p:childTnLst>
                              <p:par>
                                <p:cTn id="70" presetID="10" presetClass="entr" presetSubtype="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5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20" grpId="0" animBg="1"/>
      <p:bldP spid="23"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Separating the claims: unequal evidence</a:t>
            </a:r>
            <a:endParaRPr lang="en-US" sz="3200" dirty="0"/>
          </a:p>
        </p:txBody>
      </p:sp>
      <p:sp>
        <p:nvSpPr>
          <p:cNvPr id="4" name="Text 1"/>
          <p:cNvSpPr txBox="1"/>
          <p:nvPr/>
        </p:nvSpPr>
        <p:spPr>
          <a:xfrm>
            <a:off x="1280160" y="1261872"/>
            <a:ext cx="3246120" cy="274320"/>
          </a:xfrm>
          <a:prstGeom prst="rect">
            <a:avLst/>
          </a:prstGeom>
          <a:noFill/>
          <a:ln/>
        </p:spPr>
        <p:txBody>
          <a:bodyPr wrap="square" lIns="0" tIns="0" rIns="0" bIns="0" rtlCol="0" anchor="t"/>
          <a:lstStyle/>
          <a:p>
            <a:pPr indent="0" marL="0">
              <a:buNone/>
            </a:pPr>
            <a:r>
              <a:rPr lang="en-US" sz="1100" b="1" spc="100" kern="0" dirty="0">
                <a:solidFill>
                  <a:srgbClr val="7A8591"/>
                </a:solidFill>
                <a:latin typeface="Calibri" pitchFamily="34" charset="0"/>
                <a:ea typeface="Calibri" pitchFamily="34" charset="-122"/>
                <a:cs typeface="Calibri" pitchFamily="34" charset="-120"/>
              </a:rPr>
              <a:t>CLAIM</a:t>
            </a:r>
            <a:endParaRPr lang="en-US" sz="1100" dirty="0"/>
          </a:p>
        </p:txBody>
      </p:sp>
      <p:sp>
        <p:nvSpPr>
          <p:cNvPr id="5" name="Text 2"/>
          <p:cNvSpPr txBox="1"/>
          <p:nvPr/>
        </p:nvSpPr>
        <p:spPr>
          <a:xfrm>
            <a:off x="4709160" y="1261872"/>
            <a:ext cx="2606040" cy="274320"/>
          </a:xfrm>
          <a:prstGeom prst="rect">
            <a:avLst/>
          </a:prstGeom>
          <a:noFill/>
          <a:ln/>
        </p:spPr>
        <p:txBody>
          <a:bodyPr wrap="square" lIns="0" tIns="0" rIns="0" bIns="0" rtlCol="0" anchor="t"/>
          <a:lstStyle/>
          <a:p>
            <a:pPr indent="0" marL="0">
              <a:buNone/>
            </a:pPr>
            <a:r>
              <a:rPr lang="en-US" sz="1100" b="1" spc="100" kern="0" dirty="0">
                <a:solidFill>
                  <a:srgbClr val="7A8591"/>
                </a:solidFill>
                <a:latin typeface="Calibri" pitchFamily="34" charset="0"/>
                <a:ea typeface="Calibri" pitchFamily="34" charset="-122"/>
                <a:cs typeface="Calibri" pitchFamily="34" charset="-120"/>
              </a:rPr>
              <a:t>EVIDENCE NEEDED</a:t>
            </a:r>
            <a:endParaRPr lang="en-US" sz="1100" dirty="0"/>
          </a:p>
        </p:txBody>
      </p:sp>
      <p:sp>
        <p:nvSpPr>
          <p:cNvPr id="6" name="Text 3"/>
          <p:cNvSpPr txBox="1"/>
          <p:nvPr/>
        </p:nvSpPr>
        <p:spPr>
          <a:xfrm>
            <a:off x="7452360" y="1261872"/>
            <a:ext cx="2331720" cy="274320"/>
          </a:xfrm>
          <a:prstGeom prst="rect">
            <a:avLst/>
          </a:prstGeom>
          <a:noFill/>
          <a:ln/>
        </p:spPr>
        <p:txBody>
          <a:bodyPr wrap="square" lIns="0" tIns="0" rIns="0" bIns="0" rtlCol="0" anchor="t"/>
          <a:lstStyle/>
          <a:p>
            <a:pPr indent="0" marL="0">
              <a:buNone/>
            </a:pPr>
            <a:r>
              <a:rPr lang="en-US" sz="1100" b="1" spc="100" kern="0" dirty="0">
                <a:solidFill>
                  <a:srgbClr val="7A8591"/>
                </a:solidFill>
                <a:latin typeface="Calibri" pitchFamily="34" charset="0"/>
                <a:ea typeface="Calibri" pitchFamily="34" charset="-122"/>
                <a:cs typeface="Calibri" pitchFamily="34" charset="-120"/>
              </a:rPr>
              <a:t>WHAT WE HAVE</a:t>
            </a:r>
            <a:endParaRPr lang="en-US" sz="1100" dirty="0"/>
          </a:p>
        </p:txBody>
      </p:sp>
      <p:sp>
        <p:nvSpPr>
          <p:cNvPr id="7" name="Text 4"/>
          <p:cNvSpPr txBox="1"/>
          <p:nvPr/>
        </p:nvSpPr>
        <p:spPr>
          <a:xfrm>
            <a:off x="9966960" y="1261872"/>
            <a:ext cx="1691640" cy="274320"/>
          </a:xfrm>
          <a:prstGeom prst="rect">
            <a:avLst/>
          </a:prstGeom>
          <a:noFill/>
          <a:ln/>
        </p:spPr>
        <p:txBody>
          <a:bodyPr wrap="square" lIns="0" tIns="0" rIns="0" bIns="0" rtlCol="0" anchor="t"/>
          <a:lstStyle/>
          <a:p>
            <a:pPr indent="0" marL="0">
              <a:buNone/>
            </a:pPr>
            <a:r>
              <a:rPr lang="en-US" sz="1100" b="1" spc="100" kern="0" dirty="0">
                <a:solidFill>
                  <a:srgbClr val="7A8591"/>
                </a:solidFill>
                <a:latin typeface="Calibri" pitchFamily="34" charset="0"/>
                <a:ea typeface="Calibri" pitchFamily="34" charset="-122"/>
                <a:cs typeface="Calibri" pitchFamily="34" charset="-120"/>
              </a:rPr>
              <a:t>STATUS</a:t>
            </a:r>
            <a:endParaRPr lang="en-US" sz="1100" dirty="0"/>
          </a:p>
        </p:txBody>
      </p:sp>
      <p:sp>
        <p:nvSpPr>
          <p:cNvPr id="8" name="anim1_68"/>
          <p:cNvSpPr/>
          <p:nvPr/>
        </p:nvSpPr>
        <p:spPr>
          <a:xfrm>
            <a:off x="548640" y="1600200"/>
            <a:ext cx="11064240" cy="841248"/>
          </a:xfrm>
          <a:prstGeom prst="roundRect">
            <a:avLst>
              <a:gd name="adj" fmla="val 869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9" name="anim1_69"/>
          <p:cNvSpPr/>
          <p:nvPr/>
        </p:nvSpPr>
        <p:spPr>
          <a:xfrm>
            <a:off x="713232" y="1764792"/>
            <a:ext cx="512064" cy="512064"/>
          </a:xfrm>
          <a:prstGeom prst="ellipse">
            <a:avLst/>
          </a:prstGeom>
          <a:solidFill>
            <a:srgbClr val="3B7D5A"/>
          </a:solidFill>
          <a:ln>
            <a:solidFill>
              <a:srgbClr val="3B7D5A"/>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0" name="anim1_70"/>
          <p:cNvSpPr txBox="1"/>
          <p:nvPr/>
        </p:nvSpPr>
        <p:spPr>
          <a:xfrm>
            <a:off x="1371600" y="1673352"/>
            <a:ext cx="3200400" cy="69494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UPF intake ↔ higher energy intake and adverse health</a:t>
            </a:r>
            <a:endParaRPr lang="en-US" sz="1450" dirty="0"/>
          </a:p>
        </p:txBody>
      </p:sp>
      <p:sp>
        <p:nvSpPr>
          <p:cNvPr id="11" name="anim1_71"/>
          <p:cNvSpPr txBox="1"/>
          <p:nvPr/>
        </p:nvSpPr>
        <p:spPr>
          <a:xfrm>
            <a:off x="4709160" y="1673352"/>
            <a:ext cx="2606040" cy="69494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Controlled feeding trials, large prospective cohorts, umbrella reviews</a:t>
            </a:r>
            <a:endParaRPr lang="en-US" sz="1200" dirty="0"/>
          </a:p>
        </p:txBody>
      </p:sp>
      <p:sp>
        <p:nvSpPr>
          <p:cNvPr id="12" name="anim1_72"/>
          <p:cNvSpPr txBox="1"/>
          <p:nvPr/>
        </p:nvSpPr>
        <p:spPr>
          <a:xfrm>
            <a:off x="7452360" y="1673352"/>
            <a:ext cx="2377440" cy="694944"/>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Hall 2019, Dicken 2025, Lane 2024, NutriNet-Santé, TLGS</a:t>
            </a:r>
            <a:endParaRPr lang="en-US" sz="1200" dirty="0"/>
          </a:p>
        </p:txBody>
      </p:sp>
      <p:sp>
        <p:nvSpPr>
          <p:cNvPr id="13" name="anim1_73"/>
          <p:cNvSpPr/>
          <p:nvPr/>
        </p:nvSpPr>
        <p:spPr>
          <a:xfrm>
            <a:off x="9921240" y="1755648"/>
            <a:ext cx="1600200" cy="292608"/>
          </a:xfrm>
          <a:prstGeom prst="roundRect">
            <a:avLst>
              <a:gd name="adj" fmla="val 50000"/>
            </a:avLst>
          </a:prstGeom>
          <a:solidFill>
            <a:srgbClr val="3B7D5A"/>
          </a:solidFill>
          <a:ln w="6350">
            <a:solidFill>
              <a:srgbClr val="3B7D5A"/>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RELATIVELY STRONG</a:t>
            </a:r>
            <a:endParaRPr lang="en-US" sz="1050" dirty="0"/>
          </a:p>
        </p:txBody>
      </p:sp>
      <p:sp>
        <p:nvSpPr>
          <p:cNvPr id="14" name="anim1_74"/>
          <p:cNvSpPr/>
          <p:nvPr/>
        </p:nvSpPr>
        <p:spPr>
          <a:xfrm>
            <a:off x="10149840" y="2148840"/>
            <a:ext cx="164592" cy="164592"/>
          </a:xfrm>
          <a:prstGeom prst="ellipse">
            <a:avLst/>
          </a:prstGeom>
          <a:solidFill>
            <a:srgbClr val="3B7D5A"/>
          </a:solidFill>
          <a:ln w="6350">
            <a:solidFill>
              <a:srgbClr val="3B7D5A"/>
            </a:solidFill>
            <a:prstDash val="solid"/>
          </a:ln>
        </p:spPr>
      </p:sp>
      <p:sp>
        <p:nvSpPr>
          <p:cNvPr id="15" name="anim1_75"/>
          <p:cNvSpPr/>
          <p:nvPr/>
        </p:nvSpPr>
        <p:spPr>
          <a:xfrm>
            <a:off x="10396728" y="2148840"/>
            <a:ext cx="164592" cy="164592"/>
          </a:xfrm>
          <a:prstGeom prst="ellipse">
            <a:avLst/>
          </a:prstGeom>
          <a:solidFill>
            <a:srgbClr val="3B7D5A"/>
          </a:solidFill>
          <a:ln w="6350">
            <a:solidFill>
              <a:srgbClr val="3B7D5A"/>
            </a:solidFill>
            <a:prstDash val="solid"/>
          </a:ln>
        </p:spPr>
      </p:sp>
      <p:sp>
        <p:nvSpPr>
          <p:cNvPr id="16" name="anim1_76"/>
          <p:cNvSpPr/>
          <p:nvPr/>
        </p:nvSpPr>
        <p:spPr>
          <a:xfrm>
            <a:off x="10643616" y="2148840"/>
            <a:ext cx="164592" cy="164592"/>
          </a:xfrm>
          <a:prstGeom prst="ellipse">
            <a:avLst/>
          </a:prstGeom>
          <a:solidFill>
            <a:srgbClr val="3B7D5A"/>
          </a:solidFill>
          <a:ln w="6350">
            <a:solidFill>
              <a:srgbClr val="3B7D5A"/>
            </a:solidFill>
            <a:prstDash val="solid"/>
          </a:ln>
        </p:spPr>
      </p:sp>
      <p:sp>
        <p:nvSpPr>
          <p:cNvPr id="17" name="anim1_77"/>
          <p:cNvSpPr/>
          <p:nvPr/>
        </p:nvSpPr>
        <p:spPr>
          <a:xfrm>
            <a:off x="10890504" y="2148840"/>
            <a:ext cx="164592" cy="164592"/>
          </a:xfrm>
          <a:prstGeom prst="ellipse">
            <a:avLst/>
          </a:prstGeom>
          <a:solidFill>
            <a:srgbClr val="3B7D5A"/>
          </a:solidFill>
          <a:ln w="6350">
            <a:solidFill>
              <a:srgbClr val="3B7D5A"/>
            </a:solidFill>
            <a:prstDash val="solid"/>
          </a:ln>
        </p:spPr>
      </p:sp>
      <p:sp>
        <p:nvSpPr>
          <p:cNvPr id="18" name="anim1_78"/>
          <p:cNvSpPr/>
          <p:nvPr/>
        </p:nvSpPr>
        <p:spPr>
          <a:xfrm>
            <a:off x="11137392" y="2148840"/>
            <a:ext cx="164592" cy="164592"/>
          </a:xfrm>
          <a:prstGeom prst="ellipse">
            <a:avLst/>
          </a:prstGeom>
          <a:solidFill>
            <a:srgbClr val="DDE3E9"/>
          </a:solidFill>
          <a:ln w="6350">
            <a:solidFill>
              <a:srgbClr val="DDE3E9"/>
            </a:solidFill>
            <a:prstDash val="solid"/>
          </a:ln>
        </p:spPr>
      </p:sp>
      <p:sp>
        <p:nvSpPr>
          <p:cNvPr id="19" name="anim2_79"/>
          <p:cNvSpPr/>
          <p:nvPr/>
        </p:nvSpPr>
        <p:spPr>
          <a:xfrm>
            <a:off x="548640" y="2560320"/>
            <a:ext cx="11064240" cy="841248"/>
          </a:xfrm>
          <a:prstGeom prst="roundRect">
            <a:avLst>
              <a:gd name="adj" fmla="val 869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2_80"/>
          <p:cNvSpPr/>
          <p:nvPr/>
        </p:nvSpPr>
        <p:spPr>
          <a:xfrm>
            <a:off x="713232" y="2724912"/>
            <a:ext cx="512064" cy="512064"/>
          </a:xfrm>
          <a:prstGeom prst="ellipse">
            <a:avLst/>
          </a:prstGeom>
          <a:solidFill>
            <a:srgbClr val="D88A1F"/>
          </a:solidFill>
          <a:ln>
            <a:solidFill>
              <a:srgbClr val="D88A1F"/>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21" name="anim2_81"/>
          <p:cNvSpPr txBox="1"/>
          <p:nvPr/>
        </p:nvSpPr>
        <p:spPr>
          <a:xfrm>
            <a:off x="1371600" y="2633472"/>
            <a:ext cx="3200400" cy="69494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Some UPFs ↔ addictive-like eating</a:t>
            </a:r>
            <a:endParaRPr lang="en-US" sz="1450" dirty="0"/>
          </a:p>
        </p:txBody>
      </p:sp>
      <p:sp>
        <p:nvSpPr>
          <p:cNvPr id="22" name="anim2_82"/>
          <p:cNvSpPr txBox="1"/>
          <p:nvPr/>
        </p:nvSpPr>
        <p:spPr>
          <a:xfrm>
            <a:off x="4709160" y="2633472"/>
            <a:ext cx="2606040" cy="69494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Validated psychometrics, behavioral experiments, longitudinal designs</a:t>
            </a:r>
            <a:endParaRPr lang="en-US" sz="1200" dirty="0"/>
          </a:p>
        </p:txBody>
      </p:sp>
      <p:sp>
        <p:nvSpPr>
          <p:cNvPr id="23" name="anim2_83"/>
          <p:cNvSpPr txBox="1"/>
          <p:nvPr/>
        </p:nvSpPr>
        <p:spPr>
          <a:xfrm>
            <a:off x="7452360" y="2633472"/>
            <a:ext cx="2377440" cy="694944"/>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Schulte 2015, YFAS surveys, LaFata 2024 — mostly cross-sectional</a:t>
            </a:r>
            <a:endParaRPr lang="en-US" sz="1200" dirty="0"/>
          </a:p>
        </p:txBody>
      </p:sp>
      <p:sp>
        <p:nvSpPr>
          <p:cNvPr id="24" name="anim2_84"/>
          <p:cNvSpPr/>
          <p:nvPr/>
        </p:nvSpPr>
        <p:spPr>
          <a:xfrm>
            <a:off x="9921240" y="2715768"/>
            <a:ext cx="1600200" cy="292608"/>
          </a:xfrm>
          <a:prstGeom prst="roundRect">
            <a:avLst>
              <a:gd name="adj" fmla="val 50000"/>
            </a:avLst>
          </a:prstGeom>
          <a:solidFill>
            <a:srgbClr val="D88A1F"/>
          </a:solidFill>
          <a:ln w="6350">
            <a:solidFill>
              <a:srgbClr val="D88A1F"/>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LIMITED</a:t>
            </a:r>
            <a:endParaRPr lang="en-US" sz="1050" dirty="0"/>
          </a:p>
        </p:txBody>
      </p:sp>
      <p:sp>
        <p:nvSpPr>
          <p:cNvPr id="25" name="anim2_85"/>
          <p:cNvSpPr/>
          <p:nvPr/>
        </p:nvSpPr>
        <p:spPr>
          <a:xfrm>
            <a:off x="10149840" y="3108960"/>
            <a:ext cx="164592" cy="164592"/>
          </a:xfrm>
          <a:prstGeom prst="ellipse">
            <a:avLst/>
          </a:prstGeom>
          <a:solidFill>
            <a:srgbClr val="D88A1F"/>
          </a:solidFill>
          <a:ln w="6350">
            <a:solidFill>
              <a:srgbClr val="D88A1F"/>
            </a:solidFill>
            <a:prstDash val="solid"/>
          </a:ln>
        </p:spPr>
      </p:sp>
      <p:sp>
        <p:nvSpPr>
          <p:cNvPr id="26" name="anim2_86"/>
          <p:cNvSpPr/>
          <p:nvPr/>
        </p:nvSpPr>
        <p:spPr>
          <a:xfrm>
            <a:off x="10396728" y="3108960"/>
            <a:ext cx="164592" cy="164592"/>
          </a:xfrm>
          <a:prstGeom prst="ellipse">
            <a:avLst/>
          </a:prstGeom>
          <a:solidFill>
            <a:srgbClr val="D88A1F"/>
          </a:solidFill>
          <a:ln w="6350">
            <a:solidFill>
              <a:srgbClr val="D88A1F"/>
            </a:solidFill>
            <a:prstDash val="solid"/>
          </a:ln>
        </p:spPr>
      </p:sp>
      <p:sp>
        <p:nvSpPr>
          <p:cNvPr id="27" name="anim2_87"/>
          <p:cNvSpPr/>
          <p:nvPr/>
        </p:nvSpPr>
        <p:spPr>
          <a:xfrm>
            <a:off x="10643616" y="3108960"/>
            <a:ext cx="164592" cy="164592"/>
          </a:xfrm>
          <a:prstGeom prst="ellipse">
            <a:avLst/>
          </a:prstGeom>
          <a:solidFill>
            <a:srgbClr val="DDE3E9"/>
          </a:solidFill>
          <a:ln w="6350">
            <a:solidFill>
              <a:srgbClr val="DDE3E9"/>
            </a:solidFill>
            <a:prstDash val="solid"/>
          </a:ln>
        </p:spPr>
      </p:sp>
      <p:sp>
        <p:nvSpPr>
          <p:cNvPr id="28" name="anim2_88"/>
          <p:cNvSpPr/>
          <p:nvPr/>
        </p:nvSpPr>
        <p:spPr>
          <a:xfrm>
            <a:off x="10890504" y="3108960"/>
            <a:ext cx="164592" cy="164592"/>
          </a:xfrm>
          <a:prstGeom prst="ellipse">
            <a:avLst/>
          </a:prstGeom>
          <a:solidFill>
            <a:srgbClr val="DDE3E9"/>
          </a:solidFill>
          <a:ln w="6350">
            <a:solidFill>
              <a:srgbClr val="DDE3E9"/>
            </a:solidFill>
            <a:prstDash val="solid"/>
          </a:ln>
        </p:spPr>
      </p:sp>
      <p:sp>
        <p:nvSpPr>
          <p:cNvPr id="29" name="anim2_89"/>
          <p:cNvSpPr/>
          <p:nvPr/>
        </p:nvSpPr>
        <p:spPr>
          <a:xfrm>
            <a:off x="11137392" y="3108960"/>
            <a:ext cx="164592" cy="164592"/>
          </a:xfrm>
          <a:prstGeom prst="ellipse">
            <a:avLst/>
          </a:prstGeom>
          <a:solidFill>
            <a:srgbClr val="DDE3E9"/>
          </a:solidFill>
          <a:ln w="6350">
            <a:solidFill>
              <a:srgbClr val="DDE3E9"/>
            </a:solidFill>
            <a:prstDash val="solid"/>
          </a:ln>
        </p:spPr>
      </p:sp>
      <p:sp>
        <p:nvSpPr>
          <p:cNvPr id="30" name="anim3_90"/>
          <p:cNvSpPr/>
          <p:nvPr/>
        </p:nvSpPr>
        <p:spPr>
          <a:xfrm>
            <a:off x="548640" y="3520440"/>
            <a:ext cx="11064240" cy="841248"/>
          </a:xfrm>
          <a:prstGeom prst="roundRect">
            <a:avLst>
              <a:gd name="adj" fmla="val 869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1" name="anim3_91"/>
          <p:cNvSpPr/>
          <p:nvPr/>
        </p:nvSpPr>
        <p:spPr>
          <a:xfrm>
            <a:off x="713232" y="3685032"/>
            <a:ext cx="512064" cy="512064"/>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32" name="anim3_92"/>
          <p:cNvSpPr txBox="1"/>
          <p:nvPr/>
        </p:nvSpPr>
        <p:spPr>
          <a:xfrm>
            <a:off x="1371600" y="3593592"/>
            <a:ext cx="3200400" cy="69494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These behaviors are a valid “addiction”</a:t>
            </a:r>
            <a:endParaRPr lang="en-US" sz="1450" dirty="0"/>
          </a:p>
        </p:txBody>
      </p:sp>
      <p:sp>
        <p:nvSpPr>
          <p:cNvPr id="33" name="anim3_93"/>
          <p:cNvSpPr txBox="1"/>
          <p:nvPr/>
        </p:nvSpPr>
        <p:spPr>
          <a:xfrm>
            <a:off x="4709160" y="3593592"/>
            <a:ext cx="2606040" cy="69494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Discriminant validity vs BED, predictive validity, stability, specific treatment response</a:t>
            </a:r>
            <a:endParaRPr lang="en-US" sz="1200" dirty="0"/>
          </a:p>
        </p:txBody>
      </p:sp>
      <p:sp>
        <p:nvSpPr>
          <p:cNvPr id="34" name="anim3_94"/>
          <p:cNvSpPr txBox="1"/>
          <p:nvPr/>
        </p:nvSpPr>
        <p:spPr>
          <a:xfrm>
            <a:off x="7452360" y="3593592"/>
            <a:ext cx="2377440" cy="694944"/>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Gearhardt vs Hebebrand and Ziauddeen; absent from DSM-5-TR and ICD-11</a:t>
            </a:r>
            <a:endParaRPr lang="en-US" sz="1200" dirty="0"/>
          </a:p>
        </p:txBody>
      </p:sp>
      <p:sp>
        <p:nvSpPr>
          <p:cNvPr id="35" name="anim3_95"/>
          <p:cNvSpPr/>
          <p:nvPr/>
        </p:nvSpPr>
        <p:spPr>
          <a:xfrm>
            <a:off x="9921240" y="3675888"/>
            <a:ext cx="1600200" cy="292608"/>
          </a:xfrm>
          <a:prstGeom prst="roundRect">
            <a:avLst>
              <a:gd name="adj" fmla="val 50000"/>
            </a:avLst>
          </a:prstGeom>
          <a:solidFill>
            <a:srgbClr val="B3393C"/>
          </a:solidFill>
          <a:ln w="6350">
            <a:solidFill>
              <a:srgbClr val="B3393C"/>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UNRESOLVED</a:t>
            </a:r>
            <a:endParaRPr lang="en-US" sz="1050" dirty="0"/>
          </a:p>
        </p:txBody>
      </p:sp>
      <p:sp>
        <p:nvSpPr>
          <p:cNvPr id="36" name="anim3_96"/>
          <p:cNvSpPr/>
          <p:nvPr/>
        </p:nvSpPr>
        <p:spPr>
          <a:xfrm>
            <a:off x="10149840" y="4069080"/>
            <a:ext cx="164592" cy="164592"/>
          </a:xfrm>
          <a:prstGeom prst="ellipse">
            <a:avLst/>
          </a:prstGeom>
          <a:solidFill>
            <a:srgbClr val="B3393C"/>
          </a:solidFill>
          <a:ln w="6350">
            <a:solidFill>
              <a:srgbClr val="B3393C"/>
            </a:solidFill>
            <a:prstDash val="solid"/>
          </a:ln>
        </p:spPr>
      </p:sp>
      <p:sp>
        <p:nvSpPr>
          <p:cNvPr id="37" name="anim3_97"/>
          <p:cNvSpPr/>
          <p:nvPr/>
        </p:nvSpPr>
        <p:spPr>
          <a:xfrm>
            <a:off x="10396728" y="4069080"/>
            <a:ext cx="164592" cy="164592"/>
          </a:xfrm>
          <a:prstGeom prst="ellipse">
            <a:avLst/>
          </a:prstGeom>
          <a:solidFill>
            <a:srgbClr val="DDE3E9"/>
          </a:solidFill>
          <a:ln w="6350">
            <a:solidFill>
              <a:srgbClr val="DDE3E9"/>
            </a:solidFill>
            <a:prstDash val="solid"/>
          </a:ln>
        </p:spPr>
      </p:sp>
      <p:sp>
        <p:nvSpPr>
          <p:cNvPr id="38" name="anim3_98"/>
          <p:cNvSpPr/>
          <p:nvPr/>
        </p:nvSpPr>
        <p:spPr>
          <a:xfrm>
            <a:off x="10643616" y="4069080"/>
            <a:ext cx="164592" cy="164592"/>
          </a:xfrm>
          <a:prstGeom prst="ellipse">
            <a:avLst/>
          </a:prstGeom>
          <a:solidFill>
            <a:srgbClr val="DDE3E9"/>
          </a:solidFill>
          <a:ln w="6350">
            <a:solidFill>
              <a:srgbClr val="DDE3E9"/>
            </a:solidFill>
            <a:prstDash val="solid"/>
          </a:ln>
        </p:spPr>
      </p:sp>
      <p:sp>
        <p:nvSpPr>
          <p:cNvPr id="39" name="anim3_99"/>
          <p:cNvSpPr/>
          <p:nvPr/>
        </p:nvSpPr>
        <p:spPr>
          <a:xfrm>
            <a:off x="10890504" y="4069080"/>
            <a:ext cx="164592" cy="164592"/>
          </a:xfrm>
          <a:prstGeom prst="ellipse">
            <a:avLst/>
          </a:prstGeom>
          <a:solidFill>
            <a:srgbClr val="DDE3E9"/>
          </a:solidFill>
          <a:ln w="6350">
            <a:solidFill>
              <a:srgbClr val="DDE3E9"/>
            </a:solidFill>
            <a:prstDash val="solid"/>
          </a:ln>
        </p:spPr>
      </p:sp>
      <p:sp>
        <p:nvSpPr>
          <p:cNvPr id="40" name="anim3_100"/>
          <p:cNvSpPr/>
          <p:nvPr/>
        </p:nvSpPr>
        <p:spPr>
          <a:xfrm>
            <a:off x="11137392" y="4069080"/>
            <a:ext cx="164592" cy="164592"/>
          </a:xfrm>
          <a:prstGeom prst="ellipse">
            <a:avLst/>
          </a:prstGeom>
          <a:solidFill>
            <a:srgbClr val="DDE3E9"/>
          </a:solidFill>
          <a:ln w="6350">
            <a:solidFill>
              <a:srgbClr val="DDE3E9"/>
            </a:solidFill>
            <a:prstDash val="solid"/>
          </a:ln>
        </p:spPr>
      </p:sp>
      <p:sp>
        <p:nvSpPr>
          <p:cNvPr id="41" name="anim4_101"/>
          <p:cNvSpPr/>
          <p:nvPr/>
        </p:nvSpPr>
        <p:spPr>
          <a:xfrm>
            <a:off x="548640" y="4480560"/>
            <a:ext cx="11064240" cy="841248"/>
          </a:xfrm>
          <a:prstGeom prst="roundRect">
            <a:avLst>
              <a:gd name="adj" fmla="val 869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42" name="anim4_102"/>
          <p:cNvSpPr/>
          <p:nvPr/>
        </p:nvSpPr>
        <p:spPr>
          <a:xfrm>
            <a:off x="713232" y="4645152"/>
            <a:ext cx="512064" cy="512064"/>
          </a:xfrm>
          <a:prstGeom prst="ellipse">
            <a:avLst/>
          </a:prstGeom>
          <a:solidFill>
            <a:srgbClr val="2A7A8C"/>
          </a:solidFill>
          <a:ln>
            <a:solidFill>
              <a:srgbClr val="2A7A8C"/>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43" name="anim4_103"/>
          <p:cNvSpPr txBox="1"/>
          <p:nvPr/>
        </p:nvSpPr>
        <p:spPr>
          <a:xfrm>
            <a:off x="1371600" y="4553712"/>
            <a:ext cx="3200400" cy="694944"/>
          </a:xfrm>
          <a:prstGeom prst="rect">
            <a:avLst/>
          </a:prstGeom>
          <a:noFill/>
          <a:ln/>
        </p:spPr>
        <p:txBody>
          <a:bodyPr wrap="square" lIns="0" tIns="0" rIns="0" bIns="0" rtlCol="0" anchor="ctr"/>
          <a:lstStyle/>
          <a:p>
            <a:pPr indent="0" marL="0">
              <a:buNone/>
            </a:pPr>
            <a:r>
              <a:rPr lang="en-US" sz="1450" b="1" dirty="0">
                <a:solidFill>
                  <a:srgbClr val="1B1F24"/>
                </a:solidFill>
                <a:latin typeface="Calibri" pitchFamily="34" charset="0"/>
                <a:ea typeface="Calibri" pitchFamily="34" charset="-122"/>
                <a:cs typeface="Calibri" pitchFamily="34" charset="-120"/>
              </a:rPr>
              <a:t>Environmental policies change purchases and products</a:t>
            </a:r>
            <a:endParaRPr lang="en-US" sz="1450" dirty="0"/>
          </a:p>
        </p:txBody>
      </p:sp>
      <p:sp>
        <p:nvSpPr>
          <p:cNvPr id="44" name="anim4_104"/>
          <p:cNvSpPr txBox="1"/>
          <p:nvPr/>
        </p:nvSpPr>
        <p:spPr>
          <a:xfrm>
            <a:off x="4709160" y="4553712"/>
            <a:ext cx="2606040" cy="694944"/>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Quasi-experimental evaluations (interrupted time series, pre–post, purchase data)</a:t>
            </a:r>
            <a:endParaRPr lang="en-US" sz="1200" dirty="0"/>
          </a:p>
        </p:txBody>
      </p:sp>
      <p:sp>
        <p:nvSpPr>
          <p:cNvPr id="45" name="anim4_105"/>
          <p:cNvSpPr txBox="1"/>
          <p:nvPr/>
        </p:nvSpPr>
        <p:spPr>
          <a:xfrm>
            <a:off x="7452360" y="4553712"/>
            <a:ext cx="2377440" cy="694944"/>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Chile, Mexico, United Kingdom — intermediate outcomes</a:t>
            </a:r>
            <a:endParaRPr lang="en-US" sz="1200" dirty="0"/>
          </a:p>
        </p:txBody>
      </p:sp>
      <p:sp>
        <p:nvSpPr>
          <p:cNvPr id="46" name="anim4_106"/>
          <p:cNvSpPr/>
          <p:nvPr/>
        </p:nvSpPr>
        <p:spPr>
          <a:xfrm>
            <a:off x="9921240" y="4636008"/>
            <a:ext cx="1600200" cy="292608"/>
          </a:xfrm>
          <a:prstGeom prst="roundRect">
            <a:avLst>
              <a:gd name="adj" fmla="val 50000"/>
            </a:avLst>
          </a:prstGeom>
          <a:solidFill>
            <a:srgbClr val="2A7A8C"/>
          </a:solidFill>
          <a:ln w="6350">
            <a:solidFill>
              <a:srgbClr val="2A7A8C"/>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STRONG (INTERMEDIATE)</a:t>
            </a:r>
            <a:endParaRPr lang="en-US" sz="950" dirty="0"/>
          </a:p>
        </p:txBody>
      </p:sp>
      <p:sp>
        <p:nvSpPr>
          <p:cNvPr id="47" name="anim4_107"/>
          <p:cNvSpPr/>
          <p:nvPr/>
        </p:nvSpPr>
        <p:spPr>
          <a:xfrm>
            <a:off x="10149840" y="5029200"/>
            <a:ext cx="164592" cy="164592"/>
          </a:xfrm>
          <a:prstGeom prst="ellipse">
            <a:avLst/>
          </a:prstGeom>
          <a:solidFill>
            <a:srgbClr val="2A7A8C"/>
          </a:solidFill>
          <a:ln w="6350">
            <a:solidFill>
              <a:srgbClr val="2A7A8C"/>
            </a:solidFill>
            <a:prstDash val="solid"/>
          </a:ln>
        </p:spPr>
      </p:sp>
      <p:sp>
        <p:nvSpPr>
          <p:cNvPr id="48" name="anim4_108"/>
          <p:cNvSpPr/>
          <p:nvPr/>
        </p:nvSpPr>
        <p:spPr>
          <a:xfrm>
            <a:off x="10396728" y="5029200"/>
            <a:ext cx="164592" cy="164592"/>
          </a:xfrm>
          <a:prstGeom prst="ellipse">
            <a:avLst/>
          </a:prstGeom>
          <a:solidFill>
            <a:srgbClr val="2A7A8C"/>
          </a:solidFill>
          <a:ln w="6350">
            <a:solidFill>
              <a:srgbClr val="2A7A8C"/>
            </a:solidFill>
            <a:prstDash val="solid"/>
          </a:ln>
        </p:spPr>
      </p:sp>
      <p:sp>
        <p:nvSpPr>
          <p:cNvPr id="49" name="anim4_109"/>
          <p:cNvSpPr/>
          <p:nvPr/>
        </p:nvSpPr>
        <p:spPr>
          <a:xfrm>
            <a:off x="10643616" y="5029200"/>
            <a:ext cx="164592" cy="164592"/>
          </a:xfrm>
          <a:prstGeom prst="ellipse">
            <a:avLst/>
          </a:prstGeom>
          <a:solidFill>
            <a:srgbClr val="2A7A8C"/>
          </a:solidFill>
          <a:ln w="6350">
            <a:solidFill>
              <a:srgbClr val="2A7A8C"/>
            </a:solidFill>
            <a:prstDash val="solid"/>
          </a:ln>
        </p:spPr>
      </p:sp>
      <p:sp>
        <p:nvSpPr>
          <p:cNvPr id="50" name="anim4_110"/>
          <p:cNvSpPr/>
          <p:nvPr/>
        </p:nvSpPr>
        <p:spPr>
          <a:xfrm>
            <a:off x="10890504" y="5029200"/>
            <a:ext cx="164592" cy="164592"/>
          </a:xfrm>
          <a:prstGeom prst="ellipse">
            <a:avLst/>
          </a:prstGeom>
          <a:solidFill>
            <a:srgbClr val="2A7A8C"/>
          </a:solidFill>
          <a:ln w="6350">
            <a:solidFill>
              <a:srgbClr val="2A7A8C"/>
            </a:solidFill>
            <a:prstDash val="solid"/>
          </a:ln>
        </p:spPr>
      </p:sp>
      <p:sp>
        <p:nvSpPr>
          <p:cNvPr id="51" name="anim4_111"/>
          <p:cNvSpPr/>
          <p:nvPr/>
        </p:nvSpPr>
        <p:spPr>
          <a:xfrm>
            <a:off x="11137392" y="5029200"/>
            <a:ext cx="164592" cy="164592"/>
          </a:xfrm>
          <a:prstGeom prst="ellipse">
            <a:avLst/>
          </a:prstGeom>
          <a:solidFill>
            <a:srgbClr val="DDE3E9"/>
          </a:solidFill>
          <a:ln w="6350">
            <a:solidFill>
              <a:srgbClr val="DDE3E9"/>
            </a:solidFill>
            <a:prstDash val="solid"/>
          </a:ln>
        </p:spPr>
      </p:sp>
      <p:sp>
        <p:nvSpPr>
          <p:cNvPr id="52" name="anim5_112"/>
          <p:cNvSpPr/>
          <p:nvPr/>
        </p:nvSpPr>
        <p:spPr>
          <a:xfrm>
            <a:off x="548640" y="5486400"/>
            <a:ext cx="11064240" cy="566928"/>
          </a:xfrm>
          <a:prstGeom prst="roundRect">
            <a:avLst>
              <a:gd name="adj" fmla="val 12903"/>
            </a:avLst>
          </a:prstGeom>
          <a:solidFill>
            <a:srgbClr val="E6F1F3"/>
          </a:solidFill>
          <a:ln w="9525">
            <a:solidFill>
              <a:srgbClr val="CFE3E7"/>
            </a:solidFill>
            <a:prstDash val="solid"/>
          </a:ln>
          <a:effectLst>
            <a:outerShdw sx="100000" sy="100000" kx="0" ky="0" algn="bl" rotWithShape="0" blurRad="114300" dist="31750" dir="5400000">
              <a:srgbClr val="1B1F24">
                <a:alpha val="14000"/>
              </a:srgbClr>
            </a:outerShdw>
          </a:effectLst>
        </p:spPr>
      </p:sp>
      <p:pic>
        <p:nvPicPr>
          <p:cNvPr id="53" name="anim5_113" descr="insight">    </p:cNvPr>
          <p:cNvPicPr>
            <a:picLocks noChangeAspect="1"/>
          </p:cNvPicPr>
          <p:nvPr/>
        </p:nvPicPr>
        <p:blipFill>
          <a:blip r:embed="rId1"/>
          <a:stretch>
            <a:fillRect/>
          </a:stretch>
        </p:blipFill>
        <p:spPr>
          <a:xfrm>
            <a:off x="731520" y="5577840"/>
            <a:ext cx="384048" cy="384048"/>
          </a:xfrm>
          <a:prstGeom prst="rect">
            <a:avLst/>
          </a:prstGeom>
        </p:spPr>
      </p:pic>
      <p:sp>
        <p:nvSpPr>
          <p:cNvPr id="54" name="anim5_114"/>
          <p:cNvSpPr txBox="1"/>
          <p:nvPr/>
        </p:nvSpPr>
        <p:spPr>
          <a:xfrm>
            <a:off x="1280160" y="5532120"/>
            <a:ext cx="10149840" cy="475488"/>
          </a:xfrm>
          <a:prstGeom prst="rect">
            <a:avLst/>
          </a:prstGeom>
          <a:noFill/>
          <a:ln/>
        </p:spPr>
        <p:txBody>
          <a:bodyPr wrap="square" lIns="0" tIns="0" rIns="0" bIns="0" rtlCol="0" anchor="ctr"/>
          <a:lstStyle/>
          <a:p>
            <a:pPr indent="0" marL="0">
              <a:buNone/>
            </a:pPr>
            <a:r>
              <a:rPr lang="en-US" sz="1500" b="1" dirty="0">
                <a:solidFill>
                  <a:srgbClr val="2A7A8C"/>
                </a:solidFill>
                <a:latin typeface="Calibri" pitchFamily="34" charset="0"/>
                <a:ea typeface="Calibri" pitchFamily="34" charset="-122"/>
                <a:cs typeface="Calibri" pitchFamily="34" charset="-120"/>
              </a:rPr>
              <a:t>The rows are independent: </a:t>
            </a:r>
            <a:r>
              <a:rPr lang="en-US" sz="1500" dirty="0">
                <a:solidFill>
                  <a:srgbClr val="1B1F24"/>
                </a:solidFill>
                <a:latin typeface="Calibri" pitchFamily="34" charset="0"/>
                <a:ea typeface="Calibri" pitchFamily="34" charset="-122"/>
                <a:cs typeface="Calibri" pitchFamily="34" charset="-120"/>
              </a:rPr>
              <a:t>rejecting (c) does not invalidate (a) or (d) — so policy need not wait for the addiction debate to end.</a:t>
            </a:r>
            <a:endParaRPr lang="en-US" sz="15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9" fill="hold">
                      <p:stCondLst>
                        <p:cond delay="indefinite"/>
                        <p:cond evt="onBegin" delay="0">
                          <p:tn val="2"/>
                        </p:cond>
                      </p:stCondLst>
                      <p:childTnLst>
                        <p:par>
                          <p:cTn id="36"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par>
                          <p:cTn id="70" fill="hold">
                            <p:stCondLst>
                              <p:cond delay="380"/>
                            </p:stCondLst>
                            <p:childTnLst>
                              <p:par>
                                <p:cTn id="37" presetID="10" presetClass="entr" presetSubtype="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par>
                                <p:cTn id="58" presetID="10" presetClass="entr" presetSubtype="0"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par>
                                <p:cTn id="64" presetID="10" presetClass="entr" presetSubtype="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450"/>
                                        <p:tgtEl>
                                          <p:spTgt spid="28"/>
                                        </p:tgtEl>
                                      </p:cBhvr>
                                    </p:animEffect>
                                  </p:childTnLst>
                                </p:cTn>
                              </p:par>
                              <p:par>
                                <p:cTn id="67" presetID="10"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450"/>
                                        <p:tgtEl>
                                          <p:spTgt spid="29"/>
                                        </p:tgtEl>
                                      </p:cBhvr>
                                    </p:animEffect>
                                  </p:childTnLst>
                                </p:cTn>
                              </p:par>
                            </p:childTnLst>
                          </p:cTn>
                        </p:par>
                        <p:par>
                          <p:cTn id="104" fill="hold">
                            <p:stCondLst>
                              <p:cond delay="380"/>
                            </p:stCondLst>
                            <p:childTnLst>
                              <p:par>
                                <p:cTn id="71" presetID="10" presetClass="entr" presetSubtype="0" fill="hold" nodeType="after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5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5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5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5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5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5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5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50"/>
                                        <p:tgtEl>
                                          <p:spTgt spid="37"/>
                                        </p:tgtEl>
                                      </p:cBhvr>
                                    </p:animEffect>
                                  </p:childTnLst>
                                </p:cTn>
                              </p:par>
                              <p:par>
                                <p:cTn id="95" presetID="10" presetClass="entr" presetSubtype="0" fill="hold"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5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50"/>
                                        <p:tgtEl>
                                          <p:spTgt spid="39"/>
                                        </p:tgtEl>
                                      </p:cBhvr>
                                    </p:animEffect>
                                  </p:childTnLst>
                                </p:cTn>
                              </p:par>
                              <p:par>
                                <p:cTn id="101" presetID="10" presetClass="entr" presetSubtype="0" fill="hold" nodeType="with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450"/>
                                        <p:tgtEl>
                                          <p:spTgt spid="40"/>
                                        </p:tgtEl>
                                      </p:cBhvr>
                                    </p:animEffect>
                                  </p:childTnLst>
                                </p:cTn>
                              </p:par>
                            </p:childTnLst>
                          </p:cTn>
                        </p:par>
                        <p:par>
                          <p:cTn id="138" fill="hold">
                            <p:stCondLst>
                              <p:cond delay="380"/>
                            </p:stCondLst>
                            <p:childTnLst>
                              <p:par>
                                <p:cTn id="105" presetID="10" presetClass="entr" presetSubtype="0" fill="hold" nodeType="after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50"/>
                                        <p:tgtEl>
                                          <p:spTgt spid="4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50"/>
                                        <p:tgtEl>
                                          <p:spTgt spid="4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5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50"/>
                                        <p:tgtEl>
                                          <p:spTgt spid="4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50"/>
                                        <p:tgtEl>
                                          <p:spTgt spid="4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50"/>
                                        <p:tgtEl>
                                          <p:spTgt spid="46"/>
                                        </p:tgtEl>
                                      </p:cBhvr>
                                    </p:animEffect>
                                  </p:childTnLst>
                                </p:cTn>
                              </p:par>
                              <p:par>
                                <p:cTn id="123" presetID="10" presetClass="entr" presetSubtype="0" fill="hold"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5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50"/>
                                        <p:tgtEl>
                                          <p:spTgt spid="48"/>
                                        </p:tgtEl>
                                      </p:cBhvr>
                                    </p:animEffect>
                                  </p:childTnLst>
                                </p:cTn>
                              </p:par>
                              <p:par>
                                <p:cTn id="129" presetID="10" presetClass="entr" presetSubtype="0" fill="hold" nodeType="withEffect">
                                  <p:stCondLst>
                                    <p:cond delay="0"/>
                                  </p:stCondLst>
                                  <p:childTnLst>
                                    <p:set>
                                      <p:cBhvr>
                                        <p:cTn id="130" dur="1" fill="hold">
                                          <p:stCondLst>
                                            <p:cond delay="0"/>
                                          </p:stCondLst>
                                        </p:cTn>
                                        <p:tgtEl>
                                          <p:spTgt spid="49"/>
                                        </p:tgtEl>
                                        <p:attrNameLst>
                                          <p:attrName>style.visibility</p:attrName>
                                        </p:attrNameLst>
                                      </p:cBhvr>
                                      <p:to>
                                        <p:strVal val="visible"/>
                                      </p:to>
                                    </p:set>
                                    <p:animEffect transition="in" filter="fade">
                                      <p:cBhvr>
                                        <p:cTn id="131" dur="450"/>
                                        <p:tgtEl>
                                          <p:spTgt spid="49"/>
                                        </p:tgtEl>
                                      </p:cBhvr>
                                    </p:animEffect>
                                  </p:childTnLst>
                                </p:cTn>
                              </p:par>
                              <p:par>
                                <p:cTn id="132" presetID="10" presetClass="entr" presetSubtype="0" fill="hold" nodeType="withEffect">
                                  <p:stCondLst>
                                    <p:cond delay="0"/>
                                  </p:stCondLst>
                                  <p:childTnLst>
                                    <p:set>
                                      <p:cBhvr>
                                        <p:cTn id="133" dur="1" fill="hold">
                                          <p:stCondLst>
                                            <p:cond delay="0"/>
                                          </p:stCondLst>
                                        </p:cTn>
                                        <p:tgtEl>
                                          <p:spTgt spid="50"/>
                                        </p:tgtEl>
                                        <p:attrNameLst>
                                          <p:attrName>style.visibility</p:attrName>
                                        </p:attrNameLst>
                                      </p:cBhvr>
                                      <p:to>
                                        <p:strVal val="visible"/>
                                      </p:to>
                                    </p:set>
                                    <p:animEffect transition="in" filter="fade">
                                      <p:cBhvr>
                                        <p:cTn id="134" dur="450"/>
                                        <p:tgtEl>
                                          <p:spTgt spid="50"/>
                                        </p:tgtEl>
                                      </p:cBhvr>
                                    </p:animEffect>
                                  </p:childTnLst>
                                </p:cTn>
                              </p:par>
                              <p:par>
                                <p:cTn id="135" presetID="10" presetClass="entr" presetSubtype="0" fill="hold" nodeType="withEffect">
                                  <p:stCondLst>
                                    <p:cond delay="0"/>
                                  </p:stCondLst>
                                  <p:childTnLst>
                                    <p:set>
                                      <p:cBhvr>
                                        <p:cTn id="136" dur="1" fill="hold">
                                          <p:stCondLst>
                                            <p:cond delay="0"/>
                                          </p:stCondLst>
                                        </p:cTn>
                                        <p:tgtEl>
                                          <p:spTgt spid="51"/>
                                        </p:tgtEl>
                                        <p:attrNameLst>
                                          <p:attrName>style.visibility</p:attrName>
                                        </p:attrNameLst>
                                      </p:cBhvr>
                                      <p:to>
                                        <p:strVal val="visible"/>
                                      </p:to>
                                    </p:set>
                                    <p:animEffect transition="in" filter="fade">
                                      <p:cBhvr>
                                        <p:cTn id="137" dur="450"/>
                                        <p:tgtEl>
                                          <p:spTgt spid="51"/>
                                        </p:tgtEl>
                                      </p:cBhvr>
                                    </p:animEffect>
                                  </p:childTnLst>
                                </p:cTn>
                              </p:par>
                            </p:childTnLst>
                          </p:cTn>
                        </p:par>
                        <p:par>
                          <p:cTn id="148" fill="hold">
                            <p:stCondLst>
                              <p:cond delay="380"/>
                            </p:stCondLst>
                            <p:childTnLst>
                              <p:par>
                                <p:cTn id="139" presetID="10" presetClass="entr" presetSubtype="0" fill="hold" nodeType="afterEffect">
                                  <p:stCondLst>
                                    <p:cond delay="0"/>
                                  </p:stCondLst>
                                  <p:childTnLst>
                                    <p:set>
                                      <p:cBhvr>
                                        <p:cTn id="140" dur="1" fill="hold">
                                          <p:stCondLst>
                                            <p:cond delay="0"/>
                                          </p:stCondLst>
                                        </p:cTn>
                                        <p:tgtEl>
                                          <p:spTgt spid="52"/>
                                        </p:tgtEl>
                                        <p:attrNameLst>
                                          <p:attrName>style.visibility</p:attrName>
                                        </p:attrNameLst>
                                      </p:cBhvr>
                                      <p:to>
                                        <p:strVal val="visible"/>
                                      </p:to>
                                    </p:set>
                                    <p:animEffect transition="in" filter="fade">
                                      <p:cBhvr>
                                        <p:cTn id="141" dur="450"/>
                                        <p:tgtEl>
                                          <p:spTgt spid="52"/>
                                        </p:tgtEl>
                                      </p:cBhvr>
                                    </p:animEffect>
                                  </p:childTnLst>
                                </p:cTn>
                              </p:par>
                              <p:par>
                                <p:cTn id="142" presetID="10" presetClass="entr" presetSubtype="0" fill="hold" nodeType="with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450"/>
                                        <p:tgtEl>
                                          <p:spTgt spid="5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Effect transition="in" filter="fade">
                                      <p:cBhvr>
                                        <p:cTn id="147" dur="4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0" grpId="0" animBg="1"/>
      <p:bldP spid="21" grpId="0" animBg="1"/>
      <p:bldP spid="22" grpId="0" animBg="1"/>
      <p:bldP spid="23" grpId="0" animBg="1"/>
      <p:bldP spid="24" grpId="0" animBg="1"/>
      <p:bldP spid="31" grpId="0" animBg="1"/>
      <p:bldP spid="32" grpId="0" animBg="1"/>
      <p:bldP spid="33" grpId="0" animBg="1"/>
      <p:bldP spid="34" grpId="0" animBg="1"/>
      <p:bldP spid="35" grpId="0" animBg="1"/>
      <p:bldP spid="42" grpId="0" animBg="1"/>
      <p:bldP spid="43" grpId="0" animBg="1"/>
      <p:bldP spid="44" grpId="0" animBg="1"/>
      <p:bldP spid="45" grpId="0" animBg="1"/>
      <p:bldP spid="46" grpId="0" animBg="1"/>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the evidence was assembled</a:t>
            </a:r>
            <a:endParaRPr lang="en-US" sz="3200" dirty="0"/>
          </a:p>
        </p:txBody>
      </p:sp>
      <p:sp>
        <p:nvSpPr>
          <p:cNvPr id="4" name="anim1_115"/>
          <p:cNvSpPr/>
          <p:nvPr/>
        </p:nvSpPr>
        <p:spPr>
          <a:xfrm>
            <a:off x="548640" y="1371600"/>
            <a:ext cx="2560320" cy="2377440"/>
          </a:xfrm>
          <a:prstGeom prst="roundRect">
            <a:avLst>
              <a:gd name="adj" fmla="val 307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116"/>
          <p:cNvSpPr/>
          <p:nvPr/>
        </p:nvSpPr>
        <p:spPr>
          <a:xfrm>
            <a:off x="777240" y="1572768"/>
            <a:ext cx="685800" cy="685800"/>
          </a:xfrm>
          <a:prstGeom prst="ellipse">
            <a:avLst/>
          </a:prstGeom>
          <a:solidFill>
            <a:srgbClr val="1F3A5F"/>
          </a:solidFill>
          <a:ln w="6350">
            <a:solidFill>
              <a:srgbClr val="1F3A5F"/>
            </a:solidFill>
            <a:prstDash val="solid"/>
          </a:ln>
        </p:spPr>
      </p:sp>
      <p:pic>
        <p:nvPicPr>
          <p:cNvPr id="6" name="anim1_117" descr="search icon">    </p:cNvPr>
          <p:cNvPicPr>
            <a:picLocks noChangeAspect="1"/>
          </p:cNvPicPr>
          <p:nvPr/>
        </p:nvPicPr>
        <p:blipFill>
          <a:blip r:embed="rId1"/>
          <a:stretch>
            <a:fillRect/>
          </a:stretch>
        </p:blipFill>
        <p:spPr>
          <a:xfrm>
            <a:off x="962406" y="1757934"/>
            <a:ext cx="315468" cy="315468"/>
          </a:xfrm>
          <a:prstGeom prst="rect">
            <a:avLst/>
          </a:prstGeom>
        </p:spPr>
      </p:pic>
      <p:sp>
        <p:nvSpPr>
          <p:cNvPr id="7" name="anim1_118"/>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1  Search</a:t>
            </a:r>
            <a:endParaRPr lang="en-US" sz="1800" dirty="0"/>
          </a:p>
        </p:txBody>
      </p:sp>
      <p:sp>
        <p:nvSpPr>
          <p:cNvPr id="8" name="anim1_119"/>
          <p:cNvSpPr txBox="1"/>
          <p:nvPr/>
        </p:nvSpPr>
        <p:spPr>
          <a:xfrm>
            <a:off x="777240" y="2761488"/>
            <a:ext cx="214884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PubMed/MEDLINE, Web of Science, Scopus, Google Scholar</a:t>
            </a:r>
            <a:endParaRPr lang="en-US" sz="1300" dirty="0"/>
          </a:p>
        </p:txBody>
      </p:sp>
      <p:pic>
        <p:nvPicPr>
          <p:cNvPr id="9" name="anim1_120" descr="next">    </p:cNvPr>
          <p:cNvPicPr>
            <a:picLocks noChangeAspect="1"/>
          </p:cNvPicPr>
          <p:nvPr/>
        </p:nvPicPr>
        <p:blipFill>
          <a:blip r:embed="rId2"/>
          <a:stretch>
            <a:fillRect/>
          </a:stretch>
        </p:blipFill>
        <p:spPr>
          <a:xfrm>
            <a:off x="3163824" y="2423160"/>
            <a:ext cx="182880" cy="182880"/>
          </a:xfrm>
          <a:prstGeom prst="rect">
            <a:avLst/>
          </a:prstGeom>
        </p:spPr>
      </p:pic>
      <p:sp>
        <p:nvSpPr>
          <p:cNvPr id="10" name="anim2_121"/>
          <p:cNvSpPr/>
          <p:nvPr/>
        </p:nvSpPr>
        <p:spPr>
          <a:xfrm>
            <a:off x="3383280" y="1371600"/>
            <a:ext cx="2560320" cy="2377440"/>
          </a:xfrm>
          <a:prstGeom prst="roundRect">
            <a:avLst>
              <a:gd name="adj" fmla="val 307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122"/>
          <p:cNvSpPr/>
          <p:nvPr/>
        </p:nvSpPr>
        <p:spPr>
          <a:xfrm>
            <a:off x="3611880" y="1572768"/>
            <a:ext cx="685800" cy="685800"/>
          </a:xfrm>
          <a:prstGeom prst="ellipse">
            <a:avLst/>
          </a:prstGeom>
          <a:solidFill>
            <a:srgbClr val="2A7A8C"/>
          </a:solidFill>
          <a:ln w="6350">
            <a:solidFill>
              <a:srgbClr val="2A7A8C"/>
            </a:solidFill>
            <a:prstDash val="solid"/>
          </a:ln>
        </p:spPr>
      </p:sp>
      <p:pic>
        <p:nvPicPr>
          <p:cNvPr id="12" name="anim2_123" descr="filter icon">    </p:cNvPr>
          <p:cNvPicPr>
            <a:picLocks noChangeAspect="1"/>
          </p:cNvPicPr>
          <p:nvPr/>
        </p:nvPicPr>
        <p:blipFill>
          <a:blip r:embed="rId3"/>
          <a:stretch>
            <a:fillRect/>
          </a:stretch>
        </p:blipFill>
        <p:spPr>
          <a:xfrm>
            <a:off x="3797046" y="1757934"/>
            <a:ext cx="315468" cy="315468"/>
          </a:xfrm>
          <a:prstGeom prst="rect">
            <a:avLst/>
          </a:prstGeom>
        </p:spPr>
      </p:pic>
      <p:sp>
        <p:nvSpPr>
          <p:cNvPr id="13" name="anim2_124"/>
          <p:cNvSpPr txBox="1"/>
          <p:nvPr/>
        </p:nvSpPr>
        <p:spPr>
          <a:xfrm>
            <a:off x="3611880" y="2377440"/>
            <a:ext cx="2194560" cy="365760"/>
          </a:xfrm>
          <a:prstGeom prst="rect">
            <a:avLst/>
          </a:prstGeom>
          <a:noFill/>
          <a:ln/>
        </p:spPr>
        <p:txBody>
          <a:bodyPr wrap="square" lIns="0" tIns="0" rIns="0" bIns="0" rtlCol="0" anchor="t"/>
          <a:lstStyle/>
          <a:p>
            <a:pPr indent="0" marL="0">
              <a:buNone/>
            </a:pPr>
            <a:r>
              <a:rPr lang="en-US" sz="1800" b="1" dirty="0">
                <a:solidFill>
                  <a:srgbClr val="2A7A8C"/>
                </a:solidFill>
                <a:latin typeface="Cambria" pitchFamily="34" charset="0"/>
                <a:ea typeface="Cambria" pitchFamily="34" charset="-122"/>
                <a:cs typeface="Cambria" pitchFamily="34" charset="-120"/>
              </a:rPr>
              <a:t>2  Prioritize</a:t>
            </a:r>
            <a:endParaRPr lang="en-US" sz="1800" dirty="0"/>
          </a:p>
        </p:txBody>
      </p:sp>
      <p:sp>
        <p:nvSpPr>
          <p:cNvPr id="14" name="anim2_125"/>
          <p:cNvSpPr txBox="1"/>
          <p:nvPr/>
        </p:nvSpPr>
        <p:spPr>
          <a:xfrm>
            <a:off x="3611880" y="2761488"/>
            <a:ext cx="214884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Umbrella reviews, meta-analyses, RCTs, cohorts &gt;10,000, Iranian studies</a:t>
            </a:r>
            <a:endParaRPr lang="en-US" sz="1300" dirty="0"/>
          </a:p>
        </p:txBody>
      </p:sp>
      <p:pic>
        <p:nvPicPr>
          <p:cNvPr id="15" name="anim2_126" descr="next">    </p:cNvPr>
          <p:cNvPicPr>
            <a:picLocks noChangeAspect="1"/>
          </p:cNvPicPr>
          <p:nvPr/>
        </p:nvPicPr>
        <p:blipFill>
          <a:blip r:embed="rId4"/>
          <a:stretch>
            <a:fillRect/>
          </a:stretch>
        </p:blipFill>
        <p:spPr>
          <a:xfrm>
            <a:off x="5998464" y="2423160"/>
            <a:ext cx="182880" cy="182880"/>
          </a:xfrm>
          <a:prstGeom prst="rect">
            <a:avLst/>
          </a:prstGeom>
        </p:spPr>
      </p:pic>
      <p:sp>
        <p:nvSpPr>
          <p:cNvPr id="16" name="anim3_127"/>
          <p:cNvSpPr/>
          <p:nvPr/>
        </p:nvSpPr>
        <p:spPr>
          <a:xfrm>
            <a:off x="6217920" y="1371600"/>
            <a:ext cx="2560320" cy="2377440"/>
          </a:xfrm>
          <a:prstGeom prst="roundRect">
            <a:avLst>
              <a:gd name="adj" fmla="val 307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7" name="anim3_128"/>
          <p:cNvSpPr/>
          <p:nvPr/>
        </p:nvSpPr>
        <p:spPr>
          <a:xfrm>
            <a:off x="6446520" y="1572768"/>
            <a:ext cx="685800" cy="685800"/>
          </a:xfrm>
          <a:prstGeom prst="ellipse">
            <a:avLst/>
          </a:prstGeom>
          <a:solidFill>
            <a:srgbClr val="D88A1F"/>
          </a:solidFill>
          <a:ln w="6350">
            <a:solidFill>
              <a:srgbClr val="D88A1F"/>
            </a:solidFill>
            <a:prstDash val="solid"/>
          </a:ln>
        </p:spPr>
      </p:sp>
      <p:pic>
        <p:nvPicPr>
          <p:cNvPr id="18" name="anim3_129" descr="scale icon">    </p:cNvPr>
          <p:cNvPicPr>
            <a:picLocks noChangeAspect="1"/>
          </p:cNvPicPr>
          <p:nvPr/>
        </p:nvPicPr>
        <p:blipFill>
          <a:blip r:embed="rId5"/>
          <a:stretch>
            <a:fillRect/>
          </a:stretch>
        </p:blipFill>
        <p:spPr>
          <a:xfrm>
            <a:off x="6631686" y="1757934"/>
            <a:ext cx="315468" cy="315468"/>
          </a:xfrm>
          <a:prstGeom prst="rect">
            <a:avLst/>
          </a:prstGeom>
        </p:spPr>
      </p:pic>
      <p:sp>
        <p:nvSpPr>
          <p:cNvPr id="19" name="anim3_130"/>
          <p:cNvSpPr txBox="1"/>
          <p:nvPr/>
        </p:nvSpPr>
        <p:spPr>
          <a:xfrm>
            <a:off x="6446520" y="2377440"/>
            <a:ext cx="2194560" cy="365760"/>
          </a:xfrm>
          <a:prstGeom prst="rect">
            <a:avLst/>
          </a:prstGeom>
          <a:noFill/>
          <a:ln/>
        </p:spPr>
        <p:txBody>
          <a:bodyPr wrap="square" lIns="0" tIns="0" rIns="0" bIns="0" rtlCol="0" anchor="t"/>
          <a:lstStyle/>
          <a:p>
            <a:pPr indent="0" marL="0">
              <a:buNone/>
            </a:pPr>
            <a:r>
              <a:rPr lang="en-US" sz="1800" b="1" dirty="0">
                <a:solidFill>
                  <a:srgbClr val="D88A1F"/>
                </a:solidFill>
                <a:latin typeface="Cambria" pitchFamily="34" charset="0"/>
                <a:ea typeface="Cambria" pitchFamily="34" charset="-122"/>
                <a:cs typeface="Cambria" pitchFamily="34" charset="-120"/>
              </a:rPr>
              <a:t>3  Weigh</a:t>
            </a:r>
            <a:endParaRPr lang="en-US" sz="1800" dirty="0"/>
          </a:p>
        </p:txBody>
      </p:sp>
      <p:sp>
        <p:nvSpPr>
          <p:cNvPr id="20" name="anim3_131"/>
          <p:cNvSpPr txBox="1"/>
          <p:nvPr/>
        </p:nvSpPr>
        <p:spPr>
          <a:xfrm>
            <a:off x="6446520" y="2761488"/>
            <a:ext cx="214884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Design, risk of bias, precision, directness, consistency — not recency</a:t>
            </a:r>
            <a:endParaRPr lang="en-US" sz="1300" dirty="0"/>
          </a:p>
        </p:txBody>
      </p:sp>
      <p:pic>
        <p:nvPicPr>
          <p:cNvPr id="21" name="anim3_132" descr="next">    </p:cNvPr>
          <p:cNvPicPr>
            <a:picLocks noChangeAspect="1"/>
          </p:cNvPicPr>
          <p:nvPr/>
        </p:nvPicPr>
        <p:blipFill>
          <a:blip r:embed="rId6"/>
          <a:stretch>
            <a:fillRect/>
          </a:stretch>
        </p:blipFill>
        <p:spPr>
          <a:xfrm>
            <a:off x="8833104" y="2423160"/>
            <a:ext cx="182880" cy="182880"/>
          </a:xfrm>
          <a:prstGeom prst="rect">
            <a:avLst/>
          </a:prstGeom>
        </p:spPr>
      </p:pic>
      <p:sp>
        <p:nvSpPr>
          <p:cNvPr id="22" name="anim4_133"/>
          <p:cNvSpPr/>
          <p:nvPr/>
        </p:nvSpPr>
        <p:spPr>
          <a:xfrm>
            <a:off x="9052560" y="1371600"/>
            <a:ext cx="2560320" cy="2377440"/>
          </a:xfrm>
          <a:prstGeom prst="roundRect">
            <a:avLst>
              <a:gd name="adj" fmla="val 307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3" name="anim4_134"/>
          <p:cNvSpPr/>
          <p:nvPr/>
        </p:nvSpPr>
        <p:spPr>
          <a:xfrm>
            <a:off x="9281160" y="1572768"/>
            <a:ext cx="685800" cy="685800"/>
          </a:xfrm>
          <a:prstGeom prst="ellipse">
            <a:avLst/>
          </a:prstGeom>
          <a:solidFill>
            <a:srgbClr val="3B7D5A"/>
          </a:solidFill>
          <a:ln w="6350">
            <a:solidFill>
              <a:srgbClr val="3B7D5A"/>
            </a:solidFill>
            <a:prstDash val="solid"/>
          </a:ln>
        </p:spPr>
      </p:sp>
      <p:pic>
        <p:nvPicPr>
          <p:cNvPr id="24" name="anim4_135" descr="book icon">    </p:cNvPr>
          <p:cNvPicPr>
            <a:picLocks noChangeAspect="1"/>
          </p:cNvPicPr>
          <p:nvPr/>
        </p:nvPicPr>
        <p:blipFill>
          <a:blip r:embed="rId7"/>
          <a:stretch>
            <a:fillRect/>
          </a:stretch>
        </p:blipFill>
        <p:spPr>
          <a:xfrm>
            <a:off x="9466326" y="1757934"/>
            <a:ext cx="315468" cy="315468"/>
          </a:xfrm>
          <a:prstGeom prst="rect">
            <a:avLst/>
          </a:prstGeom>
        </p:spPr>
      </p:pic>
      <p:sp>
        <p:nvSpPr>
          <p:cNvPr id="25" name="anim4_136"/>
          <p:cNvSpPr txBox="1"/>
          <p:nvPr/>
        </p:nvSpPr>
        <p:spPr>
          <a:xfrm>
            <a:off x="9281160" y="2377440"/>
            <a:ext cx="2194560" cy="365760"/>
          </a:xfrm>
          <a:prstGeom prst="rect">
            <a:avLst/>
          </a:prstGeom>
          <a:noFill/>
          <a:ln/>
        </p:spPr>
        <p:txBody>
          <a:bodyPr wrap="square" lIns="0" tIns="0" rIns="0" bIns="0" rtlCol="0" anchor="t"/>
          <a:lstStyle/>
          <a:p>
            <a:pPr indent="0" marL="0">
              <a:buNone/>
            </a:pPr>
            <a:r>
              <a:rPr lang="en-US" sz="1800" b="1" dirty="0">
                <a:solidFill>
                  <a:srgbClr val="3B7D5A"/>
                </a:solidFill>
                <a:latin typeface="Cambria" pitchFamily="34" charset="0"/>
                <a:ea typeface="Cambria" pitchFamily="34" charset="-122"/>
                <a:cs typeface="Cambria" pitchFamily="34" charset="-120"/>
              </a:rPr>
              <a:t>4  Synthesize</a:t>
            </a:r>
            <a:endParaRPr lang="en-US" sz="1800" dirty="0"/>
          </a:p>
        </p:txBody>
      </p:sp>
      <p:sp>
        <p:nvSpPr>
          <p:cNvPr id="26" name="anim4_137"/>
          <p:cNvSpPr txBox="1"/>
          <p:nvPr/>
        </p:nvSpPr>
        <p:spPr>
          <a:xfrm>
            <a:off x="9281160" y="2761488"/>
            <a:ext cx="2148840" cy="9144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117 cited sources: peer-reviewed papers, laws and official reports</a:t>
            </a:r>
            <a:endParaRPr lang="en-US" sz="1300" dirty="0"/>
          </a:p>
        </p:txBody>
      </p:sp>
      <p:sp>
        <p:nvSpPr>
          <p:cNvPr id="27" name="Text 17"/>
          <p:cNvSpPr txBox="1"/>
          <p:nvPr/>
        </p:nvSpPr>
        <p:spPr>
          <a:xfrm>
            <a:off x="548640" y="3977640"/>
            <a:ext cx="3657600" cy="274320"/>
          </a:xfrm>
          <a:prstGeom prst="rect">
            <a:avLst/>
          </a:prstGeom>
          <a:noFill/>
          <a:ln/>
        </p:spPr>
        <p:txBody>
          <a:bodyPr wrap="square" lIns="0" tIns="0" rIns="0" bIns="0" rtlCol="0" anchor="t"/>
          <a:lstStyle/>
          <a:p>
            <a:pPr indent="0" marL="0">
              <a:buNone/>
            </a:pPr>
            <a:r>
              <a:rPr lang="en-US" sz="1100" b="1" spc="100" kern="0" dirty="0">
                <a:solidFill>
                  <a:srgbClr val="7A8591"/>
                </a:solidFill>
                <a:latin typeface="Calibri" pitchFamily="34" charset="0"/>
                <a:ea typeface="Calibri" pitchFamily="34" charset="-122"/>
                <a:cs typeface="Calibri" pitchFamily="34" charset="-120"/>
              </a:rPr>
              <a:t>SEARCH TERMS</a:t>
            </a:r>
            <a:endParaRPr lang="en-US" sz="1100" dirty="0"/>
          </a:p>
        </p:txBody>
      </p:sp>
      <p:sp>
        <p:nvSpPr>
          <p:cNvPr id="28" name="anim5_138"/>
          <p:cNvSpPr/>
          <p:nvPr/>
        </p:nvSpPr>
        <p:spPr>
          <a:xfrm>
            <a:off x="548640" y="4297680"/>
            <a:ext cx="1837944"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ultra-processed food</a:t>
            </a:r>
            <a:endParaRPr lang="en-US" sz="1200" dirty="0"/>
          </a:p>
        </p:txBody>
      </p:sp>
      <p:sp>
        <p:nvSpPr>
          <p:cNvPr id="29" name="anim5_139"/>
          <p:cNvSpPr/>
          <p:nvPr/>
        </p:nvSpPr>
        <p:spPr>
          <a:xfrm>
            <a:off x="2523744" y="4297680"/>
            <a:ext cx="1757477"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NOVA classification</a:t>
            </a:r>
            <a:endParaRPr lang="en-US" sz="1200" dirty="0"/>
          </a:p>
        </p:txBody>
      </p:sp>
      <p:sp>
        <p:nvSpPr>
          <p:cNvPr id="30" name="anim5_140"/>
          <p:cNvSpPr/>
          <p:nvPr/>
        </p:nvSpPr>
        <p:spPr>
          <a:xfrm>
            <a:off x="4418381" y="4297680"/>
            <a:ext cx="1355141"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food addiction</a:t>
            </a:r>
            <a:endParaRPr lang="en-US" sz="1200" dirty="0"/>
          </a:p>
        </p:txBody>
      </p:sp>
      <p:sp>
        <p:nvSpPr>
          <p:cNvPr id="31" name="anim5_141"/>
          <p:cNvSpPr/>
          <p:nvPr/>
        </p:nvSpPr>
        <p:spPr>
          <a:xfrm>
            <a:off x="5910682" y="4297680"/>
            <a:ext cx="2240280"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Yale Food Addiction Scale</a:t>
            </a:r>
            <a:endParaRPr lang="en-US" sz="1200" dirty="0"/>
          </a:p>
        </p:txBody>
      </p:sp>
      <p:sp>
        <p:nvSpPr>
          <p:cNvPr id="32" name="anim5_142"/>
          <p:cNvSpPr/>
          <p:nvPr/>
        </p:nvSpPr>
        <p:spPr>
          <a:xfrm>
            <a:off x="8288122" y="4297680"/>
            <a:ext cx="1837944"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hyper-palatable food</a:t>
            </a:r>
            <a:endParaRPr lang="en-US" sz="1200" dirty="0"/>
          </a:p>
        </p:txBody>
      </p:sp>
      <p:sp>
        <p:nvSpPr>
          <p:cNvPr id="33" name="anim5_143"/>
          <p:cNvSpPr/>
          <p:nvPr/>
        </p:nvSpPr>
        <p:spPr>
          <a:xfrm>
            <a:off x="548640" y="4709160"/>
            <a:ext cx="1918411"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addictive-like eating</a:t>
            </a:r>
            <a:endParaRPr lang="en-US" sz="1200" dirty="0"/>
          </a:p>
        </p:txBody>
      </p:sp>
      <p:sp>
        <p:nvSpPr>
          <p:cNvPr id="34" name="anim5_144"/>
          <p:cNvSpPr/>
          <p:nvPr/>
        </p:nvSpPr>
        <p:spPr>
          <a:xfrm>
            <a:off x="2604211" y="4709160"/>
            <a:ext cx="2079346"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front-of-pack labelling</a:t>
            </a:r>
            <a:endParaRPr lang="en-US" sz="1200" dirty="0"/>
          </a:p>
        </p:txBody>
      </p:sp>
      <p:sp>
        <p:nvSpPr>
          <p:cNvPr id="35" name="anim5_145"/>
          <p:cNvSpPr/>
          <p:nvPr/>
        </p:nvSpPr>
        <p:spPr>
          <a:xfrm>
            <a:off x="4820717" y="4709160"/>
            <a:ext cx="2481682" cy="310896"/>
          </a:xfrm>
          <a:prstGeom prst="roundRect">
            <a:avLst>
              <a:gd name="adj" fmla="val 50000"/>
            </a:avLst>
          </a:prstGeom>
          <a:solidFill>
            <a:srgbClr val="EEF2F6"/>
          </a:solidFill>
          <a:ln w="9525">
            <a:solidFill>
              <a:srgbClr val="D3DDE8"/>
            </a:solidFill>
          </a:ln>
        </p:spPr>
        <p:txBody>
          <a:bodyPr wrap="square" lIns="0" tIns="0" rIns="0" bIns="0" rtlCol="0" anchor="ctr"/>
          <a:lstStyle/>
          <a:p>
            <a:pPr algn="ctr" indent="0" marL="0">
              <a:buNone/>
            </a:pPr>
            <a:r>
              <a:rPr lang="en-US" sz="1200" dirty="0">
                <a:solidFill>
                  <a:srgbClr val="1F3A5F"/>
                </a:solidFill>
              </a:rPr>
              <a:t>sugar-sweetened beverage tax</a:t>
            </a:r>
            <a:endParaRPr lang="en-US" sz="1200" dirty="0"/>
          </a:p>
        </p:txBody>
      </p:sp>
      <p:sp>
        <p:nvSpPr>
          <p:cNvPr id="36" name="anim6_146"/>
          <p:cNvSpPr/>
          <p:nvPr/>
        </p:nvSpPr>
        <p:spPr>
          <a:xfrm>
            <a:off x="548640" y="5166360"/>
            <a:ext cx="11064240" cy="868680"/>
          </a:xfrm>
          <a:prstGeom prst="roundRect">
            <a:avLst>
              <a:gd name="adj" fmla="val 8421"/>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37" name="anim6_147"/>
          <p:cNvSpPr/>
          <p:nvPr/>
        </p:nvSpPr>
        <p:spPr>
          <a:xfrm>
            <a:off x="731520" y="5303520"/>
            <a:ext cx="566928" cy="566928"/>
          </a:xfrm>
          <a:prstGeom prst="ellipse">
            <a:avLst/>
          </a:prstGeom>
          <a:solidFill>
            <a:srgbClr val="D88A1F"/>
          </a:solidFill>
          <a:ln w="6350">
            <a:solidFill>
              <a:srgbClr val="D88A1F"/>
            </a:solidFill>
            <a:prstDash val="solid"/>
          </a:ln>
        </p:spPr>
      </p:sp>
      <p:pic>
        <p:nvPicPr>
          <p:cNvPr id="38" name="anim6_148" descr="warn icon">    </p:cNvPr>
          <p:cNvPicPr>
            <a:picLocks noChangeAspect="1"/>
          </p:cNvPicPr>
          <p:nvPr/>
        </p:nvPicPr>
        <p:blipFill>
          <a:blip r:embed="rId8"/>
          <a:stretch>
            <a:fillRect/>
          </a:stretch>
        </p:blipFill>
        <p:spPr>
          <a:xfrm>
            <a:off x="884591" y="5456591"/>
            <a:ext cx="260787" cy="260787"/>
          </a:xfrm>
          <a:prstGeom prst="rect">
            <a:avLst/>
          </a:prstGeom>
        </p:spPr>
      </p:pic>
      <p:sp>
        <p:nvSpPr>
          <p:cNvPr id="39" name="anim6_149"/>
          <p:cNvSpPr txBox="1"/>
          <p:nvPr/>
        </p:nvSpPr>
        <p:spPr>
          <a:xfrm>
            <a:off x="1463040" y="5230368"/>
            <a:ext cx="9966960" cy="749808"/>
          </a:xfrm>
          <a:prstGeom prst="rect">
            <a:avLst/>
          </a:prstGeom>
          <a:noFill/>
          <a:ln/>
        </p:spPr>
        <p:txBody>
          <a:bodyPr wrap="square" lIns="0" tIns="0" rIns="0" bIns="0" rtlCol="0" anchor="ctr"/>
          <a:lstStyle/>
          <a:p>
            <a:pPr indent="0" marL="0">
              <a:buNone/>
            </a:pPr>
            <a:r>
              <a:rPr lang="en-US" sz="1400" b="1" dirty="0">
                <a:solidFill>
                  <a:srgbClr val="9A5E0B"/>
                </a:solidFill>
                <a:latin typeface="Calibri" pitchFamily="34" charset="0"/>
                <a:ea typeface="Calibri" pitchFamily="34" charset="-122"/>
                <a:cs typeface="Calibri" pitchFamily="34" charset="-120"/>
              </a:rPr>
              <a:t>A narrative review, not a systematic one: </a:t>
            </a:r>
            <a:r>
              <a:rPr lang="en-US" sz="1400" dirty="0">
                <a:solidFill>
                  <a:srgbClr val="1B1F24"/>
                </a:solidFill>
                <a:latin typeface="Calibri" pitchFamily="34" charset="0"/>
                <a:ea typeface="Calibri" pitchFamily="34" charset="-122"/>
                <a:cs typeface="Calibri" pitchFamily="34" charset="-120"/>
              </a:rPr>
              <a:t>no fully reproducible search, no pre-registered criteria, no dual screening, no PRISMA flow and no uniform risk-of-bias appraisal. Conclusions are a structured narrative synthesis.</a:t>
            </a:r>
            <a:endParaRPr lang="en-US" sz="14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4" fill="hold">
                      <p:stCondLst>
                        <p:cond delay="indefinite"/>
                        <p:cond evt="onBegin" delay="0">
                          <p:tn val="2"/>
                        </p:cond>
                      </p:stCondLst>
                      <p:childTnLst>
                        <p:par>
                          <p:cTn id="21"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childTnLst>
                          </p:cTn>
                        </p:par>
                        <p:par>
                          <p:cTn id="40" fill="hold">
                            <p:stCondLst>
                              <p:cond delay="380"/>
                            </p:stCondLst>
                            <p:childTnLst>
                              <p:par>
                                <p:cTn id="22" presetID="10"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par>
                          <p:cTn id="59" fill="hold">
                            <p:stCondLst>
                              <p:cond delay="380"/>
                            </p:stCondLst>
                            <p:childTnLst>
                              <p:par>
                                <p:cTn id="41" presetID="10" presetClass="entr" presetSubtype="0"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childTnLst>
                          </p:cTn>
                        </p:par>
                        <p:par>
                          <p:cTn id="75" fill="hold">
                            <p:stCondLst>
                              <p:cond delay="380"/>
                            </p:stCondLst>
                            <p:childTnLst>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childTnLst>
                          </p:cTn>
                        </p:par>
                        <p:par>
                          <p:cTn id="100" fill="hold">
                            <p:stCondLst>
                              <p:cond delay="380"/>
                            </p:stCondLst>
                            <p:childTnLst>
                              <p:par>
                                <p:cTn id="76" presetID="10" presetClass="entr" presetSubtype="0" fill="hold" grpId="0"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5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5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50"/>
                                        <p:tgtEl>
                                          <p:spTgt spid="35"/>
                                        </p:tgtEl>
                                      </p:cBhvr>
                                    </p:animEffect>
                                  </p:childTnLst>
                                </p:cTn>
                              </p:par>
                            </p:childTnLst>
                          </p:cTn>
                        </p:par>
                        <p:par>
                          <p:cTn id="113" fill="hold">
                            <p:stCondLst>
                              <p:cond delay="380"/>
                            </p:stCondLst>
                            <p:childTnLst>
                              <p:par>
                                <p:cTn id="101" presetID="10" presetClass="entr" presetSubtype="0" fill="hold" nodeType="after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par>
                                <p:cTn id="107" presetID="10" presetClass="entr" presetSubtype="0" fill="hold"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5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animBg="1"/>
      <p:bldP spid="14" grpId="0" animBg="1"/>
      <p:bldP spid="19" grpId="0" animBg="1"/>
      <p:bldP spid="20"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research lines converge</a:t>
            </a:r>
            <a:endParaRPr lang="en-US" sz="3200" dirty="0"/>
          </a:p>
        </p:txBody>
      </p:sp>
      <p:sp>
        <p:nvSpPr>
          <p:cNvPr id="4" name="tlaxis"/>
          <p:cNvSpPr/>
          <p:nvPr/>
        </p:nvSpPr>
        <p:spPr>
          <a:xfrm>
            <a:off x="640080" y="3611880"/>
            <a:ext cx="10927080" cy="0"/>
          </a:xfrm>
          <a:prstGeom prst="line">
            <a:avLst/>
          </a:prstGeom>
          <a:noFill/>
          <a:ln w="38100">
            <a:solidFill>
              <a:srgbClr val="1F3A5F"/>
            </a:solidFill>
            <a:prstDash val="solid"/>
          </a:ln>
        </p:spPr>
      </p:sp>
      <p:sp>
        <p:nvSpPr>
          <p:cNvPr id="5" name="anim1_150"/>
          <p:cNvSpPr/>
          <p:nvPr/>
        </p:nvSpPr>
        <p:spPr>
          <a:xfrm>
            <a:off x="1143000" y="3044952"/>
            <a:ext cx="0" cy="566928"/>
          </a:xfrm>
          <a:prstGeom prst="line">
            <a:avLst/>
          </a:prstGeom>
          <a:noFill/>
          <a:ln w="15875">
            <a:solidFill>
              <a:srgbClr val="AEB9C5"/>
            </a:solidFill>
            <a:prstDash val="solid"/>
          </a:ln>
        </p:spPr>
      </p:sp>
      <p:sp>
        <p:nvSpPr>
          <p:cNvPr id="6" name="anim1_151"/>
          <p:cNvSpPr/>
          <p:nvPr/>
        </p:nvSpPr>
        <p:spPr>
          <a:xfrm>
            <a:off x="1014984" y="3483864"/>
            <a:ext cx="256032" cy="256032"/>
          </a:xfrm>
          <a:prstGeom prst="ellipse">
            <a:avLst/>
          </a:prstGeom>
          <a:solidFill>
            <a:srgbClr val="6A4C93"/>
          </a:solidFill>
          <a:ln w="25400">
            <a:solidFill>
              <a:srgbClr val="FFFFFF"/>
            </a:solidFill>
            <a:prstDash val="solid"/>
          </a:ln>
        </p:spPr>
      </p:sp>
      <p:sp>
        <p:nvSpPr>
          <p:cNvPr id="7" name="anim1_152"/>
          <p:cNvSpPr txBox="1"/>
          <p:nvPr/>
        </p:nvSpPr>
        <p:spPr>
          <a:xfrm>
            <a:off x="411480" y="2679192"/>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1956</a:t>
            </a:r>
            <a:endParaRPr lang="en-US" sz="1800" dirty="0"/>
          </a:p>
        </p:txBody>
      </p:sp>
      <p:sp>
        <p:nvSpPr>
          <p:cNvPr id="8" name="anim1_153"/>
          <p:cNvSpPr txBox="1"/>
          <p:nvPr/>
        </p:nvSpPr>
        <p:spPr>
          <a:xfrm>
            <a:off x="210312"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Randolph coins “food addiction”</a:t>
            </a:r>
            <a:endParaRPr lang="en-US" sz="1250" dirty="0"/>
          </a:p>
        </p:txBody>
      </p:sp>
      <p:sp>
        <p:nvSpPr>
          <p:cNvPr id="9" name="anim2_154"/>
          <p:cNvSpPr/>
          <p:nvPr/>
        </p:nvSpPr>
        <p:spPr>
          <a:xfrm>
            <a:off x="2130552" y="3611880"/>
            <a:ext cx="0" cy="566928"/>
          </a:xfrm>
          <a:prstGeom prst="line">
            <a:avLst/>
          </a:prstGeom>
          <a:noFill/>
          <a:ln w="15875">
            <a:solidFill>
              <a:srgbClr val="AEB9C5"/>
            </a:solidFill>
            <a:prstDash val="solid"/>
          </a:ln>
        </p:spPr>
      </p:sp>
      <p:sp>
        <p:nvSpPr>
          <p:cNvPr id="10" name="anim2_155"/>
          <p:cNvSpPr/>
          <p:nvPr/>
        </p:nvSpPr>
        <p:spPr>
          <a:xfrm>
            <a:off x="2002536" y="3483864"/>
            <a:ext cx="256032" cy="256032"/>
          </a:xfrm>
          <a:prstGeom prst="ellipse">
            <a:avLst/>
          </a:prstGeom>
          <a:solidFill>
            <a:srgbClr val="6A4C93"/>
          </a:solidFill>
          <a:ln w="25400">
            <a:solidFill>
              <a:srgbClr val="FFFFFF"/>
            </a:solidFill>
            <a:prstDash val="solid"/>
          </a:ln>
        </p:spPr>
      </p:sp>
      <p:sp>
        <p:nvSpPr>
          <p:cNvPr id="11" name="anim2_156"/>
          <p:cNvSpPr txBox="1"/>
          <p:nvPr/>
        </p:nvSpPr>
        <p:spPr>
          <a:xfrm>
            <a:off x="1399032" y="4178808"/>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2001</a:t>
            </a:r>
            <a:endParaRPr lang="en-US" sz="1800" dirty="0"/>
          </a:p>
        </p:txBody>
      </p:sp>
      <p:sp>
        <p:nvSpPr>
          <p:cNvPr id="12" name="anim2_157"/>
          <p:cNvSpPr txBox="1"/>
          <p:nvPr/>
        </p:nvSpPr>
        <p:spPr>
          <a:xfrm>
            <a:off x="1197864" y="4544568"/>
            <a:ext cx="1865376" cy="128016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PET: lower striatal D2 receptors in obesity</a:t>
            </a:r>
            <a:endParaRPr lang="en-US" sz="1250" dirty="0"/>
          </a:p>
        </p:txBody>
      </p:sp>
      <p:sp>
        <p:nvSpPr>
          <p:cNvPr id="13" name="anim3_158"/>
          <p:cNvSpPr/>
          <p:nvPr/>
        </p:nvSpPr>
        <p:spPr>
          <a:xfrm>
            <a:off x="3118104" y="3044952"/>
            <a:ext cx="0" cy="566928"/>
          </a:xfrm>
          <a:prstGeom prst="line">
            <a:avLst/>
          </a:prstGeom>
          <a:noFill/>
          <a:ln w="15875">
            <a:solidFill>
              <a:srgbClr val="AEB9C5"/>
            </a:solidFill>
            <a:prstDash val="solid"/>
          </a:ln>
        </p:spPr>
      </p:sp>
      <p:sp>
        <p:nvSpPr>
          <p:cNvPr id="14" name="anim3_159"/>
          <p:cNvSpPr/>
          <p:nvPr/>
        </p:nvSpPr>
        <p:spPr>
          <a:xfrm>
            <a:off x="2990088" y="3483864"/>
            <a:ext cx="256032" cy="256032"/>
          </a:xfrm>
          <a:prstGeom prst="ellipse">
            <a:avLst/>
          </a:prstGeom>
          <a:solidFill>
            <a:srgbClr val="6A4C93"/>
          </a:solidFill>
          <a:ln w="25400">
            <a:solidFill>
              <a:srgbClr val="FFFFFF"/>
            </a:solidFill>
            <a:prstDash val="solid"/>
          </a:ln>
        </p:spPr>
      </p:sp>
      <p:sp>
        <p:nvSpPr>
          <p:cNvPr id="15" name="anim3_160"/>
          <p:cNvSpPr txBox="1"/>
          <p:nvPr/>
        </p:nvSpPr>
        <p:spPr>
          <a:xfrm>
            <a:off x="2386584" y="2679192"/>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2008</a:t>
            </a:r>
            <a:endParaRPr lang="en-US" sz="1800" dirty="0"/>
          </a:p>
        </p:txBody>
      </p:sp>
      <p:sp>
        <p:nvSpPr>
          <p:cNvPr id="16" name="anim3_161"/>
          <p:cNvSpPr txBox="1"/>
          <p:nvPr/>
        </p:nvSpPr>
        <p:spPr>
          <a:xfrm>
            <a:off x="2185416"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Sugar-bingeing rats show addiction-like changes</a:t>
            </a:r>
            <a:endParaRPr lang="en-US" sz="1250" dirty="0"/>
          </a:p>
        </p:txBody>
      </p:sp>
      <p:sp>
        <p:nvSpPr>
          <p:cNvPr id="17" name="anim4_162"/>
          <p:cNvSpPr/>
          <p:nvPr/>
        </p:nvSpPr>
        <p:spPr>
          <a:xfrm>
            <a:off x="4105656" y="3611880"/>
            <a:ext cx="0" cy="566928"/>
          </a:xfrm>
          <a:prstGeom prst="line">
            <a:avLst/>
          </a:prstGeom>
          <a:noFill/>
          <a:ln w="15875">
            <a:solidFill>
              <a:srgbClr val="AEB9C5"/>
            </a:solidFill>
            <a:prstDash val="solid"/>
          </a:ln>
        </p:spPr>
      </p:sp>
      <p:sp>
        <p:nvSpPr>
          <p:cNvPr id="18" name="anim4_163"/>
          <p:cNvSpPr/>
          <p:nvPr/>
        </p:nvSpPr>
        <p:spPr>
          <a:xfrm>
            <a:off x="3977640" y="3483864"/>
            <a:ext cx="256032" cy="256032"/>
          </a:xfrm>
          <a:prstGeom prst="ellipse">
            <a:avLst/>
          </a:prstGeom>
          <a:solidFill>
            <a:srgbClr val="6A4C93"/>
          </a:solidFill>
          <a:ln w="25400">
            <a:solidFill>
              <a:srgbClr val="FFFFFF"/>
            </a:solidFill>
            <a:prstDash val="solid"/>
          </a:ln>
        </p:spPr>
      </p:sp>
      <p:sp>
        <p:nvSpPr>
          <p:cNvPr id="19" name="anim4_164"/>
          <p:cNvSpPr txBox="1"/>
          <p:nvPr/>
        </p:nvSpPr>
        <p:spPr>
          <a:xfrm>
            <a:off x="3374136" y="4178808"/>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2009</a:t>
            </a:r>
            <a:endParaRPr lang="en-US" sz="1800" dirty="0"/>
          </a:p>
        </p:txBody>
      </p:sp>
      <p:sp>
        <p:nvSpPr>
          <p:cNvPr id="20" name="anim4_165"/>
          <p:cNvSpPr txBox="1"/>
          <p:nvPr/>
        </p:nvSpPr>
        <p:spPr>
          <a:xfrm>
            <a:off x="3172968" y="4544568"/>
            <a:ext cx="1865376" cy="128016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YFAS introduced; NOVA takes shape</a:t>
            </a:r>
            <a:endParaRPr lang="en-US" sz="1250" dirty="0"/>
          </a:p>
        </p:txBody>
      </p:sp>
      <p:sp>
        <p:nvSpPr>
          <p:cNvPr id="21" name="anim5_166"/>
          <p:cNvSpPr/>
          <p:nvPr/>
        </p:nvSpPr>
        <p:spPr>
          <a:xfrm>
            <a:off x="5093208" y="3044952"/>
            <a:ext cx="0" cy="566928"/>
          </a:xfrm>
          <a:prstGeom prst="line">
            <a:avLst/>
          </a:prstGeom>
          <a:noFill/>
          <a:ln w="15875">
            <a:solidFill>
              <a:srgbClr val="AEB9C5"/>
            </a:solidFill>
            <a:prstDash val="solid"/>
          </a:ln>
        </p:spPr>
      </p:sp>
      <p:sp>
        <p:nvSpPr>
          <p:cNvPr id="22" name="anim5_167"/>
          <p:cNvSpPr/>
          <p:nvPr/>
        </p:nvSpPr>
        <p:spPr>
          <a:xfrm>
            <a:off x="4965192" y="3483864"/>
            <a:ext cx="256032" cy="256032"/>
          </a:xfrm>
          <a:prstGeom prst="ellipse">
            <a:avLst/>
          </a:prstGeom>
          <a:solidFill>
            <a:srgbClr val="6A4C93"/>
          </a:solidFill>
          <a:ln w="25400">
            <a:solidFill>
              <a:srgbClr val="FFFFFF"/>
            </a:solidFill>
            <a:prstDash val="solid"/>
          </a:ln>
        </p:spPr>
      </p:sp>
      <p:sp>
        <p:nvSpPr>
          <p:cNvPr id="23" name="anim5_168"/>
          <p:cNvSpPr txBox="1"/>
          <p:nvPr/>
        </p:nvSpPr>
        <p:spPr>
          <a:xfrm>
            <a:off x="4361688" y="2679192"/>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2010</a:t>
            </a:r>
            <a:endParaRPr lang="en-US" sz="1800" dirty="0"/>
          </a:p>
        </p:txBody>
      </p:sp>
      <p:sp>
        <p:nvSpPr>
          <p:cNvPr id="24" name="anim5_169"/>
          <p:cNvSpPr txBox="1"/>
          <p:nvPr/>
        </p:nvSpPr>
        <p:spPr>
          <a:xfrm>
            <a:off x="4160520"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Johnson and Kenny: compulsive eating in rats</a:t>
            </a:r>
            <a:endParaRPr lang="en-US" sz="1250" dirty="0"/>
          </a:p>
        </p:txBody>
      </p:sp>
      <p:sp>
        <p:nvSpPr>
          <p:cNvPr id="25" name="anim6_170"/>
          <p:cNvSpPr/>
          <p:nvPr/>
        </p:nvSpPr>
        <p:spPr>
          <a:xfrm>
            <a:off x="6080760" y="3611880"/>
            <a:ext cx="0" cy="566928"/>
          </a:xfrm>
          <a:prstGeom prst="line">
            <a:avLst/>
          </a:prstGeom>
          <a:noFill/>
          <a:ln w="15875">
            <a:solidFill>
              <a:srgbClr val="AEB9C5"/>
            </a:solidFill>
            <a:prstDash val="solid"/>
          </a:ln>
        </p:spPr>
      </p:sp>
      <p:sp>
        <p:nvSpPr>
          <p:cNvPr id="26" name="anim6_171"/>
          <p:cNvSpPr/>
          <p:nvPr/>
        </p:nvSpPr>
        <p:spPr>
          <a:xfrm>
            <a:off x="5952744" y="3483864"/>
            <a:ext cx="256032" cy="256032"/>
          </a:xfrm>
          <a:prstGeom prst="ellipse">
            <a:avLst/>
          </a:prstGeom>
          <a:solidFill>
            <a:srgbClr val="6A4C93"/>
          </a:solidFill>
          <a:ln w="25400">
            <a:solidFill>
              <a:srgbClr val="FFFFFF"/>
            </a:solidFill>
            <a:prstDash val="solid"/>
          </a:ln>
        </p:spPr>
      </p:sp>
      <p:sp>
        <p:nvSpPr>
          <p:cNvPr id="27" name="anim6_172"/>
          <p:cNvSpPr txBox="1"/>
          <p:nvPr/>
        </p:nvSpPr>
        <p:spPr>
          <a:xfrm>
            <a:off x="5349240" y="4178808"/>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2012</a:t>
            </a:r>
            <a:endParaRPr lang="en-US" sz="1800" dirty="0"/>
          </a:p>
        </p:txBody>
      </p:sp>
      <p:sp>
        <p:nvSpPr>
          <p:cNvPr id="28" name="anim6_173"/>
          <p:cNvSpPr txBox="1"/>
          <p:nvPr/>
        </p:nvSpPr>
        <p:spPr>
          <a:xfrm>
            <a:off x="5148072" y="4544568"/>
            <a:ext cx="1865376" cy="128016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Ziauddeen et al.: how convincing is the addiction model?</a:t>
            </a:r>
            <a:endParaRPr lang="en-US" sz="1250" dirty="0"/>
          </a:p>
        </p:txBody>
      </p:sp>
      <p:sp>
        <p:nvSpPr>
          <p:cNvPr id="29" name="anim7_174"/>
          <p:cNvSpPr/>
          <p:nvPr/>
        </p:nvSpPr>
        <p:spPr>
          <a:xfrm>
            <a:off x="7068312" y="3044952"/>
            <a:ext cx="0" cy="566928"/>
          </a:xfrm>
          <a:prstGeom prst="line">
            <a:avLst/>
          </a:prstGeom>
          <a:noFill/>
          <a:ln w="15875">
            <a:solidFill>
              <a:srgbClr val="AEB9C5"/>
            </a:solidFill>
            <a:prstDash val="solid"/>
          </a:ln>
        </p:spPr>
      </p:sp>
      <p:sp>
        <p:nvSpPr>
          <p:cNvPr id="30" name="anim7_175"/>
          <p:cNvSpPr/>
          <p:nvPr/>
        </p:nvSpPr>
        <p:spPr>
          <a:xfrm>
            <a:off x="6940296" y="3483864"/>
            <a:ext cx="256032" cy="256032"/>
          </a:xfrm>
          <a:prstGeom prst="ellipse">
            <a:avLst/>
          </a:prstGeom>
          <a:solidFill>
            <a:srgbClr val="3B7D5A"/>
          </a:solidFill>
          <a:ln w="25400">
            <a:solidFill>
              <a:srgbClr val="FFFFFF"/>
            </a:solidFill>
            <a:prstDash val="solid"/>
          </a:ln>
        </p:spPr>
      </p:sp>
      <p:sp>
        <p:nvSpPr>
          <p:cNvPr id="31" name="anim7_176"/>
          <p:cNvSpPr txBox="1"/>
          <p:nvPr/>
        </p:nvSpPr>
        <p:spPr>
          <a:xfrm>
            <a:off x="6336792" y="2679192"/>
            <a:ext cx="1463040" cy="347472"/>
          </a:xfrm>
          <a:prstGeom prst="rect">
            <a:avLst/>
          </a:prstGeom>
          <a:noFill/>
          <a:ln/>
        </p:spPr>
        <p:txBody>
          <a:bodyPr wrap="square" lIns="0" tIns="0" rIns="0" bIns="0" rtlCol="0" anchor="t"/>
          <a:lstStyle/>
          <a:p>
            <a:pPr algn="ctr" indent="0" marL="0">
              <a:buNone/>
            </a:pPr>
            <a:r>
              <a:rPr lang="en-US" sz="1800" b="1" dirty="0">
                <a:solidFill>
                  <a:srgbClr val="3B7D5A"/>
                </a:solidFill>
                <a:latin typeface="Cambria" pitchFamily="34" charset="0"/>
                <a:ea typeface="Cambria" pitchFamily="34" charset="-122"/>
                <a:cs typeface="Cambria" pitchFamily="34" charset="-120"/>
              </a:rPr>
              <a:t>2014</a:t>
            </a:r>
            <a:endParaRPr lang="en-US" sz="1800" dirty="0"/>
          </a:p>
        </p:txBody>
      </p:sp>
      <p:sp>
        <p:nvSpPr>
          <p:cNvPr id="32" name="anim7_177"/>
          <p:cNvSpPr txBox="1"/>
          <p:nvPr/>
        </p:nvSpPr>
        <p:spPr>
          <a:xfrm>
            <a:off x="6135624"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Brazil’s guidelines target UPF; “eating addiction” proposed</a:t>
            </a:r>
            <a:endParaRPr lang="en-US" sz="1250" dirty="0"/>
          </a:p>
        </p:txBody>
      </p:sp>
      <p:sp>
        <p:nvSpPr>
          <p:cNvPr id="33" name="anim8_178"/>
          <p:cNvSpPr/>
          <p:nvPr/>
        </p:nvSpPr>
        <p:spPr>
          <a:xfrm>
            <a:off x="8055864" y="3611880"/>
            <a:ext cx="0" cy="566928"/>
          </a:xfrm>
          <a:prstGeom prst="line">
            <a:avLst/>
          </a:prstGeom>
          <a:noFill/>
          <a:ln w="15875">
            <a:solidFill>
              <a:srgbClr val="AEB9C5"/>
            </a:solidFill>
            <a:prstDash val="solid"/>
          </a:ln>
        </p:spPr>
      </p:sp>
      <p:sp>
        <p:nvSpPr>
          <p:cNvPr id="34" name="anim8_179"/>
          <p:cNvSpPr/>
          <p:nvPr/>
        </p:nvSpPr>
        <p:spPr>
          <a:xfrm>
            <a:off x="7927848" y="3483864"/>
            <a:ext cx="256032" cy="256032"/>
          </a:xfrm>
          <a:prstGeom prst="ellipse">
            <a:avLst/>
          </a:prstGeom>
          <a:solidFill>
            <a:srgbClr val="3B7D5A"/>
          </a:solidFill>
          <a:ln w="25400">
            <a:solidFill>
              <a:srgbClr val="FFFFFF"/>
            </a:solidFill>
            <a:prstDash val="solid"/>
          </a:ln>
        </p:spPr>
      </p:sp>
      <p:sp>
        <p:nvSpPr>
          <p:cNvPr id="35" name="anim8_180"/>
          <p:cNvSpPr txBox="1"/>
          <p:nvPr/>
        </p:nvSpPr>
        <p:spPr>
          <a:xfrm>
            <a:off x="7324344" y="4178808"/>
            <a:ext cx="1463040" cy="347472"/>
          </a:xfrm>
          <a:prstGeom prst="rect">
            <a:avLst/>
          </a:prstGeom>
          <a:noFill/>
          <a:ln/>
        </p:spPr>
        <p:txBody>
          <a:bodyPr wrap="square" lIns="0" tIns="0" rIns="0" bIns="0" rtlCol="0" anchor="t"/>
          <a:lstStyle/>
          <a:p>
            <a:pPr algn="ctr" indent="0" marL="0">
              <a:buNone/>
            </a:pPr>
            <a:r>
              <a:rPr lang="en-US" sz="1800" b="1" dirty="0">
                <a:solidFill>
                  <a:srgbClr val="3B7D5A"/>
                </a:solidFill>
                <a:latin typeface="Cambria" pitchFamily="34" charset="0"/>
                <a:ea typeface="Cambria" pitchFamily="34" charset="-122"/>
                <a:cs typeface="Cambria" pitchFamily="34" charset="-120"/>
              </a:rPr>
              <a:t>2016</a:t>
            </a:r>
            <a:endParaRPr lang="en-US" sz="1800" dirty="0"/>
          </a:p>
        </p:txBody>
      </p:sp>
      <p:sp>
        <p:nvSpPr>
          <p:cNvPr id="36" name="anim8_181"/>
          <p:cNvSpPr txBox="1"/>
          <p:nvPr/>
        </p:nvSpPr>
        <p:spPr>
          <a:xfrm>
            <a:off x="7123176" y="4544568"/>
            <a:ext cx="1865376" cy="128016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Chile’s labeling and marketing law</a:t>
            </a:r>
            <a:endParaRPr lang="en-US" sz="1250" dirty="0"/>
          </a:p>
        </p:txBody>
      </p:sp>
      <p:sp>
        <p:nvSpPr>
          <p:cNvPr id="37" name="anim9_182"/>
          <p:cNvSpPr/>
          <p:nvPr/>
        </p:nvSpPr>
        <p:spPr>
          <a:xfrm>
            <a:off x="9043416" y="3044952"/>
            <a:ext cx="0" cy="566928"/>
          </a:xfrm>
          <a:prstGeom prst="line">
            <a:avLst/>
          </a:prstGeom>
          <a:noFill/>
          <a:ln w="15875">
            <a:solidFill>
              <a:srgbClr val="AEB9C5"/>
            </a:solidFill>
            <a:prstDash val="solid"/>
          </a:ln>
        </p:spPr>
      </p:sp>
      <p:sp>
        <p:nvSpPr>
          <p:cNvPr id="38" name="anim9_183"/>
          <p:cNvSpPr/>
          <p:nvPr/>
        </p:nvSpPr>
        <p:spPr>
          <a:xfrm>
            <a:off x="8915400" y="3483864"/>
            <a:ext cx="256032" cy="256032"/>
          </a:xfrm>
          <a:prstGeom prst="ellipse">
            <a:avLst/>
          </a:prstGeom>
          <a:solidFill>
            <a:srgbClr val="3B7D5A"/>
          </a:solidFill>
          <a:ln w="25400">
            <a:solidFill>
              <a:srgbClr val="FFFFFF"/>
            </a:solidFill>
            <a:prstDash val="solid"/>
          </a:ln>
        </p:spPr>
      </p:sp>
      <p:sp>
        <p:nvSpPr>
          <p:cNvPr id="39" name="anim9_184"/>
          <p:cNvSpPr txBox="1"/>
          <p:nvPr/>
        </p:nvSpPr>
        <p:spPr>
          <a:xfrm>
            <a:off x="8311896" y="2679192"/>
            <a:ext cx="1463040" cy="347472"/>
          </a:xfrm>
          <a:prstGeom prst="rect">
            <a:avLst/>
          </a:prstGeom>
          <a:noFill/>
          <a:ln/>
        </p:spPr>
        <p:txBody>
          <a:bodyPr wrap="square" lIns="0" tIns="0" rIns="0" bIns="0" rtlCol="0" anchor="t"/>
          <a:lstStyle/>
          <a:p>
            <a:pPr algn="ctr" indent="0" marL="0">
              <a:buNone/>
            </a:pPr>
            <a:r>
              <a:rPr lang="en-US" sz="1800" b="1" dirty="0">
                <a:solidFill>
                  <a:srgbClr val="3B7D5A"/>
                </a:solidFill>
                <a:latin typeface="Cambria" pitchFamily="34" charset="0"/>
                <a:ea typeface="Cambria" pitchFamily="34" charset="-122"/>
                <a:cs typeface="Cambria" pitchFamily="34" charset="-120"/>
              </a:rPr>
              <a:t>2018</a:t>
            </a:r>
            <a:endParaRPr lang="en-US" sz="1800" dirty="0"/>
          </a:p>
        </p:txBody>
      </p:sp>
      <p:sp>
        <p:nvSpPr>
          <p:cNvPr id="40" name="anim9_185"/>
          <p:cNvSpPr txBox="1"/>
          <p:nvPr/>
        </p:nvSpPr>
        <p:spPr>
          <a:xfrm>
            <a:off x="8110728"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UK Soft Drinks Industry Levy</a:t>
            </a:r>
            <a:endParaRPr lang="en-US" sz="1250" dirty="0"/>
          </a:p>
        </p:txBody>
      </p:sp>
      <p:sp>
        <p:nvSpPr>
          <p:cNvPr id="41" name="anim10_186"/>
          <p:cNvSpPr/>
          <p:nvPr/>
        </p:nvSpPr>
        <p:spPr>
          <a:xfrm>
            <a:off x="10030968" y="3611880"/>
            <a:ext cx="0" cy="566928"/>
          </a:xfrm>
          <a:prstGeom prst="line">
            <a:avLst/>
          </a:prstGeom>
          <a:noFill/>
          <a:ln w="15875">
            <a:solidFill>
              <a:srgbClr val="AEB9C5"/>
            </a:solidFill>
            <a:prstDash val="solid"/>
          </a:ln>
        </p:spPr>
      </p:sp>
      <p:sp>
        <p:nvSpPr>
          <p:cNvPr id="42" name="anim10_187"/>
          <p:cNvSpPr/>
          <p:nvPr/>
        </p:nvSpPr>
        <p:spPr>
          <a:xfrm>
            <a:off x="9902952" y="3483864"/>
            <a:ext cx="256032" cy="256032"/>
          </a:xfrm>
          <a:prstGeom prst="ellipse">
            <a:avLst/>
          </a:prstGeom>
          <a:solidFill>
            <a:srgbClr val="B3393C"/>
          </a:solidFill>
          <a:ln w="25400">
            <a:solidFill>
              <a:srgbClr val="FFFFFF"/>
            </a:solidFill>
            <a:prstDash val="solid"/>
          </a:ln>
        </p:spPr>
      </p:sp>
      <p:sp>
        <p:nvSpPr>
          <p:cNvPr id="43" name="anim10_188"/>
          <p:cNvSpPr txBox="1"/>
          <p:nvPr/>
        </p:nvSpPr>
        <p:spPr>
          <a:xfrm>
            <a:off x="9299448" y="4178808"/>
            <a:ext cx="1463040" cy="347472"/>
          </a:xfrm>
          <a:prstGeom prst="rect">
            <a:avLst/>
          </a:prstGeom>
          <a:noFill/>
          <a:ln/>
        </p:spPr>
        <p:txBody>
          <a:bodyPr wrap="square" lIns="0" tIns="0" rIns="0" bIns="0" rtlCol="0" anchor="t"/>
          <a:lstStyle/>
          <a:p>
            <a:pPr algn="ctr" indent="0" marL="0">
              <a:buNone/>
            </a:pPr>
            <a:r>
              <a:rPr lang="en-US" sz="1800" b="1" dirty="0">
                <a:solidFill>
                  <a:srgbClr val="B3393C"/>
                </a:solidFill>
                <a:latin typeface="Cambria" pitchFamily="34" charset="0"/>
                <a:ea typeface="Cambria" pitchFamily="34" charset="-122"/>
                <a:cs typeface="Cambria" pitchFamily="34" charset="-120"/>
              </a:rPr>
              <a:t>2019</a:t>
            </a:r>
            <a:endParaRPr lang="en-US" sz="1800" dirty="0"/>
          </a:p>
        </p:txBody>
      </p:sp>
      <p:sp>
        <p:nvSpPr>
          <p:cNvPr id="44" name="anim10_189"/>
          <p:cNvSpPr txBox="1"/>
          <p:nvPr/>
        </p:nvSpPr>
        <p:spPr>
          <a:xfrm>
            <a:off x="9098280" y="4544568"/>
            <a:ext cx="1865376" cy="128016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Hall et al. inpatient RCT: +508 kcal/day</a:t>
            </a:r>
            <a:endParaRPr lang="en-US" sz="1250" dirty="0"/>
          </a:p>
        </p:txBody>
      </p:sp>
      <p:sp>
        <p:nvSpPr>
          <p:cNvPr id="45" name="anim11_190"/>
          <p:cNvSpPr/>
          <p:nvPr/>
        </p:nvSpPr>
        <p:spPr>
          <a:xfrm>
            <a:off x="11018520" y="3044952"/>
            <a:ext cx="0" cy="566928"/>
          </a:xfrm>
          <a:prstGeom prst="line">
            <a:avLst/>
          </a:prstGeom>
          <a:noFill/>
          <a:ln w="15875">
            <a:solidFill>
              <a:srgbClr val="AEB9C5"/>
            </a:solidFill>
            <a:prstDash val="solid"/>
          </a:ln>
        </p:spPr>
      </p:sp>
      <p:sp>
        <p:nvSpPr>
          <p:cNvPr id="46" name="anim11_191"/>
          <p:cNvSpPr/>
          <p:nvPr/>
        </p:nvSpPr>
        <p:spPr>
          <a:xfrm>
            <a:off x="10890504" y="3483864"/>
            <a:ext cx="256032" cy="256032"/>
          </a:xfrm>
          <a:prstGeom prst="ellipse">
            <a:avLst/>
          </a:prstGeom>
          <a:solidFill>
            <a:srgbClr val="6A4C93"/>
          </a:solidFill>
          <a:ln w="25400">
            <a:solidFill>
              <a:srgbClr val="FFFFFF"/>
            </a:solidFill>
            <a:prstDash val="solid"/>
          </a:ln>
        </p:spPr>
      </p:sp>
      <p:sp>
        <p:nvSpPr>
          <p:cNvPr id="47" name="anim11_192"/>
          <p:cNvSpPr txBox="1"/>
          <p:nvPr/>
        </p:nvSpPr>
        <p:spPr>
          <a:xfrm>
            <a:off x="10287000" y="2679192"/>
            <a:ext cx="1463040" cy="347472"/>
          </a:xfrm>
          <a:prstGeom prst="rect">
            <a:avLst/>
          </a:prstGeom>
          <a:noFill/>
          <a:ln/>
        </p:spPr>
        <p:txBody>
          <a:bodyPr wrap="square" lIns="0" tIns="0" rIns="0" bIns="0" rtlCol="0" anchor="t"/>
          <a:lstStyle/>
          <a:p>
            <a:pPr algn="ctr" indent="0" marL="0">
              <a:buNone/>
            </a:pPr>
            <a:r>
              <a:rPr lang="en-US" sz="1800" b="1" dirty="0">
                <a:solidFill>
                  <a:srgbClr val="6A4C93"/>
                </a:solidFill>
                <a:latin typeface="Cambria" pitchFamily="34" charset="0"/>
                <a:ea typeface="Cambria" pitchFamily="34" charset="-122"/>
                <a:cs typeface="Cambria" pitchFamily="34" charset="-120"/>
              </a:rPr>
              <a:t>2021</a:t>
            </a:r>
            <a:endParaRPr lang="en-US" sz="1800" dirty="0"/>
          </a:p>
        </p:txBody>
      </p:sp>
      <p:sp>
        <p:nvSpPr>
          <p:cNvPr id="48" name="anim11_193"/>
          <p:cNvSpPr txBox="1"/>
          <p:nvPr/>
        </p:nvSpPr>
        <p:spPr>
          <a:xfrm>
            <a:off x="10085832" y="1371600"/>
            <a:ext cx="1865376" cy="1280160"/>
          </a:xfrm>
          <a:prstGeom prst="rect">
            <a:avLst/>
          </a:prstGeom>
          <a:noFill/>
          <a:ln/>
        </p:spPr>
        <p:txBody>
          <a:bodyPr wrap="square" lIns="0" tIns="0" rIns="0" bIns="0" rtlCol="0" anchor="b"/>
          <a:lstStyle/>
          <a:p>
            <a:pPr algn="ctr" indent="0" marL="0">
              <a:buNone/>
            </a:pPr>
            <a:r>
              <a:rPr lang="en-US" sz="1250" dirty="0">
                <a:solidFill>
                  <a:srgbClr val="1B1F24"/>
                </a:solidFill>
                <a:latin typeface="Calibri" pitchFamily="34" charset="0"/>
                <a:ea typeface="Calibri" pitchFamily="34" charset="-122"/>
                <a:cs typeface="Calibri" pitchFamily="34" charset="-120"/>
              </a:rPr>
              <a:t>Gearhardt and Schulte: “Is food addictive?”</a:t>
            </a:r>
            <a:endParaRPr lang="en-US" sz="1250" dirty="0"/>
          </a:p>
        </p:txBody>
      </p:sp>
      <p:sp>
        <p:nvSpPr>
          <p:cNvPr id="49" name="leg0"/>
          <p:cNvSpPr/>
          <p:nvPr/>
        </p:nvSpPr>
        <p:spPr>
          <a:xfrm>
            <a:off x="548640" y="6108192"/>
            <a:ext cx="164592" cy="164592"/>
          </a:xfrm>
          <a:prstGeom prst="ellipse">
            <a:avLst/>
          </a:prstGeom>
          <a:solidFill>
            <a:srgbClr val="6A4C93"/>
          </a:solidFill>
          <a:ln w="12700">
            <a:solidFill>
              <a:srgbClr val="6A4C93"/>
            </a:solidFill>
            <a:prstDash val="solid"/>
          </a:ln>
        </p:spPr>
      </p:sp>
      <p:sp>
        <p:nvSpPr>
          <p:cNvPr id="50" name="Text 47"/>
          <p:cNvSpPr txBox="1"/>
          <p:nvPr/>
        </p:nvSpPr>
        <p:spPr>
          <a:xfrm>
            <a:off x="786384" y="6035040"/>
            <a:ext cx="1828800" cy="292608"/>
          </a:xfrm>
          <a:prstGeom prst="rect">
            <a:avLst/>
          </a:prstGeom>
          <a:noFill/>
          <a:ln/>
        </p:spPr>
        <p:txBody>
          <a:bodyPr wrap="square" lIns="0" tIns="0" rIns="0" bIns="0" rtlCol="0" anchor="ctr"/>
          <a:lstStyle/>
          <a:p>
            <a:pPr indent="0" marL="0">
              <a:buNone/>
            </a:pPr>
            <a:r>
              <a:rPr lang="en-US" sz="1150" dirty="0">
                <a:solidFill>
                  <a:srgbClr val="5F6B76"/>
                </a:solidFill>
                <a:latin typeface="Calibri" pitchFamily="34" charset="0"/>
                <a:ea typeface="Calibri" pitchFamily="34" charset="-122"/>
                <a:cs typeface="Calibri" pitchFamily="34" charset="-120"/>
              </a:rPr>
              <a:t>Addiction science</a:t>
            </a:r>
            <a:endParaRPr lang="en-US" sz="1150" dirty="0"/>
          </a:p>
        </p:txBody>
      </p:sp>
      <p:sp>
        <p:nvSpPr>
          <p:cNvPr id="51" name="leg1"/>
          <p:cNvSpPr/>
          <p:nvPr/>
        </p:nvSpPr>
        <p:spPr>
          <a:xfrm>
            <a:off x="2651760" y="6108192"/>
            <a:ext cx="164592" cy="164592"/>
          </a:xfrm>
          <a:prstGeom prst="ellipse">
            <a:avLst/>
          </a:prstGeom>
          <a:solidFill>
            <a:srgbClr val="3B7D5A"/>
          </a:solidFill>
          <a:ln w="12700">
            <a:solidFill>
              <a:srgbClr val="3B7D5A"/>
            </a:solidFill>
            <a:prstDash val="solid"/>
          </a:ln>
        </p:spPr>
      </p:sp>
      <p:sp>
        <p:nvSpPr>
          <p:cNvPr id="52" name="Text 49"/>
          <p:cNvSpPr txBox="1"/>
          <p:nvPr/>
        </p:nvSpPr>
        <p:spPr>
          <a:xfrm>
            <a:off x="2889504" y="6035040"/>
            <a:ext cx="1828800" cy="292608"/>
          </a:xfrm>
          <a:prstGeom prst="rect">
            <a:avLst/>
          </a:prstGeom>
          <a:noFill/>
          <a:ln/>
        </p:spPr>
        <p:txBody>
          <a:bodyPr wrap="square" lIns="0" tIns="0" rIns="0" bIns="0" rtlCol="0" anchor="ctr"/>
          <a:lstStyle/>
          <a:p>
            <a:pPr indent="0" marL="0">
              <a:buNone/>
            </a:pPr>
            <a:r>
              <a:rPr lang="en-US" sz="1150" dirty="0">
                <a:solidFill>
                  <a:srgbClr val="5F6B76"/>
                </a:solidFill>
                <a:latin typeface="Calibri" pitchFamily="34" charset="0"/>
                <a:ea typeface="Calibri" pitchFamily="34" charset="-122"/>
                <a:cs typeface="Calibri" pitchFamily="34" charset="-120"/>
              </a:rPr>
              <a:t>Policy</a:t>
            </a:r>
            <a:endParaRPr lang="en-US" sz="1150" dirty="0"/>
          </a:p>
        </p:txBody>
      </p:sp>
      <p:sp>
        <p:nvSpPr>
          <p:cNvPr id="53" name="leg2"/>
          <p:cNvSpPr/>
          <p:nvPr/>
        </p:nvSpPr>
        <p:spPr>
          <a:xfrm>
            <a:off x="4754880" y="6108192"/>
            <a:ext cx="164592" cy="164592"/>
          </a:xfrm>
          <a:prstGeom prst="ellipse">
            <a:avLst/>
          </a:prstGeom>
          <a:solidFill>
            <a:srgbClr val="B3393C"/>
          </a:solidFill>
          <a:ln w="12700">
            <a:solidFill>
              <a:srgbClr val="B3393C"/>
            </a:solidFill>
            <a:prstDash val="solid"/>
          </a:ln>
        </p:spPr>
      </p:sp>
      <p:sp>
        <p:nvSpPr>
          <p:cNvPr id="54" name="Text 51"/>
          <p:cNvSpPr txBox="1"/>
          <p:nvPr/>
        </p:nvSpPr>
        <p:spPr>
          <a:xfrm>
            <a:off x="4992624" y="6035040"/>
            <a:ext cx="1828800" cy="292608"/>
          </a:xfrm>
          <a:prstGeom prst="rect">
            <a:avLst/>
          </a:prstGeom>
          <a:noFill/>
          <a:ln/>
        </p:spPr>
        <p:txBody>
          <a:bodyPr wrap="square" lIns="0" tIns="0" rIns="0" bIns="0" rtlCol="0" anchor="ctr"/>
          <a:lstStyle/>
          <a:p>
            <a:pPr indent="0" marL="0">
              <a:buNone/>
            </a:pPr>
            <a:r>
              <a:rPr lang="en-US" sz="1150" dirty="0">
                <a:solidFill>
                  <a:srgbClr val="5F6B76"/>
                </a:solidFill>
                <a:latin typeface="Calibri" pitchFamily="34" charset="0"/>
                <a:ea typeface="Calibri" pitchFamily="34" charset="-122"/>
                <a:cs typeface="Calibri" pitchFamily="34" charset="-120"/>
              </a:rPr>
              <a:t>Processing trials</a:t>
            </a:r>
            <a:endParaRPr lang="en-US" sz="1150" dirty="0"/>
          </a:p>
        </p:txBody>
      </p:sp>
      <p:sp>
        <p:nvSpPr>
          <p:cNvPr id="55" name="Text 52"/>
          <p:cNvSpPr txBox="1"/>
          <p:nvPr/>
        </p:nvSpPr>
        <p:spPr>
          <a:xfrm>
            <a:off x="6949440" y="5943600"/>
            <a:ext cx="4663440" cy="457200"/>
          </a:xfrm>
          <a:prstGeom prst="rect">
            <a:avLst/>
          </a:prstGeom>
          <a:noFill/>
          <a:ln/>
        </p:spPr>
        <p:txBody>
          <a:bodyPr wrap="square" lIns="0" tIns="0" rIns="0" bIns="0" rtlCol="0" anchor="b"/>
          <a:lstStyle/>
          <a:p>
            <a:pPr algn="r" indent="0" marL="0">
              <a:buNone/>
            </a:pPr>
            <a:r>
              <a:rPr lang="en-US" sz="950" i="1" dirty="0">
                <a:solidFill>
                  <a:srgbClr val="7A8591"/>
                </a:solidFill>
                <a:latin typeface="Calibri" pitchFamily="34" charset="0"/>
                <a:ea typeface="Calibri" pitchFamily="34" charset="-122"/>
                <a:cs typeface="Calibri" pitchFamily="34" charset="-120"/>
              </a:rPr>
              <a:t>Sources: Randolph 1956; Wang 2001; Avena 2008; Gearhardt 2009; Johnson and Kenny 2010; Ziauddeen 2012; Hebebrand 2014; Brazil MoH 2014; Taillie 2020; Scarborough 2020; Hall 2019; Gearhardt and Schulte 2021.</a:t>
            </a:r>
            <a:endParaRPr lang="en-US" sz="95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6" fill="hold">
                      <p:stCondLst>
                        <p:cond delay="indefinite"/>
                        <p:cond evt="onBegin" delay="0">
                          <p:tn val="2"/>
                        </p:cond>
                      </p:stCondLst>
                      <p:childTnLst>
                        <p:par>
                          <p:cTn id="15"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8" fill="hold">
                            <p:stCondLst>
                              <p:cond delay="380"/>
                            </p:stCondLst>
                            <p:childTnLst>
                              <p:par>
                                <p:cTn id="16" presetID="10" presetClass="entr" presetSubtype="0"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1" fill="hold">
                            <p:stCondLst>
                              <p:cond delay="38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par>
                          <p:cTn id="54" fill="hold">
                            <p:stCondLst>
                              <p:cond delay="380"/>
                            </p:stCondLst>
                            <p:childTnLst>
                              <p:par>
                                <p:cTn id="42" presetID="10" presetClass="entr" presetSubtype="0"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par>
                          <p:cTn id="67" fill="hold">
                            <p:stCondLst>
                              <p:cond delay="38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childTnLst>
                          </p:cTn>
                        </p:par>
                        <p:par>
                          <p:cTn id="80" fill="hold">
                            <p:stCondLst>
                              <p:cond delay="380"/>
                            </p:stCondLst>
                            <p:childTnLst>
                              <p:par>
                                <p:cTn id="68" presetID="10"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childTnLst>
                          </p:cTn>
                        </p:par>
                        <p:par>
                          <p:cTn id="93" fill="hold">
                            <p:stCondLst>
                              <p:cond delay="380"/>
                            </p:stCondLst>
                            <p:childTnLst>
                              <p:par>
                                <p:cTn id="81" presetID="10" presetClass="entr" presetSubtype="0"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45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450"/>
                                        <p:tgtEl>
                                          <p:spTgt spid="32"/>
                                        </p:tgtEl>
                                      </p:cBhvr>
                                    </p:animEffect>
                                  </p:childTnLst>
                                </p:cTn>
                              </p:par>
                            </p:childTnLst>
                          </p:cTn>
                        </p:par>
                        <p:par>
                          <p:cTn id="106" fill="hold">
                            <p:stCondLst>
                              <p:cond delay="380"/>
                            </p:stCondLst>
                            <p:childTnLst>
                              <p:par>
                                <p:cTn id="94" presetID="10" presetClass="entr" presetSubtype="0" fill="hold" nodeType="after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childTnLst>
                          </p:cTn>
                        </p:par>
                        <p:par>
                          <p:cTn id="119" fill="hold">
                            <p:stCondLst>
                              <p:cond delay="380"/>
                            </p:stCondLst>
                            <p:childTnLst>
                              <p:par>
                                <p:cTn id="107" presetID="10" presetClass="entr" presetSubtype="0" fill="hold" nodeType="after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45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450"/>
                                        <p:tgtEl>
                                          <p:spTgt spid="40"/>
                                        </p:tgtEl>
                                      </p:cBhvr>
                                    </p:animEffect>
                                  </p:childTnLst>
                                </p:cTn>
                              </p:par>
                            </p:childTnLst>
                          </p:cTn>
                        </p:par>
                        <p:par>
                          <p:cTn id="132" fill="hold">
                            <p:stCondLst>
                              <p:cond delay="380"/>
                            </p:stCondLst>
                            <p:childTnLst>
                              <p:par>
                                <p:cTn id="120" presetID="10" presetClass="entr" presetSubtype="0" fill="hold" nodeType="after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450"/>
                                        <p:tgtEl>
                                          <p:spTgt spid="41"/>
                                        </p:tgtEl>
                                      </p:cBhvr>
                                    </p:animEffect>
                                  </p:childTnLst>
                                </p:cTn>
                              </p:par>
                              <p:par>
                                <p:cTn id="123" presetID="10" presetClass="entr" presetSubtype="0" fill="hold"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5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5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50"/>
                                        <p:tgtEl>
                                          <p:spTgt spid="44"/>
                                        </p:tgtEl>
                                      </p:cBhvr>
                                    </p:animEffect>
                                  </p:childTnLst>
                                </p:cTn>
                              </p:par>
                            </p:childTnLst>
                          </p:cTn>
                        </p:par>
                        <p:par>
                          <p:cTn id="145" fill="hold">
                            <p:stCondLst>
                              <p:cond delay="380"/>
                            </p:stCondLst>
                            <p:childTnLst>
                              <p:par>
                                <p:cTn id="133" presetID="10" presetClass="entr" presetSubtype="0" fill="hold" nodeType="after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50"/>
                                        <p:tgtEl>
                                          <p:spTgt spid="45"/>
                                        </p:tgtEl>
                                      </p:cBhvr>
                                    </p:animEffect>
                                  </p:childTnLst>
                                </p:cTn>
                              </p:par>
                              <p:par>
                                <p:cTn id="136" presetID="10" presetClass="entr" presetSubtype="0" fill="hold" nodeType="withEffect">
                                  <p:stCondLst>
                                    <p:cond delay="0"/>
                                  </p:stCondLst>
                                  <p:childTnLst>
                                    <p:set>
                                      <p:cBhvr>
                                        <p:cTn id="137" dur="1" fill="hold">
                                          <p:stCondLst>
                                            <p:cond delay="0"/>
                                          </p:stCondLst>
                                        </p:cTn>
                                        <p:tgtEl>
                                          <p:spTgt spid="46"/>
                                        </p:tgtEl>
                                        <p:attrNameLst>
                                          <p:attrName>style.visibility</p:attrName>
                                        </p:attrNameLst>
                                      </p:cBhvr>
                                      <p:to>
                                        <p:strVal val="visible"/>
                                      </p:to>
                                    </p:set>
                                    <p:animEffect transition="in" filter="fade">
                                      <p:cBhvr>
                                        <p:cTn id="138" dur="450"/>
                                        <p:tgtEl>
                                          <p:spTgt spid="4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7"/>
                                        </p:tgtEl>
                                        <p:attrNameLst>
                                          <p:attrName>style.visibility</p:attrName>
                                        </p:attrNameLst>
                                      </p:cBhvr>
                                      <p:to>
                                        <p:strVal val="visible"/>
                                      </p:to>
                                    </p:set>
                                    <p:animEffect transition="in" filter="fade">
                                      <p:cBhvr>
                                        <p:cTn id="141" dur="450"/>
                                        <p:tgtEl>
                                          <p:spTgt spid="4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8"/>
                                        </p:tgtEl>
                                        <p:attrNameLst>
                                          <p:attrName>style.visibility</p:attrName>
                                        </p:attrNameLst>
                                      </p:cBhvr>
                                      <p:to>
                                        <p:strVal val="visible"/>
                                      </p:to>
                                    </p:set>
                                    <p:animEffect transition="in" filter="fade">
                                      <p:cBhvr>
                                        <p:cTn id="144"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P spid="27" grpId="0" animBg="1"/>
      <p:bldP spid="28" grpId="0" animBg="1"/>
      <p:bldP spid="31" grpId="0" animBg="1"/>
      <p:bldP spid="32" grpId="0" animBg="1"/>
      <p:bldP spid="35" grpId="0" animBg="1"/>
      <p:bldP spid="36" grpId="0" animBg="1"/>
      <p:bldP spid="39" grpId="0" animBg="1"/>
      <p:bldP spid="40" grpId="0" animBg="1"/>
      <p:bldP spid="43" grpId="0" animBg="1"/>
      <p:bldP spid="44" grpId="0" animBg="1"/>
      <p:bldP spid="47" grpId="0" animBg="1"/>
      <p:bldP spid="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B3393C"/>
                </a:solidFill>
                <a:latin typeface="Cambria" pitchFamily="34" charset="0"/>
                <a:ea typeface="Cambria" pitchFamily="34" charset="-122"/>
                <a:cs typeface="Cambria" pitchFamily="34" charset="-120"/>
              </a:rPr>
              <a:t>01</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Ultra-Processed Foods</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What are they — and how much of our diet do they make up?</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34056" y="5166360"/>
            <a:ext cx="384048" cy="384048"/>
          </a:xfrm>
          <a:prstGeom prst="ellipse">
            <a:avLst/>
          </a:prstGeom>
          <a:solidFill>
            <a:srgbClr val="B3393C"/>
          </a:solidFill>
          <a:ln w="25400">
            <a:solidFill>
              <a:srgbClr val="FFFFFF"/>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2E4A6B"/>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E4A6B"/>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2E4A6B"/>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2E4A6B"/>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2E4A6B"/>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194"/>
          <p:cNvSpPr/>
          <p:nvPr/>
        </p:nvSpPr>
        <p:spPr>
          <a:xfrm>
            <a:off x="10607040" y="2240280"/>
            <a:ext cx="960120" cy="960120"/>
          </a:xfrm>
          <a:prstGeom prst="ellipse">
            <a:avLst/>
          </a:prstGeom>
          <a:solidFill>
            <a:srgbClr val="B3393C"/>
          </a:solidFill>
          <a:ln w="6350">
            <a:solidFill>
              <a:srgbClr val="B3393C"/>
            </a:solidFill>
            <a:prstDash val="solid"/>
          </a:ln>
        </p:spPr>
      </p:sp>
      <p:pic>
        <p:nvPicPr>
          <p:cNvPr id="25" name="ic_195" descr="industry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NOVA: four groups by extent and purpose of processing</a:t>
            </a:r>
            <a:endParaRPr lang="en-US" sz="3200" dirty="0"/>
          </a:p>
        </p:txBody>
      </p:sp>
      <p:sp>
        <p:nvSpPr>
          <p:cNvPr id="4" name="anim1_196"/>
          <p:cNvSpPr/>
          <p:nvPr/>
        </p:nvSpPr>
        <p:spPr>
          <a:xfrm>
            <a:off x="548640" y="1325880"/>
            <a:ext cx="2606040" cy="3246120"/>
          </a:xfrm>
          <a:prstGeom prst="roundRect">
            <a:avLst>
              <a:gd name="adj" fmla="val 2807"/>
            </a:avLst>
          </a:prstGeom>
          <a:solidFill>
            <a:srgbClr val="E8F2EC"/>
          </a:solidFill>
          <a:ln w="9525">
            <a:solidFill>
              <a:srgbClr val="3B7D5A"/>
            </a:solidFill>
            <a:prstDash val="solid"/>
          </a:ln>
          <a:effectLst>
            <a:outerShdw sx="100000" sy="100000" kx="0" ky="0" algn="bl" rotWithShape="0" blurRad="114300" dist="31750" dir="5400000">
              <a:srgbClr val="1B1F24">
                <a:alpha val="14000"/>
              </a:srgbClr>
            </a:outerShdw>
          </a:effectLst>
        </p:spPr>
      </p:sp>
      <p:sp>
        <p:nvSpPr>
          <p:cNvPr id="5" name="anim1_197"/>
          <p:cNvSpPr/>
          <p:nvPr/>
        </p:nvSpPr>
        <p:spPr>
          <a:xfrm>
            <a:off x="1463040" y="1554480"/>
            <a:ext cx="777240" cy="777240"/>
          </a:xfrm>
          <a:prstGeom prst="ellipse">
            <a:avLst/>
          </a:prstGeom>
          <a:solidFill>
            <a:srgbClr val="3B7D5A"/>
          </a:solidFill>
          <a:ln w="6350">
            <a:solidFill>
              <a:srgbClr val="3B7D5A"/>
            </a:solidFill>
            <a:prstDash val="solid"/>
          </a:ln>
        </p:spPr>
      </p:sp>
      <p:pic>
        <p:nvPicPr>
          <p:cNvPr id="6" name="anim1_198" descr="leaf icon">    </p:cNvPr>
          <p:cNvPicPr>
            <a:picLocks noChangeAspect="1"/>
          </p:cNvPicPr>
          <p:nvPr/>
        </p:nvPicPr>
        <p:blipFill>
          <a:blip r:embed="rId1"/>
          <a:stretch>
            <a:fillRect/>
          </a:stretch>
        </p:blipFill>
        <p:spPr>
          <a:xfrm>
            <a:off x="1672895" y="1764335"/>
            <a:ext cx="357530" cy="357530"/>
          </a:xfrm>
          <a:prstGeom prst="rect">
            <a:avLst/>
          </a:prstGeom>
        </p:spPr>
      </p:pic>
      <p:sp>
        <p:nvSpPr>
          <p:cNvPr id="7" name="anim1_199"/>
          <p:cNvSpPr txBox="1"/>
          <p:nvPr/>
        </p:nvSpPr>
        <p:spPr>
          <a:xfrm>
            <a:off x="731520" y="2450592"/>
            <a:ext cx="2240280" cy="274320"/>
          </a:xfrm>
          <a:prstGeom prst="rect">
            <a:avLst/>
          </a:prstGeom>
          <a:noFill/>
          <a:ln/>
        </p:spPr>
        <p:txBody>
          <a:bodyPr wrap="square" lIns="0" tIns="0" rIns="0" bIns="0" rtlCol="0" anchor="t"/>
          <a:lstStyle/>
          <a:p>
            <a:pPr algn="ctr" indent="0" marL="0">
              <a:buNone/>
            </a:pPr>
            <a:r>
              <a:rPr lang="en-US" sz="1200" b="1" spc="150" kern="0" dirty="0">
                <a:solidFill>
                  <a:srgbClr val="3B7D5A"/>
                </a:solidFill>
                <a:latin typeface="Calibri" pitchFamily="34" charset="0"/>
                <a:ea typeface="Calibri" pitchFamily="34" charset="-122"/>
                <a:cs typeface="Calibri" pitchFamily="34" charset="-120"/>
              </a:rPr>
              <a:t>GROUP 1</a:t>
            </a:r>
            <a:endParaRPr lang="en-US" sz="1200" dirty="0"/>
          </a:p>
        </p:txBody>
      </p:sp>
      <p:sp>
        <p:nvSpPr>
          <p:cNvPr id="8" name="anim1_200"/>
          <p:cNvSpPr txBox="1"/>
          <p:nvPr/>
        </p:nvSpPr>
        <p:spPr>
          <a:xfrm>
            <a:off x="731520" y="2743200"/>
            <a:ext cx="2240280" cy="685800"/>
          </a:xfrm>
          <a:prstGeom prst="rect">
            <a:avLst/>
          </a:prstGeom>
          <a:noFill/>
          <a:ln/>
        </p:spPr>
        <p:txBody>
          <a:bodyPr wrap="square" lIns="0" tIns="0" rIns="0" bIns="0" rtlCol="0" anchor="ctr"/>
          <a:lstStyle/>
          <a:p>
            <a:pPr algn="ctr" indent="0" marL="0">
              <a:buNone/>
            </a:pPr>
            <a:r>
              <a:rPr lang="en-US" sz="1700" b="1" dirty="0">
                <a:solidFill>
                  <a:srgbClr val="3B7D5A"/>
                </a:solidFill>
                <a:latin typeface="Cambria" pitchFamily="34" charset="0"/>
                <a:ea typeface="Cambria" pitchFamily="34" charset="-122"/>
                <a:cs typeface="Cambria" pitchFamily="34" charset="-120"/>
              </a:rPr>
              <a:t>Unprocessed or minimally processed</a:t>
            </a:r>
            <a:endParaRPr lang="en-US" sz="1700" dirty="0"/>
          </a:p>
        </p:txBody>
      </p:sp>
      <p:sp>
        <p:nvSpPr>
          <p:cNvPr id="9" name="anim1_201"/>
          <p:cNvSpPr txBox="1"/>
          <p:nvPr/>
        </p:nvSpPr>
        <p:spPr>
          <a:xfrm>
            <a:off x="749808" y="3520440"/>
            <a:ext cx="2194560" cy="914400"/>
          </a:xfrm>
          <a:prstGeom prst="rect">
            <a:avLst/>
          </a:prstGeom>
          <a:noFill/>
          <a:ln/>
        </p:spPr>
        <p:txBody>
          <a:bodyPr wrap="square" lIns="0" tIns="0" rIns="0" bIns="0" rtlCol="0" anchor="t"/>
          <a:lstStyle/>
          <a:p>
            <a:pPr algn="ctr" indent="0" marL="0">
              <a:buNone/>
            </a:pPr>
            <a:r>
              <a:rPr lang="en-US" sz="1300" dirty="0">
                <a:solidFill>
                  <a:srgbClr val="1B1F24"/>
                </a:solidFill>
                <a:latin typeface="Calibri" pitchFamily="34" charset="0"/>
                <a:ea typeface="Calibri" pitchFamily="34" charset="-122"/>
                <a:cs typeface="Calibri" pitchFamily="34" charset="-120"/>
              </a:rPr>
              <a:t>Fruit, vegetables, legumes, eggs, fresh meat, milk, whole grains</a:t>
            </a:r>
            <a:endParaRPr lang="en-US" sz="1300" dirty="0"/>
          </a:p>
        </p:txBody>
      </p:sp>
      <p:sp>
        <p:nvSpPr>
          <p:cNvPr id="10" name="anim2_202"/>
          <p:cNvSpPr/>
          <p:nvPr/>
        </p:nvSpPr>
        <p:spPr>
          <a:xfrm>
            <a:off x="3364992" y="1325880"/>
            <a:ext cx="2606040" cy="3246120"/>
          </a:xfrm>
          <a:prstGeom prst="roundRect">
            <a:avLst>
              <a:gd name="adj" fmla="val 2807"/>
            </a:avLst>
          </a:prstGeom>
          <a:solidFill>
            <a:srgbClr val="E6F1F3"/>
          </a:solidFill>
          <a:ln w="9525">
            <a:solidFill>
              <a:srgbClr val="2A7A8C"/>
            </a:solidFill>
            <a:prstDash val="solid"/>
          </a:ln>
          <a:effectLst>
            <a:outerShdw sx="100000" sy="100000" kx="0" ky="0" algn="bl" rotWithShape="0" blurRad="114300" dist="31750" dir="5400000">
              <a:srgbClr val="1B1F24">
                <a:alpha val="14000"/>
              </a:srgbClr>
            </a:outerShdw>
          </a:effectLst>
        </p:spPr>
      </p:sp>
      <p:sp>
        <p:nvSpPr>
          <p:cNvPr id="11" name="anim2_203"/>
          <p:cNvSpPr/>
          <p:nvPr/>
        </p:nvSpPr>
        <p:spPr>
          <a:xfrm>
            <a:off x="4279392" y="1554480"/>
            <a:ext cx="777240" cy="777240"/>
          </a:xfrm>
          <a:prstGeom prst="ellipse">
            <a:avLst/>
          </a:prstGeom>
          <a:solidFill>
            <a:srgbClr val="2A7A8C"/>
          </a:solidFill>
          <a:ln w="6350">
            <a:solidFill>
              <a:srgbClr val="2A7A8C"/>
            </a:solidFill>
            <a:prstDash val="solid"/>
          </a:ln>
        </p:spPr>
      </p:sp>
      <p:pic>
        <p:nvPicPr>
          <p:cNvPr id="12" name="anim2_204" descr="oil icon">    </p:cNvPr>
          <p:cNvPicPr>
            <a:picLocks noChangeAspect="1"/>
          </p:cNvPicPr>
          <p:nvPr/>
        </p:nvPicPr>
        <p:blipFill>
          <a:blip r:embed="rId2"/>
          <a:stretch>
            <a:fillRect/>
          </a:stretch>
        </p:blipFill>
        <p:spPr>
          <a:xfrm>
            <a:off x="4489247" y="1764335"/>
            <a:ext cx="357530" cy="357530"/>
          </a:xfrm>
          <a:prstGeom prst="rect">
            <a:avLst/>
          </a:prstGeom>
        </p:spPr>
      </p:pic>
      <p:sp>
        <p:nvSpPr>
          <p:cNvPr id="13" name="anim2_205"/>
          <p:cNvSpPr txBox="1"/>
          <p:nvPr/>
        </p:nvSpPr>
        <p:spPr>
          <a:xfrm>
            <a:off x="3547872" y="2450592"/>
            <a:ext cx="2240280" cy="274320"/>
          </a:xfrm>
          <a:prstGeom prst="rect">
            <a:avLst/>
          </a:prstGeom>
          <a:noFill/>
          <a:ln/>
        </p:spPr>
        <p:txBody>
          <a:bodyPr wrap="square" lIns="0" tIns="0" rIns="0" bIns="0" rtlCol="0" anchor="t"/>
          <a:lstStyle/>
          <a:p>
            <a:pPr algn="ctr" indent="0" marL="0">
              <a:buNone/>
            </a:pPr>
            <a:r>
              <a:rPr lang="en-US" sz="1200" b="1" spc="150" kern="0" dirty="0">
                <a:solidFill>
                  <a:srgbClr val="2A7A8C"/>
                </a:solidFill>
                <a:latin typeface="Calibri" pitchFamily="34" charset="0"/>
                <a:ea typeface="Calibri" pitchFamily="34" charset="-122"/>
                <a:cs typeface="Calibri" pitchFamily="34" charset="-120"/>
              </a:rPr>
              <a:t>GROUP 2</a:t>
            </a:r>
            <a:endParaRPr lang="en-US" sz="1200" dirty="0"/>
          </a:p>
        </p:txBody>
      </p:sp>
      <p:sp>
        <p:nvSpPr>
          <p:cNvPr id="14" name="anim2_206"/>
          <p:cNvSpPr txBox="1"/>
          <p:nvPr/>
        </p:nvSpPr>
        <p:spPr>
          <a:xfrm>
            <a:off x="3547872" y="2743200"/>
            <a:ext cx="2240280" cy="685800"/>
          </a:xfrm>
          <a:prstGeom prst="rect">
            <a:avLst/>
          </a:prstGeom>
          <a:noFill/>
          <a:ln/>
        </p:spPr>
        <p:txBody>
          <a:bodyPr wrap="square" lIns="0" tIns="0" rIns="0" bIns="0" rtlCol="0" anchor="ctr"/>
          <a:lstStyle/>
          <a:p>
            <a:pPr algn="ctr" indent="0" marL="0">
              <a:buNone/>
            </a:pPr>
            <a:r>
              <a:rPr lang="en-US" sz="1700" b="1" dirty="0">
                <a:solidFill>
                  <a:srgbClr val="2A7A8C"/>
                </a:solidFill>
                <a:latin typeface="Cambria" pitchFamily="34" charset="0"/>
                <a:ea typeface="Cambria" pitchFamily="34" charset="-122"/>
                <a:cs typeface="Cambria" pitchFamily="34" charset="-120"/>
              </a:rPr>
              <a:t>Processed culinary ingredients</a:t>
            </a:r>
            <a:endParaRPr lang="en-US" sz="1700" dirty="0"/>
          </a:p>
        </p:txBody>
      </p:sp>
      <p:sp>
        <p:nvSpPr>
          <p:cNvPr id="15" name="anim2_207"/>
          <p:cNvSpPr txBox="1"/>
          <p:nvPr/>
        </p:nvSpPr>
        <p:spPr>
          <a:xfrm>
            <a:off x="3566160" y="3520440"/>
            <a:ext cx="2194560" cy="914400"/>
          </a:xfrm>
          <a:prstGeom prst="rect">
            <a:avLst/>
          </a:prstGeom>
          <a:noFill/>
          <a:ln/>
        </p:spPr>
        <p:txBody>
          <a:bodyPr wrap="square" lIns="0" tIns="0" rIns="0" bIns="0" rtlCol="0" anchor="t"/>
          <a:lstStyle/>
          <a:p>
            <a:pPr algn="ctr" indent="0" marL="0">
              <a:buNone/>
            </a:pPr>
            <a:r>
              <a:rPr lang="en-US" sz="1300" dirty="0">
                <a:solidFill>
                  <a:srgbClr val="1B1F24"/>
                </a:solidFill>
                <a:latin typeface="Calibri" pitchFamily="34" charset="0"/>
                <a:ea typeface="Calibri" pitchFamily="34" charset="-122"/>
                <a:cs typeface="Calibri" pitchFamily="34" charset="-120"/>
              </a:rPr>
              <a:t>Oils, butter, salt, sugar, starch</a:t>
            </a:r>
            <a:endParaRPr lang="en-US" sz="1300" dirty="0"/>
          </a:p>
        </p:txBody>
      </p:sp>
      <p:sp>
        <p:nvSpPr>
          <p:cNvPr id="16" name="anim3_208"/>
          <p:cNvSpPr/>
          <p:nvPr/>
        </p:nvSpPr>
        <p:spPr>
          <a:xfrm>
            <a:off x="6181344" y="1325880"/>
            <a:ext cx="2606040" cy="3246120"/>
          </a:xfrm>
          <a:prstGeom prst="roundRect">
            <a:avLst>
              <a:gd name="adj" fmla="val 2807"/>
            </a:avLst>
          </a:prstGeom>
          <a:solidFill>
            <a:srgbClr val="FBF0DD"/>
          </a:solidFill>
          <a:ln w="9525">
            <a:solidFill>
              <a:srgbClr val="D88A1F"/>
            </a:solidFill>
            <a:prstDash val="solid"/>
          </a:ln>
          <a:effectLst>
            <a:outerShdw sx="100000" sy="100000" kx="0" ky="0" algn="bl" rotWithShape="0" blurRad="114300" dist="31750" dir="5400000">
              <a:srgbClr val="1B1F24">
                <a:alpha val="14000"/>
              </a:srgbClr>
            </a:outerShdw>
          </a:effectLst>
        </p:spPr>
      </p:sp>
      <p:sp>
        <p:nvSpPr>
          <p:cNvPr id="17" name="anim3_209"/>
          <p:cNvSpPr/>
          <p:nvPr/>
        </p:nvSpPr>
        <p:spPr>
          <a:xfrm>
            <a:off x="7095744" y="1554480"/>
            <a:ext cx="777240" cy="777240"/>
          </a:xfrm>
          <a:prstGeom prst="ellipse">
            <a:avLst/>
          </a:prstGeom>
          <a:solidFill>
            <a:srgbClr val="D88A1F"/>
          </a:solidFill>
          <a:ln w="6350">
            <a:solidFill>
              <a:srgbClr val="D88A1F"/>
            </a:solidFill>
            <a:prstDash val="solid"/>
          </a:ln>
        </p:spPr>
      </p:sp>
      <p:pic>
        <p:nvPicPr>
          <p:cNvPr id="18" name="anim3_210" descr="cheese icon">    </p:cNvPr>
          <p:cNvPicPr>
            <a:picLocks noChangeAspect="1"/>
          </p:cNvPicPr>
          <p:nvPr/>
        </p:nvPicPr>
        <p:blipFill>
          <a:blip r:embed="rId3"/>
          <a:stretch>
            <a:fillRect/>
          </a:stretch>
        </p:blipFill>
        <p:spPr>
          <a:xfrm>
            <a:off x="7305599" y="1764335"/>
            <a:ext cx="357530" cy="357530"/>
          </a:xfrm>
          <a:prstGeom prst="rect">
            <a:avLst/>
          </a:prstGeom>
        </p:spPr>
      </p:pic>
      <p:sp>
        <p:nvSpPr>
          <p:cNvPr id="19" name="anim3_211"/>
          <p:cNvSpPr txBox="1"/>
          <p:nvPr/>
        </p:nvSpPr>
        <p:spPr>
          <a:xfrm>
            <a:off x="6364224" y="2450592"/>
            <a:ext cx="2240280" cy="274320"/>
          </a:xfrm>
          <a:prstGeom prst="rect">
            <a:avLst/>
          </a:prstGeom>
          <a:noFill/>
          <a:ln/>
        </p:spPr>
        <p:txBody>
          <a:bodyPr wrap="square" lIns="0" tIns="0" rIns="0" bIns="0" rtlCol="0" anchor="t"/>
          <a:lstStyle/>
          <a:p>
            <a:pPr algn="ctr" indent="0" marL="0">
              <a:buNone/>
            </a:pPr>
            <a:r>
              <a:rPr lang="en-US" sz="1200" b="1" spc="150" kern="0" dirty="0">
                <a:solidFill>
                  <a:srgbClr val="D88A1F"/>
                </a:solidFill>
                <a:latin typeface="Calibri" pitchFamily="34" charset="0"/>
                <a:ea typeface="Calibri" pitchFamily="34" charset="-122"/>
                <a:cs typeface="Calibri" pitchFamily="34" charset="-120"/>
              </a:rPr>
              <a:t>GROUP 3</a:t>
            </a:r>
            <a:endParaRPr lang="en-US" sz="1200" dirty="0"/>
          </a:p>
        </p:txBody>
      </p:sp>
      <p:sp>
        <p:nvSpPr>
          <p:cNvPr id="20" name="anim3_212"/>
          <p:cNvSpPr txBox="1"/>
          <p:nvPr/>
        </p:nvSpPr>
        <p:spPr>
          <a:xfrm>
            <a:off x="6364224" y="2743200"/>
            <a:ext cx="2240280" cy="685800"/>
          </a:xfrm>
          <a:prstGeom prst="rect">
            <a:avLst/>
          </a:prstGeom>
          <a:noFill/>
          <a:ln/>
        </p:spPr>
        <p:txBody>
          <a:bodyPr wrap="square" lIns="0" tIns="0" rIns="0" bIns="0" rtlCol="0" anchor="ctr"/>
          <a:lstStyle/>
          <a:p>
            <a:pPr algn="ctr" indent="0" marL="0">
              <a:buNone/>
            </a:pPr>
            <a:r>
              <a:rPr lang="en-US" sz="1700" b="1" dirty="0">
                <a:solidFill>
                  <a:srgbClr val="D88A1F"/>
                </a:solidFill>
                <a:latin typeface="Cambria" pitchFamily="34" charset="0"/>
                <a:ea typeface="Cambria" pitchFamily="34" charset="-122"/>
                <a:cs typeface="Cambria" pitchFamily="34" charset="-120"/>
              </a:rPr>
              <a:t>Processed foods</a:t>
            </a:r>
            <a:endParaRPr lang="en-US" sz="1700" dirty="0"/>
          </a:p>
        </p:txBody>
      </p:sp>
      <p:sp>
        <p:nvSpPr>
          <p:cNvPr id="21" name="anim3_213"/>
          <p:cNvSpPr txBox="1"/>
          <p:nvPr/>
        </p:nvSpPr>
        <p:spPr>
          <a:xfrm>
            <a:off x="6382512" y="3520440"/>
            <a:ext cx="2194560" cy="914400"/>
          </a:xfrm>
          <a:prstGeom prst="rect">
            <a:avLst/>
          </a:prstGeom>
          <a:noFill/>
          <a:ln/>
        </p:spPr>
        <p:txBody>
          <a:bodyPr wrap="square" lIns="0" tIns="0" rIns="0" bIns="0" rtlCol="0" anchor="t"/>
          <a:lstStyle/>
          <a:p>
            <a:pPr algn="ctr" indent="0" marL="0">
              <a:buNone/>
            </a:pPr>
            <a:r>
              <a:rPr lang="en-US" sz="1300" dirty="0">
                <a:solidFill>
                  <a:srgbClr val="1B1F24"/>
                </a:solidFill>
                <a:latin typeface="Calibri" pitchFamily="34" charset="0"/>
                <a:ea typeface="Calibri" pitchFamily="34" charset="-122"/>
                <a:cs typeface="Calibri" pitchFamily="34" charset="-120"/>
              </a:rPr>
              <a:t>Fresh bread, cheese, canned vegetables, smoked fish, pickles</a:t>
            </a:r>
            <a:endParaRPr lang="en-US" sz="1300" dirty="0"/>
          </a:p>
        </p:txBody>
      </p:sp>
      <p:sp>
        <p:nvSpPr>
          <p:cNvPr id="22" name="anim4_214"/>
          <p:cNvSpPr/>
          <p:nvPr/>
        </p:nvSpPr>
        <p:spPr>
          <a:xfrm>
            <a:off x="8997696" y="1325880"/>
            <a:ext cx="2606040" cy="3246120"/>
          </a:xfrm>
          <a:prstGeom prst="roundRect">
            <a:avLst>
              <a:gd name="adj" fmla="val 2807"/>
            </a:avLst>
          </a:prstGeom>
          <a:solidFill>
            <a:srgbClr val="F8E9E9"/>
          </a:solidFill>
          <a:ln w="9525">
            <a:solidFill>
              <a:srgbClr val="B3393C"/>
            </a:solidFill>
            <a:prstDash val="solid"/>
          </a:ln>
          <a:effectLst>
            <a:outerShdw sx="100000" sy="100000" kx="0" ky="0" algn="bl" rotWithShape="0" blurRad="114300" dist="31750" dir="5400000">
              <a:srgbClr val="1B1F24">
                <a:alpha val="14000"/>
              </a:srgbClr>
            </a:outerShdw>
          </a:effectLst>
        </p:spPr>
      </p:sp>
      <p:sp>
        <p:nvSpPr>
          <p:cNvPr id="23" name="anim4_215"/>
          <p:cNvSpPr/>
          <p:nvPr/>
        </p:nvSpPr>
        <p:spPr>
          <a:xfrm>
            <a:off x="9912096" y="1554480"/>
            <a:ext cx="777240" cy="777240"/>
          </a:xfrm>
          <a:prstGeom prst="ellipse">
            <a:avLst/>
          </a:prstGeom>
          <a:solidFill>
            <a:srgbClr val="B3393C"/>
          </a:solidFill>
          <a:ln w="6350">
            <a:solidFill>
              <a:srgbClr val="B3393C"/>
            </a:solidFill>
            <a:prstDash val="solid"/>
          </a:ln>
        </p:spPr>
      </p:sp>
      <p:pic>
        <p:nvPicPr>
          <p:cNvPr id="24" name="anim4_216" descr="burger icon">    </p:cNvPr>
          <p:cNvPicPr>
            <a:picLocks noChangeAspect="1"/>
          </p:cNvPicPr>
          <p:nvPr/>
        </p:nvPicPr>
        <p:blipFill>
          <a:blip r:embed="rId4"/>
          <a:stretch>
            <a:fillRect/>
          </a:stretch>
        </p:blipFill>
        <p:spPr>
          <a:xfrm>
            <a:off x="10121951" y="1764335"/>
            <a:ext cx="357530" cy="357530"/>
          </a:xfrm>
          <a:prstGeom prst="rect">
            <a:avLst/>
          </a:prstGeom>
        </p:spPr>
      </p:pic>
      <p:sp>
        <p:nvSpPr>
          <p:cNvPr id="25" name="anim4_217"/>
          <p:cNvSpPr txBox="1"/>
          <p:nvPr/>
        </p:nvSpPr>
        <p:spPr>
          <a:xfrm>
            <a:off x="9180576" y="2450592"/>
            <a:ext cx="2240280" cy="274320"/>
          </a:xfrm>
          <a:prstGeom prst="rect">
            <a:avLst/>
          </a:prstGeom>
          <a:noFill/>
          <a:ln/>
        </p:spPr>
        <p:txBody>
          <a:bodyPr wrap="square" lIns="0" tIns="0" rIns="0" bIns="0" rtlCol="0" anchor="t"/>
          <a:lstStyle/>
          <a:p>
            <a:pPr algn="ctr" indent="0" marL="0">
              <a:buNone/>
            </a:pPr>
            <a:r>
              <a:rPr lang="en-US" sz="1200" b="1" spc="150" kern="0" dirty="0">
                <a:solidFill>
                  <a:srgbClr val="B3393C"/>
                </a:solidFill>
                <a:latin typeface="Calibri" pitchFamily="34" charset="0"/>
                <a:ea typeface="Calibri" pitchFamily="34" charset="-122"/>
                <a:cs typeface="Calibri" pitchFamily="34" charset="-120"/>
              </a:rPr>
              <a:t>GROUP 4</a:t>
            </a:r>
            <a:endParaRPr lang="en-US" sz="1200" dirty="0"/>
          </a:p>
        </p:txBody>
      </p:sp>
      <p:sp>
        <p:nvSpPr>
          <p:cNvPr id="26" name="anim4_218"/>
          <p:cNvSpPr txBox="1"/>
          <p:nvPr/>
        </p:nvSpPr>
        <p:spPr>
          <a:xfrm>
            <a:off x="9180576" y="2743200"/>
            <a:ext cx="2240280" cy="685800"/>
          </a:xfrm>
          <a:prstGeom prst="rect">
            <a:avLst/>
          </a:prstGeom>
          <a:noFill/>
          <a:ln/>
        </p:spPr>
        <p:txBody>
          <a:bodyPr wrap="square" lIns="0" tIns="0" rIns="0" bIns="0" rtlCol="0" anchor="ctr"/>
          <a:lstStyle/>
          <a:p>
            <a:pPr algn="ctr" indent="0" marL="0">
              <a:buNone/>
            </a:pPr>
            <a:r>
              <a:rPr lang="en-US" sz="1700" b="1" dirty="0">
                <a:solidFill>
                  <a:srgbClr val="B3393C"/>
                </a:solidFill>
                <a:latin typeface="Cambria" pitchFamily="34" charset="0"/>
                <a:ea typeface="Cambria" pitchFamily="34" charset="-122"/>
                <a:cs typeface="Cambria" pitchFamily="34" charset="-120"/>
              </a:rPr>
              <a:t>Ultra-processed foods (UPF)</a:t>
            </a:r>
            <a:endParaRPr lang="en-US" sz="1700" dirty="0"/>
          </a:p>
        </p:txBody>
      </p:sp>
      <p:sp>
        <p:nvSpPr>
          <p:cNvPr id="27" name="anim4_219"/>
          <p:cNvSpPr txBox="1"/>
          <p:nvPr/>
        </p:nvSpPr>
        <p:spPr>
          <a:xfrm>
            <a:off x="9198864" y="3520440"/>
            <a:ext cx="2194560" cy="914400"/>
          </a:xfrm>
          <a:prstGeom prst="rect">
            <a:avLst/>
          </a:prstGeom>
          <a:noFill/>
          <a:ln/>
        </p:spPr>
        <p:txBody>
          <a:bodyPr wrap="square" lIns="0" tIns="0" rIns="0" bIns="0" rtlCol="0" anchor="t"/>
          <a:lstStyle/>
          <a:p>
            <a:pPr algn="ctr" indent="0" marL="0">
              <a:buNone/>
            </a:pPr>
            <a:r>
              <a:rPr lang="en-US" sz="1300" dirty="0">
                <a:solidFill>
                  <a:srgbClr val="1B1F24"/>
                </a:solidFill>
                <a:latin typeface="Calibri" pitchFamily="34" charset="0"/>
                <a:ea typeface="Calibri" pitchFamily="34" charset="-122"/>
                <a:cs typeface="Calibri" pitchFamily="34" charset="-120"/>
              </a:rPr>
              <a:t>Soft drinks, packaged snacks, confectionery, sausages, ready meals</a:t>
            </a:r>
            <a:endParaRPr lang="en-US" sz="1300" dirty="0"/>
          </a:p>
        </p:txBody>
      </p:sp>
      <p:sp>
        <p:nvSpPr>
          <p:cNvPr id="28" name="anim5_220"/>
          <p:cNvSpPr/>
          <p:nvPr/>
        </p:nvSpPr>
        <p:spPr>
          <a:xfrm>
            <a:off x="548640" y="4727448"/>
            <a:ext cx="11064240" cy="457200"/>
          </a:xfrm>
          <a:prstGeom prst="rightArrow">
            <a:avLst/>
          </a:prstGeom>
          <a:solidFill>
            <a:srgbClr val="DCE3EA"/>
          </a:solidFill>
          <a:ln>
            <a:solidFill>
              <a:srgbClr val="DCE3EA"/>
            </a:solidFill>
          </a:ln>
        </p:spPr>
        <p:txBody>
          <a:bodyPr wrap="square" lIns="0" tIns="0" rIns="0" bIns="0" rtlCol="0" anchor="ctr"/>
          <a:lstStyle/>
          <a:p>
            <a:pPr algn="ctr" indent="0" marL="0">
              <a:buNone/>
            </a:pPr>
            <a:r>
              <a:rPr lang="en-US" sz="1400" b="1" dirty="0">
                <a:solidFill>
                  <a:srgbClr val="1F3A5F"/>
                </a:solidFill>
              </a:rPr>
              <a:t>Increasing extent and purpose of industrial processing</a:t>
            </a:r>
            <a:endParaRPr lang="en-US" sz="1400" dirty="0"/>
          </a:p>
        </p:txBody>
      </p:sp>
      <p:sp>
        <p:nvSpPr>
          <p:cNvPr id="29" name="anim6_221"/>
          <p:cNvSpPr/>
          <p:nvPr/>
        </p:nvSpPr>
        <p:spPr>
          <a:xfrm>
            <a:off x="548640" y="5349240"/>
            <a:ext cx="502920" cy="502920"/>
          </a:xfrm>
          <a:prstGeom prst="ellipse">
            <a:avLst/>
          </a:prstGeom>
          <a:solidFill>
            <a:srgbClr val="B3393C"/>
          </a:solidFill>
          <a:ln w="6350">
            <a:solidFill>
              <a:srgbClr val="B3393C"/>
            </a:solidFill>
            <a:prstDash val="solid"/>
          </a:ln>
        </p:spPr>
      </p:sp>
      <p:pic>
        <p:nvPicPr>
          <p:cNvPr id="30" name="anim6_222" descr="search icon">    </p:cNvPr>
          <p:cNvPicPr>
            <a:picLocks noChangeAspect="1"/>
          </p:cNvPicPr>
          <p:nvPr/>
        </p:nvPicPr>
        <p:blipFill>
          <a:blip r:embed="rId5"/>
          <a:stretch>
            <a:fillRect/>
          </a:stretch>
        </p:blipFill>
        <p:spPr>
          <a:xfrm>
            <a:off x="684428" y="5485028"/>
            <a:ext cx="231343" cy="231343"/>
          </a:xfrm>
          <a:prstGeom prst="rect">
            <a:avLst/>
          </a:prstGeom>
        </p:spPr>
      </p:pic>
      <p:sp>
        <p:nvSpPr>
          <p:cNvPr id="31" name="anim6_223"/>
          <p:cNvSpPr txBox="1"/>
          <p:nvPr/>
        </p:nvSpPr>
        <p:spPr>
          <a:xfrm>
            <a:off x="1234440" y="5303520"/>
            <a:ext cx="10378440" cy="621792"/>
          </a:xfrm>
          <a:prstGeom prst="rect">
            <a:avLst/>
          </a:prstGeom>
          <a:noFill/>
          <a:ln/>
        </p:spPr>
        <p:txBody>
          <a:bodyPr wrap="square" lIns="0" tIns="0" rIns="0" bIns="0" rtlCol="0" anchor="ctr"/>
          <a:lstStyle/>
          <a:p>
            <a:pPr indent="0" marL="0">
              <a:buNone/>
            </a:pPr>
            <a:r>
              <a:rPr lang="en-US" sz="1350" b="1" dirty="0">
                <a:solidFill>
                  <a:srgbClr val="B3393C"/>
                </a:solidFill>
                <a:latin typeface="Calibri" pitchFamily="34" charset="0"/>
                <a:ea typeface="Calibri" pitchFamily="34" charset="-122"/>
                <a:cs typeface="Calibri" pitchFamily="34" charset="-120"/>
              </a:rPr>
              <a:t>Spotting group 4: </a:t>
            </a:r>
            <a:r>
              <a:rPr lang="en-US" sz="1350" dirty="0">
                <a:solidFill>
                  <a:srgbClr val="1B1F24"/>
                </a:solidFill>
                <a:latin typeface="Calibri" pitchFamily="34" charset="0"/>
                <a:ea typeface="Calibri" pitchFamily="34" charset="-122"/>
                <a:cs typeface="Calibri" pitchFamily="34" charset="-120"/>
              </a:rPr>
              <a:t>an ingredient rarely used in home kitchens (high-fructose corn syrup, hydrogenated or interesterified oils, maltodextrin, protein isolates) or a cosmetic additive (flavors, colors, emulsifiers, sweeteners, thickeners).</a:t>
            </a:r>
            <a:endParaRPr lang="en-US" sz="1350" dirty="0"/>
          </a:p>
        </p:txBody>
      </p:sp>
      <p:sp>
        <p:nvSpPr>
          <p:cNvPr id="32" name="Text 24"/>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Monteiro et al. 2018; Monteiro et al. 2019.</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3" fill="hold">
                      <p:stCondLst>
                        <p:cond delay="indefinite"/>
                        <p:cond evt="onBegin" delay="0">
                          <p:tn val="2"/>
                        </p:cond>
                      </p:stCondLst>
                      <p:childTnLst>
                        <p:par>
                          <p:cTn id="21"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childTnLst>
                          </p:cTn>
                        </p:par>
                        <p:par>
                          <p:cTn id="40" fill="hold">
                            <p:stCondLst>
                              <p:cond delay="380"/>
                            </p:stCondLst>
                            <p:childTnLst>
                              <p:par>
                                <p:cTn id="22" presetID="10"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par>
                          <p:cTn id="59" fill="hold">
                            <p:stCondLst>
                              <p:cond delay="380"/>
                            </p:stCondLst>
                            <p:childTnLst>
                              <p:par>
                                <p:cTn id="41" presetID="10" presetClass="entr" presetSubtype="0"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childTnLst>
                          </p:cTn>
                        </p:par>
                        <p:par>
                          <p:cTn id="78" fill="hold">
                            <p:stCondLst>
                              <p:cond delay="380"/>
                            </p:stCondLst>
                            <p:childTnLst>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childTnLst>
                          </p:cTn>
                        </p:par>
                        <p:par>
                          <p:cTn id="82" fill="hold">
                            <p:stCondLst>
                              <p:cond delay="380"/>
                            </p:stCondLst>
                            <p:childTnLst>
                              <p:par>
                                <p:cTn id="79" presetID="10" presetClass="entr" presetSubtype="0" fill="hold" grpId="0" nodeType="after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childTnLst>
                          </p:cTn>
                        </p:par>
                        <p:par>
                          <p:cTn id="92" fill="hold">
                            <p:stCondLst>
                              <p:cond delay="380"/>
                            </p:stCondLst>
                            <p:childTnLst>
                              <p:par>
                                <p:cTn id="83" presetID="10" presetClass="entr" presetSubtype="0" fill="hold"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P spid="14" grpId="0" animBg="1"/>
      <p:bldP spid="15" grpId="0" animBg="1"/>
      <p:bldP spid="19" grpId="0" animBg="1"/>
      <p:bldP spid="20" grpId="0" animBg="1"/>
      <p:bldP spid="21" grpId="0" animBg="1"/>
      <p:bldP spid="25" grpId="0" animBg="1"/>
      <p:bldP spid="26" grpId="0" animBg="1"/>
      <p:bldP spid="27" grpId="0" animBg="1"/>
      <p:bldP spid="28"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makes UPF different?</a:t>
            </a:r>
            <a:endParaRPr lang="en-US" sz="3200" dirty="0"/>
          </a:p>
        </p:txBody>
      </p:sp>
      <p:sp>
        <p:nvSpPr>
          <p:cNvPr id="4" name="anim1_224"/>
          <p:cNvSpPr/>
          <p:nvPr/>
        </p:nvSpPr>
        <p:spPr>
          <a:xfrm>
            <a:off x="548640" y="1325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225"/>
          <p:cNvSpPr/>
          <p:nvPr/>
        </p:nvSpPr>
        <p:spPr>
          <a:xfrm>
            <a:off x="749808" y="1527048"/>
            <a:ext cx="621792" cy="621792"/>
          </a:xfrm>
          <a:prstGeom prst="ellipse">
            <a:avLst/>
          </a:prstGeom>
          <a:solidFill>
            <a:srgbClr val="B3393C"/>
          </a:solidFill>
          <a:ln w="6350">
            <a:solidFill>
              <a:srgbClr val="B3393C"/>
            </a:solidFill>
            <a:prstDash val="solid"/>
          </a:ln>
        </p:spPr>
      </p:sp>
      <p:pic>
        <p:nvPicPr>
          <p:cNvPr id="6" name="anim1_226" descr="bolt icon">    </p:cNvPr>
          <p:cNvPicPr>
            <a:picLocks noChangeAspect="1"/>
          </p:cNvPicPr>
          <p:nvPr/>
        </p:nvPicPr>
        <p:blipFill>
          <a:blip r:embed="rId1"/>
          <a:stretch>
            <a:fillRect/>
          </a:stretch>
        </p:blipFill>
        <p:spPr>
          <a:xfrm>
            <a:off x="917692" y="1694932"/>
            <a:ext cx="286024" cy="286024"/>
          </a:xfrm>
          <a:prstGeom prst="rect">
            <a:avLst/>
          </a:prstGeom>
        </p:spPr>
      </p:pic>
      <p:sp>
        <p:nvSpPr>
          <p:cNvPr id="7" name="anim1_227"/>
          <p:cNvSpPr txBox="1"/>
          <p:nvPr/>
        </p:nvSpPr>
        <p:spPr>
          <a:xfrm>
            <a:off x="749808" y="2194560"/>
            <a:ext cx="2286000" cy="548640"/>
          </a:xfrm>
          <a:prstGeom prst="rect">
            <a:avLst/>
          </a:prstGeom>
          <a:noFill/>
          <a:ln/>
        </p:spPr>
        <p:txBody>
          <a:bodyPr wrap="square" lIns="0" tIns="0" rIns="0" bIns="0" rtlCol="0" anchor="ctr"/>
          <a:lstStyle/>
          <a:p>
            <a:pPr indent="0" marL="0">
              <a:buNone/>
            </a:pPr>
            <a:r>
              <a:rPr lang="en-US" sz="1500" b="1" dirty="0">
                <a:solidFill>
                  <a:srgbClr val="B3393C"/>
                </a:solidFill>
                <a:latin typeface="Cambria" pitchFamily="34" charset="0"/>
                <a:ea typeface="Cambria" pitchFamily="34" charset="-122"/>
                <a:cs typeface="Cambria" pitchFamily="34" charset="-120"/>
              </a:rPr>
              <a:t>High energy density</a:t>
            </a:r>
            <a:endParaRPr lang="en-US" sz="1500" dirty="0"/>
          </a:p>
        </p:txBody>
      </p:sp>
      <p:sp>
        <p:nvSpPr>
          <p:cNvPr id="8" name="anim1_228"/>
          <p:cNvSpPr txBox="1"/>
          <p:nvPr/>
        </p:nvSpPr>
        <p:spPr>
          <a:xfrm>
            <a:off x="749808" y="2770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More energy per gram — higher intake, weaker satiety</a:t>
            </a:r>
            <a:endParaRPr lang="en-US" sz="1200" dirty="0"/>
          </a:p>
        </p:txBody>
      </p:sp>
      <p:sp>
        <p:nvSpPr>
          <p:cNvPr id="9" name="anim2_229"/>
          <p:cNvSpPr/>
          <p:nvPr/>
        </p:nvSpPr>
        <p:spPr>
          <a:xfrm>
            <a:off x="3355848" y="1325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0" name="anim2_230"/>
          <p:cNvSpPr/>
          <p:nvPr/>
        </p:nvSpPr>
        <p:spPr>
          <a:xfrm>
            <a:off x="3557016" y="1527048"/>
            <a:ext cx="621792" cy="621792"/>
          </a:xfrm>
          <a:prstGeom prst="ellipse">
            <a:avLst/>
          </a:prstGeom>
          <a:solidFill>
            <a:srgbClr val="2A7A8C"/>
          </a:solidFill>
          <a:ln w="6350">
            <a:solidFill>
              <a:srgbClr val="2A7A8C"/>
            </a:solidFill>
            <a:prstDash val="solid"/>
          </a:ln>
        </p:spPr>
      </p:sp>
      <p:pic>
        <p:nvPicPr>
          <p:cNvPr id="11" name="anim2_231" descr="cubes icon">    </p:cNvPr>
          <p:cNvPicPr>
            <a:picLocks noChangeAspect="1"/>
          </p:cNvPicPr>
          <p:nvPr/>
        </p:nvPicPr>
        <p:blipFill>
          <a:blip r:embed="rId2"/>
          <a:stretch>
            <a:fillRect/>
          </a:stretch>
        </p:blipFill>
        <p:spPr>
          <a:xfrm>
            <a:off x="3724900" y="1694932"/>
            <a:ext cx="286024" cy="286024"/>
          </a:xfrm>
          <a:prstGeom prst="rect">
            <a:avLst/>
          </a:prstGeom>
        </p:spPr>
      </p:pic>
      <p:sp>
        <p:nvSpPr>
          <p:cNvPr id="12" name="anim2_232"/>
          <p:cNvSpPr txBox="1"/>
          <p:nvPr/>
        </p:nvSpPr>
        <p:spPr>
          <a:xfrm>
            <a:off x="3557016" y="2194560"/>
            <a:ext cx="2286000" cy="548640"/>
          </a:xfrm>
          <a:prstGeom prst="rect">
            <a:avLst/>
          </a:prstGeom>
          <a:noFill/>
          <a:ln/>
        </p:spPr>
        <p:txBody>
          <a:bodyPr wrap="square" lIns="0" tIns="0" rIns="0" bIns="0" rtlCol="0" anchor="ctr"/>
          <a:lstStyle/>
          <a:p>
            <a:pPr indent="0" marL="0">
              <a:buNone/>
            </a:pPr>
            <a:r>
              <a:rPr lang="en-US" sz="1500" b="1" dirty="0">
                <a:solidFill>
                  <a:srgbClr val="2A7A8C"/>
                </a:solidFill>
                <a:latin typeface="Cambria" pitchFamily="34" charset="0"/>
                <a:ea typeface="Cambria" pitchFamily="34" charset="-122"/>
                <a:cs typeface="Cambria" pitchFamily="34" charset="-120"/>
              </a:rPr>
              <a:t>Disrupted food matrix</a:t>
            </a:r>
            <a:endParaRPr lang="en-US" sz="1500" dirty="0"/>
          </a:p>
        </p:txBody>
      </p:sp>
      <p:sp>
        <p:nvSpPr>
          <p:cNvPr id="13" name="anim2_233"/>
          <p:cNvSpPr txBox="1"/>
          <p:nvPr/>
        </p:nvSpPr>
        <p:spPr>
          <a:xfrm>
            <a:off x="3557016" y="2770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Texture and particle size change chewing, eating rate and nutrient availability</a:t>
            </a:r>
            <a:endParaRPr lang="en-US" sz="1200" dirty="0"/>
          </a:p>
        </p:txBody>
      </p:sp>
      <p:sp>
        <p:nvSpPr>
          <p:cNvPr id="14" name="anim3_234"/>
          <p:cNvSpPr/>
          <p:nvPr/>
        </p:nvSpPr>
        <p:spPr>
          <a:xfrm>
            <a:off x="6163056" y="1325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235"/>
          <p:cNvSpPr/>
          <p:nvPr/>
        </p:nvSpPr>
        <p:spPr>
          <a:xfrm>
            <a:off x="6364224" y="1527048"/>
            <a:ext cx="621792" cy="621792"/>
          </a:xfrm>
          <a:prstGeom prst="ellipse">
            <a:avLst/>
          </a:prstGeom>
          <a:solidFill>
            <a:srgbClr val="D88A1F"/>
          </a:solidFill>
          <a:ln w="6350">
            <a:solidFill>
              <a:srgbClr val="D88A1F"/>
            </a:solidFill>
            <a:prstDash val="solid"/>
          </a:ln>
        </p:spPr>
      </p:sp>
      <p:pic>
        <p:nvPicPr>
          <p:cNvPr id="16" name="anim3_236" descr="droplet icon">    </p:cNvPr>
          <p:cNvPicPr>
            <a:picLocks noChangeAspect="1"/>
          </p:cNvPicPr>
          <p:nvPr/>
        </p:nvPicPr>
        <p:blipFill>
          <a:blip r:embed="rId3"/>
          <a:stretch>
            <a:fillRect/>
          </a:stretch>
        </p:blipFill>
        <p:spPr>
          <a:xfrm>
            <a:off x="6532108" y="1694932"/>
            <a:ext cx="286024" cy="286024"/>
          </a:xfrm>
          <a:prstGeom prst="rect">
            <a:avLst/>
          </a:prstGeom>
        </p:spPr>
      </p:pic>
      <p:sp>
        <p:nvSpPr>
          <p:cNvPr id="17" name="anim3_237"/>
          <p:cNvSpPr txBox="1"/>
          <p:nvPr/>
        </p:nvSpPr>
        <p:spPr>
          <a:xfrm>
            <a:off x="6364224" y="2194560"/>
            <a:ext cx="2286000" cy="548640"/>
          </a:xfrm>
          <a:prstGeom prst="rect">
            <a:avLst/>
          </a:prstGeom>
          <a:noFill/>
          <a:ln/>
        </p:spPr>
        <p:txBody>
          <a:bodyPr wrap="square" lIns="0" tIns="0" rIns="0" bIns="0" rtlCol="0" anchor="ctr"/>
          <a:lstStyle/>
          <a:p>
            <a:pPr indent="0" marL="0">
              <a:buNone/>
            </a:pPr>
            <a:r>
              <a:rPr lang="en-US" sz="1500" b="1" dirty="0">
                <a:solidFill>
                  <a:srgbClr val="D88A1F"/>
                </a:solidFill>
                <a:latin typeface="Cambria" pitchFamily="34" charset="0"/>
                <a:ea typeface="Cambria" pitchFamily="34" charset="-122"/>
                <a:cs typeface="Cambria" pitchFamily="34" charset="-120"/>
              </a:rPr>
              <a:t>Fat + refined carbohydrate</a:t>
            </a:r>
            <a:endParaRPr lang="en-US" sz="1500" dirty="0"/>
          </a:p>
        </p:txBody>
      </p:sp>
      <p:sp>
        <p:nvSpPr>
          <p:cNvPr id="18" name="anim3_238"/>
          <p:cNvSpPr txBox="1"/>
          <p:nvPr/>
        </p:nvSpPr>
        <p:spPr>
          <a:xfrm>
            <a:off x="6364224" y="2770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Rare in whole foods; a supra-additive effect on reward</a:t>
            </a:r>
            <a:endParaRPr lang="en-US" sz="1200" dirty="0"/>
          </a:p>
        </p:txBody>
      </p:sp>
      <p:sp>
        <p:nvSpPr>
          <p:cNvPr id="19" name="anim4_239"/>
          <p:cNvSpPr/>
          <p:nvPr/>
        </p:nvSpPr>
        <p:spPr>
          <a:xfrm>
            <a:off x="8970264" y="1325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4_240"/>
          <p:cNvSpPr/>
          <p:nvPr/>
        </p:nvSpPr>
        <p:spPr>
          <a:xfrm>
            <a:off x="9171432" y="1527048"/>
            <a:ext cx="621792" cy="621792"/>
          </a:xfrm>
          <a:prstGeom prst="ellipse">
            <a:avLst/>
          </a:prstGeom>
          <a:solidFill>
            <a:srgbClr val="3B7D5A"/>
          </a:solidFill>
          <a:ln w="6350">
            <a:solidFill>
              <a:srgbClr val="3B7D5A"/>
            </a:solidFill>
            <a:prstDash val="solid"/>
          </a:ln>
        </p:spPr>
      </p:sp>
      <p:pic>
        <p:nvPicPr>
          <p:cNvPr id="21" name="anim4_241" descr="wheat icon">    </p:cNvPr>
          <p:cNvPicPr>
            <a:picLocks noChangeAspect="1"/>
          </p:cNvPicPr>
          <p:nvPr/>
        </p:nvPicPr>
        <p:blipFill>
          <a:blip r:embed="rId4"/>
          <a:stretch>
            <a:fillRect/>
          </a:stretch>
        </p:blipFill>
        <p:spPr>
          <a:xfrm>
            <a:off x="9339316" y="1694932"/>
            <a:ext cx="286024" cy="286024"/>
          </a:xfrm>
          <a:prstGeom prst="rect">
            <a:avLst/>
          </a:prstGeom>
        </p:spPr>
      </p:pic>
      <p:sp>
        <p:nvSpPr>
          <p:cNvPr id="22" name="anim4_242"/>
          <p:cNvSpPr txBox="1"/>
          <p:nvPr/>
        </p:nvSpPr>
        <p:spPr>
          <a:xfrm>
            <a:off x="9171432" y="2194560"/>
            <a:ext cx="2286000" cy="548640"/>
          </a:xfrm>
          <a:prstGeom prst="rect">
            <a:avLst/>
          </a:prstGeom>
          <a:noFill/>
          <a:ln/>
        </p:spPr>
        <p:txBody>
          <a:bodyPr wrap="square" lIns="0" tIns="0" rIns="0" bIns="0" rtlCol="0" anchor="ctr"/>
          <a:lstStyle/>
          <a:p>
            <a:pPr indent="0" marL="0">
              <a:buNone/>
            </a:pPr>
            <a:r>
              <a:rPr lang="en-US" sz="1500" b="1" dirty="0">
                <a:solidFill>
                  <a:srgbClr val="3B7D5A"/>
                </a:solidFill>
                <a:latin typeface="Cambria" pitchFamily="34" charset="0"/>
                <a:ea typeface="Cambria" pitchFamily="34" charset="-122"/>
                <a:cs typeface="Cambria" pitchFamily="34" charset="-120"/>
              </a:rPr>
              <a:t>High glycemic load, low fiber</a:t>
            </a:r>
            <a:endParaRPr lang="en-US" sz="1500" dirty="0"/>
          </a:p>
        </p:txBody>
      </p:sp>
      <p:sp>
        <p:nvSpPr>
          <p:cNvPr id="23" name="anim4_243"/>
          <p:cNvSpPr txBox="1"/>
          <p:nvPr/>
        </p:nvSpPr>
        <p:spPr>
          <a:xfrm>
            <a:off x="9171432" y="2770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Rapid absorption; linked to hunger, craving and addiction-like behavior</a:t>
            </a:r>
            <a:endParaRPr lang="en-US" sz="1200" dirty="0"/>
          </a:p>
        </p:txBody>
      </p:sp>
      <p:sp>
        <p:nvSpPr>
          <p:cNvPr id="24" name="anim5_244"/>
          <p:cNvSpPr/>
          <p:nvPr/>
        </p:nvSpPr>
        <p:spPr>
          <a:xfrm>
            <a:off x="548640" y="3611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5" name="anim5_245"/>
          <p:cNvSpPr/>
          <p:nvPr/>
        </p:nvSpPr>
        <p:spPr>
          <a:xfrm>
            <a:off x="749808" y="3813048"/>
            <a:ext cx="621792" cy="621792"/>
          </a:xfrm>
          <a:prstGeom prst="ellipse">
            <a:avLst/>
          </a:prstGeom>
          <a:solidFill>
            <a:srgbClr val="6A4C93"/>
          </a:solidFill>
          <a:ln w="6350">
            <a:solidFill>
              <a:srgbClr val="6A4C93"/>
            </a:solidFill>
            <a:prstDash val="solid"/>
          </a:ln>
        </p:spPr>
      </p:sp>
      <p:pic>
        <p:nvPicPr>
          <p:cNvPr id="26" name="anim5_246" descr="tooth icon">    </p:cNvPr>
          <p:cNvPicPr>
            <a:picLocks noChangeAspect="1"/>
          </p:cNvPicPr>
          <p:nvPr/>
        </p:nvPicPr>
        <p:blipFill>
          <a:blip r:embed="rId5"/>
          <a:stretch>
            <a:fillRect/>
          </a:stretch>
        </p:blipFill>
        <p:spPr>
          <a:xfrm>
            <a:off x="917692" y="3980932"/>
            <a:ext cx="286024" cy="286024"/>
          </a:xfrm>
          <a:prstGeom prst="rect">
            <a:avLst/>
          </a:prstGeom>
        </p:spPr>
      </p:pic>
      <p:sp>
        <p:nvSpPr>
          <p:cNvPr id="27" name="anim5_247"/>
          <p:cNvSpPr txBox="1"/>
          <p:nvPr/>
        </p:nvSpPr>
        <p:spPr>
          <a:xfrm>
            <a:off x="749808" y="4480560"/>
            <a:ext cx="2286000" cy="548640"/>
          </a:xfrm>
          <a:prstGeom prst="rect">
            <a:avLst/>
          </a:prstGeom>
          <a:noFill/>
          <a:ln/>
        </p:spPr>
        <p:txBody>
          <a:bodyPr wrap="square" lIns="0" tIns="0" rIns="0" bIns="0" rtlCol="0" anchor="ctr"/>
          <a:lstStyle/>
          <a:p>
            <a:pPr indent="0" marL="0">
              <a:buNone/>
            </a:pPr>
            <a:r>
              <a:rPr lang="en-US" sz="1500" b="1" dirty="0">
                <a:solidFill>
                  <a:srgbClr val="6A4C93"/>
                </a:solidFill>
                <a:latin typeface="Cambria" pitchFamily="34" charset="0"/>
                <a:ea typeface="Cambria" pitchFamily="34" charset="-122"/>
                <a:cs typeface="Cambria" pitchFamily="34" charset="-120"/>
              </a:rPr>
              <a:t>Soft texture, fast eating</a:t>
            </a:r>
            <a:endParaRPr lang="en-US" sz="1500" dirty="0"/>
          </a:p>
        </p:txBody>
      </p:sp>
      <p:sp>
        <p:nvSpPr>
          <p:cNvPr id="28" name="anim5_248"/>
          <p:cNvSpPr txBox="1"/>
          <p:nvPr/>
        </p:nvSpPr>
        <p:spPr>
          <a:xfrm>
            <a:off x="749808" y="5056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Less chewing → faster eating → more energy consumed</a:t>
            </a:r>
            <a:endParaRPr lang="en-US" sz="1200" dirty="0"/>
          </a:p>
        </p:txBody>
      </p:sp>
      <p:sp>
        <p:nvSpPr>
          <p:cNvPr id="29" name="anim6_249"/>
          <p:cNvSpPr/>
          <p:nvPr/>
        </p:nvSpPr>
        <p:spPr>
          <a:xfrm>
            <a:off x="3355848" y="3611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0" name="anim6_250"/>
          <p:cNvSpPr/>
          <p:nvPr/>
        </p:nvSpPr>
        <p:spPr>
          <a:xfrm>
            <a:off x="3557016" y="3813048"/>
            <a:ext cx="621792" cy="621792"/>
          </a:xfrm>
          <a:prstGeom prst="ellipse">
            <a:avLst/>
          </a:prstGeom>
          <a:solidFill>
            <a:srgbClr val="5B6B8C"/>
          </a:solidFill>
          <a:ln w="6350">
            <a:solidFill>
              <a:srgbClr val="5B6B8C"/>
            </a:solidFill>
            <a:prstDash val="solid"/>
          </a:ln>
        </p:spPr>
      </p:sp>
      <p:pic>
        <p:nvPicPr>
          <p:cNvPr id="31" name="anim6_251" descr="vial icon">    </p:cNvPr>
          <p:cNvPicPr>
            <a:picLocks noChangeAspect="1"/>
          </p:cNvPicPr>
          <p:nvPr/>
        </p:nvPicPr>
        <p:blipFill>
          <a:blip r:embed="rId6"/>
          <a:stretch>
            <a:fillRect/>
          </a:stretch>
        </p:blipFill>
        <p:spPr>
          <a:xfrm>
            <a:off x="3724900" y="3980932"/>
            <a:ext cx="286024" cy="286024"/>
          </a:xfrm>
          <a:prstGeom prst="rect">
            <a:avLst/>
          </a:prstGeom>
        </p:spPr>
      </p:pic>
      <p:sp>
        <p:nvSpPr>
          <p:cNvPr id="32" name="anim6_252"/>
          <p:cNvSpPr txBox="1"/>
          <p:nvPr/>
        </p:nvSpPr>
        <p:spPr>
          <a:xfrm>
            <a:off x="3557016" y="4480560"/>
            <a:ext cx="2286000" cy="548640"/>
          </a:xfrm>
          <a:prstGeom prst="rect">
            <a:avLst/>
          </a:prstGeom>
          <a:noFill/>
          <a:ln/>
        </p:spPr>
        <p:txBody>
          <a:bodyPr wrap="square" lIns="0" tIns="0" rIns="0" bIns="0" rtlCol="0" anchor="ctr"/>
          <a:lstStyle/>
          <a:p>
            <a:pPr indent="0" marL="0">
              <a:buNone/>
            </a:pPr>
            <a:r>
              <a:rPr lang="en-US" sz="1500" b="1" dirty="0">
                <a:solidFill>
                  <a:srgbClr val="5B6B8C"/>
                </a:solidFill>
                <a:latin typeface="Cambria" pitchFamily="34" charset="0"/>
                <a:ea typeface="Cambria" pitchFamily="34" charset="-122"/>
                <a:cs typeface="Cambria" pitchFamily="34" charset="-120"/>
              </a:rPr>
              <a:t>Sensory and technological additives</a:t>
            </a:r>
            <a:endParaRPr lang="en-US" sz="1500" dirty="0"/>
          </a:p>
        </p:txBody>
      </p:sp>
      <p:sp>
        <p:nvSpPr>
          <p:cNvPr id="33" name="anim6_253"/>
          <p:cNvSpPr txBox="1"/>
          <p:nvPr/>
        </p:nvSpPr>
        <p:spPr>
          <a:xfrm>
            <a:off x="3557016" y="5056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Flavor enhancers serve appeal; others serve texture or shelf life</a:t>
            </a:r>
            <a:endParaRPr lang="en-US" sz="1200" dirty="0"/>
          </a:p>
        </p:txBody>
      </p:sp>
      <p:sp>
        <p:nvSpPr>
          <p:cNvPr id="34" name="anim7_254"/>
          <p:cNvSpPr/>
          <p:nvPr/>
        </p:nvSpPr>
        <p:spPr>
          <a:xfrm>
            <a:off x="6163056" y="3611880"/>
            <a:ext cx="2651760" cy="2103120"/>
          </a:xfrm>
          <a:prstGeom prst="roundRect">
            <a:avLst>
              <a:gd name="adj" fmla="val 347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5" name="anim7_255"/>
          <p:cNvSpPr/>
          <p:nvPr/>
        </p:nvSpPr>
        <p:spPr>
          <a:xfrm>
            <a:off x="6364224" y="3813048"/>
            <a:ext cx="621792" cy="621792"/>
          </a:xfrm>
          <a:prstGeom prst="ellipse">
            <a:avLst/>
          </a:prstGeom>
          <a:solidFill>
            <a:srgbClr val="1F3A5F"/>
          </a:solidFill>
          <a:ln w="6350">
            <a:solidFill>
              <a:srgbClr val="1F3A5F"/>
            </a:solidFill>
            <a:prstDash val="solid"/>
          </a:ln>
        </p:spPr>
      </p:sp>
      <p:pic>
        <p:nvPicPr>
          <p:cNvPr id="36" name="anim7_256" descr="list icon">    </p:cNvPr>
          <p:cNvPicPr>
            <a:picLocks noChangeAspect="1"/>
          </p:cNvPicPr>
          <p:nvPr/>
        </p:nvPicPr>
        <p:blipFill>
          <a:blip r:embed="rId7"/>
          <a:stretch>
            <a:fillRect/>
          </a:stretch>
        </p:blipFill>
        <p:spPr>
          <a:xfrm>
            <a:off x="6532108" y="3980932"/>
            <a:ext cx="286024" cy="286024"/>
          </a:xfrm>
          <a:prstGeom prst="rect">
            <a:avLst/>
          </a:prstGeom>
        </p:spPr>
      </p:pic>
      <p:sp>
        <p:nvSpPr>
          <p:cNvPr id="37" name="anim7_257"/>
          <p:cNvSpPr txBox="1"/>
          <p:nvPr/>
        </p:nvSpPr>
        <p:spPr>
          <a:xfrm>
            <a:off x="6364224" y="4480560"/>
            <a:ext cx="2286000" cy="548640"/>
          </a:xfrm>
          <a:prstGeom prst="rect">
            <a:avLst/>
          </a:prstGeom>
          <a:noFill/>
          <a:ln/>
        </p:spPr>
        <p:txBody>
          <a:bodyPr wrap="square" lIns="0" tIns="0" rIns="0" bIns="0" rtlCol="0" anchor="ctr"/>
          <a:lstStyle/>
          <a:p>
            <a:pPr indent="0" marL="0">
              <a:buNone/>
            </a:pPr>
            <a:r>
              <a:rPr lang="en-US" sz="1500" b="1" dirty="0">
                <a:solidFill>
                  <a:srgbClr val="1F3A5F"/>
                </a:solidFill>
                <a:latin typeface="Cambria" pitchFamily="34" charset="0"/>
                <a:ea typeface="Cambria" pitchFamily="34" charset="-122"/>
                <a:cs typeface="Cambria" pitchFamily="34" charset="-120"/>
              </a:rPr>
              <a:t>Less favorable nutrient profile</a:t>
            </a:r>
            <a:endParaRPr lang="en-US" sz="1500" dirty="0"/>
          </a:p>
        </p:txBody>
      </p:sp>
      <p:sp>
        <p:nvSpPr>
          <p:cNvPr id="38" name="anim7_258"/>
          <p:cNvSpPr txBox="1"/>
          <p:nvPr/>
        </p:nvSpPr>
        <p:spPr>
          <a:xfrm>
            <a:off x="6364224" y="5056632"/>
            <a:ext cx="2286000" cy="62179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At diet level: more free sugars, saturated fat and sodium; less fiber</a:t>
            </a:r>
            <a:endParaRPr lang="en-US" sz="1200" dirty="0"/>
          </a:p>
        </p:txBody>
      </p:sp>
      <p:sp>
        <p:nvSpPr>
          <p:cNvPr id="39" name="anim8_259"/>
          <p:cNvSpPr/>
          <p:nvPr/>
        </p:nvSpPr>
        <p:spPr>
          <a:xfrm>
            <a:off x="8970264" y="3611880"/>
            <a:ext cx="2651760" cy="2103120"/>
          </a:xfrm>
          <a:prstGeom prst="roundRect">
            <a:avLst>
              <a:gd name="adj" fmla="val 3478"/>
            </a:avLst>
          </a:prstGeom>
          <a:solidFill>
            <a:srgbClr val="B3393C"/>
          </a:solidFill>
          <a:ln w="12700">
            <a:solidFill>
              <a:srgbClr val="B3393C"/>
            </a:solidFill>
            <a:prstDash val="solid"/>
          </a:ln>
          <a:effectLst>
            <a:outerShdw sx="100000" sy="100000" kx="0" ky="0" algn="bl" rotWithShape="0" blurRad="114300" dist="31750" dir="5400000">
              <a:srgbClr val="1B1F24">
                <a:alpha val="14000"/>
              </a:srgbClr>
            </a:outerShdw>
          </a:effectLst>
        </p:spPr>
      </p:sp>
      <p:sp>
        <p:nvSpPr>
          <p:cNvPr id="40" name="anim8_260"/>
          <p:cNvSpPr txBox="1"/>
          <p:nvPr/>
        </p:nvSpPr>
        <p:spPr>
          <a:xfrm>
            <a:off x="9098280" y="3749040"/>
            <a:ext cx="242316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9.9% → 15.4%</a:t>
            </a:r>
            <a:endParaRPr lang="en-US" sz="2800" dirty="0"/>
          </a:p>
        </p:txBody>
      </p:sp>
      <p:sp>
        <p:nvSpPr>
          <p:cNvPr id="41" name="anim8_261"/>
          <p:cNvSpPr txBox="1"/>
          <p:nvPr/>
        </p:nvSpPr>
        <p:spPr>
          <a:xfrm>
            <a:off x="9144000" y="4370832"/>
            <a:ext cx="2331720" cy="68580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energy from free sugars, lowest → highest UPF quintile (UK NDNS)</a:t>
            </a:r>
            <a:endParaRPr lang="en-US" sz="1250" dirty="0"/>
          </a:p>
        </p:txBody>
      </p:sp>
      <p:sp>
        <p:nvSpPr>
          <p:cNvPr id="42" name="anim8_262"/>
          <p:cNvSpPr txBox="1"/>
          <p:nvPr/>
        </p:nvSpPr>
        <p:spPr>
          <a:xfrm>
            <a:off x="9144000" y="5074920"/>
            <a:ext cx="2331720" cy="36576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Fiber: 8.4 → 6.9 g per 1000 kcal</a:t>
            </a:r>
            <a:endParaRPr lang="en-US" sz="1250" dirty="0"/>
          </a:p>
        </p:txBody>
      </p:sp>
      <p:sp>
        <p:nvSpPr>
          <p:cNvPr id="43" name="Text 3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Monteiro et al. 2019; Forde et al. 2020; Fardet 2024; Wang et al. 2026; Gearhardt and Schulte 2021; Robinson et al. 2014; Hall et al. 2019; Rauber et al. 2018.</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8"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par>
                          <p:cTn id="82" fill="hold">
                            <p:stCondLst>
                              <p:cond delay="380"/>
                            </p:stCondLst>
                            <p:childTnLst>
                              <p:par>
                                <p:cTn id="67" presetID="10" presetClass="entr" presetSubtype="0" fill="hold"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childTnLst>
                          </p:cTn>
                        </p:par>
                        <p:par>
                          <p:cTn id="98" fill="hold">
                            <p:stCondLst>
                              <p:cond delay="380"/>
                            </p:stCondLst>
                            <p:childTnLst>
                              <p:par>
                                <p:cTn id="83" presetID="10" presetClass="entr" presetSubtype="0" fill="hold"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par>
                                <p:cTn id="86" presetID="10"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50"/>
                                        <p:tgtEl>
                                          <p:spTgt spid="30"/>
                                        </p:tgtEl>
                                      </p:cBhvr>
                                    </p:animEffect>
                                  </p:childTnLst>
                                </p:cTn>
                              </p:par>
                              <p:par>
                                <p:cTn id="89" presetID="10"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450"/>
                                        <p:tgtEl>
                                          <p:spTgt spid="33"/>
                                        </p:tgtEl>
                                      </p:cBhvr>
                                    </p:animEffect>
                                  </p:childTnLst>
                                </p:cTn>
                              </p:par>
                            </p:childTnLst>
                          </p:cTn>
                        </p:par>
                        <p:par>
                          <p:cTn id="114" fill="hold">
                            <p:stCondLst>
                              <p:cond delay="380"/>
                            </p:stCondLst>
                            <p:childTnLst>
                              <p:par>
                                <p:cTn id="99" presetID="10" presetClass="entr" presetSubtype="0" fill="hold" nodeType="after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45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450"/>
                                        <p:tgtEl>
                                          <p:spTgt spid="35"/>
                                        </p:tgtEl>
                                      </p:cBhvr>
                                    </p:animEffect>
                                  </p:childTnLst>
                                </p:cTn>
                              </p:par>
                              <p:par>
                                <p:cTn id="105" presetID="10" presetClass="entr" presetSubtype="0" fill="hold"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45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45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450"/>
                                        <p:tgtEl>
                                          <p:spTgt spid="38"/>
                                        </p:tgtEl>
                                      </p:cBhvr>
                                    </p:animEffect>
                                  </p:childTnLst>
                                </p:cTn>
                              </p:par>
                            </p:childTnLst>
                          </p:cTn>
                        </p:par>
                        <p:par>
                          <p:cTn id="127" fill="hold">
                            <p:stCondLst>
                              <p:cond delay="380"/>
                            </p:stCondLst>
                            <p:childTnLst>
                              <p:par>
                                <p:cTn id="115" presetID="10" presetClass="entr" presetSubtype="0" fill="hold" nodeType="after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5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5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50"/>
                                        <p:tgtEl>
                                          <p:spTgt spid="4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P spid="27" grpId="0" animBg="1"/>
      <p:bldP spid="28" grpId="0" animBg="1"/>
      <p:bldP spid="32" grpId="0" animBg="1"/>
      <p:bldP spid="33" grpId="0" animBg="1"/>
      <p:bldP spid="37" grpId="0" animBg="1"/>
      <p:bldP spid="38" grpId="0" animBg="1"/>
      <p:bldP spid="40" grpId="0" animBg="1"/>
      <p:bldP spid="41"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NOVA under fire — and terms not to confuse</a:t>
            </a:r>
            <a:endParaRPr lang="en-US" sz="3200" dirty="0"/>
          </a:p>
        </p:txBody>
      </p:sp>
      <p:sp>
        <p:nvSpPr>
          <p:cNvPr id="4" name="Text 1"/>
          <p:cNvSpPr txBox="1"/>
          <p:nvPr/>
        </p:nvSpPr>
        <p:spPr>
          <a:xfrm>
            <a:off x="548640" y="1298448"/>
            <a:ext cx="5029200" cy="384048"/>
          </a:xfrm>
          <a:prstGeom prst="rect">
            <a:avLst/>
          </a:prstGeom>
          <a:noFill/>
          <a:ln/>
        </p:spPr>
        <p:txBody>
          <a:bodyPr wrap="square" lIns="0" tIns="0" rIns="0" bIns="0" rtlCol="0" anchor="t"/>
          <a:lstStyle/>
          <a:p>
            <a:pPr indent="0" marL="0">
              <a:buNone/>
            </a:pPr>
            <a:r>
              <a:rPr lang="en-US" sz="1900" b="1" dirty="0">
                <a:solidFill>
                  <a:srgbClr val="1F3A5F"/>
                </a:solidFill>
                <a:latin typeface="Cambria" pitchFamily="34" charset="0"/>
                <a:ea typeface="Cambria" pitchFamily="34" charset="-122"/>
                <a:cs typeface="Cambria" pitchFamily="34" charset="-120"/>
              </a:rPr>
              <a:t>Four critiques</a:t>
            </a:r>
            <a:endParaRPr lang="en-US" sz="1900" dirty="0"/>
          </a:p>
        </p:txBody>
      </p:sp>
      <p:sp>
        <p:nvSpPr>
          <p:cNvPr id="5" name="anim1_263"/>
          <p:cNvSpPr/>
          <p:nvPr/>
        </p:nvSpPr>
        <p:spPr>
          <a:xfrm>
            <a:off x="548640" y="1810512"/>
            <a:ext cx="566928" cy="566928"/>
          </a:xfrm>
          <a:prstGeom prst="ellipse">
            <a:avLst/>
          </a:prstGeom>
          <a:solidFill>
            <a:srgbClr val="5B6B8C"/>
          </a:solidFill>
          <a:ln w="6350">
            <a:solidFill>
              <a:srgbClr val="5B6B8C"/>
            </a:solidFill>
            <a:prstDash val="solid"/>
          </a:ln>
        </p:spPr>
      </p:sp>
      <p:pic>
        <p:nvPicPr>
          <p:cNvPr id="6" name="anim1_264" descr="question icon">    </p:cNvPr>
          <p:cNvPicPr>
            <a:picLocks noChangeAspect="1"/>
          </p:cNvPicPr>
          <p:nvPr/>
        </p:nvPicPr>
        <p:blipFill>
          <a:blip r:embed="rId1"/>
          <a:stretch>
            <a:fillRect/>
          </a:stretch>
        </p:blipFill>
        <p:spPr>
          <a:xfrm>
            <a:off x="701711" y="1963583"/>
            <a:ext cx="260787" cy="260787"/>
          </a:xfrm>
          <a:prstGeom prst="rect">
            <a:avLst/>
          </a:prstGeom>
        </p:spPr>
      </p:pic>
      <p:sp>
        <p:nvSpPr>
          <p:cNvPr id="7" name="anim1_265"/>
          <p:cNvSpPr txBox="1"/>
          <p:nvPr/>
        </p:nvSpPr>
        <p:spPr>
          <a:xfrm>
            <a:off x="1280160" y="1773936"/>
            <a:ext cx="4480560" cy="329184"/>
          </a:xfrm>
          <a:prstGeom prst="rect">
            <a:avLst/>
          </a:prstGeom>
          <a:noFill/>
          <a:ln/>
        </p:spPr>
        <p:txBody>
          <a:bodyPr wrap="square" lIns="0" tIns="0" rIns="0" bIns="0" rtlCol="0" anchor="t"/>
          <a:lstStyle/>
          <a:p>
            <a:pPr indent="0" marL="0">
              <a:buNone/>
            </a:pPr>
            <a:r>
              <a:rPr lang="en-US" sz="1500" b="1" dirty="0">
                <a:solidFill>
                  <a:srgbClr val="1B1F24"/>
                </a:solidFill>
                <a:latin typeface="Calibri" pitchFamily="34" charset="0"/>
                <a:ea typeface="Calibri" pitchFamily="34" charset="-122"/>
                <a:cs typeface="Calibri" pitchFamily="34" charset="-120"/>
              </a:rPr>
              <a:t>Ambiguous operational criteria</a:t>
            </a:r>
            <a:endParaRPr lang="en-US" sz="1500" dirty="0"/>
          </a:p>
        </p:txBody>
      </p:sp>
      <p:sp>
        <p:nvSpPr>
          <p:cNvPr id="8" name="anim1_266"/>
          <p:cNvSpPr txBox="1"/>
          <p:nvPr/>
        </p:nvSpPr>
        <p:spPr>
          <a:xfrm>
            <a:off x="1280160" y="2112264"/>
            <a:ext cx="4480560" cy="54864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Borderline foods are classified inconsistently</a:t>
            </a:r>
            <a:endParaRPr lang="en-US" sz="1300" dirty="0"/>
          </a:p>
        </p:txBody>
      </p:sp>
      <p:sp>
        <p:nvSpPr>
          <p:cNvPr id="9" name="anim2_267"/>
          <p:cNvSpPr/>
          <p:nvPr/>
        </p:nvSpPr>
        <p:spPr>
          <a:xfrm>
            <a:off x="548640" y="2834640"/>
            <a:ext cx="566928" cy="566928"/>
          </a:xfrm>
          <a:prstGeom prst="ellipse">
            <a:avLst/>
          </a:prstGeom>
          <a:solidFill>
            <a:srgbClr val="5B6B8C"/>
          </a:solidFill>
          <a:ln w="6350">
            <a:solidFill>
              <a:srgbClr val="5B6B8C"/>
            </a:solidFill>
            <a:prstDash val="solid"/>
          </a:ln>
        </p:spPr>
      </p:sp>
      <p:pic>
        <p:nvPicPr>
          <p:cNvPr id="10" name="anim2_268" descr="scale icon">    </p:cNvPr>
          <p:cNvPicPr>
            <a:picLocks noChangeAspect="1"/>
          </p:cNvPicPr>
          <p:nvPr/>
        </p:nvPicPr>
        <p:blipFill>
          <a:blip r:embed="rId2"/>
          <a:stretch>
            <a:fillRect/>
          </a:stretch>
        </p:blipFill>
        <p:spPr>
          <a:xfrm>
            <a:off x="701711" y="2987711"/>
            <a:ext cx="260787" cy="260787"/>
          </a:xfrm>
          <a:prstGeom prst="rect">
            <a:avLst/>
          </a:prstGeom>
        </p:spPr>
      </p:pic>
      <p:sp>
        <p:nvSpPr>
          <p:cNvPr id="11" name="anim2_269"/>
          <p:cNvSpPr txBox="1"/>
          <p:nvPr/>
        </p:nvSpPr>
        <p:spPr>
          <a:xfrm>
            <a:off x="1280160" y="2798064"/>
            <a:ext cx="4480560" cy="329184"/>
          </a:xfrm>
          <a:prstGeom prst="rect">
            <a:avLst/>
          </a:prstGeom>
          <a:noFill/>
          <a:ln/>
        </p:spPr>
        <p:txBody>
          <a:bodyPr wrap="square" lIns="0" tIns="0" rIns="0" bIns="0" rtlCol="0" anchor="t"/>
          <a:lstStyle/>
          <a:p>
            <a:pPr indent="0" marL="0">
              <a:buNone/>
            </a:pPr>
            <a:r>
              <a:rPr lang="en-US" sz="1500" b="1" dirty="0">
                <a:solidFill>
                  <a:srgbClr val="1B1F24"/>
                </a:solidFill>
                <a:latin typeface="Calibri" pitchFamily="34" charset="0"/>
                <a:ea typeface="Calibri" pitchFamily="34" charset="-122"/>
                <a:cs typeface="Calibri" pitchFamily="34" charset="-120"/>
              </a:rPr>
              <a:t>Processing ≠ nutritional quality</a:t>
            </a:r>
            <a:endParaRPr lang="en-US" sz="1500" dirty="0"/>
          </a:p>
        </p:txBody>
      </p:sp>
      <p:sp>
        <p:nvSpPr>
          <p:cNvPr id="12" name="anim2_270"/>
          <p:cNvSpPr txBox="1"/>
          <p:nvPr/>
        </p:nvSpPr>
        <p:spPr>
          <a:xfrm>
            <a:off x="1280160" y="3136392"/>
            <a:ext cx="4480560" cy="54864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Group 4 members differ widely in nutrient profile</a:t>
            </a:r>
            <a:endParaRPr lang="en-US" sz="1300" dirty="0"/>
          </a:p>
        </p:txBody>
      </p:sp>
      <p:sp>
        <p:nvSpPr>
          <p:cNvPr id="13" name="anim3_271"/>
          <p:cNvSpPr/>
          <p:nvPr/>
        </p:nvSpPr>
        <p:spPr>
          <a:xfrm>
            <a:off x="548640" y="3858768"/>
            <a:ext cx="566928" cy="566928"/>
          </a:xfrm>
          <a:prstGeom prst="ellipse">
            <a:avLst/>
          </a:prstGeom>
          <a:solidFill>
            <a:srgbClr val="5B6B8C"/>
          </a:solidFill>
          <a:ln w="6350">
            <a:solidFill>
              <a:srgbClr val="5B6B8C"/>
            </a:solidFill>
            <a:prstDash val="solid"/>
          </a:ln>
        </p:spPr>
      </p:sp>
      <p:pic>
        <p:nvPicPr>
          <p:cNvPr id="14" name="anim3_272" descr="layer icon">    </p:cNvPr>
          <p:cNvPicPr>
            <a:picLocks noChangeAspect="1"/>
          </p:cNvPicPr>
          <p:nvPr/>
        </p:nvPicPr>
        <p:blipFill>
          <a:blip r:embed="rId3"/>
          <a:stretch>
            <a:fillRect/>
          </a:stretch>
        </p:blipFill>
        <p:spPr>
          <a:xfrm>
            <a:off x="701711" y="4011839"/>
            <a:ext cx="260787" cy="260787"/>
          </a:xfrm>
          <a:prstGeom prst="rect">
            <a:avLst/>
          </a:prstGeom>
        </p:spPr>
      </p:pic>
      <p:sp>
        <p:nvSpPr>
          <p:cNvPr id="15" name="anim3_273"/>
          <p:cNvSpPr txBox="1"/>
          <p:nvPr/>
        </p:nvSpPr>
        <p:spPr>
          <a:xfrm>
            <a:off x="1280160" y="3822192"/>
            <a:ext cx="4480560" cy="329184"/>
          </a:xfrm>
          <a:prstGeom prst="rect">
            <a:avLst/>
          </a:prstGeom>
          <a:noFill/>
          <a:ln/>
        </p:spPr>
        <p:txBody>
          <a:bodyPr wrap="square" lIns="0" tIns="0" rIns="0" bIns="0" rtlCol="0" anchor="t"/>
          <a:lstStyle/>
          <a:p>
            <a:pPr indent="0" marL="0">
              <a:buNone/>
            </a:pPr>
            <a:r>
              <a:rPr lang="en-US" sz="1500" b="1" dirty="0">
                <a:solidFill>
                  <a:srgbClr val="1B1F24"/>
                </a:solidFill>
                <a:latin typeface="Calibri" pitchFamily="34" charset="0"/>
                <a:ea typeface="Calibri" pitchFamily="34" charset="-122"/>
                <a:cs typeface="Calibri" pitchFamily="34" charset="-120"/>
              </a:rPr>
              <a:t>Roles of processing blurred</a:t>
            </a:r>
            <a:endParaRPr lang="en-US" sz="1500" dirty="0"/>
          </a:p>
        </p:txBody>
      </p:sp>
      <p:sp>
        <p:nvSpPr>
          <p:cNvPr id="16" name="anim3_274"/>
          <p:cNvSpPr txBox="1"/>
          <p:nvPr/>
        </p:nvSpPr>
        <p:spPr>
          <a:xfrm>
            <a:off x="1280160" y="4160520"/>
            <a:ext cx="4480560" cy="54864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Policy must respect the group’s heterogeneity</a:t>
            </a:r>
            <a:endParaRPr lang="en-US" sz="1300" dirty="0"/>
          </a:p>
        </p:txBody>
      </p:sp>
      <p:sp>
        <p:nvSpPr>
          <p:cNvPr id="17" name="anim4_275"/>
          <p:cNvSpPr/>
          <p:nvPr/>
        </p:nvSpPr>
        <p:spPr>
          <a:xfrm>
            <a:off x="548640" y="4882896"/>
            <a:ext cx="566928" cy="566928"/>
          </a:xfrm>
          <a:prstGeom prst="ellipse">
            <a:avLst/>
          </a:prstGeom>
          <a:solidFill>
            <a:srgbClr val="5B6B8C"/>
          </a:solidFill>
          <a:ln w="6350">
            <a:solidFill>
              <a:srgbClr val="5B6B8C"/>
            </a:solidFill>
            <a:prstDash val="solid"/>
          </a:ln>
        </p:spPr>
      </p:sp>
      <p:pic>
        <p:nvPicPr>
          <p:cNvPr id="18" name="anim4_276" descr="sitemap icon">    </p:cNvPr>
          <p:cNvPicPr>
            <a:picLocks noChangeAspect="1"/>
          </p:cNvPicPr>
          <p:nvPr/>
        </p:nvPicPr>
        <p:blipFill>
          <a:blip r:embed="rId4"/>
          <a:stretch>
            <a:fillRect/>
          </a:stretch>
        </p:blipFill>
        <p:spPr>
          <a:xfrm>
            <a:off x="701711" y="5035967"/>
            <a:ext cx="260787" cy="260787"/>
          </a:xfrm>
          <a:prstGeom prst="rect">
            <a:avLst/>
          </a:prstGeom>
        </p:spPr>
      </p:pic>
      <p:sp>
        <p:nvSpPr>
          <p:cNvPr id="19" name="anim4_277"/>
          <p:cNvSpPr txBox="1"/>
          <p:nvPr/>
        </p:nvSpPr>
        <p:spPr>
          <a:xfrm>
            <a:off x="1280160" y="4846320"/>
            <a:ext cx="4480560" cy="329184"/>
          </a:xfrm>
          <a:prstGeom prst="rect">
            <a:avLst/>
          </a:prstGeom>
          <a:noFill/>
          <a:ln/>
        </p:spPr>
        <p:txBody>
          <a:bodyPr wrap="square" lIns="0" tIns="0" rIns="0" bIns="0" rtlCol="0" anchor="t"/>
          <a:lstStyle/>
          <a:p>
            <a:pPr indent="0" marL="0">
              <a:buNone/>
            </a:pPr>
            <a:r>
              <a:rPr lang="en-US" sz="1500" b="1" dirty="0">
                <a:solidFill>
                  <a:srgbClr val="1B1F24"/>
                </a:solidFill>
                <a:latin typeface="Calibri" pitchFamily="34" charset="0"/>
                <a:ea typeface="Calibri" pitchFamily="34" charset="-122"/>
                <a:cs typeface="Calibri" pitchFamily="34" charset="-120"/>
              </a:rPr>
              <a:t>Competing systems</a:t>
            </a:r>
            <a:endParaRPr lang="en-US" sz="1500" dirty="0"/>
          </a:p>
        </p:txBody>
      </p:sp>
      <p:sp>
        <p:nvSpPr>
          <p:cNvPr id="20" name="anim4_278"/>
          <p:cNvSpPr txBox="1"/>
          <p:nvPr/>
        </p:nvSpPr>
        <p:spPr>
          <a:xfrm>
            <a:off x="1280160" y="5184648"/>
            <a:ext cx="4480560" cy="548640"/>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NOVA, IARC-EPIC, IFPRI and UNC give different estimates for the same diet</a:t>
            </a:r>
            <a:endParaRPr lang="en-US" sz="1300" dirty="0"/>
          </a:p>
        </p:txBody>
      </p:sp>
      <p:sp>
        <p:nvSpPr>
          <p:cNvPr id="21" name="anim5_279"/>
          <p:cNvSpPr/>
          <p:nvPr/>
        </p:nvSpPr>
        <p:spPr>
          <a:xfrm>
            <a:off x="6446520" y="1371600"/>
            <a:ext cx="2743200" cy="2743200"/>
          </a:xfrm>
          <a:prstGeom prst="ellipse">
            <a:avLst/>
          </a:prstGeom>
          <a:solidFill>
            <a:srgbClr val="B3393C">
              <a:alpha val="28000"/>
            </a:srgbClr>
          </a:solidFill>
          <a:ln w="25400">
            <a:solidFill>
              <a:srgbClr val="B3393C"/>
            </a:solidFill>
            <a:prstDash val="solid"/>
          </a:ln>
        </p:spPr>
      </p:sp>
      <p:sp>
        <p:nvSpPr>
          <p:cNvPr id="22" name="anim6_280"/>
          <p:cNvSpPr/>
          <p:nvPr/>
        </p:nvSpPr>
        <p:spPr>
          <a:xfrm>
            <a:off x="8641080" y="1371600"/>
            <a:ext cx="2743200" cy="2743200"/>
          </a:xfrm>
          <a:prstGeom prst="ellipse">
            <a:avLst/>
          </a:prstGeom>
          <a:solidFill>
            <a:srgbClr val="D88A1F">
              <a:alpha val="28000"/>
            </a:srgbClr>
          </a:solidFill>
          <a:ln w="25400">
            <a:solidFill>
              <a:srgbClr val="D88A1F"/>
            </a:solidFill>
            <a:prstDash val="solid"/>
          </a:ln>
        </p:spPr>
      </p:sp>
      <p:sp>
        <p:nvSpPr>
          <p:cNvPr id="23" name="anim7_281"/>
          <p:cNvSpPr/>
          <p:nvPr/>
        </p:nvSpPr>
        <p:spPr>
          <a:xfrm>
            <a:off x="7543800" y="2880360"/>
            <a:ext cx="2743200" cy="2743200"/>
          </a:xfrm>
          <a:prstGeom prst="ellipse">
            <a:avLst/>
          </a:prstGeom>
          <a:solidFill>
            <a:srgbClr val="5B6B8C">
              <a:alpha val="28000"/>
            </a:srgbClr>
          </a:solidFill>
          <a:ln w="25400">
            <a:solidFill>
              <a:srgbClr val="5B6B8C"/>
            </a:solidFill>
            <a:prstDash val="solid"/>
          </a:ln>
        </p:spPr>
      </p:sp>
      <p:sp>
        <p:nvSpPr>
          <p:cNvPr id="24" name="anim5_282"/>
          <p:cNvSpPr txBox="1"/>
          <p:nvPr/>
        </p:nvSpPr>
        <p:spPr>
          <a:xfrm>
            <a:off x="6537960" y="2103120"/>
            <a:ext cx="2011680" cy="320040"/>
          </a:xfrm>
          <a:prstGeom prst="rect">
            <a:avLst/>
          </a:prstGeom>
          <a:noFill/>
          <a:ln/>
        </p:spPr>
        <p:txBody>
          <a:bodyPr wrap="square" lIns="0" tIns="0" rIns="0" bIns="0" rtlCol="0" anchor="t"/>
          <a:lstStyle/>
          <a:p>
            <a:pPr algn="ctr" indent="0" marL="0">
              <a:buNone/>
            </a:pPr>
            <a:r>
              <a:rPr lang="en-US" sz="1400" b="1" dirty="0">
                <a:solidFill>
                  <a:srgbClr val="B3393C"/>
                </a:solidFill>
                <a:latin typeface="Calibri" pitchFamily="34" charset="0"/>
                <a:ea typeface="Calibri" pitchFamily="34" charset="-122"/>
                <a:cs typeface="Calibri" pitchFamily="34" charset="-120"/>
              </a:rPr>
              <a:t>Ultra-processed</a:t>
            </a:r>
            <a:endParaRPr lang="en-US" sz="1400" dirty="0"/>
          </a:p>
        </p:txBody>
      </p:sp>
      <p:sp>
        <p:nvSpPr>
          <p:cNvPr id="25" name="anim5_283"/>
          <p:cNvSpPr txBox="1"/>
          <p:nvPr/>
        </p:nvSpPr>
        <p:spPr>
          <a:xfrm>
            <a:off x="6537960" y="2423160"/>
            <a:ext cx="2011680"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(NOVA group 4)</a:t>
            </a:r>
            <a:endParaRPr lang="en-US" sz="1100" dirty="0"/>
          </a:p>
        </p:txBody>
      </p:sp>
      <p:sp>
        <p:nvSpPr>
          <p:cNvPr id="26" name="anim6_284"/>
          <p:cNvSpPr txBox="1"/>
          <p:nvPr/>
        </p:nvSpPr>
        <p:spPr>
          <a:xfrm>
            <a:off x="9098280" y="2103120"/>
            <a:ext cx="2011680" cy="320040"/>
          </a:xfrm>
          <a:prstGeom prst="rect">
            <a:avLst/>
          </a:prstGeom>
          <a:noFill/>
          <a:ln/>
        </p:spPr>
        <p:txBody>
          <a:bodyPr wrap="square" lIns="0" tIns="0" rIns="0" bIns="0" rtlCol="0" anchor="t"/>
          <a:lstStyle/>
          <a:p>
            <a:pPr algn="ctr" indent="0" marL="0">
              <a:buNone/>
            </a:pPr>
            <a:r>
              <a:rPr lang="en-US" sz="1400" b="1" dirty="0">
                <a:solidFill>
                  <a:srgbClr val="D88A1F"/>
                </a:solidFill>
                <a:latin typeface="Calibri" pitchFamily="34" charset="0"/>
                <a:ea typeface="Calibri" pitchFamily="34" charset="-122"/>
                <a:cs typeface="Calibri" pitchFamily="34" charset="-120"/>
              </a:rPr>
              <a:t>Hyper-palatable</a:t>
            </a:r>
            <a:endParaRPr lang="en-US" sz="1400" dirty="0"/>
          </a:p>
        </p:txBody>
      </p:sp>
      <p:sp>
        <p:nvSpPr>
          <p:cNvPr id="27" name="anim6_285"/>
          <p:cNvSpPr txBox="1"/>
          <p:nvPr/>
        </p:nvSpPr>
        <p:spPr>
          <a:xfrm>
            <a:off x="9098280" y="2423160"/>
            <a:ext cx="2011680"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(fat, sugar, carb, sodium combinations)</a:t>
            </a:r>
            <a:endParaRPr lang="en-US" sz="1100" dirty="0"/>
          </a:p>
        </p:txBody>
      </p:sp>
      <p:sp>
        <p:nvSpPr>
          <p:cNvPr id="28" name="anim7_286"/>
          <p:cNvSpPr txBox="1"/>
          <p:nvPr/>
        </p:nvSpPr>
        <p:spPr>
          <a:xfrm>
            <a:off x="7818120" y="4023360"/>
            <a:ext cx="2011680" cy="320040"/>
          </a:xfrm>
          <a:prstGeom prst="rect">
            <a:avLst/>
          </a:prstGeom>
          <a:noFill/>
          <a:ln/>
        </p:spPr>
        <p:txBody>
          <a:bodyPr wrap="square" lIns="0" tIns="0" rIns="0" bIns="0" rtlCol="0" anchor="t"/>
          <a:lstStyle/>
          <a:p>
            <a:pPr algn="ctr" indent="0" marL="0">
              <a:buNone/>
            </a:pPr>
            <a:r>
              <a:rPr lang="en-US" sz="1400" b="1" dirty="0">
                <a:solidFill>
                  <a:srgbClr val="5B6B8C"/>
                </a:solidFill>
                <a:latin typeface="Calibri" pitchFamily="34" charset="0"/>
                <a:ea typeface="Calibri" pitchFamily="34" charset="-122"/>
                <a:cs typeface="Calibri" pitchFamily="34" charset="-120"/>
              </a:rPr>
              <a:t>Highly processed</a:t>
            </a:r>
            <a:endParaRPr lang="en-US" sz="1400" dirty="0"/>
          </a:p>
        </p:txBody>
      </p:sp>
      <p:sp>
        <p:nvSpPr>
          <p:cNvPr id="29" name="anim7_287"/>
          <p:cNvSpPr txBox="1"/>
          <p:nvPr/>
        </p:nvSpPr>
        <p:spPr>
          <a:xfrm>
            <a:off x="7818120" y="4343400"/>
            <a:ext cx="2011680"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(generic, no single system)</a:t>
            </a:r>
            <a:endParaRPr lang="en-US" sz="1100" dirty="0"/>
          </a:p>
        </p:txBody>
      </p:sp>
      <p:sp>
        <p:nvSpPr>
          <p:cNvPr id="30" name="anim8_288"/>
          <p:cNvSpPr/>
          <p:nvPr/>
        </p:nvSpPr>
        <p:spPr>
          <a:xfrm>
            <a:off x="6309360" y="5596128"/>
            <a:ext cx="5303520" cy="457200"/>
          </a:xfrm>
          <a:prstGeom prst="roundRect">
            <a:avLst>
              <a:gd name="adj" fmla="val 16000"/>
            </a:avLst>
          </a:prstGeom>
          <a:solidFill>
            <a:srgbClr val="EEF2F6"/>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31" name="anim8_289"/>
          <p:cNvSpPr txBox="1"/>
          <p:nvPr/>
        </p:nvSpPr>
        <p:spPr>
          <a:xfrm>
            <a:off x="6446520" y="5596128"/>
            <a:ext cx="5074920" cy="4572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Also distinct: </a:t>
            </a:r>
            <a:r>
              <a:rPr lang="en-US" sz="1300" dirty="0">
                <a:solidFill>
                  <a:srgbClr val="1B1F24"/>
                </a:solidFill>
                <a:latin typeface="Calibri" pitchFamily="34" charset="0"/>
                <a:ea typeface="Calibri" pitchFamily="34" charset="-122"/>
                <a:cs typeface="Calibri" pitchFamily="34" charset="-120"/>
              </a:rPr>
              <a:t>food addiction ≠ addictive eating ≠ loss-of-control eating</a:t>
            </a:r>
            <a:endParaRPr lang="en-US" sz="1300" dirty="0"/>
          </a:p>
        </p:txBody>
      </p:sp>
      <p:sp>
        <p:nvSpPr>
          <p:cNvPr id="32" name="Text 25"/>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Petrus et al. 2021; Gibney 2019; Moubarac et al. 2014; Astrup and Monteiro 2022; Fazzino et al. 2019.</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2" fill="hold">
                      <p:stCondLst>
                        <p:cond delay="indefinite"/>
                        <p:cond evt="onBegin" delay="0">
                          <p:tn val="2"/>
                        </p:cond>
                      </p:stCondLst>
                      <p:childTnLst>
                        <p:par>
                          <p:cTn id="15"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8" fill="hold">
                            <p:stCondLst>
                              <p:cond delay="380"/>
                            </p:stCondLst>
                            <p:childTnLst>
                              <p:par>
                                <p:cTn id="16" presetID="10" presetClass="entr" presetSubtype="0"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1" fill="hold">
                            <p:stCondLst>
                              <p:cond delay="38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par>
                          <p:cTn id="54" fill="hold">
                            <p:stCondLst>
                              <p:cond delay="380"/>
                            </p:stCondLst>
                            <p:childTnLst>
                              <p:par>
                                <p:cTn id="42" presetID="10" presetClass="entr" presetSubtype="0"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par>
                          <p:cTn id="64" fill="hold">
                            <p:stCondLst>
                              <p:cond delay="38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childTnLst>
                          </p:cTn>
                        </p:par>
                        <p:par>
                          <p:cTn id="74" fill="hold">
                            <p:stCondLst>
                              <p:cond delay="380"/>
                            </p:stCondLst>
                            <p:childTnLst>
                              <p:par>
                                <p:cTn id="65" presetID="10" presetClass="entr" presetSubtype="0"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childTnLst>
                          </p:cTn>
                        </p:par>
                        <p:par>
                          <p:cTn id="84" fill="hold">
                            <p:stCondLst>
                              <p:cond delay="380"/>
                            </p:stCondLst>
                            <p:childTnLst>
                              <p:par>
                                <p:cTn id="75" presetID="10" presetClass="entr" presetSubtype="0" fill="hold" nodeType="after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45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childTnLst>
                          </p:cTn>
                        </p:par>
                        <p:par>
                          <p:cTn id="91" fill="hold">
                            <p:stCondLst>
                              <p:cond delay="380"/>
                            </p:stCondLst>
                            <p:childTnLst>
                              <p:par>
                                <p:cTn id="85" presetID="10" presetClass="entr" presetSubtype="0"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4" grpId="0" animBg="1"/>
      <p:bldP spid="25" grpId="0" animBg="1"/>
      <p:bldP spid="26" grpId="0" animBg="1"/>
      <p:bldP spid="27" grpId="0" animBg="1"/>
      <p:bldP spid="28" grpId="0" animBg="1"/>
      <p:bldP spid="29"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much UPF do we eat?</a:t>
            </a:r>
            <a:endParaRPr lang="en-US" sz="3200" dirty="0"/>
          </a:p>
        </p:txBody>
      </p:sp>
      <p:graphicFrame>
        <p:nvGraphicFramePr>
          <p:cNvPr id="4" name="chartUPF" descr=""/>
          <p:cNvGraphicFramePr/>
          <p:nvPr/>
        </p:nvGraphicFramePr>
        <p:xfrm>
          <a:off x="45720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anim1_290"/>
          <p:cNvSpPr/>
          <p:nvPr/>
        </p:nvSpPr>
        <p:spPr>
          <a:xfrm>
            <a:off x="7680960" y="1325880"/>
            <a:ext cx="3931920" cy="4526280"/>
          </a:xfrm>
          <a:prstGeom prst="roundRect">
            <a:avLst>
              <a:gd name="adj" fmla="val 1860"/>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6" name="anim1_291"/>
          <p:cNvSpPr/>
          <p:nvPr/>
        </p:nvSpPr>
        <p:spPr>
          <a:xfrm>
            <a:off x="7909560" y="1508760"/>
            <a:ext cx="548640" cy="548640"/>
          </a:xfrm>
          <a:prstGeom prst="ellipse">
            <a:avLst/>
          </a:prstGeom>
          <a:solidFill>
            <a:srgbClr val="1F3A5F"/>
          </a:solidFill>
          <a:ln w="6350">
            <a:solidFill>
              <a:srgbClr val="1F3A5F"/>
            </a:solidFill>
            <a:prstDash val="solid"/>
          </a:ln>
        </p:spPr>
      </p:sp>
      <p:pic>
        <p:nvPicPr>
          <p:cNvPr id="7" name="anim1_292" descr="flag icon">    </p:cNvPr>
          <p:cNvPicPr>
            <a:picLocks noChangeAspect="1"/>
          </p:cNvPicPr>
          <p:nvPr/>
        </p:nvPicPr>
        <p:blipFill>
          <a:blip r:embed="rId2"/>
          <a:stretch>
            <a:fillRect/>
          </a:stretch>
        </p:blipFill>
        <p:spPr>
          <a:xfrm>
            <a:off x="8057693" y="1656893"/>
            <a:ext cx="252374" cy="252374"/>
          </a:xfrm>
          <a:prstGeom prst="rect">
            <a:avLst/>
          </a:prstGeom>
        </p:spPr>
      </p:pic>
      <p:sp>
        <p:nvSpPr>
          <p:cNvPr id="8" name="anim1_293"/>
          <p:cNvSpPr txBox="1"/>
          <p:nvPr/>
        </p:nvSpPr>
        <p:spPr>
          <a:xfrm>
            <a:off x="8595360" y="1554480"/>
            <a:ext cx="2926080" cy="457200"/>
          </a:xfrm>
          <a:prstGeom prst="rect">
            <a:avLst/>
          </a:prstGeom>
          <a:noFill/>
          <a:ln/>
        </p:spPr>
        <p:txBody>
          <a:bodyPr wrap="square" lIns="0" tIns="0" rIns="0" bIns="0" rtlCol="0" anchor="ctr"/>
          <a:lstStyle/>
          <a:p>
            <a:pPr indent="0" marL="0">
              <a:buNone/>
            </a:pPr>
            <a:r>
              <a:rPr lang="en-US" sz="1700" b="1" dirty="0">
                <a:solidFill>
                  <a:srgbClr val="1F3A5F"/>
                </a:solidFill>
                <a:latin typeface="Cambria" pitchFamily="34" charset="0"/>
                <a:ea typeface="Cambria" pitchFamily="34" charset="-122"/>
                <a:cs typeface="Cambria" pitchFamily="34" charset="-120"/>
              </a:rPr>
              <a:t>Iran: fragmentary data</a:t>
            </a:r>
            <a:endParaRPr lang="en-US" sz="1700" dirty="0"/>
          </a:p>
        </p:txBody>
      </p:sp>
      <p:sp>
        <p:nvSpPr>
          <p:cNvPr id="9" name="anim2_294"/>
          <p:cNvSpPr txBox="1"/>
          <p:nvPr/>
        </p:nvSpPr>
        <p:spPr>
          <a:xfrm>
            <a:off x="7909560" y="2194560"/>
            <a:ext cx="3520440" cy="2743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TLGS (Tehran): median 13.4% of energy (~91 g/day)</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Highest vs lowest intake: prediabetes HR 1.28 (1.07–1.52); +10% UPF → HR 1.12</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No significant association with type 2 diabetes</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Other estimates: 8.5% (five cities) to 20.2% (n = 1,459 adults)</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Children aged 6 (n = 788): no link with overweight (OR 0.86)</a:t>
            </a:r>
            <a:endParaRPr lang="en-US" sz="1300" dirty="0"/>
          </a:p>
        </p:txBody>
      </p:sp>
      <p:sp>
        <p:nvSpPr>
          <p:cNvPr id="10" name="anim3_295"/>
          <p:cNvSpPr txBox="1"/>
          <p:nvPr/>
        </p:nvSpPr>
        <p:spPr>
          <a:xfrm>
            <a:off x="7909560" y="5120640"/>
            <a:ext cx="3520440" cy="548640"/>
          </a:xfrm>
          <a:prstGeom prst="rect">
            <a:avLst/>
          </a:prstGeom>
          <a:noFill/>
          <a:ln/>
        </p:spPr>
        <p:txBody>
          <a:bodyPr wrap="square" lIns="0" tIns="0" rIns="0" bIns="0" rtlCol="0" anchor="t"/>
          <a:lstStyle/>
          <a:p>
            <a:pPr indent="0" marL="0">
              <a:buNone/>
            </a:pPr>
            <a:r>
              <a:rPr lang="en-US" sz="1350" b="1" dirty="0">
                <a:solidFill>
                  <a:srgbClr val="B3393C"/>
                </a:solidFill>
                <a:latin typeface="Calibri" pitchFamily="34" charset="0"/>
                <a:ea typeface="Calibri" pitchFamily="34" charset="-122"/>
                <a:cs typeface="Calibri" pitchFamily="34" charset="-120"/>
              </a:rPr>
              <a:t>Gap: </a:t>
            </a:r>
            <a:r>
              <a:rPr lang="en-US" sz="1350" dirty="0">
                <a:solidFill>
                  <a:srgbClr val="B3393C"/>
                </a:solidFill>
                <a:latin typeface="Calibri" pitchFamily="34" charset="0"/>
                <a:ea typeface="Calibri" pitchFamily="34" charset="-122"/>
                <a:cs typeface="Calibri" pitchFamily="34" charset="-120"/>
              </a:rPr>
              <a:t>no regular national monitoring of UPF intake</a:t>
            </a:r>
            <a:endParaRPr lang="en-US" sz="1350" dirty="0"/>
          </a:p>
        </p:txBody>
      </p:sp>
      <p:sp>
        <p:nvSpPr>
          <p:cNvPr id="11" name="Text 6"/>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Descriptive comparison only (different years, ages, dietary methods, NOVA coding). Sources: Steele 2023; Rauber 2020; Marino 2021; Moslehi 2024; Haghighatdoost 2022, 2023; Asgari 2022.</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15"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19"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childTnLst>
                          </p:cTn>
                        </p:par>
                        <p:par>
                          <p:cTn id="23" fill="hold">
                            <p:stCondLst>
                              <p:cond delay="38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6A4C93"/>
                </a:solidFill>
                <a:latin typeface="Cambria" pitchFamily="34" charset="0"/>
                <a:ea typeface="Cambria" pitchFamily="34" charset="-122"/>
                <a:cs typeface="Cambria" pitchFamily="34" charset="-120"/>
              </a:rPr>
              <a:t>02</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Food Addiction</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Is it a valid construct — and how do we measure it?</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13048" y="5166360"/>
            <a:ext cx="384048" cy="384048"/>
          </a:xfrm>
          <a:prstGeom prst="ellipse">
            <a:avLst/>
          </a:prstGeom>
          <a:solidFill>
            <a:srgbClr val="6A4C93"/>
          </a:solidFill>
          <a:ln w="25400">
            <a:solidFill>
              <a:srgbClr val="FFFFFF"/>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E4A6B"/>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2E4A6B"/>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2E4A6B"/>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2E4A6B"/>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296"/>
          <p:cNvSpPr/>
          <p:nvPr/>
        </p:nvSpPr>
        <p:spPr>
          <a:xfrm>
            <a:off x="10607040" y="2240280"/>
            <a:ext cx="960120" cy="960120"/>
          </a:xfrm>
          <a:prstGeom prst="ellipse">
            <a:avLst/>
          </a:prstGeom>
          <a:solidFill>
            <a:srgbClr val="6A4C93"/>
          </a:solidFill>
          <a:ln w="6350">
            <a:solidFill>
              <a:srgbClr val="6A4C93"/>
            </a:solidFill>
            <a:prstDash val="solid"/>
          </a:ln>
        </p:spPr>
      </p:sp>
      <p:pic>
        <p:nvPicPr>
          <p:cNvPr id="25" name="ic_297" descr="clipboard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“food addiction” is — and is not</a:t>
            </a:r>
            <a:endParaRPr lang="en-US" sz="3200" dirty="0"/>
          </a:p>
        </p:txBody>
      </p:sp>
      <p:sp>
        <p:nvSpPr>
          <p:cNvPr id="4" name="anim1_298"/>
          <p:cNvSpPr/>
          <p:nvPr/>
        </p:nvSpPr>
        <p:spPr>
          <a:xfrm>
            <a:off x="548640" y="1325880"/>
            <a:ext cx="11064240" cy="1097280"/>
          </a:xfrm>
          <a:prstGeom prst="roundRect">
            <a:avLst>
              <a:gd name="adj" fmla="val 6667"/>
            </a:avLst>
          </a:prstGeom>
          <a:solidFill>
            <a:srgbClr val="EFEAF6"/>
          </a:solidFill>
          <a:ln w="9525">
            <a:solidFill>
              <a:srgbClr val="DCD3EA"/>
            </a:solidFill>
            <a:prstDash val="solid"/>
          </a:ln>
          <a:effectLst>
            <a:outerShdw sx="100000" sy="100000" kx="0" ky="0" algn="bl" rotWithShape="0" blurRad="114300" dist="31750" dir="5400000">
              <a:srgbClr val="1B1F24">
                <a:alpha val="14000"/>
              </a:srgbClr>
            </a:outerShdw>
          </a:effectLst>
        </p:spPr>
      </p:sp>
      <p:sp>
        <p:nvSpPr>
          <p:cNvPr id="5" name="anim1_299"/>
          <p:cNvSpPr/>
          <p:nvPr/>
        </p:nvSpPr>
        <p:spPr>
          <a:xfrm>
            <a:off x="777240" y="1527048"/>
            <a:ext cx="685800" cy="685800"/>
          </a:xfrm>
          <a:prstGeom prst="ellipse">
            <a:avLst/>
          </a:prstGeom>
          <a:solidFill>
            <a:srgbClr val="6A4C93"/>
          </a:solidFill>
          <a:ln w="6350">
            <a:solidFill>
              <a:srgbClr val="6A4C93"/>
            </a:solidFill>
            <a:prstDash val="solid"/>
          </a:ln>
        </p:spPr>
      </p:sp>
      <p:pic>
        <p:nvPicPr>
          <p:cNvPr id="6" name="anim1_300" descr="brain icon">    </p:cNvPr>
          <p:cNvPicPr>
            <a:picLocks noChangeAspect="1"/>
          </p:cNvPicPr>
          <p:nvPr/>
        </p:nvPicPr>
        <p:blipFill>
          <a:blip r:embed="rId1"/>
          <a:stretch>
            <a:fillRect/>
          </a:stretch>
        </p:blipFill>
        <p:spPr>
          <a:xfrm>
            <a:off x="962406" y="1712214"/>
            <a:ext cx="315468" cy="315468"/>
          </a:xfrm>
          <a:prstGeom prst="rect">
            <a:avLst/>
          </a:prstGeom>
        </p:spPr>
      </p:pic>
      <p:sp>
        <p:nvSpPr>
          <p:cNvPr id="7" name="anim1_301"/>
          <p:cNvSpPr txBox="1"/>
          <p:nvPr/>
        </p:nvSpPr>
        <p:spPr>
          <a:xfrm>
            <a:off x="1691640" y="1417320"/>
            <a:ext cx="9738360" cy="914400"/>
          </a:xfrm>
          <a:prstGeom prst="rect">
            <a:avLst/>
          </a:prstGeom>
          <a:noFill/>
          <a:ln/>
        </p:spPr>
        <p:txBody>
          <a:bodyPr wrap="square" lIns="0" tIns="0" rIns="0" bIns="0" rtlCol="0" anchor="ctr"/>
          <a:lstStyle/>
          <a:p>
            <a:pPr indent="0" marL="0">
              <a:buNone/>
            </a:pPr>
            <a:r>
              <a:rPr lang="en-US" sz="1500" b="1" dirty="0">
                <a:solidFill>
                  <a:srgbClr val="6A4C93"/>
                </a:solidFill>
                <a:latin typeface="Calibri" pitchFamily="34" charset="0"/>
                <a:ea typeface="Calibri" pitchFamily="34" charset="-122"/>
                <a:cs typeface="Calibri" pitchFamily="34" charset="-120"/>
              </a:rPr>
              <a:t>Working definition: </a:t>
            </a:r>
            <a:r>
              <a:rPr lang="en-US" sz="1500" dirty="0">
                <a:solidFill>
                  <a:srgbClr val="1B1F24"/>
                </a:solidFill>
                <a:latin typeface="Calibri" pitchFamily="34" charset="0"/>
                <a:ea typeface="Calibri" pitchFamily="34" charset="-122"/>
                <a:cs typeface="Calibri" pitchFamily="34" charset="-120"/>
              </a:rPr>
              <a:t>eating with features resembling substance use disorders — intense craving, repeated failed attempts to cut down, time spent obtaining or eating food, continued eating despite harm, and sometimes withdrawal-like symptoms.</a:t>
            </a:r>
            <a:endParaRPr lang="en-US" sz="1500" dirty="0"/>
          </a:p>
        </p:txBody>
      </p:sp>
      <p:sp>
        <p:nvSpPr>
          <p:cNvPr id="8" name="anim2_302"/>
          <p:cNvSpPr/>
          <p:nvPr/>
        </p:nvSpPr>
        <p:spPr>
          <a:xfrm>
            <a:off x="548640" y="2606040"/>
            <a:ext cx="5440680" cy="868680"/>
          </a:xfrm>
          <a:prstGeom prst="roundRect">
            <a:avLst>
              <a:gd name="adj" fmla="val 842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pic>
        <p:nvPicPr>
          <p:cNvPr id="9" name="anim2_303" descr="not recognized">    </p:cNvPr>
          <p:cNvPicPr>
            <a:picLocks noChangeAspect="1"/>
          </p:cNvPicPr>
          <p:nvPr/>
        </p:nvPicPr>
        <p:blipFill>
          <a:blip r:embed="rId2"/>
          <a:stretch>
            <a:fillRect/>
          </a:stretch>
        </p:blipFill>
        <p:spPr>
          <a:xfrm>
            <a:off x="749808" y="2807208"/>
            <a:ext cx="457200" cy="457200"/>
          </a:xfrm>
          <a:prstGeom prst="rect">
            <a:avLst/>
          </a:prstGeom>
        </p:spPr>
      </p:pic>
      <p:sp>
        <p:nvSpPr>
          <p:cNvPr id="10" name="anim2_304"/>
          <p:cNvSpPr txBox="1"/>
          <p:nvPr/>
        </p:nvSpPr>
        <p:spPr>
          <a:xfrm>
            <a:off x="1371600" y="2651760"/>
            <a:ext cx="4480560" cy="777240"/>
          </a:xfrm>
          <a:prstGeom prst="rect">
            <a:avLst/>
          </a:prstGeom>
          <a:noFill/>
          <a:ln/>
        </p:spPr>
        <p:txBody>
          <a:bodyPr wrap="square" lIns="0" tIns="0" rIns="0" bIns="0" rtlCol="0" anchor="ctr"/>
          <a:lstStyle/>
          <a:p>
            <a:pPr indent="0" marL="0">
              <a:buNone/>
            </a:pPr>
            <a:r>
              <a:rPr lang="en-US" sz="1400" b="1" dirty="0">
                <a:solidFill>
                  <a:srgbClr val="B3393C"/>
                </a:solidFill>
                <a:latin typeface="Calibri" pitchFamily="34" charset="0"/>
                <a:ea typeface="Calibri" pitchFamily="34" charset="-122"/>
                <a:cs typeface="Calibri" pitchFamily="34" charset="-120"/>
              </a:rPr>
              <a:t>DSM-5-TR (2022):  </a:t>
            </a:r>
            <a:r>
              <a:rPr lang="en-US" sz="1400" dirty="0">
                <a:solidFill>
                  <a:srgbClr val="1B1F24"/>
                </a:solidFill>
                <a:latin typeface="Calibri" pitchFamily="34" charset="0"/>
                <a:ea typeface="Calibri" pitchFamily="34" charset="-122"/>
                <a:cs typeface="Calibri" pitchFamily="34" charset="-120"/>
              </a:rPr>
              <a:t>Not a recognized diagnosis</a:t>
            </a:r>
            <a:endParaRPr lang="en-US" sz="1400" dirty="0"/>
          </a:p>
        </p:txBody>
      </p:sp>
      <p:sp>
        <p:nvSpPr>
          <p:cNvPr id="11" name="anim2_305"/>
          <p:cNvSpPr/>
          <p:nvPr/>
        </p:nvSpPr>
        <p:spPr>
          <a:xfrm>
            <a:off x="6172200" y="2606040"/>
            <a:ext cx="5440680" cy="868680"/>
          </a:xfrm>
          <a:prstGeom prst="roundRect">
            <a:avLst>
              <a:gd name="adj" fmla="val 842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pic>
        <p:nvPicPr>
          <p:cNvPr id="12" name="anim2_306" descr="not recognized">    </p:cNvPr>
          <p:cNvPicPr>
            <a:picLocks noChangeAspect="1"/>
          </p:cNvPicPr>
          <p:nvPr/>
        </p:nvPicPr>
        <p:blipFill>
          <a:blip r:embed="rId3"/>
          <a:stretch>
            <a:fillRect/>
          </a:stretch>
        </p:blipFill>
        <p:spPr>
          <a:xfrm>
            <a:off x="6373368" y="2807208"/>
            <a:ext cx="457200" cy="457200"/>
          </a:xfrm>
          <a:prstGeom prst="rect">
            <a:avLst/>
          </a:prstGeom>
        </p:spPr>
      </p:pic>
      <p:sp>
        <p:nvSpPr>
          <p:cNvPr id="13" name="anim2_307"/>
          <p:cNvSpPr txBox="1"/>
          <p:nvPr/>
        </p:nvSpPr>
        <p:spPr>
          <a:xfrm>
            <a:off x="6995160" y="2651760"/>
            <a:ext cx="4480560" cy="777240"/>
          </a:xfrm>
          <a:prstGeom prst="rect">
            <a:avLst/>
          </a:prstGeom>
          <a:noFill/>
          <a:ln/>
        </p:spPr>
        <p:txBody>
          <a:bodyPr wrap="square" lIns="0" tIns="0" rIns="0" bIns="0" rtlCol="0" anchor="ctr"/>
          <a:lstStyle/>
          <a:p>
            <a:pPr indent="0" marL="0">
              <a:buNone/>
            </a:pPr>
            <a:r>
              <a:rPr lang="en-US" sz="1400" b="1" dirty="0">
                <a:solidFill>
                  <a:srgbClr val="B3393C"/>
                </a:solidFill>
                <a:latin typeface="Calibri" pitchFamily="34" charset="0"/>
                <a:ea typeface="Calibri" pitchFamily="34" charset="-122"/>
                <a:cs typeface="Calibri" pitchFamily="34" charset="-120"/>
              </a:rPr>
              <a:t>ICD-11:  </a:t>
            </a:r>
            <a:r>
              <a:rPr lang="en-US" sz="1400" dirty="0">
                <a:solidFill>
                  <a:srgbClr val="1B1F24"/>
                </a:solidFill>
                <a:latin typeface="Calibri" pitchFamily="34" charset="0"/>
                <a:ea typeface="Calibri" pitchFamily="34" charset="-122"/>
                <a:cs typeface="Calibri" pitchFamily="34" charset="-120"/>
              </a:rPr>
              <a:t>Not a diagnosis — “disorders due to addictive behaviours” cover only gambling and gaming</a:t>
            </a:r>
            <a:endParaRPr lang="en-US" sz="1400" dirty="0"/>
          </a:p>
        </p:txBody>
      </p:sp>
      <p:sp>
        <p:nvSpPr>
          <p:cNvPr id="14" name="anim3_308"/>
          <p:cNvSpPr/>
          <p:nvPr/>
        </p:nvSpPr>
        <p:spPr>
          <a:xfrm>
            <a:off x="548640" y="3657600"/>
            <a:ext cx="3566160" cy="2194560"/>
          </a:xfrm>
          <a:prstGeom prst="roundRect">
            <a:avLst>
              <a:gd name="adj" fmla="val 333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309"/>
          <p:cNvSpPr/>
          <p:nvPr/>
        </p:nvSpPr>
        <p:spPr>
          <a:xfrm>
            <a:off x="777240" y="3858768"/>
            <a:ext cx="566928" cy="566928"/>
          </a:xfrm>
          <a:prstGeom prst="ellipse">
            <a:avLst/>
          </a:prstGeom>
          <a:solidFill>
            <a:srgbClr val="2A7A8C"/>
          </a:solidFill>
          <a:ln w="6350">
            <a:solidFill>
              <a:srgbClr val="2A7A8C"/>
            </a:solidFill>
            <a:prstDash val="solid"/>
          </a:ln>
        </p:spPr>
      </p:sp>
      <p:pic>
        <p:nvPicPr>
          <p:cNvPr id="16" name="anim3_310" descr="check icon">    </p:cNvPr>
          <p:cNvPicPr>
            <a:picLocks noChangeAspect="1"/>
          </p:cNvPicPr>
          <p:nvPr/>
        </p:nvPicPr>
        <p:blipFill>
          <a:blip r:embed="rId4"/>
          <a:stretch>
            <a:fillRect/>
          </a:stretch>
        </p:blipFill>
        <p:spPr>
          <a:xfrm>
            <a:off x="930311" y="4011839"/>
            <a:ext cx="260787" cy="260787"/>
          </a:xfrm>
          <a:prstGeom prst="rect">
            <a:avLst/>
          </a:prstGeom>
        </p:spPr>
      </p:pic>
      <p:sp>
        <p:nvSpPr>
          <p:cNvPr id="17" name="anim3_311"/>
          <p:cNvSpPr txBox="1"/>
          <p:nvPr/>
        </p:nvSpPr>
        <p:spPr>
          <a:xfrm>
            <a:off x="1463040" y="3840480"/>
            <a:ext cx="2560320" cy="365760"/>
          </a:xfrm>
          <a:prstGeom prst="rect">
            <a:avLst/>
          </a:prstGeom>
          <a:noFill/>
          <a:ln/>
        </p:spPr>
        <p:txBody>
          <a:bodyPr wrap="square" lIns="0" tIns="0" rIns="0" bIns="0" rtlCol="0" anchor="t"/>
          <a:lstStyle/>
          <a:p>
            <a:pPr indent="0" marL="0">
              <a:buNone/>
            </a:pPr>
            <a:r>
              <a:rPr lang="en-US" sz="1650" b="1" dirty="0">
                <a:solidFill>
                  <a:srgbClr val="2A7A8C"/>
                </a:solidFill>
                <a:latin typeface="Cambria" pitchFamily="34" charset="0"/>
                <a:ea typeface="Cambria" pitchFamily="34" charset="-122"/>
                <a:cs typeface="Cambria" pitchFamily="34" charset="-120"/>
              </a:rPr>
              <a:t>Binge-eating disorder</a:t>
            </a:r>
            <a:endParaRPr lang="en-US" sz="1650" dirty="0"/>
          </a:p>
        </p:txBody>
      </p:sp>
      <p:sp>
        <p:nvSpPr>
          <p:cNvPr id="18" name="anim3_312"/>
          <p:cNvSpPr txBox="1"/>
          <p:nvPr/>
        </p:nvSpPr>
        <p:spPr>
          <a:xfrm>
            <a:off x="1463040" y="4187952"/>
            <a:ext cx="2560320" cy="2743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Official diagnosis</a:t>
            </a:r>
            <a:endParaRPr lang="en-US" sz="1200" dirty="0"/>
          </a:p>
        </p:txBody>
      </p:sp>
      <p:sp>
        <p:nvSpPr>
          <p:cNvPr id="19" name="anim3_313"/>
          <p:cNvSpPr txBox="1"/>
          <p:nvPr/>
        </p:nvSpPr>
        <p:spPr>
          <a:xfrm>
            <a:off x="777240" y="4617720"/>
            <a:ext cx="3154680"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Recurrent binges with loss of control; no compensatory behavior</a:t>
            </a:r>
            <a:endParaRPr lang="en-US" sz="1400" dirty="0"/>
          </a:p>
        </p:txBody>
      </p:sp>
      <p:sp>
        <p:nvSpPr>
          <p:cNvPr id="20" name="anim4_314"/>
          <p:cNvSpPr/>
          <p:nvPr/>
        </p:nvSpPr>
        <p:spPr>
          <a:xfrm>
            <a:off x="4297680" y="3657600"/>
            <a:ext cx="3566160" cy="2194560"/>
          </a:xfrm>
          <a:prstGeom prst="roundRect">
            <a:avLst>
              <a:gd name="adj" fmla="val 333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1" name="anim4_315"/>
          <p:cNvSpPr/>
          <p:nvPr/>
        </p:nvSpPr>
        <p:spPr>
          <a:xfrm>
            <a:off x="4526280" y="3858768"/>
            <a:ext cx="566928" cy="566928"/>
          </a:xfrm>
          <a:prstGeom prst="ellipse">
            <a:avLst/>
          </a:prstGeom>
          <a:solidFill>
            <a:srgbClr val="5B6B8C"/>
          </a:solidFill>
          <a:ln w="6350">
            <a:solidFill>
              <a:srgbClr val="5B6B8C"/>
            </a:solidFill>
            <a:prstDash val="solid"/>
          </a:ln>
        </p:spPr>
      </p:sp>
      <p:pic>
        <p:nvPicPr>
          <p:cNvPr id="22" name="anim4_316" descr="check icon">    </p:cNvPr>
          <p:cNvPicPr>
            <a:picLocks noChangeAspect="1"/>
          </p:cNvPicPr>
          <p:nvPr/>
        </p:nvPicPr>
        <p:blipFill>
          <a:blip r:embed="rId5"/>
          <a:stretch>
            <a:fillRect/>
          </a:stretch>
        </p:blipFill>
        <p:spPr>
          <a:xfrm>
            <a:off x="4679351" y="4011839"/>
            <a:ext cx="260787" cy="260787"/>
          </a:xfrm>
          <a:prstGeom prst="rect">
            <a:avLst/>
          </a:prstGeom>
        </p:spPr>
      </p:pic>
      <p:sp>
        <p:nvSpPr>
          <p:cNvPr id="23" name="anim4_317"/>
          <p:cNvSpPr txBox="1"/>
          <p:nvPr/>
        </p:nvSpPr>
        <p:spPr>
          <a:xfrm>
            <a:off x="5212080" y="3840480"/>
            <a:ext cx="2560320" cy="365760"/>
          </a:xfrm>
          <a:prstGeom prst="rect">
            <a:avLst/>
          </a:prstGeom>
          <a:noFill/>
          <a:ln/>
        </p:spPr>
        <p:txBody>
          <a:bodyPr wrap="square" lIns="0" tIns="0" rIns="0" bIns="0" rtlCol="0" anchor="t"/>
          <a:lstStyle/>
          <a:p>
            <a:pPr indent="0" marL="0">
              <a:buNone/>
            </a:pPr>
            <a:r>
              <a:rPr lang="en-US" sz="1650" b="1" dirty="0">
                <a:solidFill>
                  <a:srgbClr val="5B6B8C"/>
                </a:solidFill>
                <a:latin typeface="Cambria" pitchFamily="34" charset="0"/>
                <a:ea typeface="Cambria" pitchFamily="34" charset="-122"/>
                <a:cs typeface="Cambria" pitchFamily="34" charset="-120"/>
              </a:rPr>
              <a:t>Bulimia nervosa</a:t>
            </a:r>
            <a:endParaRPr lang="en-US" sz="1650" dirty="0"/>
          </a:p>
        </p:txBody>
      </p:sp>
      <p:sp>
        <p:nvSpPr>
          <p:cNvPr id="24" name="anim4_318"/>
          <p:cNvSpPr txBox="1"/>
          <p:nvPr/>
        </p:nvSpPr>
        <p:spPr>
          <a:xfrm>
            <a:off x="5212080" y="4187952"/>
            <a:ext cx="2560320" cy="2743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Official diagnosis</a:t>
            </a:r>
            <a:endParaRPr lang="en-US" sz="1200" dirty="0"/>
          </a:p>
        </p:txBody>
      </p:sp>
      <p:sp>
        <p:nvSpPr>
          <p:cNvPr id="25" name="anim4_319"/>
          <p:cNvSpPr txBox="1"/>
          <p:nvPr/>
        </p:nvSpPr>
        <p:spPr>
          <a:xfrm>
            <a:off x="4526280" y="4617720"/>
            <a:ext cx="3154680"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Recurrent binges plus inappropriate compensatory behaviors</a:t>
            </a:r>
            <a:endParaRPr lang="en-US" sz="1400" dirty="0"/>
          </a:p>
        </p:txBody>
      </p:sp>
      <p:sp>
        <p:nvSpPr>
          <p:cNvPr id="26" name="anim5_320"/>
          <p:cNvSpPr/>
          <p:nvPr/>
        </p:nvSpPr>
        <p:spPr>
          <a:xfrm>
            <a:off x="8046720" y="3657600"/>
            <a:ext cx="3566160" cy="2194560"/>
          </a:xfrm>
          <a:prstGeom prst="roundRect">
            <a:avLst>
              <a:gd name="adj" fmla="val 333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7" name="anim5_321"/>
          <p:cNvSpPr/>
          <p:nvPr/>
        </p:nvSpPr>
        <p:spPr>
          <a:xfrm>
            <a:off x="8275320" y="3858768"/>
            <a:ext cx="566928" cy="566928"/>
          </a:xfrm>
          <a:prstGeom prst="ellipse">
            <a:avLst/>
          </a:prstGeom>
          <a:solidFill>
            <a:srgbClr val="6A4C93"/>
          </a:solidFill>
          <a:ln w="6350">
            <a:solidFill>
              <a:srgbClr val="6A4C93"/>
            </a:solidFill>
            <a:prstDash val="solid"/>
          </a:ln>
        </p:spPr>
      </p:sp>
      <p:pic>
        <p:nvPicPr>
          <p:cNvPr id="28" name="anim5_322" descr="question icon">    </p:cNvPr>
          <p:cNvPicPr>
            <a:picLocks noChangeAspect="1"/>
          </p:cNvPicPr>
          <p:nvPr/>
        </p:nvPicPr>
        <p:blipFill>
          <a:blip r:embed="rId6"/>
          <a:stretch>
            <a:fillRect/>
          </a:stretch>
        </p:blipFill>
        <p:spPr>
          <a:xfrm>
            <a:off x="8428391" y="4011839"/>
            <a:ext cx="260787" cy="260787"/>
          </a:xfrm>
          <a:prstGeom prst="rect">
            <a:avLst/>
          </a:prstGeom>
        </p:spPr>
      </p:pic>
      <p:sp>
        <p:nvSpPr>
          <p:cNvPr id="29" name="anim5_323"/>
          <p:cNvSpPr txBox="1"/>
          <p:nvPr/>
        </p:nvSpPr>
        <p:spPr>
          <a:xfrm>
            <a:off x="8961120" y="3840480"/>
            <a:ext cx="2560320" cy="365760"/>
          </a:xfrm>
          <a:prstGeom prst="rect">
            <a:avLst/>
          </a:prstGeom>
          <a:noFill/>
          <a:ln/>
        </p:spPr>
        <p:txBody>
          <a:bodyPr wrap="square" lIns="0" tIns="0" rIns="0" bIns="0" rtlCol="0" anchor="t"/>
          <a:lstStyle/>
          <a:p>
            <a:pPr indent="0" marL="0">
              <a:buNone/>
            </a:pPr>
            <a:r>
              <a:rPr lang="en-US" sz="1650" b="1" dirty="0">
                <a:solidFill>
                  <a:srgbClr val="6A4C93"/>
                </a:solidFill>
                <a:latin typeface="Cambria" pitchFamily="34" charset="0"/>
                <a:ea typeface="Cambria" pitchFamily="34" charset="-122"/>
                <a:cs typeface="Cambria" pitchFamily="34" charset="-120"/>
              </a:rPr>
              <a:t>Food addiction</a:t>
            </a:r>
            <a:endParaRPr lang="en-US" sz="1650" dirty="0"/>
          </a:p>
        </p:txBody>
      </p:sp>
      <p:sp>
        <p:nvSpPr>
          <p:cNvPr id="30" name="anim5_324"/>
          <p:cNvSpPr txBox="1"/>
          <p:nvPr/>
        </p:nvSpPr>
        <p:spPr>
          <a:xfrm>
            <a:off x="8961120" y="4187952"/>
            <a:ext cx="2560320" cy="2743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Research construct</a:t>
            </a:r>
            <a:endParaRPr lang="en-US" sz="1200" dirty="0"/>
          </a:p>
        </p:txBody>
      </p:sp>
      <p:sp>
        <p:nvSpPr>
          <p:cNvPr id="31" name="anim5_325"/>
          <p:cNvSpPr txBox="1"/>
          <p:nvPr/>
        </p:nvSpPr>
        <p:spPr>
          <a:xfrm>
            <a:off x="8275320" y="4617720"/>
            <a:ext cx="3154680" cy="109728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Dependence-like relationship with food; binge episodes not required</a:t>
            </a:r>
            <a:endParaRPr lang="en-US" sz="1400" dirty="0"/>
          </a:p>
        </p:txBody>
      </p:sp>
      <p:sp>
        <p:nvSpPr>
          <p:cNvPr id="32" name="Text 2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Gearhardt and Schulte 2021; Meule and Gearhardt 2014; American Psychiatric Association 2022; World Health Organization 2022; Hebebrand et al. 2014.</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2" fill="hold">
                      <p:stCondLst>
                        <p:cond delay="indefinite"/>
                        <p:cond evt="onBegin" delay="0">
                          <p:tn val="2"/>
                        </p:cond>
                      </p:stCondLst>
                      <p:childTnLst>
                        <p:par>
                          <p:cTn id="15"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childTnLst>
                          </p:cTn>
                        </p:par>
                        <p:par>
                          <p:cTn id="34" fill="hold">
                            <p:stCondLst>
                              <p:cond delay="380"/>
                            </p:stCondLst>
                            <p:childTnLst>
                              <p:par>
                                <p:cTn id="16" presetID="10"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3"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par>
                          <p:cTn id="72" fill="hold">
                            <p:stCondLst>
                              <p:cond delay="380"/>
                            </p:stCondLst>
                            <p:childTnLst>
                              <p:par>
                                <p:cTn id="54" presetID="10" presetClass="entr" presetSubtype="0"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childTnLst>
                          </p:cTn>
                        </p:par>
                        <p:par>
                          <p:cTn id="91" fill="hold">
                            <p:stCondLst>
                              <p:cond delay="380"/>
                            </p:stCondLst>
                            <p:childTnLst>
                              <p:par>
                                <p:cTn id="73" presetID="10" presetClass="entr" presetSubtype="0" fill="hold"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Translating DSM-5 substance-use criteria to eating</a:t>
            </a:r>
            <a:endParaRPr lang="en-US" sz="3200" dirty="0"/>
          </a:p>
        </p:txBody>
      </p:sp>
      <p:graphicFrame>
        <p:nvGraphicFramePr>
          <p:cNvPr id="15" name="dsmTable"/>
          <p:cNvGraphicFramePr>
            <a:graphicFrameLocks noGrp="1"/>
          </p:cNvGraphicFramePr>
          <p:nvPr>
            <p:extLst>
              <p:ext uri="{D42A27DB-BD31-4B8C-83A1-F6EECF244321}">
                <p14:modId xmlns:p14="http://schemas.microsoft.com/office/powerpoint/2010/main" val="1579011935"/>
              </p:ext>
            </p:extLst>
          </p:nvPr>
        </p:nvGraphicFramePr>
        <p:xfrm>
          <a:off x="548640" y="1298448"/>
          <a:ext cx="7818120" cy="914400"/>
        </p:xfrm>
        <a:graphic>
          <a:graphicData uri="http://schemas.openxmlformats.org/drawingml/2006/table">
            <a:tbl>
              <a:tblPr/>
              <a:tblGrid>
                <a:gridCol w="2834640"/>
                <a:gridCol w="3063240"/>
                <a:gridCol w="1920240"/>
              </a:tblGrid>
              <a:tr h="35661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DSM-5 criterion</a:t>
                      </a:r>
                      <a:endParaRPr lang="en-US" sz="125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Possible equivalent in eating</a:t>
                      </a:r>
                      <a:endParaRPr lang="en-US" sz="125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Larger amounts or longer than intended</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Eating more, or for longer, than intended</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3B7D5A"/>
                          </a:solidFill>
                          <a:latin typeface="Calibri" pitchFamily="34" charset="0"/>
                          <a:ea typeface="Calibri" pitchFamily="34" charset="-122"/>
                          <a:cs typeface="Calibri" pitchFamily="34" charset="-120"/>
                        </a:rPr>
                        <a:t>Empirical support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Persistent desire or failed efforts to cut down</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Failed attempts to cut down or control intake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b="1" dirty="0">
                          <a:solidFill>
                            <a:srgbClr val="3B7D5A"/>
                          </a:solidFill>
                          <a:latin typeface="Calibri" pitchFamily="34" charset="0"/>
                          <a:ea typeface="Calibri" pitchFamily="34" charset="-122"/>
                          <a:cs typeface="Calibri" pitchFamily="34" charset="-120"/>
                        </a:rPr>
                        <a:t>Empirical support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Much time obtaining, using, recovering</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Time spent obtaining food, overeating, recovering</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Craving</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Intense craving for specific foods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b="1" dirty="0">
                          <a:solidFill>
                            <a:srgbClr val="3B7D5A"/>
                          </a:solidFill>
                          <a:latin typeface="Calibri" pitchFamily="34" charset="0"/>
                          <a:ea typeface="Calibri" pitchFamily="34" charset="-122"/>
                          <a:cs typeface="Calibri" pitchFamily="34" charset="-120"/>
                        </a:rPr>
                        <a:t>Empirical support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Failure to fulfil major roles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Overeating impairs work, school or home roles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Use despite social problems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Overeating despite interpersonal problems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Activities given up</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Activities reduced because of overeating</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Hazardous use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Overeating in physically hazardous situations</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Use despite physical or psychological harm</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Overeating despite known harm</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3B7D5A"/>
                          </a:solidFill>
                          <a:latin typeface="Calibri" pitchFamily="34" charset="0"/>
                          <a:ea typeface="Calibri" pitchFamily="34" charset="-122"/>
                          <a:cs typeface="Calibri" pitchFamily="34" charset="-120"/>
                        </a:rPr>
                        <a:t>Empirical support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Tolerance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More food needed for the same effect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00" b="1" dirty="0">
                          <a:solidFill>
                            <a:srgbClr val="D88A1F"/>
                          </a:solidFill>
                          <a:latin typeface="Calibri" pitchFamily="34" charset="0"/>
                          <a:ea typeface="Calibri" pitchFamily="34" charset="-122"/>
                          <a:cs typeface="Calibri" pitchFamily="34" charset="-120"/>
                        </a:rPr>
                        <a:t>Conceivable</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356616">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Withdrawal</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latin typeface="Calibri" pitchFamily="34" charset="0"/>
                          <a:ea typeface="Calibri" pitchFamily="34" charset="-122"/>
                          <a:cs typeface="Calibri" pitchFamily="34" charset="-120"/>
                        </a:rPr>
                        <a:t>Irritability or restlessness when abstaining</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B3393C"/>
                          </a:solidFill>
                          <a:latin typeface="Calibri" pitchFamily="34" charset="0"/>
                          <a:ea typeface="Calibri" pitchFamily="34" charset="-122"/>
                          <a:cs typeface="Calibri" pitchFamily="34" charset="-120"/>
                        </a:rPr>
                        <a:t>Conceivable; confounded by energy deficit</a:t>
                      </a:r>
                      <a:endParaRPr lang="en-US" sz="1200" dirty="0">
                        <a:latin typeface="Calibri" charset="0"/>
                        <a:ea typeface="Calibri" charset="0"/>
                        <a:cs typeface="Calibri" charset="0"/>
                      </a:endParaRPr>
                    </a:p>
                  </a:txBody>
                  <a:tcPr marL="63500" marR="63500" marT="25400" marB="254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bl>
          </a:graphicData>
        </a:graphic>
      </p:graphicFrame>
      <p:sp>
        <p:nvSpPr>
          <p:cNvPr id="5" name="anim1_326"/>
          <p:cNvSpPr/>
          <p:nvPr/>
        </p:nvSpPr>
        <p:spPr>
          <a:xfrm>
            <a:off x="8641080" y="1298448"/>
            <a:ext cx="2971800" cy="2148840"/>
          </a:xfrm>
          <a:prstGeom prst="roundRect">
            <a:avLst>
              <a:gd name="adj" fmla="val 340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 name="anim1_327"/>
          <p:cNvSpPr/>
          <p:nvPr/>
        </p:nvSpPr>
        <p:spPr>
          <a:xfrm>
            <a:off x="8842248" y="1481328"/>
            <a:ext cx="548640" cy="548640"/>
          </a:xfrm>
          <a:prstGeom prst="ellipse">
            <a:avLst/>
          </a:prstGeom>
          <a:solidFill>
            <a:srgbClr val="6A4C93"/>
          </a:solidFill>
          <a:ln w="6350">
            <a:solidFill>
              <a:srgbClr val="6A4C93"/>
            </a:solidFill>
            <a:prstDash val="solid"/>
          </a:ln>
        </p:spPr>
      </p:sp>
      <p:pic>
        <p:nvPicPr>
          <p:cNvPr id="7" name="anim1_328" descr="scaleU icon">    </p:cNvPr>
          <p:cNvPicPr>
            <a:picLocks noChangeAspect="1"/>
          </p:cNvPicPr>
          <p:nvPr/>
        </p:nvPicPr>
        <p:blipFill>
          <a:blip r:embed="rId1"/>
          <a:stretch>
            <a:fillRect/>
          </a:stretch>
        </p:blipFill>
        <p:spPr>
          <a:xfrm>
            <a:off x="8990381" y="1629461"/>
            <a:ext cx="252374" cy="252374"/>
          </a:xfrm>
          <a:prstGeom prst="rect">
            <a:avLst/>
          </a:prstGeom>
        </p:spPr>
      </p:pic>
      <p:sp>
        <p:nvSpPr>
          <p:cNvPr id="8" name="anim1_329"/>
          <p:cNvSpPr txBox="1"/>
          <p:nvPr/>
        </p:nvSpPr>
        <p:spPr>
          <a:xfrm>
            <a:off x="9509760" y="1463040"/>
            <a:ext cx="2011680" cy="603504"/>
          </a:xfrm>
          <a:prstGeom prst="rect">
            <a:avLst/>
          </a:prstGeom>
          <a:noFill/>
          <a:ln/>
        </p:spPr>
        <p:txBody>
          <a:bodyPr wrap="square" lIns="0" tIns="0" rIns="0" bIns="0" rtlCol="0" anchor="ctr"/>
          <a:lstStyle/>
          <a:p>
            <a:pPr indent="0" marL="0">
              <a:buNone/>
            </a:pPr>
            <a:r>
              <a:rPr lang="en-US" sz="1500" b="1" dirty="0">
                <a:solidFill>
                  <a:srgbClr val="6A4C93"/>
                </a:solidFill>
                <a:latin typeface="Cambria" pitchFamily="34" charset="0"/>
                <a:ea typeface="Cambria" pitchFamily="34" charset="-122"/>
                <a:cs typeface="Cambria" pitchFamily="34" charset="-120"/>
              </a:rPr>
              <a:t>An asymmetric standard</a:t>
            </a:r>
            <a:endParaRPr lang="en-US" sz="1500" dirty="0"/>
          </a:p>
        </p:txBody>
      </p:sp>
      <p:sp>
        <p:nvSpPr>
          <p:cNvPr id="9" name="anim1_330"/>
          <p:cNvSpPr txBox="1"/>
          <p:nvPr/>
        </p:nvSpPr>
        <p:spPr>
          <a:xfrm>
            <a:off x="8842248" y="2167128"/>
            <a:ext cx="2606040" cy="123444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No drug meets every criterion: caffeine lacks several, and tobacco has no intoxication syndrome.</a:t>
            </a:r>
            <a:endParaRPr lang="en-US" sz="1300" dirty="0"/>
          </a:p>
        </p:txBody>
      </p:sp>
      <p:sp>
        <p:nvSpPr>
          <p:cNvPr id="10" name="anim2_331"/>
          <p:cNvSpPr/>
          <p:nvPr/>
        </p:nvSpPr>
        <p:spPr>
          <a:xfrm>
            <a:off x="8641080" y="3630168"/>
            <a:ext cx="2971800" cy="2148840"/>
          </a:xfrm>
          <a:prstGeom prst="roundRect">
            <a:avLst>
              <a:gd name="adj" fmla="val 340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332"/>
          <p:cNvSpPr/>
          <p:nvPr/>
        </p:nvSpPr>
        <p:spPr>
          <a:xfrm>
            <a:off x="8842248" y="3813048"/>
            <a:ext cx="548640" cy="548640"/>
          </a:xfrm>
          <a:prstGeom prst="ellipse">
            <a:avLst/>
          </a:prstGeom>
          <a:solidFill>
            <a:srgbClr val="B3393C"/>
          </a:solidFill>
          <a:ln w="6350">
            <a:solidFill>
              <a:srgbClr val="B3393C"/>
            </a:solidFill>
            <a:prstDash val="solid"/>
          </a:ln>
        </p:spPr>
      </p:sp>
      <p:pic>
        <p:nvPicPr>
          <p:cNvPr id="12" name="anim2_333" descr="arrowUp icon">    </p:cNvPr>
          <p:cNvPicPr>
            <a:picLocks noChangeAspect="1"/>
          </p:cNvPicPr>
          <p:nvPr/>
        </p:nvPicPr>
        <p:blipFill>
          <a:blip r:embed="rId2"/>
          <a:stretch>
            <a:fillRect/>
          </a:stretch>
        </p:blipFill>
        <p:spPr>
          <a:xfrm>
            <a:off x="8990381" y="3961181"/>
            <a:ext cx="252374" cy="252374"/>
          </a:xfrm>
          <a:prstGeom prst="rect">
            <a:avLst/>
          </a:prstGeom>
        </p:spPr>
      </p:pic>
      <p:sp>
        <p:nvSpPr>
          <p:cNvPr id="13" name="anim2_334"/>
          <p:cNvSpPr txBox="1"/>
          <p:nvPr/>
        </p:nvSpPr>
        <p:spPr>
          <a:xfrm>
            <a:off x="9509760" y="3794760"/>
            <a:ext cx="2011680" cy="603504"/>
          </a:xfrm>
          <a:prstGeom prst="rect">
            <a:avLst/>
          </a:prstGeom>
          <a:noFill/>
          <a:ln/>
        </p:spPr>
        <p:txBody>
          <a:bodyPr wrap="square" lIns="0" tIns="0" rIns="0" bIns="0" rtlCol="0" anchor="ctr"/>
          <a:lstStyle/>
          <a:p>
            <a:pPr indent="0" marL="0">
              <a:buNone/>
            </a:pPr>
            <a:r>
              <a:rPr lang="en-US" sz="1500" b="1" dirty="0">
                <a:solidFill>
                  <a:srgbClr val="B3393C"/>
                </a:solidFill>
                <a:latin typeface="Cambria" pitchFamily="34" charset="0"/>
                <a:ea typeface="Cambria" pitchFamily="34" charset="-122"/>
                <a:cs typeface="Cambria" pitchFamily="34" charset="-120"/>
              </a:rPr>
              <a:t>Lower thresholds, higher prevalence</a:t>
            </a:r>
            <a:endParaRPr lang="en-US" sz="1500" dirty="0"/>
          </a:p>
        </p:txBody>
      </p:sp>
      <p:sp>
        <p:nvSpPr>
          <p:cNvPr id="14" name="anim2_335"/>
          <p:cNvSpPr txBox="1"/>
          <p:nvPr/>
        </p:nvSpPr>
        <p:spPr>
          <a:xfrm>
            <a:off x="8842248" y="4498848"/>
            <a:ext cx="2606040" cy="123444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DSM-IV needed ≥3 symptoms; DSM-5 “mild” needs ≥2. Direct transfer risks overestimating food addiction.</a:t>
            </a:r>
            <a:endParaRPr lang="en-US" sz="1300" dirty="0"/>
          </a:p>
        </p:txBody>
      </p:sp>
      <p:sp>
        <p:nvSpPr>
          <p:cNvPr id="15" name="Text 9"/>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Meule and Gearhardt 2014; American Psychiatric Association 2013.</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Measuring it: the Yale Food Addiction Scale</a:t>
            </a:r>
            <a:endParaRPr lang="en-US" sz="3200" dirty="0"/>
          </a:p>
        </p:txBody>
      </p:sp>
      <p:sp>
        <p:nvSpPr>
          <p:cNvPr id="4" name="yline"/>
          <p:cNvSpPr/>
          <p:nvPr/>
        </p:nvSpPr>
        <p:spPr>
          <a:xfrm>
            <a:off x="822960" y="1572768"/>
            <a:ext cx="10515600" cy="0"/>
          </a:xfrm>
          <a:prstGeom prst="line">
            <a:avLst/>
          </a:prstGeom>
          <a:noFill/>
          <a:ln w="25400">
            <a:solidFill>
              <a:srgbClr val="D5DCE3"/>
            </a:solidFill>
            <a:prstDash val="solid"/>
          </a:ln>
        </p:spPr>
      </p:sp>
      <p:sp>
        <p:nvSpPr>
          <p:cNvPr id="5" name="anim1_336"/>
          <p:cNvSpPr/>
          <p:nvPr/>
        </p:nvSpPr>
        <p:spPr>
          <a:xfrm>
            <a:off x="1325880" y="1389888"/>
            <a:ext cx="1051560" cy="365760"/>
          </a:xfrm>
          <a:prstGeom prst="roundRect">
            <a:avLst>
              <a:gd name="adj" fmla="val 50000"/>
            </a:avLst>
          </a:prstGeom>
          <a:solidFill>
            <a:srgbClr val="6A4C93"/>
          </a:solidFill>
          <a:ln>
            <a:solidFill>
              <a:srgbClr val="6A4C93"/>
            </a:solidFill>
          </a:ln>
        </p:spPr>
        <p:txBody>
          <a:bodyPr wrap="square" lIns="0" tIns="0" rIns="0" bIns="0" rtlCol="0" anchor="ctr"/>
          <a:lstStyle/>
          <a:p>
            <a:pPr algn="ctr" indent="0" marL="0">
              <a:buNone/>
            </a:pPr>
            <a:r>
              <a:rPr lang="en-US" sz="1300" b="1" dirty="0">
                <a:solidFill>
                  <a:srgbClr val="FFFFFF"/>
                </a:solidFill>
              </a:rPr>
              <a:t>2009</a:t>
            </a:r>
            <a:endParaRPr lang="en-US" sz="1300" dirty="0"/>
          </a:p>
        </p:txBody>
      </p:sp>
      <p:sp>
        <p:nvSpPr>
          <p:cNvPr id="6" name="anim1_337"/>
          <p:cNvSpPr/>
          <p:nvPr/>
        </p:nvSpPr>
        <p:spPr>
          <a:xfrm>
            <a:off x="548640" y="1901952"/>
            <a:ext cx="2606040" cy="1234440"/>
          </a:xfrm>
          <a:prstGeom prst="roundRect">
            <a:avLst>
              <a:gd name="adj" fmla="val 592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7" name="anim1_338"/>
          <p:cNvSpPr txBox="1"/>
          <p:nvPr/>
        </p:nvSpPr>
        <p:spPr>
          <a:xfrm>
            <a:off x="731520" y="1965960"/>
            <a:ext cx="2240280" cy="347472"/>
          </a:xfrm>
          <a:prstGeom prst="rect">
            <a:avLst/>
          </a:prstGeom>
          <a:noFill/>
          <a:ln/>
        </p:spPr>
        <p:txBody>
          <a:bodyPr wrap="square" lIns="0" tIns="0" rIns="0" bIns="0" rtlCol="0" anchor="t"/>
          <a:lstStyle/>
          <a:p>
            <a:pPr algn="ctr" indent="0" marL="0">
              <a:buNone/>
            </a:pPr>
            <a:r>
              <a:rPr lang="en-US" sz="1600" b="1" dirty="0">
                <a:solidFill>
                  <a:srgbClr val="6A4C93"/>
                </a:solidFill>
                <a:latin typeface="Cambria" pitchFamily="34" charset="0"/>
                <a:ea typeface="Cambria" pitchFamily="34" charset="-122"/>
                <a:cs typeface="Cambria" pitchFamily="34" charset="-120"/>
              </a:rPr>
              <a:t>YFAS</a:t>
            </a:r>
            <a:endParaRPr lang="en-US" sz="1600" dirty="0"/>
          </a:p>
        </p:txBody>
      </p:sp>
      <p:sp>
        <p:nvSpPr>
          <p:cNvPr id="8" name="anim1_339"/>
          <p:cNvSpPr txBox="1"/>
          <p:nvPr/>
        </p:nvSpPr>
        <p:spPr>
          <a:xfrm>
            <a:off x="731520" y="2331720"/>
            <a:ext cx="2240280" cy="749808"/>
          </a:xfrm>
          <a:prstGeom prst="rect">
            <a:avLst/>
          </a:prstGeom>
          <a:noFill/>
          <a:ln/>
        </p:spPr>
        <p:txBody>
          <a:bodyPr wrap="square" lIns="0" tIns="0" rIns="0" bIns="0" rtlCol="0" anchor="t"/>
          <a:lstStyle/>
          <a:p>
            <a:pPr algn="ctr" indent="0" marL="0">
              <a:buNone/>
            </a:pPr>
            <a:r>
              <a:rPr lang="en-US" sz="1200" dirty="0">
                <a:solidFill>
                  <a:srgbClr val="1B1F24"/>
                </a:solidFill>
                <a:latin typeface="Calibri" pitchFamily="34" charset="0"/>
                <a:ea typeface="Calibri" pitchFamily="34" charset="-122"/>
                <a:cs typeface="Calibri" pitchFamily="34" charset="-120"/>
              </a:rPr>
              <a:t>DSM-IV based · 25 items · 7 symptoms + distress · cut-off ≥3 symptoms + distress</a:t>
            </a:r>
            <a:endParaRPr lang="en-US" sz="1200" dirty="0"/>
          </a:p>
        </p:txBody>
      </p:sp>
      <p:sp>
        <p:nvSpPr>
          <p:cNvPr id="9" name="anim2_340"/>
          <p:cNvSpPr/>
          <p:nvPr/>
        </p:nvSpPr>
        <p:spPr>
          <a:xfrm>
            <a:off x="4142232" y="1389888"/>
            <a:ext cx="1051560" cy="365760"/>
          </a:xfrm>
          <a:prstGeom prst="roundRect">
            <a:avLst>
              <a:gd name="adj" fmla="val 50000"/>
            </a:avLst>
          </a:prstGeom>
          <a:solidFill>
            <a:srgbClr val="6A4C93"/>
          </a:solidFill>
          <a:ln>
            <a:solidFill>
              <a:srgbClr val="6A4C93"/>
            </a:solidFill>
          </a:ln>
        </p:spPr>
        <p:txBody>
          <a:bodyPr wrap="square" lIns="0" tIns="0" rIns="0" bIns="0" rtlCol="0" anchor="ctr"/>
          <a:lstStyle/>
          <a:p>
            <a:pPr algn="ctr" indent="0" marL="0">
              <a:buNone/>
            </a:pPr>
            <a:r>
              <a:rPr lang="en-US" sz="1300" b="1" dirty="0">
                <a:solidFill>
                  <a:srgbClr val="FFFFFF"/>
                </a:solidFill>
              </a:rPr>
              <a:t>2013</a:t>
            </a:r>
            <a:endParaRPr lang="en-US" sz="1300" dirty="0"/>
          </a:p>
        </p:txBody>
      </p:sp>
      <p:sp>
        <p:nvSpPr>
          <p:cNvPr id="10" name="anim2_341"/>
          <p:cNvSpPr/>
          <p:nvPr/>
        </p:nvSpPr>
        <p:spPr>
          <a:xfrm>
            <a:off x="3364992" y="1901952"/>
            <a:ext cx="2606040" cy="1234440"/>
          </a:xfrm>
          <a:prstGeom prst="roundRect">
            <a:avLst>
              <a:gd name="adj" fmla="val 592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342"/>
          <p:cNvSpPr txBox="1"/>
          <p:nvPr/>
        </p:nvSpPr>
        <p:spPr>
          <a:xfrm>
            <a:off x="3547872" y="1965960"/>
            <a:ext cx="2240280" cy="347472"/>
          </a:xfrm>
          <a:prstGeom prst="rect">
            <a:avLst/>
          </a:prstGeom>
          <a:noFill/>
          <a:ln/>
        </p:spPr>
        <p:txBody>
          <a:bodyPr wrap="square" lIns="0" tIns="0" rIns="0" bIns="0" rtlCol="0" anchor="t"/>
          <a:lstStyle/>
          <a:p>
            <a:pPr algn="ctr" indent="0" marL="0">
              <a:buNone/>
            </a:pPr>
            <a:r>
              <a:rPr lang="en-US" sz="1600" b="1" dirty="0">
                <a:solidFill>
                  <a:srgbClr val="6A4C93"/>
                </a:solidFill>
                <a:latin typeface="Cambria" pitchFamily="34" charset="0"/>
                <a:ea typeface="Cambria" pitchFamily="34" charset="-122"/>
                <a:cs typeface="Cambria" pitchFamily="34" charset="-120"/>
              </a:rPr>
              <a:t>YFAS-C</a:t>
            </a:r>
            <a:endParaRPr lang="en-US" sz="1600" dirty="0"/>
          </a:p>
        </p:txBody>
      </p:sp>
      <p:sp>
        <p:nvSpPr>
          <p:cNvPr id="12" name="anim2_343"/>
          <p:cNvSpPr txBox="1"/>
          <p:nvPr/>
        </p:nvSpPr>
        <p:spPr>
          <a:xfrm>
            <a:off x="3547872" y="2331720"/>
            <a:ext cx="2240280" cy="749808"/>
          </a:xfrm>
          <a:prstGeom prst="rect">
            <a:avLst/>
          </a:prstGeom>
          <a:noFill/>
          <a:ln/>
        </p:spPr>
        <p:txBody>
          <a:bodyPr wrap="square" lIns="0" tIns="0" rIns="0" bIns="0" rtlCol="0" anchor="t"/>
          <a:lstStyle/>
          <a:p>
            <a:pPr algn="ctr" indent="0" marL="0">
              <a:buNone/>
            </a:pPr>
            <a:r>
              <a:rPr lang="en-US" sz="1200" dirty="0">
                <a:solidFill>
                  <a:srgbClr val="1B1F24"/>
                </a:solidFill>
                <a:latin typeface="Calibri" pitchFamily="34" charset="0"/>
                <a:ea typeface="Calibri" pitchFamily="34" charset="-122"/>
                <a:cs typeface="Calibri" pitchFamily="34" charset="-120"/>
              </a:rPr>
              <a:t>Adapted for children and adolescents</a:t>
            </a:r>
            <a:endParaRPr lang="en-US" sz="1200" dirty="0"/>
          </a:p>
        </p:txBody>
      </p:sp>
      <p:sp>
        <p:nvSpPr>
          <p:cNvPr id="13" name="anim3_344"/>
          <p:cNvSpPr/>
          <p:nvPr/>
        </p:nvSpPr>
        <p:spPr>
          <a:xfrm>
            <a:off x="6958584" y="1389888"/>
            <a:ext cx="1051560" cy="365760"/>
          </a:xfrm>
          <a:prstGeom prst="roundRect">
            <a:avLst>
              <a:gd name="adj" fmla="val 50000"/>
            </a:avLst>
          </a:prstGeom>
          <a:solidFill>
            <a:srgbClr val="6A4C93"/>
          </a:solidFill>
          <a:ln>
            <a:solidFill>
              <a:srgbClr val="6A4C93"/>
            </a:solidFill>
          </a:ln>
        </p:spPr>
        <p:txBody>
          <a:bodyPr wrap="square" lIns="0" tIns="0" rIns="0" bIns="0" rtlCol="0" anchor="ctr"/>
          <a:lstStyle/>
          <a:p>
            <a:pPr algn="ctr" indent="0" marL="0">
              <a:buNone/>
            </a:pPr>
            <a:r>
              <a:rPr lang="en-US" sz="1300" b="1" dirty="0">
                <a:solidFill>
                  <a:srgbClr val="FFFFFF"/>
                </a:solidFill>
              </a:rPr>
              <a:t>2016</a:t>
            </a:r>
            <a:endParaRPr lang="en-US" sz="1300" dirty="0"/>
          </a:p>
        </p:txBody>
      </p:sp>
      <p:sp>
        <p:nvSpPr>
          <p:cNvPr id="14" name="anim3_345"/>
          <p:cNvSpPr/>
          <p:nvPr/>
        </p:nvSpPr>
        <p:spPr>
          <a:xfrm>
            <a:off x="6181344" y="1901952"/>
            <a:ext cx="2606040" cy="1234440"/>
          </a:xfrm>
          <a:prstGeom prst="roundRect">
            <a:avLst>
              <a:gd name="adj" fmla="val 592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346"/>
          <p:cNvSpPr txBox="1"/>
          <p:nvPr/>
        </p:nvSpPr>
        <p:spPr>
          <a:xfrm>
            <a:off x="6364224" y="1965960"/>
            <a:ext cx="2240280" cy="347472"/>
          </a:xfrm>
          <a:prstGeom prst="rect">
            <a:avLst/>
          </a:prstGeom>
          <a:noFill/>
          <a:ln/>
        </p:spPr>
        <p:txBody>
          <a:bodyPr wrap="square" lIns="0" tIns="0" rIns="0" bIns="0" rtlCol="0" anchor="t"/>
          <a:lstStyle/>
          <a:p>
            <a:pPr algn="ctr" indent="0" marL="0">
              <a:buNone/>
            </a:pPr>
            <a:r>
              <a:rPr lang="en-US" sz="1600" b="1" dirty="0">
                <a:solidFill>
                  <a:srgbClr val="6A4C93"/>
                </a:solidFill>
                <a:latin typeface="Cambria" pitchFamily="34" charset="0"/>
                <a:ea typeface="Cambria" pitchFamily="34" charset="-122"/>
                <a:cs typeface="Cambria" pitchFamily="34" charset="-120"/>
              </a:rPr>
              <a:t>YFAS 2.0</a:t>
            </a:r>
            <a:endParaRPr lang="en-US" sz="1600" dirty="0"/>
          </a:p>
        </p:txBody>
      </p:sp>
      <p:sp>
        <p:nvSpPr>
          <p:cNvPr id="16" name="anim3_347"/>
          <p:cNvSpPr txBox="1"/>
          <p:nvPr/>
        </p:nvSpPr>
        <p:spPr>
          <a:xfrm>
            <a:off x="6364224" y="2331720"/>
            <a:ext cx="2240280" cy="749808"/>
          </a:xfrm>
          <a:prstGeom prst="rect">
            <a:avLst/>
          </a:prstGeom>
          <a:noFill/>
          <a:ln/>
        </p:spPr>
        <p:txBody>
          <a:bodyPr wrap="square" lIns="0" tIns="0" rIns="0" bIns="0" rtlCol="0" anchor="t"/>
          <a:lstStyle/>
          <a:p>
            <a:pPr algn="ctr" indent="0" marL="0">
              <a:buNone/>
            </a:pPr>
            <a:r>
              <a:rPr lang="en-US" sz="1200" dirty="0">
                <a:solidFill>
                  <a:srgbClr val="1B1F24"/>
                </a:solidFill>
                <a:latin typeface="Calibri" pitchFamily="34" charset="0"/>
                <a:ea typeface="Calibri" pitchFamily="34" charset="-122"/>
                <a:cs typeface="Calibri" pitchFamily="34" charset="-120"/>
              </a:rPr>
              <a:t>DSM-5 based · 35 items · 11 symptoms · mild, moderate, severe</a:t>
            </a:r>
            <a:endParaRPr lang="en-US" sz="1200" dirty="0"/>
          </a:p>
        </p:txBody>
      </p:sp>
      <p:sp>
        <p:nvSpPr>
          <p:cNvPr id="17" name="anim4_348"/>
          <p:cNvSpPr/>
          <p:nvPr/>
        </p:nvSpPr>
        <p:spPr>
          <a:xfrm>
            <a:off x="9774936" y="1389888"/>
            <a:ext cx="1051560" cy="365760"/>
          </a:xfrm>
          <a:prstGeom prst="roundRect">
            <a:avLst>
              <a:gd name="adj" fmla="val 50000"/>
            </a:avLst>
          </a:prstGeom>
          <a:solidFill>
            <a:srgbClr val="6A4C93"/>
          </a:solidFill>
          <a:ln>
            <a:solidFill>
              <a:srgbClr val="6A4C93"/>
            </a:solidFill>
          </a:ln>
        </p:spPr>
        <p:txBody>
          <a:bodyPr wrap="square" lIns="0" tIns="0" rIns="0" bIns="0" rtlCol="0" anchor="ctr"/>
          <a:lstStyle/>
          <a:p>
            <a:pPr algn="ctr" indent="0" marL="0">
              <a:buNone/>
            </a:pPr>
            <a:r>
              <a:rPr lang="en-US" sz="1300" b="1" dirty="0">
                <a:solidFill>
                  <a:srgbClr val="FFFFFF"/>
                </a:solidFill>
              </a:rPr>
              <a:t>2017</a:t>
            </a:r>
            <a:endParaRPr lang="en-US" sz="1300" dirty="0"/>
          </a:p>
        </p:txBody>
      </p:sp>
      <p:sp>
        <p:nvSpPr>
          <p:cNvPr id="18" name="anim4_349"/>
          <p:cNvSpPr/>
          <p:nvPr/>
        </p:nvSpPr>
        <p:spPr>
          <a:xfrm>
            <a:off x="8997696" y="1901952"/>
            <a:ext cx="2606040" cy="1234440"/>
          </a:xfrm>
          <a:prstGeom prst="roundRect">
            <a:avLst>
              <a:gd name="adj" fmla="val 592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9" name="anim4_350"/>
          <p:cNvSpPr txBox="1"/>
          <p:nvPr/>
        </p:nvSpPr>
        <p:spPr>
          <a:xfrm>
            <a:off x="9180576" y="1965960"/>
            <a:ext cx="2240280" cy="347472"/>
          </a:xfrm>
          <a:prstGeom prst="rect">
            <a:avLst/>
          </a:prstGeom>
          <a:noFill/>
          <a:ln/>
        </p:spPr>
        <p:txBody>
          <a:bodyPr wrap="square" lIns="0" tIns="0" rIns="0" bIns="0" rtlCol="0" anchor="t"/>
          <a:lstStyle/>
          <a:p>
            <a:pPr algn="ctr" indent="0" marL="0">
              <a:buNone/>
            </a:pPr>
            <a:r>
              <a:rPr lang="en-US" sz="1600" b="1" dirty="0">
                <a:solidFill>
                  <a:srgbClr val="6A4C93"/>
                </a:solidFill>
                <a:latin typeface="Cambria" pitchFamily="34" charset="0"/>
                <a:ea typeface="Cambria" pitchFamily="34" charset="-122"/>
                <a:cs typeface="Cambria" pitchFamily="34" charset="-120"/>
              </a:rPr>
              <a:t>mYFAS 2.0</a:t>
            </a:r>
            <a:endParaRPr lang="en-US" sz="1600" dirty="0"/>
          </a:p>
        </p:txBody>
      </p:sp>
      <p:sp>
        <p:nvSpPr>
          <p:cNvPr id="20" name="anim4_351"/>
          <p:cNvSpPr txBox="1"/>
          <p:nvPr/>
        </p:nvSpPr>
        <p:spPr>
          <a:xfrm>
            <a:off x="9180576" y="2331720"/>
            <a:ext cx="2240280" cy="749808"/>
          </a:xfrm>
          <a:prstGeom prst="rect">
            <a:avLst/>
          </a:prstGeom>
          <a:noFill/>
          <a:ln/>
        </p:spPr>
        <p:txBody>
          <a:bodyPr wrap="square" lIns="0" tIns="0" rIns="0" bIns="0" rtlCol="0" anchor="t"/>
          <a:lstStyle/>
          <a:p>
            <a:pPr algn="ctr" indent="0" marL="0">
              <a:buNone/>
            </a:pPr>
            <a:r>
              <a:rPr lang="en-US" sz="1200" dirty="0">
                <a:solidFill>
                  <a:srgbClr val="1B1F24"/>
                </a:solidFill>
                <a:latin typeface="Calibri" pitchFamily="34" charset="0"/>
                <a:ea typeface="Calibri" pitchFamily="34" charset="-122"/>
                <a:cs typeface="Calibri" pitchFamily="34" charset="-120"/>
              </a:rPr>
              <a:t>Short form · 13 items · 11 symptoms</a:t>
            </a:r>
            <a:endParaRPr lang="en-US" sz="1200" dirty="0"/>
          </a:p>
        </p:txBody>
      </p:sp>
      <p:sp>
        <p:nvSpPr>
          <p:cNvPr id="21" name="anim5_352"/>
          <p:cNvSpPr/>
          <p:nvPr/>
        </p:nvSpPr>
        <p:spPr>
          <a:xfrm>
            <a:off x="548640" y="3364992"/>
            <a:ext cx="5760720" cy="2606040"/>
          </a:xfrm>
          <a:prstGeom prst="roundRect">
            <a:avLst>
              <a:gd name="adj" fmla="val 2807"/>
            </a:avLst>
          </a:prstGeom>
          <a:solidFill>
            <a:srgbClr val="E8F2EC"/>
          </a:solidFill>
          <a:ln w="9525">
            <a:solidFill>
              <a:srgbClr val="CFE3D6"/>
            </a:solidFill>
            <a:prstDash val="solid"/>
          </a:ln>
          <a:effectLst>
            <a:outerShdw sx="100000" sy="100000" kx="0" ky="0" algn="bl" rotWithShape="0" blurRad="114300" dist="31750" dir="5400000">
              <a:srgbClr val="1B1F24">
                <a:alpha val="14000"/>
              </a:srgbClr>
            </a:outerShdw>
          </a:effectLst>
        </p:spPr>
      </p:sp>
      <p:sp>
        <p:nvSpPr>
          <p:cNvPr id="22" name="anim5_353"/>
          <p:cNvSpPr/>
          <p:nvPr/>
        </p:nvSpPr>
        <p:spPr>
          <a:xfrm>
            <a:off x="749808" y="3529584"/>
            <a:ext cx="502920" cy="502920"/>
          </a:xfrm>
          <a:prstGeom prst="ellipse">
            <a:avLst/>
          </a:prstGeom>
          <a:solidFill>
            <a:srgbClr val="3B7D5A"/>
          </a:solidFill>
          <a:ln w="6350">
            <a:solidFill>
              <a:srgbClr val="3B7D5A"/>
            </a:solidFill>
            <a:prstDash val="solid"/>
          </a:ln>
        </p:spPr>
      </p:sp>
      <p:pic>
        <p:nvPicPr>
          <p:cNvPr id="23" name="anim5_354" descr="flag icon">    </p:cNvPr>
          <p:cNvPicPr>
            <a:picLocks noChangeAspect="1"/>
          </p:cNvPicPr>
          <p:nvPr/>
        </p:nvPicPr>
        <p:blipFill>
          <a:blip r:embed="rId1"/>
          <a:stretch>
            <a:fillRect/>
          </a:stretch>
        </p:blipFill>
        <p:spPr>
          <a:xfrm>
            <a:off x="885596" y="3665372"/>
            <a:ext cx="231343" cy="231343"/>
          </a:xfrm>
          <a:prstGeom prst="rect">
            <a:avLst/>
          </a:prstGeom>
        </p:spPr>
      </p:pic>
      <p:sp>
        <p:nvSpPr>
          <p:cNvPr id="24" name="anim5_355"/>
          <p:cNvSpPr txBox="1"/>
          <p:nvPr/>
        </p:nvSpPr>
        <p:spPr>
          <a:xfrm>
            <a:off x="1389888" y="3547872"/>
            <a:ext cx="4572000" cy="457200"/>
          </a:xfrm>
          <a:prstGeom prst="rect">
            <a:avLst/>
          </a:prstGeom>
          <a:noFill/>
          <a:ln/>
        </p:spPr>
        <p:txBody>
          <a:bodyPr wrap="square" lIns="0" tIns="0" rIns="0" bIns="0" rtlCol="0" anchor="ctr"/>
          <a:lstStyle/>
          <a:p>
            <a:pPr indent="0" marL="0">
              <a:buNone/>
            </a:pPr>
            <a:r>
              <a:rPr lang="en-US" sz="1700" b="1" dirty="0">
                <a:solidFill>
                  <a:srgbClr val="3B7D5A"/>
                </a:solidFill>
                <a:latin typeface="Cambria" pitchFamily="34" charset="0"/>
                <a:ea typeface="Cambria" pitchFamily="34" charset="-122"/>
                <a:cs typeface="Cambria" pitchFamily="34" charset="-120"/>
              </a:rPr>
              <a:t>Persian validations</a:t>
            </a:r>
            <a:endParaRPr lang="en-US" sz="1700" dirty="0"/>
          </a:p>
        </p:txBody>
      </p:sp>
      <p:sp>
        <p:nvSpPr>
          <p:cNvPr id="25" name="anim5_356"/>
          <p:cNvSpPr txBox="1"/>
          <p:nvPr/>
        </p:nvSpPr>
        <p:spPr>
          <a:xfrm>
            <a:off x="777240" y="4114800"/>
            <a:ext cx="5349240" cy="1783080"/>
          </a:xfrm>
          <a:prstGeom prst="rect">
            <a:avLst/>
          </a:prstGeom>
          <a:noFill/>
          <a:ln/>
        </p:spPr>
        <p:txBody>
          <a:bodyPr wrap="square" lIns="0" tIns="0" rIns="0" bIns="0" rtlCol="0" anchor="t"/>
          <a:lstStyle/>
          <a:p>
            <a:pPr marL="342900" indent="-342900">
              <a:spcAft>
                <a:spcPts val="600"/>
              </a:spcAft>
              <a:buSzPct val="100000"/>
              <a:buChar char="•"/>
            </a:pPr>
            <a:r>
              <a:rPr lang="en-US" sz="1350" b="1" dirty="0">
                <a:solidFill>
                  <a:srgbClr val="1B1F24"/>
                </a:solidFill>
                <a:latin typeface="Calibri" pitchFamily="34" charset="0"/>
                <a:ea typeface="Calibri" pitchFamily="34" charset="-122"/>
                <a:cs typeface="Calibri" pitchFamily="34" charset="-120"/>
              </a:rPr>
              <a:t>Ghanbari 2022: </a:t>
            </a:r>
            <a:r>
              <a:rPr lang="en-US" sz="1350" dirty="0">
                <a:solidFill>
                  <a:srgbClr val="1B1F24"/>
                </a:solidFill>
                <a:latin typeface="Calibri" pitchFamily="34" charset="0"/>
                <a:ea typeface="Calibri" pitchFamily="34" charset="-122"/>
                <a:cs typeface="Calibri" pitchFamily="34" charset="-120"/>
              </a:rPr>
              <a:t>YFAS 2.0, 451 students: single factor; r = 0.58–0.72 with food craving</a:t>
            </a:r>
            <a:endParaRPr lang="en-US" sz="1350" dirty="0"/>
          </a:p>
          <a:p>
            <a:pPr marL="342900" indent="-342900">
              <a:spcAft>
                <a:spcPts val="600"/>
              </a:spcAft>
              <a:buSzPct val="100000"/>
              <a:buChar char="•"/>
            </a:pPr>
            <a:r>
              <a:rPr lang="en-US" sz="1350" b="1" dirty="0">
                <a:solidFill>
                  <a:srgbClr val="1B1F24"/>
                </a:solidFill>
                <a:latin typeface="Calibri" pitchFamily="34" charset="0"/>
                <a:ea typeface="Calibri" pitchFamily="34" charset="-122"/>
                <a:cs typeface="Calibri" pitchFamily="34" charset="-120"/>
              </a:rPr>
              <a:t>Tajik-Esmaeeli 2024: </a:t>
            </a:r>
            <a:r>
              <a:rPr lang="en-US" sz="1350" dirty="0">
                <a:solidFill>
                  <a:srgbClr val="1B1F24"/>
                </a:solidFill>
                <a:latin typeface="Calibri" pitchFamily="34" charset="0"/>
                <a:ea typeface="Calibri" pitchFamily="34" charset="-122"/>
                <a:cs typeface="Calibri" pitchFamily="34" charset="-120"/>
              </a:rPr>
              <a:t>Bariatric candidates: α = 0.89, ICC = 0.88</a:t>
            </a:r>
            <a:endParaRPr lang="en-US" sz="1350" dirty="0"/>
          </a:p>
          <a:p>
            <a:pPr marL="342900" indent="-342900">
              <a:spcAft>
                <a:spcPts val="600"/>
              </a:spcAft>
              <a:buSzPct val="100000"/>
              <a:buChar char="•"/>
            </a:pPr>
            <a:r>
              <a:rPr lang="en-US" sz="1350" b="1" dirty="0">
                <a:solidFill>
                  <a:srgbClr val="1B1F24"/>
                </a:solidFill>
                <a:latin typeface="Calibri" pitchFamily="34" charset="0"/>
                <a:ea typeface="Calibri" pitchFamily="34" charset="-122"/>
                <a:cs typeface="Calibri" pitchFamily="34" charset="-120"/>
              </a:rPr>
              <a:t>Niroumand Sarvandani 2024: </a:t>
            </a:r>
            <a:r>
              <a:rPr lang="en-US" sz="1350" dirty="0">
                <a:solidFill>
                  <a:srgbClr val="1B1F24"/>
                </a:solidFill>
                <a:latin typeface="Calibri" pitchFamily="34" charset="0"/>
                <a:ea typeface="Calibri" pitchFamily="34" charset="-122"/>
                <a:cs typeface="Calibri" pitchFamily="34" charset="-120"/>
              </a:rPr>
              <a:t>mPYFAS 2.0, n = 9,606: α = 0.83; gender invariance</a:t>
            </a:r>
            <a:endParaRPr lang="en-US" sz="1350" dirty="0"/>
          </a:p>
        </p:txBody>
      </p:sp>
      <p:sp>
        <p:nvSpPr>
          <p:cNvPr id="26" name="anim6_357"/>
          <p:cNvSpPr/>
          <p:nvPr/>
        </p:nvSpPr>
        <p:spPr>
          <a:xfrm>
            <a:off x="6537960" y="3364992"/>
            <a:ext cx="5074920" cy="2606040"/>
          </a:xfrm>
          <a:prstGeom prst="roundRect">
            <a:avLst>
              <a:gd name="adj" fmla="val 2807"/>
            </a:avLst>
          </a:prstGeom>
          <a:solidFill>
            <a:srgbClr val="F8E9E9"/>
          </a:solidFill>
          <a:ln w="9525">
            <a:solidFill>
              <a:srgbClr val="EBCACB"/>
            </a:solidFill>
            <a:prstDash val="solid"/>
          </a:ln>
          <a:effectLst>
            <a:outerShdw sx="100000" sy="100000" kx="0" ky="0" algn="bl" rotWithShape="0" blurRad="114300" dist="31750" dir="5400000">
              <a:srgbClr val="1B1F24">
                <a:alpha val="14000"/>
              </a:srgbClr>
            </a:outerShdw>
          </a:effectLst>
        </p:spPr>
      </p:sp>
      <p:sp>
        <p:nvSpPr>
          <p:cNvPr id="27" name="anim6_358"/>
          <p:cNvSpPr/>
          <p:nvPr/>
        </p:nvSpPr>
        <p:spPr>
          <a:xfrm>
            <a:off x="6739128" y="3529584"/>
            <a:ext cx="502920" cy="502920"/>
          </a:xfrm>
          <a:prstGeom prst="ellipse">
            <a:avLst/>
          </a:prstGeom>
          <a:solidFill>
            <a:srgbClr val="B3393C"/>
          </a:solidFill>
          <a:ln w="6350">
            <a:solidFill>
              <a:srgbClr val="B3393C"/>
            </a:solidFill>
            <a:prstDash val="solid"/>
          </a:ln>
        </p:spPr>
      </p:sp>
      <p:pic>
        <p:nvPicPr>
          <p:cNvPr id="28" name="anim6_359" descr="repeat icon">    </p:cNvPr>
          <p:cNvPicPr>
            <a:picLocks noChangeAspect="1"/>
          </p:cNvPicPr>
          <p:nvPr/>
        </p:nvPicPr>
        <p:blipFill>
          <a:blip r:embed="rId2"/>
          <a:stretch>
            <a:fillRect/>
          </a:stretch>
        </p:blipFill>
        <p:spPr>
          <a:xfrm>
            <a:off x="6874916" y="3665372"/>
            <a:ext cx="231343" cy="231343"/>
          </a:xfrm>
          <a:prstGeom prst="rect">
            <a:avLst/>
          </a:prstGeom>
        </p:spPr>
      </p:pic>
      <p:sp>
        <p:nvSpPr>
          <p:cNvPr id="29" name="anim6_360"/>
          <p:cNvSpPr txBox="1"/>
          <p:nvPr/>
        </p:nvSpPr>
        <p:spPr>
          <a:xfrm>
            <a:off x="7379208" y="3547872"/>
            <a:ext cx="4023360" cy="457200"/>
          </a:xfrm>
          <a:prstGeom prst="rect">
            <a:avLst/>
          </a:prstGeom>
          <a:noFill/>
          <a:ln/>
        </p:spPr>
        <p:txBody>
          <a:bodyPr wrap="square" lIns="0" tIns="0" rIns="0" bIns="0" rtlCol="0" anchor="ctr"/>
          <a:lstStyle/>
          <a:p>
            <a:pPr indent="0" marL="0">
              <a:buNone/>
            </a:pPr>
            <a:r>
              <a:rPr lang="en-US" sz="1700" b="1" dirty="0">
                <a:solidFill>
                  <a:srgbClr val="B3393C"/>
                </a:solidFill>
                <a:latin typeface="Cambria" pitchFamily="34" charset="0"/>
                <a:ea typeface="Cambria" pitchFamily="34" charset="-122"/>
                <a:cs typeface="Cambria" pitchFamily="34" charset="-120"/>
              </a:rPr>
              <a:t>The circularity problem</a:t>
            </a:r>
            <a:endParaRPr lang="en-US" sz="1700" dirty="0"/>
          </a:p>
        </p:txBody>
      </p:sp>
      <p:sp>
        <p:nvSpPr>
          <p:cNvPr id="30" name="anim6_361"/>
          <p:cNvSpPr txBox="1"/>
          <p:nvPr/>
        </p:nvSpPr>
        <p:spPr>
          <a:xfrm>
            <a:off x="6766560" y="4114800"/>
            <a:ext cx="4663440" cy="178308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A tool built from substance-use criteria cannot, on its own, prove the construct exists. Does YFAS capture anything beyond binge eating, emotional eating, loss-of-control eating and restraint?</a:t>
            </a:r>
            <a:endParaRPr lang="en-US" sz="1350" dirty="0"/>
          </a:p>
          <a:p>
            <a:pPr indent="0" marL="0">
              <a:buNone/>
            </a:pPr>
            <a:r>
              <a:rPr lang="en-US" sz="1350" b="1" dirty="0">
                <a:solidFill>
                  <a:srgbClr val="B3393C"/>
                </a:solidFill>
                <a:latin typeface="Calibri" pitchFamily="34" charset="0"/>
                <a:ea typeface="Calibri" pitchFamily="34" charset="-122"/>
                <a:cs typeface="Calibri" pitchFamily="34" charset="-120"/>
              </a:rPr>
              <a:t>→ Read prevalence as “YFAS-defined food addiction”.</a:t>
            </a:r>
            <a:endParaRPr lang="en-US" sz="1350" dirty="0"/>
          </a:p>
        </p:txBody>
      </p:sp>
      <p:sp>
        <p:nvSpPr>
          <p:cNvPr id="31" name="Text 26"/>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Gearhardt et al. 2009, 2013, 2016; Schulte and Gearhardt 2017; Ghanbari et al. 2022; Tajik-Esmaeeli et al. 2024; Niroumand Sarvandani et al. 2024; Ziauddeen and Fletcher 2013.</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7"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8"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1" fill="hold">
                            <p:stCondLst>
                              <p:cond delay="38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par>
                          <p:cTn id="54" fill="hold">
                            <p:stCondLst>
                              <p:cond delay="380"/>
                            </p:stCondLst>
                            <p:childTnLst>
                              <p:par>
                                <p:cTn id="42" presetID="10"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par>
                          <p:cTn id="70" fill="hold">
                            <p:stCondLst>
                              <p:cond delay="38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childTnLst>
                          </p:cTn>
                        </p:par>
                        <p:par>
                          <p:cTn id="86" fill="hold">
                            <p:stCondLst>
                              <p:cond delay="380"/>
                            </p:stCondLst>
                            <p:childTnLst>
                              <p:par>
                                <p:cTn id="71" presetID="10" presetClass="entr" presetSubtype="0" fill="hold" nodeType="after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4" grpId="0" animBg="1"/>
      <p:bldP spid="25" grpId="0" animBg="1"/>
      <p:bldP spid="29" grpId="0"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common is YFAS-defined food addiction?</a:t>
            </a:r>
            <a:endParaRPr lang="en-US" sz="3200" dirty="0"/>
          </a:p>
        </p:txBody>
      </p:sp>
      <p:graphicFrame>
        <p:nvGraphicFramePr>
          <p:cNvPr id="4" name="chartFA" descr=""/>
          <p:cNvGraphicFramePr/>
          <p:nvPr/>
        </p:nvGraphicFramePr>
        <p:xfrm>
          <a:off x="457200" y="1280160"/>
          <a:ext cx="7132320" cy="4617720"/>
        </p:xfrm>
        <a:graphic xmlns:a="http://schemas.openxmlformats.org/drawingml/2006/main">
          <a:graphicData uri="http://schemas.openxmlformats.org/drawingml/2006/chart">
            <c:chart xmlns:c="http://schemas.openxmlformats.org/drawingml/2006/chart" r:id="rId1"/>
          </a:graphicData>
        </a:graphic>
      </p:graphicFrame>
      <p:sp>
        <p:nvSpPr>
          <p:cNvPr id="5" name="anim1_362"/>
          <p:cNvSpPr/>
          <p:nvPr/>
        </p:nvSpPr>
        <p:spPr>
          <a:xfrm>
            <a:off x="7863840" y="1325880"/>
            <a:ext cx="3749040" cy="1399032"/>
          </a:xfrm>
          <a:prstGeom prst="roundRect">
            <a:avLst>
              <a:gd name="adj" fmla="val 522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 name="anim1_363"/>
          <p:cNvSpPr/>
          <p:nvPr/>
        </p:nvSpPr>
        <p:spPr>
          <a:xfrm>
            <a:off x="8028432" y="1481328"/>
            <a:ext cx="457200" cy="457200"/>
          </a:xfrm>
          <a:prstGeom prst="ellipse">
            <a:avLst/>
          </a:prstGeom>
          <a:solidFill>
            <a:srgbClr val="5B6B8C"/>
          </a:solidFill>
          <a:ln w="6350">
            <a:solidFill>
              <a:srgbClr val="5B6B8C"/>
            </a:solidFill>
            <a:prstDash val="solid"/>
          </a:ln>
        </p:spPr>
      </p:sp>
      <p:pic>
        <p:nvPicPr>
          <p:cNvPr id="7" name="anim1_364" descr="filter icon">    </p:cNvPr>
          <p:cNvPicPr>
            <a:picLocks noChangeAspect="1"/>
          </p:cNvPicPr>
          <p:nvPr/>
        </p:nvPicPr>
        <p:blipFill>
          <a:blip r:embed="rId2"/>
          <a:stretch>
            <a:fillRect/>
          </a:stretch>
        </p:blipFill>
        <p:spPr>
          <a:xfrm>
            <a:off x="8151876" y="1604772"/>
            <a:ext cx="210312" cy="210312"/>
          </a:xfrm>
          <a:prstGeom prst="rect">
            <a:avLst/>
          </a:prstGeom>
        </p:spPr>
      </p:pic>
      <p:sp>
        <p:nvSpPr>
          <p:cNvPr id="8" name="anim1_365"/>
          <p:cNvSpPr txBox="1"/>
          <p:nvPr/>
        </p:nvSpPr>
        <p:spPr>
          <a:xfrm>
            <a:off x="8613648" y="1435608"/>
            <a:ext cx="2880360" cy="548640"/>
          </a:xfrm>
          <a:prstGeom prst="rect">
            <a:avLst/>
          </a:prstGeom>
          <a:noFill/>
          <a:ln/>
        </p:spPr>
        <p:txBody>
          <a:bodyPr wrap="square" lIns="0" tIns="0" rIns="0" bIns="0" rtlCol="0" anchor="ctr"/>
          <a:lstStyle/>
          <a:p>
            <a:pPr indent="0" marL="0">
              <a:buNone/>
            </a:pPr>
            <a:r>
              <a:rPr lang="en-US" sz="1400" b="1" dirty="0">
                <a:solidFill>
                  <a:srgbClr val="5B6B8C"/>
                </a:solidFill>
                <a:latin typeface="Calibri" pitchFamily="34" charset="0"/>
                <a:ea typeface="Calibri" pitchFamily="34" charset="-122"/>
                <a:cs typeface="Calibri" pitchFamily="34" charset="-120"/>
              </a:rPr>
              <a:t>Depends on who, which version, which cut-off</a:t>
            </a:r>
            <a:endParaRPr lang="en-US" sz="1400" dirty="0"/>
          </a:p>
        </p:txBody>
      </p:sp>
      <p:sp>
        <p:nvSpPr>
          <p:cNvPr id="9" name="anim1_366"/>
          <p:cNvSpPr txBox="1"/>
          <p:nvPr/>
        </p:nvSpPr>
        <p:spPr>
          <a:xfrm>
            <a:off x="8046720" y="2002536"/>
            <a:ext cx="3429000" cy="694944"/>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Pooled 19.9% (95% CI 16.3–24.0) across 25 studies; BED bar = “more than 50%”.</a:t>
            </a:r>
            <a:endParaRPr lang="en-US" sz="1150" dirty="0"/>
          </a:p>
        </p:txBody>
      </p:sp>
      <p:sp>
        <p:nvSpPr>
          <p:cNvPr id="10" name="anim2_367"/>
          <p:cNvSpPr/>
          <p:nvPr/>
        </p:nvSpPr>
        <p:spPr>
          <a:xfrm>
            <a:off x="7863840" y="2862072"/>
            <a:ext cx="3749040" cy="1399032"/>
          </a:xfrm>
          <a:prstGeom prst="roundRect">
            <a:avLst>
              <a:gd name="adj" fmla="val 522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368"/>
          <p:cNvSpPr/>
          <p:nvPr/>
        </p:nvSpPr>
        <p:spPr>
          <a:xfrm>
            <a:off x="8028432" y="3017520"/>
            <a:ext cx="457200" cy="457200"/>
          </a:xfrm>
          <a:prstGeom prst="ellipse">
            <a:avLst/>
          </a:prstGeom>
          <a:solidFill>
            <a:srgbClr val="D88A1F"/>
          </a:solidFill>
          <a:ln w="6350">
            <a:solidFill>
              <a:srgbClr val="D88A1F"/>
            </a:solidFill>
            <a:prstDash val="solid"/>
          </a:ln>
        </p:spPr>
      </p:sp>
      <p:pic>
        <p:nvPicPr>
          <p:cNvPr id="12" name="anim2_369" descr="warn icon">    </p:cNvPr>
          <p:cNvPicPr>
            <a:picLocks noChangeAspect="1"/>
          </p:cNvPicPr>
          <p:nvPr/>
        </p:nvPicPr>
        <p:blipFill>
          <a:blip r:embed="rId3"/>
          <a:stretch>
            <a:fillRect/>
          </a:stretch>
        </p:blipFill>
        <p:spPr>
          <a:xfrm>
            <a:off x="8151876" y="3140964"/>
            <a:ext cx="210312" cy="210312"/>
          </a:xfrm>
          <a:prstGeom prst="rect">
            <a:avLst/>
          </a:prstGeom>
        </p:spPr>
      </p:pic>
      <p:sp>
        <p:nvSpPr>
          <p:cNvPr id="13" name="anim2_370"/>
          <p:cNvSpPr txBox="1"/>
          <p:nvPr/>
        </p:nvSpPr>
        <p:spPr>
          <a:xfrm>
            <a:off x="8613648" y="2971800"/>
            <a:ext cx="2880360" cy="548640"/>
          </a:xfrm>
          <a:prstGeom prst="rect">
            <a:avLst/>
          </a:prstGeom>
          <a:noFill/>
          <a:ln/>
        </p:spPr>
        <p:txBody>
          <a:bodyPr wrap="square" lIns="0" tIns="0" rIns="0" bIns="0" rtlCol="0" anchor="ctr"/>
          <a:lstStyle/>
          <a:p>
            <a:pPr indent="0" marL="0">
              <a:buNone/>
            </a:pPr>
            <a:r>
              <a:rPr lang="en-US" sz="1400" b="1" dirty="0">
                <a:solidFill>
                  <a:srgbClr val="D88A1F"/>
                </a:solidFill>
                <a:latin typeface="Calibri" pitchFamily="34" charset="0"/>
                <a:ea typeface="Calibri" pitchFamily="34" charset="-122"/>
                <a:cs typeface="Calibri" pitchFamily="34" charset="-120"/>
              </a:rPr>
              <a:t>A corrected meta-analysis</a:t>
            </a:r>
            <a:endParaRPr lang="en-US" sz="1400" dirty="0"/>
          </a:p>
        </p:txBody>
      </p:sp>
      <p:sp>
        <p:nvSpPr>
          <p:cNvPr id="14" name="anim2_371"/>
          <p:cNvSpPr txBox="1"/>
          <p:nvPr/>
        </p:nvSpPr>
        <p:spPr>
          <a:xfrm>
            <a:off x="8046720" y="3538728"/>
            <a:ext cx="3429000" cy="694944"/>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Meule (2024): bulimia estimates in Praxedes et al. clashed with primary studies (often &gt;80–95%); a correction confirmed subgroup underestimation.</a:t>
            </a:r>
            <a:endParaRPr lang="en-US" sz="1150" dirty="0"/>
          </a:p>
        </p:txBody>
      </p:sp>
      <p:sp>
        <p:nvSpPr>
          <p:cNvPr id="15" name="anim3_372"/>
          <p:cNvSpPr/>
          <p:nvPr/>
        </p:nvSpPr>
        <p:spPr>
          <a:xfrm>
            <a:off x="7863840" y="4398264"/>
            <a:ext cx="3749040" cy="1399032"/>
          </a:xfrm>
          <a:prstGeom prst="roundRect">
            <a:avLst>
              <a:gd name="adj" fmla="val 522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6" name="anim3_373"/>
          <p:cNvSpPr/>
          <p:nvPr/>
        </p:nvSpPr>
        <p:spPr>
          <a:xfrm>
            <a:off x="8028432" y="4553712"/>
            <a:ext cx="457200" cy="457200"/>
          </a:xfrm>
          <a:prstGeom prst="ellipse">
            <a:avLst/>
          </a:prstGeom>
          <a:solidFill>
            <a:srgbClr val="B3393C"/>
          </a:solidFill>
          <a:ln w="6350">
            <a:solidFill>
              <a:srgbClr val="B3393C"/>
            </a:solidFill>
            <a:prstDash val="solid"/>
          </a:ln>
        </p:spPr>
      </p:sp>
      <p:pic>
        <p:nvPicPr>
          <p:cNvPr id="17" name="anim3_374" descr="scaleU icon">    </p:cNvPr>
          <p:cNvPicPr>
            <a:picLocks noChangeAspect="1"/>
          </p:cNvPicPr>
          <p:nvPr/>
        </p:nvPicPr>
        <p:blipFill>
          <a:blip r:embed="rId4"/>
          <a:stretch>
            <a:fillRect/>
          </a:stretch>
        </p:blipFill>
        <p:spPr>
          <a:xfrm>
            <a:off x="8151876" y="4677156"/>
            <a:ext cx="210312" cy="210312"/>
          </a:xfrm>
          <a:prstGeom prst="rect">
            <a:avLst/>
          </a:prstGeom>
        </p:spPr>
      </p:pic>
      <p:sp>
        <p:nvSpPr>
          <p:cNvPr id="18" name="anim3_375"/>
          <p:cNvSpPr txBox="1"/>
          <p:nvPr/>
        </p:nvSpPr>
        <p:spPr>
          <a:xfrm>
            <a:off x="8613648" y="4507992"/>
            <a:ext cx="2880360" cy="548640"/>
          </a:xfrm>
          <a:prstGeom prst="rect">
            <a:avLst/>
          </a:prstGeom>
          <a:noFill/>
          <a:ln/>
        </p:spPr>
        <p:txBody>
          <a:bodyPr wrap="square" lIns="0" tIns="0" rIns="0" bIns="0" rtlCol="0" anchor="ctr"/>
          <a:lstStyle/>
          <a:p>
            <a:pPr indent="0" marL="0">
              <a:buNone/>
            </a:pPr>
            <a:r>
              <a:rPr lang="en-US" sz="1400" b="1" dirty="0">
                <a:solidFill>
                  <a:srgbClr val="B3393C"/>
                </a:solidFill>
                <a:latin typeface="Calibri" pitchFamily="34" charset="0"/>
                <a:ea typeface="Calibri" pitchFamily="34" charset="-122"/>
                <a:cs typeface="Calibri" pitchFamily="34" charset="-120"/>
              </a:rPr>
              <a:t>14% vs 13.9% is not equivalence</a:t>
            </a:r>
            <a:endParaRPr lang="en-US" sz="1400" dirty="0"/>
          </a:p>
        </p:txBody>
      </p:sp>
      <p:sp>
        <p:nvSpPr>
          <p:cNvPr id="19" name="anim3_376"/>
          <p:cNvSpPr txBox="1"/>
          <p:nvPr/>
        </p:nvSpPr>
        <p:spPr>
          <a:xfrm>
            <a:off x="8046720" y="5074920"/>
            <a:ext cx="3429000" cy="694944"/>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NESARC-III alcohol use disorder (13.9%) comes from diagnostic interviews; food addiction from self-report.</a:t>
            </a:r>
            <a:endParaRPr lang="en-US" sz="1150" dirty="0"/>
          </a:p>
        </p:txBody>
      </p:sp>
      <p:sp>
        <p:nvSpPr>
          <p:cNvPr id="20" name="Text 1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Pursey et al. 2014; Gearhardt et al. 2023; Meule 2024; Praxedes et al. 2022; Grant et al. 2015, 2016.</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Which foods are most linked to addictive-like eating?</a:t>
            </a:r>
            <a:endParaRPr lang="en-US" sz="3200" dirty="0"/>
          </a:p>
        </p:txBody>
      </p:sp>
      <p:sp>
        <p:nvSpPr>
          <p:cNvPr id="4" name="anim1_377"/>
          <p:cNvSpPr/>
          <p:nvPr/>
        </p:nvSpPr>
        <p:spPr>
          <a:xfrm>
            <a:off x="548640" y="1325880"/>
            <a:ext cx="3520440" cy="4572000"/>
          </a:xfrm>
          <a:prstGeom prst="roundRect">
            <a:avLst>
              <a:gd name="adj" fmla="val 2078"/>
            </a:avLst>
          </a:prstGeom>
          <a:solidFill>
            <a:srgbClr val="F8E9E9"/>
          </a:solidFill>
          <a:ln w="9525">
            <a:solidFill>
              <a:srgbClr val="B3393C"/>
            </a:solidFill>
            <a:prstDash val="solid"/>
          </a:ln>
          <a:effectLst>
            <a:outerShdw sx="100000" sy="100000" kx="0" ky="0" algn="bl" rotWithShape="0" blurRad="114300" dist="31750" dir="5400000">
              <a:srgbClr val="1B1F24">
                <a:alpha val="14000"/>
              </a:srgbClr>
            </a:outerShdw>
          </a:effectLst>
        </p:spPr>
      </p:sp>
      <p:sp>
        <p:nvSpPr>
          <p:cNvPr id="5" name="anim1_378"/>
          <p:cNvSpPr txBox="1"/>
          <p:nvPr/>
        </p:nvSpPr>
        <p:spPr>
          <a:xfrm>
            <a:off x="777240" y="1444752"/>
            <a:ext cx="3108960" cy="384048"/>
          </a:xfrm>
          <a:prstGeom prst="rect">
            <a:avLst/>
          </a:prstGeom>
          <a:noFill/>
          <a:ln/>
        </p:spPr>
        <p:txBody>
          <a:bodyPr wrap="square" lIns="0" tIns="0" rIns="0" bIns="0" rtlCol="0" anchor="t"/>
          <a:lstStyle/>
          <a:p>
            <a:pPr indent="0" marL="0">
              <a:buNone/>
            </a:pPr>
            <a:r>
              <a:rPr lang="en-US" sz="1800" b="1" dirty="0">
                <a:solidFill>
                  <a:srgbClr val="B3393C"/>
                </a:solidFill>
                <a:latin typeface="Cambria" pitchFamily="34" charset="0"/>
                <a:ea typeface="Cambria" pitchFamily="34" charset="-122"/>
                <a:cs typeface="Cambria" pitchFamily="34" charset="-120"/>
              </a:rPr>
              <a:t>Most associated</a:t>
            </a:r>
            <a:endParaRPr lang="en-US" sz="1800" dirty="0"/>
          </a:p>
        </p:txBody>
      </p:sp>
      <p:sp>
        <p:nvSpPr>
          <p:cNvPr id="6" name="anim1_379"/>
          <p:cNvSpPr txBox="1"/>
          <p:nvPr/>
        </p:nvSpPr>
        <p:spPr>
          <a:xfrm>
            <a:off x="777240" y="1810512"/>
            <a:ext cx="3108960" cy="274320"/>
          </a:xfrm>
          <a:prstGeom prst="rect">
            <a:avLst/>
          </a:prstGeom>
          <a:noFill/>
          <a:ln/>
        </p:spPr>
        <p:txBody>
          <a:bodyPr wrap="square" lIns="0" tIns="0" rIns="0" bIns="0" rtlCol="0" anchor="t"/>
          <a:lstStyle/>
          <a:p>
            <a:pPr indent="0" marL="0">
              <a:buNone/>
            </a:pPr>
            <a:r>
              <a:rPr lang="en-US" sz="1150" i="1" dirty="0">
                <a:solidFill>
                  <a:srgbClr val="5F6B76"/>
                </a:solidFill>
                <a:latin typeface="Calibri" pitchFamily="34" charset="0"/>
                <a:ea typeface="Calibri" pitchFamily="34" charset="-122"/>
                <a:cs typeface="Calibri" pitchFamily="34" charset="-120"/>
              </a:rPr>
              <a:t>ultra-processed · high fat · high glycemic load</a:t>
            </a:r>
            <a:endParaRPr lang="en-US" sz="1150" dirty="0"/>
          </a:p>
        </p:txBody>
      </p:sp>
      <p:sp>
        <p:nvSpPr>
          <p:cNvPr id="7" name="anim1_380"/>
          <p:cNvSpPr/>
          <p:nvPr/>
        </p:nvSpPr>
        <p:spPr>
          <a:xfrm>
            <a:off x="822960" y="2240280"/>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anim1_381"/>
          <p:cNvSpPr txBox="1"/>
          <p:nvPr/>
        </p:nvSpPr>
        <p:spPr>
          <a:xfrm>
            <a:off x="1417320" y="2221992"/>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Pizza</a:t>
            </a:r>
            <a:endParaRPr lang="en-US" sz="1500" dirty="0"/>
          </a:p>
        </p:txBody>
      </p:sp>
      <p:sp>
        <p:nvSpPr>
          <p:cNvPr id="9" name="anim1_382"/>
          <p:cNvSpPr/>
          <p:nvPr/>
        </p:nvSpPr>
        <p:spPr>
          <a:xfrm>
            <a:off x="822960" y="2670048"/>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anim1_383"/>
          <p:cNvSpPr txBox="1"/>
          <p:nvPr/>
        </p:nvSpPr>
        <p:spPr>
          <a:xfrm>
            <a:off x="1417320" y="2651760"/>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Chocolate</a:t>
            </a:r>
            <a:endParaRPr lang="en-US" sz="1500" dirty="0"/>
          </a:p>
        </p:txBody>
      </p:sp>
      <p:sp>
        <p:nvSpPr>
          <p:cNvPr id="11" name="anim1_384"/>
          <p:cNvSpPr/>
          <p:nvPr/>
        </p:nvSpPr>
        <p:spPr>
          <a:xfrm>
            <a:off x="822960" y="3099816"/>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2" name="anim1_385"/>
          <p:cNvSpPr txBox="1"/>
          <p:nvPr/>
        </p:nvSpPr>
        <p:spPr>
          <a:xfrm>
            <a:off x="1417320" y="3081528"/>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Potato chips</a:t>
            </a:r>
            <a:endParaRPr lang="en-US" sz="1500" dirty="0"/>
          </a:p>
        </p:txBody>
      </p:sp>
      <p:sp>
        <p:nvSpPr>
          <p:cNvPr id="13" name="anim1_386"/>
          <p:cNvSpPr/>
          <p:nvPr/>
        </p:nvSpPr>
        <p:spPr>
          <a:xfrm>
            <a:off x="822960" y="3529584"/>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4" name="anim1_387"/>
          <p:cNvSpPr txBox="1"/>
          <p:nvPr/>
        </p:nvSpPr>
        <p:spPr>
          <a:xfrm>
            <a:off x="1417320" y="3511296"/>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Cookies</a:t>
            </a:r>
            <a:endParaRPr lang="en-US" sz="1500" dirty="0"/>
          </a:p>
        </p:txBody>
      </p:sp>
      <p:sp>
        <p:nvSpPr>
          <p:cNvPr id="15" name="anim1_388"/>
          <p:cNvSpPr/>
          <p:nvPr/>
        </p:nvSpPr>
        <p:spPr>
          <a:xfrm>
            <a:off x="822960" y="3959352"/>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6" name="anim1_389"/>
          <p:cNvSpPr txBox="1"/>
          <p:nvPr/>
        </p:nvSpPr>
        <p:spPr>
          <a:xfrm>
            <a:off x="1417320" y="3941064"/>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Ice cream</a:t>
            </a:r>
            <a:endParaRPr lang="en-US" sz="1500" dirty="0"/>
          </a:p>
        </p:txBody>
      </p:sp>
      <p:sp>
        <p:nvSpPr>
          <p:cNvPr id="17" name="anim1_390"/>
          <p:cNvSpPr/>
          <p:nvPr/>
        </p:nvSpPr>
        <p:spPr>
          <a:xfrm>
            <a:off x="822960" y="4389120"/>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18" name="anim1_391"/>
          <p:cNvSpPr txBox="1"/>
          <p:nvPr/>
        </p:nvSpPr>
        <p:spPr>
          <a:xfrm>
            <a:off x="1417320" y="4370832"/>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French fries</a:t>
            </a:r>
            <a:endParaRPr lang="en-US" sz="1500" dirty="0"/>
          </a:p>
        </p:txBody>
      </p:sp>
      <p:sp>
        <p:nvSpPr>
          <p:cNvPr id="19" name="anim1_392"/>
          <p:cNvSpPr/>
          <p:nvPr/>
        </p:nvSpPr>
        <p:spPr>
          <a:xfrm>
            <a:off x="822960" y="4818888"/>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20" name="anim1_393"/>
          <p:cNvSpPr txBox="1"/>
          <p:nvPr/>
        </p:nvSpPr>
        <p:spPr>
          <a:xfrm>
            <a:off x="1417320" y="4800600"/>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Cheeseburger</a:t>
            </a:r>
            <a:endParaRPr lang="en-US" sz="1500" dirty="0"/>
          </a:p>
        </p:txBody>
      </p:sp>
      <p:sp>
        <p:nvSpPr>
          <p:cNvPr id="21" name="anim1_394"/>
          <p:cNvSpPr/>
          <p:nvPr/>
        </p:nvSpPr>
        <p:spPr>
          <a:xfrm>
            <a:off x="822960" y="5248656"/>
            <a:ext cx="438912" cy="310896"/>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22" name="anim1_395"/>
          <p:cNvSpPr txBox="1"/>
          <p:nvPr/>
        </p:nvSpPr>
        <p:spPr>
          <a:xfrm>
            <a:off x="1417320" y="5230368"/>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Soda (non-diet)</a:t>
            </a:r>
            <a:endParaRPr lang="en-US" sz="1500" dirty="0"/>
          </a:p>
        </p:txBody>
      </p:sp>
      <p:sp>
        <p:nvSpPr>
          <p:cNvPr id="23" name="anim2_396"/>
          <p:cNvSpPr/>
          <p:nvPr/>
        </p:nvSpPr>
        <p:spPr>
          <a:xfrm>
            <a:off x="4251960" y="1325880"/>
            <a:ext cx="3520440" cy="4572000"/>
          </a:xfrm>
          <a:prstGeom prst="roundRect">
            <a:avLst>
              <a:gd name="adj" fmla="val 2078"/>
            </a:avLst>
          </a:prstGeom>
          <a:solidFill>
            <a:srgbClr val="E8F2EC"/>
          </a:solidFill>
          <a:ln w="9525">
            <a:solidFill>
              <a:srgbClr val="3B7D5A"/>
            </a:solidFill>
            <a:prstDash val="solid"/>
          </a:ln>
          <a:effectLst>
            <a:outerShdw sx="100000" sy="100000" kx="0" ky="0" algn="bl" rotWithShape="0" blurRad="114300" dist="31750" dir="5400000">
              <a:srgbClr val="1B1F24">
                <a:alpha val="14000"/>
              </a:srgbClr>
            </a:outerShdw>
          </a:effectLst>
        </p:spPr>
      </p:sp>
      <p:sp>
        <p:nvSpPr>
          <p:cNvPr id="24" name="anim2_397"/>
          <p:cNvSpPr txBox="1"/>
          <p:nvPr/>
        </p:nvSpPr>
        <p:spPr>
          <a:xfrm>
            <a:off x="4480560" y="1444752"/>
            <a:ext cx="3108960" cy="384048"/>
          </a:xfrm>
          <a:prstGeom prst="rect">
            <a:avLst/>
          </a:prstGeom>
          <a:noFill/>
          <a:ln/>
        </p:spPr>
        <p:txBody>
          <a:bodyPr wrap="square" lIns="0" tIns="0" rIns="0" bIns="0" rtlCol="0" anchor="t"/>
          <a:lstStyle/>
          <a:p>
            <a:pPr indent="0" marL="0">
              <a:buNone/>
            </a:pPr>
            <a:r>
              <a:rPr lang="en-US" sz="1800" b="1" dirty="0">
                <a:solidFill>
                  <a:srgbClr val="3B7D5A"/>
                </a:solidFill>
                <a:latin typeface="Cambria" pitchFamily="34" charset="0"/>
                <a:ea typeface="Cambria" pitchFamily="34" charset="-122"/>
                <a:cs typeface="Cambria" pitchFamily="34" charset="-120"/>
              </a:rPr>
              <a:t>Least associated</a:t>
            </a:r>
            <a:endParaRPr lang="en-US" sz="1800" dirty="0"/>
          </a:p>
        </p:txBody>
      </p:sp>
      <p:sp>
        <p:nvSpPr>
          <p:cNvPr id="25" name="anim2_398"/>
          <p:cNvSpPr txBox="1"/>
          <p:nvPr/>
        </p:nvSpPr>
        <p:spPr>
          <a:xfrm>
            <a:off x="4480560" y="1810512"/>
            <a:ext cx="3108960" cy="274320"/>
          </a:xfrm>
          <a:prstGeom prst="rect">
            <a:avLst/>
          </a:prstGeom>
          <a:noFill/>
          <a:ln/>
        </p:spPr>
        <p:txBody>
          <a:bodyPr wrap="square" lIns="0" tIns="0" rIns="0" bIns="0" rtlCol="0" anchor="t"/>
          <a:lstStyle/>
          <a:p>
            <a:pPr indent="0" marL="0">
              <a:buNone/>
            </a:pPr>
            <a:r>
              <a:rPr lang="en-US" sz="1150" i="1" dirty="0">
                <a:solidFill>
                  <a:srgbClr val="5F6B76"/>
                </a:solidFill>
                <a:latin typeface="Calibri" pitchFamily="34" charset="0"/>
                <a:ea typeface="Calibri" pitchFamily="34" charset="-122"/>
                <a:cs typeface="Calibri" pitchFamily="34" charset="-120"/>
              </a:rPr>
              <a:t>unprocessed or minimally processed</a:t>
            </a:r>
            <a:endParaRPr lang="en-US" sz="1150" dirty="0"/>
          </a:p>
        </p:txBody>
      </p:sp>
      <p:sp>
        <p:nvSpPr>
          <p:cNvPr id="26" name="anim2_399"/>
          <p:cNvSpPr/>
          <p:nvPr/>
        </p:nvSpPr>
        <p:spPr>
          <a:xfrm>
            <a:off x="4526280" y="2240280"/>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7" name="anim2_400"/>
          <p:cNvSpPr txBox="1"/>
          <p:nvPr/>
        </p:nvSpPr>
        <p:spPr>
          <a:xfrm>
            <a:off x="5120640" y="2221992"/>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Cucumber</a:t>
            </a:r>
            <a:endParaRPr lang="en-US" sz="1500" dirty="0"/>
          </a:p>
        </p:txBody>
      </p:sp>
      <p:sp>
        <p:nvSpPr>
          <p:cNvPr id="28" name="anim2_401"/>
          <p:cNvSpPr/>
          <p:nvPr/>
        </p:nvSpPr>
        <p:spPr>
          <a:xfrm>
            <a:off x="4526280" y="2670048"/>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9" name="anim2_402"/>
          <p:cNvSpPr txBox="1"/>
          <p:nvPr/>
        </p:nvSpPr>
        <p:spPr>
          <a:xfrm>
            <a:off x="5120640" y="2651760"/>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Carrots</a:t>
            </a:r>
            <a:endParaRPr lang="en-US" sz="1500" dirty="0"/>
          </a:p>
        </p:txBody>
      </p:sp>
      <p:sp>
        <p:nvSpPr>
          <p:cNvPr id="30" name="anim2_403"/>
          <p:cNvSpPr/>
          <p:nvPr/>
        </p:nvSpPr>
        <p:spPr>
          <a:xfrm>
            <a:off x="4526280" y="3099816"/>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1" name="anim2_404"/>
          <p:cNvSpPr txBox="1"/>
          <p:nvPr/>
        </p:nvSpPr>
        <p:spPr>
          <a:xfrm>
            <a:off x="5120640" y="3081528"/>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Beans (no sauce)</a:t>
            </a:r>
            <a:endParaRPr lang="en-US" sz="1500" dirty="0"/>
          </a:p>
        </p:txBody>
      </p:sp>
      <p:sp>
        <p:nvSpPr>
          <p:cNvPr id="32" name="anim2_405"/>
          <p:cNvSpPr/>
          <p:nvPr/>
        </p:nvSpPr>
        <p:spPr>
          <a:xfrm>
            <a:off x="4526280" y="3529584"/>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3" name="anim2_406"/>
          <p:cNvSpPr txBox="1"/>
          <p:nvPr/>
        </p:nvSpPr>
        <p:spPr>
          <a:xfrm>
            <a:off x="5120640" y="3511296"/>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Apple</a:t>
            </a:r>
            <a:endParaRPr lang="en-US" sz="1500" dirty="0"/>
          </a:p>
        </p:txBody>
      </p:sp>
      <p:sp>
        <p:nvSpPr>
          <p:cNvPr id="34" name="anim2_407"/>
          <p:cNvSpPr/>
          <p:nvPr/>
        </p:nvSpPr>
        <p:spPr>
          <a:xfrm>
            <a:off x="4526280" y="3959352"/>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5" name="anim2_408"/>
          <p:cNvSpPr txBox="1"/>
          <p:nvPr/>
        </p:nvSpPr>
        <p:spPr>
          <a:xfrm>
            <a:off x="5120640" y="3941064"/>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Brown rice</a:t>
            </a:r>
            <a:endParaRPr lang="en-US" sz="1500" dirty="0"/>
          </a:p>
        </p:txBody>
      </p:sp>
      <p:sp>
        <p:nvSpPr>
          <p:cNvPr id="36" name="anim2_409"/>
          <p:cNvSpPr/>
          <p:nvPr/>
        </p:nvSpPr>
        <p:spPr>
          <a:xfrm>
            <a:off x="4526280" y="4389120"/>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7" name="anim2_410"/>
          <p:cNvSpPr txBox="1"/>
          <p:nvPr/>
        </p:nvSpPr>
        <p:spPr>
          <a:xfrm>
            <a:off x="5120640" y="4370832"/>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Broccoli</a:t>
            </a:r>
            <a:endParaRPr lang="en-US" sz="1500" dirty="0"/>
          </a:p>
        </p:txBody>
      </p:sp>
      <p:sp>
        <p:nvSpPr>
          <p:cNvPr id="38" name="anim2_411"/>
          <p:cNvSpPr/>
          <p:nvPr/>
        </p:nvSpPr>
        <p:spPr>
          <a:xfrm>
            <a:off x="4526280" y="4818888"/>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9" name="anim2_412"/>
          <p:cNvSpPr txBox="1"/>
          <p:nvPr/>
        </p:nvSpPr>
        <p:spPr>
          <a:xfrm>
            <a:off x="5120640" y="4800600"/>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Banana</a:t>
            </a:r>
            <a:endParaRPr lang="en-US" sz="1500" dirty="0"/>
          </a:p>
        </p:txBody>
      </p:sp>
      <p:sp>
        <p:nvSpPr>
          <p:cNvPr id="40" name="anim2_413"/>
          <p:cNvSpPr/>
          <p:nvPr/>
        </p:nvSpPr>
        <p:spPr>
          <a:xfrm>
            <a:off x="4526280" y="5248656"/>
            <a:ext cx="438912" cy="310896"/>
          </a:xfrm>
          <a:prstGeom prst="roundRect">
            <a:avLst>
              <a:gd name="adj" fmla="val 50000"/>
            </a:avLst>
          </a:prstGeom>
          <a:solidFill>
            <a:srgbClr val="3B7D5A"/>
          </a:solidFill>
          <a:ln>
            <a:solidFill>
              <a:srgbClr val="3B7D5A"/>
            </a:solid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41" name="anim2_414"/>
          <p:cNvSpPr txBox="1"/>
          <p:nvPr/>
        </p:nvSpPr>
        <p:spPr>
          <a:xfrm>
            <a:off x="5120640" y="5230368"/>
            <a:ext cx="2468880" cy="347472"/>
          </a:xfrm>
          <a:prstGeom prst="rect">
            <a:avLst/>
          </a:prstGeom>
          <a:noFill/>
          <a:ln/>
        </p:spPr>
        <p:txBody>
          <a:bodyPr wrap="square" lIns="0" tIns="0" rIns="0" bIns="0" rtlCol="0" anchor="ctr"/>
          <a:lstStyle/>
          <a:p>
            <a:pPr indent="0" marL="0">
              <a:buNone/>
            </a:pPr>
            <a:r>
              <a:rPr lang="en-US" sz="1500" dirty="0">
                <a:solidFill>
                  <a:srgbClr val="1B1F24"/>
                </a:solidFill>
                <a:latin typeface="Calibri" pitchFamily="34" charset="0"/>
                <a:ea typeface="Calibri" pitchFamily="34" charset="-122"/>
                <a:cs typeface="Calibri" pitchFamily="34" charset="-120"/>
              </a:rPr>
              <a:t>Water</a:t>
            </a:r>
            <a:endParaRPr lang="en-US" sz="1500" dirty="0"/>
          </a:p>
        </p:txBody>
      </p:sp>
      <p:sp>
        <p:nvSpPr>
          <p:cNvPr id="42" name="anim3_415"/>
          <p:cNvSpPr/>
          <p:nvPr/>
        </p:nvSpPr>
        <p:spPr>
          <a:xfrm>
            <a:off x="8001000" y="1325880"/>
            <a:ext cx="3611880" cy="4572000"/>
          </a:xfrm>
          <a:prstGeom prst="roundRect">
            <a:avLst>
              <a:gd name="adj" fmla="val 2025"/>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43" name="anim3_416"/>
          <p:cNvSpPr txBox="1"/>
          <p:nvPr/>
        </p:nvSpPr>
        <p:spPr>
          <a:xfrm>
            <a:off x="8229600" y="1463040"/>
            <a:ext cx="3200400" cy="685800"/>
          </a:xfrm>
          <a:prstGeom prst="rect">
            <a:avLst/>
          </a:prstGeom>
          <a:noFill/>
          <a:ln/>
        </p:spPr>
        <p:txBody>
          <a:bodyPr wrap="square" lIns="0" tIns="0" rIns="0" bIns="0" rtlCol="0" anchor="t"/>
          <a:lstStyle/>
          <a:p>
            <a:pPr indent="0" marL="0">
              <a:buNone/>
            </a:pPr>
            <a:r>
              <a:rPr lang="en-US" sz="1700" b="1" dirty="0">
                <a:solidFill>
                  <a:srgbClr val="1F3A5F"/>
                </a:solidFill>
                <a:latin typeface="Cambria" pitchFamily="34" charset="0"/>
                <a:ea typeface="Cambria" pitchFamily="34" charset="-122"/>
                <a:cs typeface="Cambria" pitchFamily="34" charset="-120"/>
              </a:rPr>
              <a:t>The abuse-potential analogy</a:t>
            </a:r>
            <a:endParaRPr lang="en-US" sz="1700" dirty="0"/>
          </a:p>
        </p:txBody>
      </p:sp>
      <p:sp>
        <p:nvSpPr>
          <p:cNvPr id="44" name="anim3_417"/>
          <p:cNvSpPr/>
          <p:nvPr/>
        </p:nvSpPr>
        <p:spPr>
          <a:xfrm>
            <a:off x="8229600" y="2240280"/>
            <a:ext cx="502920" cy="502920"/>
          </a:xfrm>
          <a:prstGeom prst="ellipse">
            <a:avLst/>
          </a:prstGeom>
          <a:solidFill>
            <a:srgbClr val="B3393C"/>
          </a:solidFill>
          <a:ln w="6350">
            <a:solidFill>
              <a:srgbClr val="B3393C"/>
            </a:solidFill>
            <a:prstDash val="solid"/>
          </a:ln>
        </p:spPr>
      </p:sp>
      <p:pic>
        <p:nvPicPr>
          <p:cNvPr id="45" name="anim3_418" descr="arrowUp icon">    </p:cNvPr>
          <p:cNvPicPr>
            <a:picLocks noChangeAspect="1"/>
          </p:cNvPicPr>
          <p:nvPr/>
        </p:nvPicPr>
        <p:blipFill>
          <a:blip r:embed="rId1"/>
          <a:stretch>
            <a:fillRect/>
          </a:stretch>
        </p:blipFill>
        <p:spPr>
          <a:xfrm>
            <a:off x="8365388" y="2376068"/>
            <a:ext cx="231343" cy="231343"/>
          </a:xfrm>
          <a:prstGeom prst="rect">
            <a:avLst/>
          </a:prstGeom>
        </p:spPr>
      </p:pic>
      <p:sp>
        <p:nvSpPr>
          <p:cNvPr id="46" name="anim3_419"/>
          <p:cNvSpPr txBox="1"/>
          <p:nvPr/>
        </p:nvSpPr>
        <p:spPr>
          <a:xfrm>
            <a:off x="8869680" y="2167128"/>
            <a:ext cx="2606040" cy="685800"/>
          </a:xfrm>
          <a:prstGeom prst="rect">
            <a:avLst/>
          </a:prstGeom>
          <a:noFill/>
          <a:ln/>
        </p:spPr>
        <p:txBody>
          <a:bodyPr wrap="square" lIns="0" tIns="0" rIns="0" bIns="0" rtlCol="0" anchor="ctr"/>
          <a:lstStyle/>
          <a:p>
            <a:pPr indent="0" marL="0">
              <a:buNone/>
            </a:pPr>
            <a:r>
              <a:rPr lang="en-US" sz="1350" b="1" dirty="0">
                <a:solidFill>
                  <a:srgbClr val="B3393C"/>
                </a:solidFill>
                <a:latin typeface="Calibri" pitchFamily="34" charset="0"/>
                <a:ea typeface="Calibri" pitchFamily="34" charset="-122"/>
                <a:cs typeface="Calibri" pitchFamily="34" charset="-120"/>
              </a:rPr>
              <a:t>Dose ↑  </a:t>
            </a:r>
            <a:r>
              <a:rPr lang="en-US" sz="1350" dirty="0">
                <a:solidFill>
                  <a:srgbClr val="1B1F24"/>
                </a:solidFill>
                <a:latin typeface="Calibri" pitchFamily="34" charset="0"/>
                <a:ea typeface="Calibri" pitchFamily="34" charset="-122"/>
                <a:cs typeface="Calibri" pitchFamily="34" charset="-120"/>
              </a:rPr>
              <a:t>more fat and refined carbohydrate per bite</a:t>
            </a:r>
            <a:endParaRPr lang="en-US" sz="1350" dirty="0"/>
          </a:p>
        </p:txBody>
      </p:sp>
      <p:sp>
        <p:nvSpPr>
          <p:cNvPr id="47" name="anim3_420"/>
          <p:cNvSpPr/>
          <p:nvPr/>
        </p:nvSpPr>
        <p:spPr>
          <a:xfrm>
            <a:off x="8229600" y="3108960"/>
            <a:ext cx="502920" cy="502920"/>
          </a:xfrm>
          <a:prstGeom prst="ellipse">
            <a:avLst/>
          </a:prstGeom>
          <a:solidFill>
            <a:srgbClr val="D88A1F"/>
          </a:solidFill>
          <a:ln w="6350">
            <a:solidFill>
              <a:srgbClr val="D88A1F"/>
            </a:solidFill>
            <a:prstDash val="solid"/>
          </a:ln>
        </p:spPr>
      </p:sp>
      <p:pic>
        <p:nvPicPr>
          <p:cNvPr id="48" name="anim3_421" descr="gauge icon">    </p:cNvPr>
          <p:cNvPicPr>
            <a:picLocks noChangeAspect="1"/>
          </p:cNvPicPr>
          <p:nvPr/>
        </p:nvPicPr>
        <p:blipFill>
          <a:blip r:embed="rId2"/>
          <a:stretch>
            <a:fillRect/>
          </a:stretch>
        </p:blipFill>
        <p:spPr>
          <a:xfrm>
            <a:off x="8365388" y="3244748"/>
            <a:ext cx="231343" cy="231343"/>
          </a:xfrm>
          <a:prstGeom prst="rect">
            <a:avLst/>
          </a:prstGeom>
        </p:spPr>
      </p:pic>
      <p:sp>
        <p:nvSpPr>
          <p:cNvPr id="49" name="anim3_422"/>
          <p:cNvSpPr txBox="1"/>
          <p:nvPr/>
        </p:nvSpPr>
        <p:spPr>
          <a:xfrm>
            <a:off x="8869680" y="3035808"/>
            <a:ext cx="2606040" cy="685800"/>
          </a:xfrm>
          <a:prstGeom prst="rect">
            <a:avLst/>
          </a:prstGeom>
          <a:noFill/>
          <a:ln/>
        </p:spPr>
        <p:txBody>
          <a:bodyPr wrap="square" lIns="0" tIns="0" rIns="0" bIns="0" rtlCol="0" anchor="ctr"/>
          <a:lstStyle/>
          <a:p>
            <a:pPr indent="0" marL="0">
              <a:buNone/>
            </a:pPr>
            <a:r>
              <a:rPr lang="en-US" sz="1350" b="1" dirty="0">
                <a:solidFill>
                  <a:srgbClr val="D88A1F"/>
                </a:solidFill>
                <a:latin typeface="Calibri" pitchFamily="34" charset="0"/>
                <a:ea typeface="Calibri" pitchFamily="34" charset="-122"/>
                <a:cs typeface="Calibri" pitchFamily="34" charset="-120"/>
              </a:rPr>
              <a:t>Speed ↑  </a:t>
            </a:r>
            <a:r>
              <a:rPr lang="en-US" sz="1350" dirty="0">
                <a:solidFill>
                  <a:srgbClr val="1B1F24"/>
                </a:solidFill>
                <a:latin typeface="Calibri" pitchFamily="34" charset="0"/>
                <a:ea typeface="Calibri" pitchFamily="34" charset="-122"/>
                <a:cs typeface="Calibri" pitchFamily="34" charset="-120"/>
              </a:rPr>
              <a:t>faster absorption of refined carbohydrate</a:t>
            </a:r>
            <a:endParaRPr lang="en-US" sz="1350" dirty="0"/>
          </a:p>
        </p:txBody>
      </p:sp>
      <p:sp>
        <p:nvSpPr>
          <p:cNvPr id="50" name="anim4_423"/>
          <p:cNvSpPr txBox="1"/>
          <p:nvPr/>
        </p:nvSpPr>
        <p:spPr>
          <a:xfrm>
            <a:off x="8229600" y="4069080"/>
            <a:ext cx="3200400" cy="868680"/>
          </a:xfrm>
          <a:prstGeom prst="rect">
            <a:avLst/>
          </a:prstGeom>
          <a:noFill/>
          <a:ln/>
        </p:spPr>
        <p:txBody>
          <a:bodyPr wrap="square" lIns="0" tIns="0" rIns="0" bIns="0" rtlCol="0" anchor="t"/>
          <a:lstStyle/>
          <a:p>
            <a:pPr indent="0" marL="0">
              <a:buNone/>
            </a:pPr>
            <a:r>
              <a:rPr lang="en-US" sz="1300" i="1" dirty="0">
                <a:solidFill>
                  <a:srgbClr val="1F3A5F"/>
                </a:solidFill>
                <a:latin typeface="Calibri" pitchFamily="34" charset="0"/>
                <a:ea typeface="Calibri" pitchFamily="34" charset="-122"/>
                <a:cs typeface="Calibri" pitchFamily="34" charset="-120"/>
              </a:rPr>
              <a:t>An analogy, not pharmacokinetic equivalence: digesting a meal is not a drug reaching the brain.</a:t>
            </a:r>
            <a:endParaRPr lang="en-US" sz="1300" dirty="0"/>
          </a:p>
        </p:txBody>
      </p:sp>
      <p:sp>
        <p:nvSpPr>
          <p:cNvPr id="51" name="anim4_424"/>
          <p:cNvSpPr txBox="1"/>
          <p:nvPr/>
        </p:nvSpPr>
        <p:spPr>
          <a:xfrm>
            <a:off x="8229600" y="5029200"/>
            <a:ext cx="3200400" cy="73152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Forced-choice ranking of 35 foods (2015); predates NOVA and the term UPF.</a:t>
            </a:r>
            <a:endParaRPr lang="en-US" sz="1150" dirty="0"/>
          </a:p>
        </p:txBody>
      </p:sp>
      <p:sp>
        <p:nvSpPr>
          <p:cNvPr id="52" name="Text 4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Schulte, Avena and Gearhardt 2015; Gearhardt and Schulte 2021; Gearhardt and DiFeliceantonio 2023; Hebebrand et al. 2014; Westwater et al. 2016.</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60"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par>
                          <p:cTn id="118" fill="hold">
                            <p:stCondLst>
                              <p:cond delay="380"/>
                            </p:stCondLst>
                            <p:childTnLst>
                              <p:par>
                                <p:cTn id="61" presetID="10" presetClass="entr" presetSubtype="0" fill="hold"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5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5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50"/>
                                        <p:tgtEl>
                                          <p:spTgt spid="3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5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450"/>
                                        <p:tgtEl>
                                          <p:spTgt spid="3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450"/>
                                        <p:tgtEl>
                                          <p:spTgt spid="3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450"/>
                                        <p:tgtEl>
                                          <p:spTgt spid="3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fade">
                                      <p:cBhvr>
                                        <p:cTn id="114" dur="450"/>
                                        <p:tgtEl>
                                          <p:spTgt spid="4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450"/>
                                        <p:tgtEl>
                                          <p:spTgt spid="41"/>
                                        </p:tgtEl>
                                      </p:cBhvr>
                                    </p:animEffect>
                                  </p:childTnLst>
                                </p:cTn>
                              </p:par>
                            </p:childTnLst>
                          </p:cTn>
                        </p:par>
                        <p:par>
                          <p:cTn id="143" fill="hold">
                            <p:stCondLst>
                              <p:cond delay="380"/>
                            </p:stCondLst>
                            <p:childTnLst>
                              <p:par>
                                <p:cTn id="119" presetID="10" presetClass="entr" presetSubtype="0" fill="hold" nodeType="after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5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50"/>
                                        <p:tgtEl>
                                          <p:spTgt spid="43"/>
                                        </p:tgtEl>
                                      </p:cBhvr>
                                    </p:animEffect>
                                  </p:childTnLst>
                                </p:cTn>
                              </p:par>
                              <p:par>
                                <p:cTn id="125" presetID="10" presetClass="entr" presetSubtype="0" fill="hold"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50"/>
                                        <p:tgtEl>
                                          <p:spTgt spid="44"/>
                                        </p:tgtEl>
                                      </p:cBhvr>
                                    </p:animEffect>
                                  </p:childTnLst>
                                </p:cTn>
                              </p:par>
                              <p:par>
                                <p:cTn id="128" presetID="10" presetClass="entr" presetSubtype="0" fill="hold" nodeType="with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50"/>
                                        <p:tgtEl>
                                          <p:spTgt spid="4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50"/>
                                        <p:tgtEl>
                                          <p:spTgt spid="46"/>
                                        </p:tgtEl>
                                      </p:cBhvr>
                                    </p:animEffect>
                                  </p:childTnLst>
                                </p:cTn>
                              </p:par>
                              <p:par>
                                <p:cTn id="134" presetID="10" presetClass="entr" presetSubtype="0" fill="hold" nodeType="withEffect">
                                  <p:stCondLst>
                                    <p:cond delay="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50"/>
                                        <p:tgtEl>
                                          <p:spTgt spid="47"/>
                                        </p:tgtEl>
                                      </p:cBhvr>
                                    </p:animEffect>
                                  </p:childTnLst>
                                </p:cTn>
                              </p:par>
                              <p:par>
                                <p:cTn id="137" presetID="10" presetClass="entr" presetSubtype="0" fill="hold" nodeType="withEffect">
                                  <p:stCondLst>
                                    <p:cond delay="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50"/>
                                        <p:tgtEl>
                                          <p:spTgt spid="4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50"/>
                                        <p:tgtEl>
                                          <p:spTgt spid="49"/>
                                        </p:tgtEl>
                                      </p:cBhvr>
                                    </p:animEffect>
                                  </p:childTnLst>
                                </p:cTn>
                              </p:par>
                            </p:childTnLst>
                          </p:cTn>
                        </p:par>
                        <p:par>
                          <p:cTn id="150" fill="hold">
                            <p:stCondLst>
                              <p:cond delay="380"/>
                            </p:stCondLst>
                            <p:childTnLst>
                              <p:par>
                                <p:cTn id="144" presetID="10" presetClass="entr" presetSubtype="0" fill="hold" grpId="0" nodeType="afterEffect">
                                  <p:stCondLst>
                                    <p:cond delay="0"/>
                                  </p:stCondLst>
                                  <p:childTnLst>
                                    <p:set>
                                      <p:cBhvr>
                                        <p:cTn id="145" dur="1" fill="hold">
                                          <p:stCondLst>
                                            <p:cond delay="0"/>
                                          </p:stCondLst>
                                        </p:cTn>
                                        <p:tgtEl>
                                          <p:spTgt spid="50"/>
                                        </p:tgtEl>
                                        <p:attrNameLst>
                                          <p:attrName>style.visibility</p:attrName>
                                        </p:attrNameLst>
                                      </p:cBhvr>
                                      <p:to>
                                        <p:strVal val="visible"/>
                                      </p:to>
                                    </p:set>
                                    <p:animEffect transition="in" filter="fade">
                                      <p:cBhvr>
                                        <p:cTn id="146" dur="450"/>
                                        <p:tgtEl>
                                          <p:spTgt spid="50"/>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1"/>
                                        </p:tgtEl>
                                        <p:attrNameLst>
                                          <p:attrName>style.visibility</p:attrName>
                                        </p:attrNameLst>
                                      </p:cBhvr>
                                      <p:to>
                                        <p:strVal val="visible"/>
                                      </p:to>
                                    </p:set>
                                    <p:animEffect transition="in" filter="fade">
                                      <p:cBhvr>
                                        <p:cTn id="149" dur="4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6" grpId="0" animBg="1"/>
      <p:bldP spid="49" grpId="0" animBg="1"/>
      <p:bldP spid="50" grpId="0" animBg="1"/>
      <p:bldP spid="5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Withdrawal: the weakest link</a:t>
            </a:r>
            <a:endParaRPr lang="en-US" sz="3200" dirty="0"/>
          </a:p>
        </p:txBody>
      </p:sp>
      <p:sp>
        <p:nvSpPr>
          <p:cNvPr id="4" name="anim1_425"/>
          <p:cNvSpPr/>
          <p:nvPr/>
        </p:nvSpPr>
        <p:spPr>
          <a:xfrm>
            <a:off x="548640" y="1325880"/>
            <a:ext cx="3566160" cy="4572000"/>
          </a:xfrm>
          <a:prstGeom prst="roundRect">
            <a:avLst>
              <a:gd name="adj" fmla="val 2051"/>
            </a:avLst>
          </a:prstGeom>
          <a:solidFill>
            <a:srgbClr val="EFEAF6"/>
          </a:solidFill>
          <a:ln w="9525">
            <a:solidFill>
              <a:srgbClr val="DCD3EA"/>
            </a:solidFill>
            <a:prstDash val="solid"/>
          </a:ln>
          <a:effectLst>
            <a:outerShdw sx="100000" sy="100000" kx="0" ky="0" algn="bl" rotWithShape="0" blurRad="114300" dist="31750" dir="5400000">
              <a:srgbClr val="1B1F24">
                <a:alpha val="14000"/>
              </a:srgbClr>
            </a:outerShdw>
          </a:effectLst>
        </p:spPr>
      </p:sp>
      <p:sp>
        <p:nvSpPr>
          <p:cNvPr id="5" name="anim1_426"/>
          <p:cNvSpPr txBox="1"/>
          <p:nvPr/>
        </p:nvSpPr>
        <p:spPr>
          <a:xfrm>
            <a:off x="777240" y="1463040"/>
            <a:ext cx="3108960" cy="411480"/>
          </a:xfrm>
          <a:prstGeom prst="rect">
            <a:avLst/>
          </a:prstGeom>
          <a:noFill/>
          <a:ln/>
        </p:spPr>
        <p:txBody>
          <a:bodyPr wrap="square" lIns="0" tIns="0" rIns="0" bIns="0" rtlCol="0" anchor="t"/>
          <a:lstStyle/>
          <a:p>
            <a:pPr indent="0" marL="0">
              <a:buNone/>
            </a:pPr>
            <a:r>
              <a:rPr lang="en-US" sz="1700" b="1" dirty="0">
                <a:solidFill>
                  <a:srgbClr val="6A4C93"/>
                </a:solidFill>
                <a:latin typeface="Cambria" pitchFamily="34" charset="0"/>
                <a:ea typeface="Cambria" pitchFamily="34" charset="-122"/>
                <a:cs typeface="Cambria" pitchFamily="34" charset="-120"/>
              </a:rPr>
              <a:t>What has been measured</a:t>
            </a:r>
            <a:endParaRPr lang="en-US" sz="1700" dirty="0"/>
          </a:p>
        </p:txBody>
      </p:sp>
      <p:sp>
        <p:nvSpPr>
          <p:cNvPr id="6" name="anim1_427"/>
          <p:cNvSpPr txBox="1"/>
          <p:nvPr/>
        </p:nvSpPr>
        <p:spPr>
          <a:xfrm>
            <a:off x="777240" y="1901952"/>
            <a:ext cx="3108960" cy="548640"/>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Highly Processed Food Withdrawal Scale (ProWS)</a:t>
            </a:r>
            <a:endParaRPr lang="en-US" sz="1350" dirty="0"/>
          </a:p>
        </p:txBody>
      </p:sp>
      <p:sp>
        <p:nvSpPr>
          <p:cNvPr id="7" name="anim1_428"/>
          <p:cNvSpPr/>
          <p:nvPr/>
        </p:nvSpPr>
        <p:spPr>
          <a:xfrm>
            <a:off x="777240" y="2578608"/>
            <a:ext cx="1417320" cy="329184"/>
          </a:xfrm>
          <a:prstGeom prst="roundRect">
            <a:avLst>
              <a:gd name="adj" fmla="val 50000"/>
            </a:avLst>
          </a:prstGeom>
          <a:solidFill>
            <a:srgbClr val="FFFFFF"/>
          </a:solidFill>
          <a:ln w="12700">
            <a:solidFill>
              <a:srgbClr val="6A4C93"/>
            </a:solidFill>
          </a:ln>
        </p:spPr>
        <p:txBody>
          <a:bodyPr wrap="square" lIns="0" tIns="0" rIns="0" bIns="0" rtlCol="0" anchor="ctr"/>
          <a:lstStyle/>
          <a:p>
            <a:pPr algn="ctr" indent="0" marL="0">
              <a:buNone/>
            </a:pPr>
            <a:r>
              <a:rPr lang="en-US" sz="1250" dirty="0">
                <a:solidFill>
                  <a:srgbClr val="6A4C93"/>
                </a:solidFill>
              </a:rPr>
              <a:t>Irritability</a:t>
            </a:r>
            <a:endParaRPr lang="en-US" sz="1250" dirty="0"/>
          </a:p>
        </p:txBody>
      </p:sp>
      <p:sp>
        <p:nvSpPr>
          <p:cNvPr id="8" name="anim1_429"/>
          <p:cNvSpPr/>
          <p:nvPr/>
        </p:nvSpPr>
        <p:spPr>
          <a:xfrm>
            <a:off x="2331720" y="2578608"/>
            <a:ext cx="1417320" cy="329184"/>
          </a:xfrm>
          <a:prstGeom prst="roundRect">
            <a:avLst>
              <a:gd name="adj" fmla="val 50000"/>
            </a:avLst>
          </a:prstGeom>
          <a:solidFill>
            <a:srgbClr val="FFFFFF"/>
          </a:solidFill>
          <a:ln w="12700">
            <a:solidFill>
              <a:srgbClr val="6A4C93"/>
            </a:solidFill>
          </a:ln>
        </p:spPr>
        <p:txBody>
          <a:bodyPr wrap="square" lIns="0" tIns="0" rIns="0" bIns="0" rtlCol="0" anchor="ctr"/>
          <a:lstStyle/>
          <a:p>
            <a:pPr algn="ctr" indent="0" marL="0">
              <a:buNone/>
            </a:pPr>
            <a:r>
              <a:rPr lang="en-US" sz="1250" dirty="0">
                <a:solidFill>
                  <a:srgbClr val="6A4C93"/>
                </a:solidFill>
              </a:rPr>
              <a:t>Fatigue</a:t>
            </a:r>
            <a:endParaRPr lang="en-US" sz="1250" dirty="0"/>
          </a:p>
        </p:txBody>
      </p:sp>
      <p:sp>
        <p:nvSpPr>
          <p:cNvPr id="9" name="anim1_430"/>
          <p:cNvSpPr/>
          <p:nvPr/>
        </p:nvSpPr>
        <p:spPr>
          <a:xfrm>
            <a:off x="777240" y="3017520"/>
            <a:ext cx="1417320" cy="329184"/>
          </a:xfrm>
          <a:prstGeom prst="roundRect">
            <a:avLst>
              <a:gd name="adj" fmla="val 50000"/>
            </a:avLst>
          </a:prstGeom>
          <a:solidFill>
            <a:srgbClr val="FFFFFF"/>
          </a:solidFill>
          <a:ln w="12700">
            <a:solidFill>
              <a:srgbClr val="6A4C93"/>
            </a:solidFill>
          </a:ln>
        </p:spPr>
        <p:txBody>
          <a:bodyPr wrap="square" lIns="0" tIns="0" rIns="0" bIns="0" rtlCol="0" anchor="ctr"/>
          <a:lstStyle/>
          <a:p>
            <a:pPr algn="ctr" indent="0" marL="0">
              <a:buNone/>
            </a:pPr>
            <a:r>
              <a:rPr lang="en-US" sz="1250" dirty="0">
                <a:solidFill>
                  <a:srgbClr val="6A4C93"/>
                </a:solidFill>
              </a:rPr>
              <a:t>Restlessness</a:t>
            </a:r>
            <a:endParaRPr lang="en-US" sz="1250" dirty="0"/>
          </a:p>
        </p:txBody>
      </p:sp>
      <p:sp>
        <p:nvSpPr>
          <p:cNvPr id="10" name="anim1_431"/>
          <p:cNvSpPr/>
          <p:nvPr/>
        </p:nvSpPr>
        <p:spPr>
          <a:xfrm>
            <a:off x="2331720" y="3017520"/>
            <a:ext cx="1417320" cy="329184"/>
          </a:xfrm>
          <a:prstGeom prst="roundRect">
            <a:avLst>
              <a:gd name="adj" fmla="val 50000"/>
            </a:avLst>
          </a:prstGeom>
          <a:solidFill>
            <a:srgbClr val="FFFFFF"/>
          </a:solidFill>
          <a:ln w="12700">
            <a:solidFill>
              <a:srgbClr val="6A4C93"/>
            </a:solidFill>
          </a:ln>
        </p:spPr>
        <p:txBody>
          <a:bodyPr wrap="square" lIns="0" tIns="0" rIns="0" bIns="0" rtlCol="0" anchor="ctr"/>
          <a:lstStyle/>
          <a:p>
            <a:pPr algn="ctr" indent="0" marL="0">
              <a:buNone/>
            </a:pPr>
            <a:r>
              <a:rPr lang="en-US" sz="1250" dirty="0">
                <a:solidFill>
                  <a:srgbClr val="6A4C93"/>
                </a:solidFill>
              </a:rPr>
              <a:t>Craving</a:t>
            </a:r>
            <a:endParaRPr lang="en-US" sz="1250" dirty="0"/>
          </a:p>
        </p:txBody>
      </p:sp>
      <p:sp>
        <p:nvSpPr>
          <p:cNvPr id="11" name="anim1_432"/>
          <p:cNvSpPr txBox="1"/>
          <p:nvPr/>
        </p:nvSpPr>
        <p:spPr>
          <a:xfrm>
            <a:off x="777240" y="3611880"/>
            <a:ext cx="3154680" cy="1280160"/>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Peak severity: </a:t>
            </a:r>
            <a:r>
              <a:rPr lang="en-US" sz="1350" dirty="0">
                <a:solidFill>
                  <a:srgbClr val="1B1F24"/>
                </a:solidFill>
                <a:latin typeface="Calibri" pitchFamily="34" charset="0"/>
                <a:ea typeface="Calibri" pitchFamily="34" charset="-122"/>
                <a:cs typeface="Calibri" pitchFamily="34" charset="-120"/>
              </a:rPr>
              <a:t>days 2–5 after cutting down</a:t>
            </a:r>
            <a:endParaRPr lang="en-US" sz="1350" dirty="0"/>
          </a:p>
          <a:p>
            <a:pPr indent="0" marL="0">
              <a:buNone/>
            </a:pPr>
            <a:r>
              <a:rPr lang="en-US" sz="1350" i="1" dirty="0">
                <a:solidFill>
                  <a:srgbClr val="5F6B76"/>
                </a:solidFill>
                <a:latin typeface="Calibri" pitchFamily="34" charset="0"/>
                <a:ea typeface="Calibri" pitchFamily="34" charset="-122"/>
                <a:cs typeface="Calibri" pitchFamily="34" charset="-120"/>
              </a:rPr>
              <a:t>Recent reviews still call this evidence preliminary.</a:t>
            </a:r>
            <a:endParaRPr lang="en-US" sz="1350" dirty="0"/>
          </a:p>
        </p:txBody>
      </p:sp>
      <p:sp>
        <p:nvSpPr>
          <p:cNvPr id="12" name="anim2_433"/>
          <p:cNvSpPr/>
          <p:nvPr/>
        </p:nvSpPr>
        <p:spPr>
          <a:xfrm>
            <a:off x="4343400" y="1828800"/>
            <a:ext cx="2514600" cy="2514600"/>
          </a:xfrm>
          <a:prstGeom prst="ellipse">
            <a:avLst/>
          </a:prstGeom>
          <a:solidFill>
            <a:srgbClr val="6A4C93">
              <a:alpha val="30000"/>
            </a:srgbClr>
          </a:solidFill>
          <a:ln w="25400">
            <a:solidFill>
              <a:srgbClr val="6A4C93"/>
            </a:solidFill>
            <a:prstDash val="solid"/>
          </a:ln>
        </p:spPr>
      </p:sp>
      <p:sp>
        <p:nvSpPr>
          <p:cNvPr id="13" name="anim2_434"/>
          <p:cNvSpPr/>
          <p:nvPr/>
        </p:nvSpPr>
        <p:spPr>
          <a:xfrm>
            <a:off x="5806440" y="1828800"/>
            <a:ext cx="2514600" cy="2514600"/>
          </a:xfrm>
          <a:prstGeom prst="ellipse">
            <a:avLst/>
          </a:prstGeom>
          <a:solidFill>
            <a:srgbClr val="D88A1F">
              <a:alpha val="30000"/>
            </a:srgbClr>
          </a:solidFill>
          <a:ln w="25400">
            <a:solidFill>
              <a:srgbClr val="D88A1F"/>
            </a:solidFill>
            <a:prstDash val="solid"/>
          </a:ln>
        </p:spPr>
      </p:sp>
      <p:sp>
        <p:nvSpPr>
          <p:cNvPr id="14" name="anim2_435"/>
          <p:cNvSpPr txBox="1"/>
          <p:nvPr/>
        </p:nvSpPr>
        <p:spPr>
          <a:xfrm>
            <a:off x="4480560" y="2697480"/>
            <a:ext cx="1280160" cy="822960"/>
          </a:xfrm>
          <a:prstGeom prst="rect">
            <a:avLst/>
          </a:prstGeom>
          <a:noFill/>
          <a:ln/>
        </p:spPr>
        <p:txBody>
          <a:bodyPr wrap="square" lIns="0" tIns="0" rIns="0" bIns="0" rtlCol="0" anchor="ctr"/>
          <a:lstStyle/>
          <a:p>
            <a:pPr algn="ctr" indent="0" marL="0">
              <a:buNone/>
            </a:pPr>
            <a:r>
              <a:rPr lang="en-US" sz="1250" b="1" dirty="0">
                <a:solidFill>
                  <a:srgbClr val="6A4C93"/>
                </a:solidFill>
                <a:latin typeface="Calibri" pitchFamily="34" charset="0"/>
                <a:ea typeface="Calibri" pitchFamily="34" charset="-122"/>
                <a:cs typeface="Calibri" pitchFamily="34" charset="-120"/>
              </a:rPr>
              <a:t>Withdrawal from specific foods</a:t>
            </a:r>
            <a:endParaRPr lang="en-US" sz="1250" dirty="0"/>
          </a:p>
        </p:txBody>
      </p:sp>
      <p:sp>
        <p:nvSpPr>
          <p:cNvPr id="15" name="anim2_436"/>
          <p:cNvSpPr txBox="1"/>
          <p:nvPr/>
        </p:nvSpPr>
        <p:spPr>
          <a:xfrm>
            <a:off x="6903720" y="2697480"/>
            <a:ext cx="1280160" cy="822960"/>
          </a:xfrm>
          <a:prstGeom prst="rect">
            <a:avLst/>
          </a:prstGeom>
          <a:noFill/>
          <a:ln/>
        </p:spPr>
        <p:txBody>
          <a:bodyPr wrap="square" lIns="0" tIns="0" rIns="0" bIns="0" rtlCol="0" anchor="ctr"/>
          <a:lstStyle/>
          <a:p>
            <a:pPr algn="ctr" indent="0" marL="0">
              <a:buNone/>
            </a:pPr>
            <a:r>
              <a:rPr lang="en-US" sz="1250" b="1" dirty="0">
                <a:solidFill>
                  <a:srgbClr val="9A5E0B"/>
                </a:solidFill>
                <a:latin typeface="Calibri" pitchFamily="34" charset="0"/>
                <a:ea typeface="Calibri" pitchFamily="34" charset="-122"/>
                <a:cs typeface="Calibri" pitchFamily="34" charset="-120"/>
              </a:rPr>
              <a:t>General energy deficit</a:t>
            </a:r>
            <a:endParaRPr lang="en-US" sz="1250" dirty="0"/>
          </a:p>
        </p:txBody>
      </p:sp>
      <p:sp>
        <p:nvSpPr>
          <p:cNvPr id="16" name="anim3_437"/>
          <p:cNvSpPr txBox="1"/>
          <p:nvPr/>
        </p:nvSpPr>
        <p:spPr>
          <a:xfrm>
            <a:off x="5897880" y="2468880"/>
            <a:ext cx="868680" cy="822960"/>
          </a:xfrm>
          <a:prstGeom prst="rect">
            <a:avLst/>
          </a:prstGeom>
          <a:noFill/>
          <a:ln/>
        </p:spPr>
        <p:txBody>
          <a:bodyPr wrap="square" lIns="0" tIns="0" rIns="0" bIns="0" rtlCol="0" anchor="ctr"/>
          <a:lstStyle/>
          <a:p>
            <a:pPr algn="ctr" indent="0" marL="0">
              <a:buNone/>
            </a:pPr>
            <a:r>
              <a:rPr lang="en-US" sz="4400" b="1" dirty="0">
                <a:solidFill>
                  <a:srgbClr val="1F3A5F"/>
                </a:solidFill>
                <a:latin typeface="Cambria" pitchFamily="34" charset="0"/>
                <a:ea typeface="Cambria" pitchFamily="34" charset="-122"/>
                <a:cs typeface="Cambria" pitchFamily="34" charset="-120"/>
              </a:rPr>
              <a:t>?</a:t>
            </a:r>
            <a:endParaRPr lang="en-US" sz="4400" dirty="0"/>
          </a:p>
        </p:txBody>
      </p:sp>
      <p:sp>
        <p:nvSpPr>
          <p:cNvPr id="17" name="anim3_438"/>
          <p:cNvSpPr txBox="1"/>
          <p:nvPr/>
        </p:nvSpPr>
        <p:spPr>
          <a:xfrm>
            <a:off x="5715000" y="3291840"/>
            <a:ext cx="1234440" cy="548640"/>
          </a:xfrm>
          <a:prstGeom prst="rect">
            <a:avLst/>
          </a:prstGeom>
          <a:noFill/>
          <a:ln/>
        </p:spPr>
        <p:txBody>
          <a:bodyPr wrap="square" lIns="0" tIns="0" rIns="0" bIns="0" rtlCol="0" anchor="t"/>
          <a:lstStyle/>
          <a:p>
            <a:pPr algn="ctr" indent="0" marL="0">
              <a:buNone/>
            </a:pPr>
            <a:r>
              <a:rPr lang="en-US" sz="1050" dirty="0">
                <a:solidFill>
                  <a:srgbClr val="1B1F24"/>
                </a:solidFill>
                <a:latin typeface="Calibri" pitchFamily="34" charset="0"/>
                <a:ea typeface="Calibri" pitchFamily="34" charset="-122"/>
                <a:cs typeface="Calibri" pitchFamily="34" charset="-120"/>
              </a:rPr>
              <a:t>irritability · fatigue · craving</a:t>
            </a:r>
            <a:endParaRPr lang="en-US" sz="1050" dirty="0"/>
          </a:p>
        </p:txBody>
      </p:sp>
      <p:sp>
        <p:nvSpPr>
          <p:cNvPr id="18" name="anim3_439"/>
          <p:cNvSpPr txBox="1"/>
          <p:nvPr/>
        </p:nvSpPr>
        <p:spPr>
          <a:xfrm>
            <a:off x="4343400" y="4572000"/>
            <a:ext cx="3977640" cy="868680"/>
          </a:xfrm>
          <a:prstGeom prst="rect">
            <a:avLst/>
          </a:prstGeom>
          <a:noFill/>
          <a:ln/>
        </p:spPr>
        <p:txBody>
          <a:bodyPr wrap="square" lIns="0" tIns="0" rIns="0" bIns="0" rtlCol="0" anchor="t"/>
          <a:lstStyle/>
          <a:p>
            <a:pPr algn="ctr" indent="0" marL="0">
              <a:buNone/>
            </a:pPr>
            <a:r>
              <a:rPr lang="en-US" sz="1400" i="1" dirty="0">
                <a:solidFill>
                  <a:srgbClr val="1F3A5F"/>
                </a:solidFill>
                <a:latin typeface="Calibri" pitchFamily="34" charset="0"/>
                <a:ea typeface="Calibri" pitchFamily="34" charset="-122"/>
                <a:cs typeface="Calibri" pitchFamily="34" charset="-120"/>
              </a:rPr>
              <a:t>If people cut sweets and calories together, irritability cannot be pinned on “sugar withdrawal”.</a:t>
            </a:r>
            <a:endParaRPr lang="en-US" sz="1400" dirty="0"/>
          </a:p>
        </p:txBody>
      </p:sp>
      <p:sp>
        <p:nvSpPr>
          <p:cNvPr id="19" name="anim4_440"/>
          <p:cNvSpPr/>
          <p:nvPr/>
        </p:nvSpPr>
        <p:spPr>
          <a:xfrm>
            <a:off x="8549640" y="1325880"/>
            <a:ext cx="3063240" cy="4572000"/>
          </a:xfrm>
          <a:prstGeom prst="roundRect">
            <a:avLst>
              <a:gd name="adj" fmla="val 238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4_441"/>
          <p:cNvSpPr txBox="1"/>
          <p:nvPr/>
        </p:nvSpPr>
        <p:spPr>
          <a:xfrm>
            <a:off x="8732520" y="1463040"/>
            <a:ext cx="2743200" cy="685800"/>
          </a:xfrm>
          <a:prstGeom prst="rect">
            <a:avLst/>
          </a:prstGeom>
          <a:noFill/>
          <a:ln/>
        </p:spPr>
        <p:txBody>
          <a:bodyPr wrap="square" lIns="0" tIns="0" rIns="0" bIns="0" rtlCol="0" anchor="t"/>
          <a:lstStyle/>
          <a:p>
            <a:pPr indent="0" marL="0">
              <a:buNone/>
            </a:pPr>
            <a:r>
              <a:rPr lang="en-US" sz="1600" b="1" dirty="0">
                <a:solidFill>
                  <a:srgbClr val="B3393C"/>
                </a:solidFill>
                <a:latin typeface="Cambria" pitchFamily="34" charset="0"/>
                <a:ea typeface="Cambria" pitchFamily="34" charset="-122"/>
                <a:cs typeface="Cambria" pitchFamily="34" charset="-120"/>
              </a:rPr>
              <a:t>Why the evidence is weak</a:t>
            </a:r>
            <a:endParaRPr lang="en-US" sz="1600" dirty="0"/>
          </a:p>
        </p:txBody>
      </p:sp>
      <p:sp>
        <p:nvSpPr>
          <p:cNvPr id="21" name="anim4_442"/>
          <p:cNvSpPr txBox="1"/>
          <p:nvPr/>
        </p:nvSpPr>
        <p:spPr>
          <a:xfrm>
            <a:off x="8732520" y="2194560"/>
            <a:ext cx="2743200" cy="3611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55% of patients with BED endorsed the YFAS withdrawal item — with no operational definition</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Retrospective self-report</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Expectancy in people who already believe they are “addicted”</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No objective biomarker</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Unclear time course; non-specific symptoms</a:t>
            </a:r>
            <a:endParaRPr lang="en-US" sz="1250" dirty="0"/>
          </a:p>
        </p:txBody>
      </p:sp>
      <p:sp>
        <p:nvSpPr>
          <p:cNvPr id="22" name="Text 19"/>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Schulte et al. 2018; LaFata et al. 2024; Gearhardt et al. 2012; Ziauddeen and Fletcher 2013; Meule and Kübler 2012; Westwater et al. 2016.</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27"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childTnLst>
                          </p:cTn>
                        </p:par>
                        <p:par>
                          <p:cTn id="40" fill="hold">
                            <p:stCondLst>
                              <p:cond delay="380"/>
                            </p:stCondLst>
                            <p:childTnLst>
                              <p:par>
                                <p:cTn id="28" presetID="10" presetClass="entr" presetSubtype="0"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par>
                          <p:cTn id="50" fill="hold">
                            <p:stCondLst>
                              <p:cond delay="38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0"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2A7A8C"/>
                </a:solidFill>
                <a:latin typeface="Cambria" pitchFamily="34" charset="0"/>
                <a:ea typeface="Cambria" pitchFamily="34" charset="-122"/>
                <a:cs typeface="Cambria" pitchFamily="34" charset="-120"/>
              </a:rPr>
              <a:t>03</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Mechanisms</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Why might ultra-processed foods behave differently?</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6A4C93"/>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892040" y="5166360"/>
            <a:ext cx="384048" cy="384048"/>
          </a:xfrm>
          <a:prstGeom prst="ellipse">
            <a:avLst/>
          </a:prstGeom>
          <a:solidFill>
            <a:srgbClr val="2A7A8C"/>
          </a:solidFill>
          <a:ln w="25400">
            <a:solidFill>
              <a:srgbClr val="FFFFFF"/>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2E4A6B"/>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2E4A6B"/>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2E4A6B"/>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443"/>
          <p:cNvSpPr/>
          <p:nvPr/>
        </p:nvSpPr>
        <p:spPr>
          <a:xfrm>
            <a:off x="10607040" y="2240280"/>
            <a:ext cx="960120" cy="960120"/>
          </a:xfrm>
          <a:prstGeom prst="ellipse">
            <a:avLst/>
          </a:prstGeom>
          <a:solidFill>
            <a:srgbClr val="2A7A8C"/>
          </a:solidFill>
          <a:ln w="6350">
            <a:solidFill>
              <a:srgbClr val="2A7A8C"/>
            </a:solidFill>
            <a:prstDash val="solid"/>
          </a:ln>
        </p:spPr>
      </p:sp>
      <p:pic>
        <p:nvPicPr>
          <p:cNvPr id="25" name="ic_444" descr="brain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 integrated conceptual model</a:t>
            </a:r>
            <a:endParaRPr lang="en-US" sz="3200" dirty="0"/>
          </a:p>
        </p:txBody>
      </p:sp>
      <p:sp>
        <p:nvSpPr>
          <p:cNvPr id="4" name="anim1_445"/>
          <p:cNvSpPr/>
          <p:nvPr/>
        </p:nvSpPr>
        <p:spPr>
          <a:xfrm>
            <a:off x="548640" y="1463040"/>
            <a:ext cx="2788920" cy="1188720"/>
          </a:xfrm>
          <a:prstGeom prst="roundRect">
            <a:avLst>
              <a:gd name="adj" fmla="val 7692"/>
            </a:avLst>
          </a:prstGeom>
          <a:solidFill>
            <a:srgbClr val="F8E9E9"/>
          </a:solidFill>
          <a:ln w="25400">
            <a:solidFill>
              <a:srgbClr val="B3393C"/>
            </a:solidFill>
            <a:prstDash val="solid"/>
          </a:ln>
        </p:spPr>
      </p:sp>
      <p:sp>
        <p:nvSpPr>
          <p:cNvPr id="5" name="anim1_446"/>
          <p:cNvSpPr/>
          <p:nvPr/>
        </p:nvSpPr>
        <p:spPr>
          <a:xfrm>
            <a:off x="713232" y="1764792"/>
            <a:ext cx="566928" cy="566928"/>
          </a:xfrm>
          <a:prstGeom prst="ellipse">
            <a:avLst/>
          </a:prstGeom>
          <a:solidFill>
            <a:srgbClr val="B3393C"/>
          </a:solidFill>
          <a:ln w="6350">
            <a:solidFill>
              <a:srgbClr val="B3393C"/>
            </a:solidFill>
            <a:prstDash val="solid"/>
          </a:ln>
        </p:spPr>
      </p:sp>
      <p:pic>
        <p:nvPicPr>
          <p:cNvPr id="6" name="anim1_447" descr="industry icon">    </p:cNvPr>
          <p:cNvPicPr>
            <a:picLocks noChangeAspect="1"/>
          </p:cNvPicPr>
          <p:nvPr/>
        </p:nvPicPr>
        <p:blipFill>
          <a:blip r:embed="rId1"/>
          <a:stretch>
            <a:fillRect/>
          </a:stretch>
        </p:blipFill>
        <p:spPr>
          <a:xfrm>
            <a:off x="866303" y="1917863"/>
            <a:ext cx="260787" cy="260787"/>
          </a:xfrm>
          <a:prstGeom prst="rect">
            <a:avLst/>
          </a:prstGeom>
        </p:spPr>
      </p:pic>
      <p:sp>
        <p:nvSpPr>
          <p:cNvPr id="7" name="anim1_448"/>
          <p:cNvSpPr txBox="1"/>
          <p:nvPr/>
        </p:nvSpPr>
        <p:spPr>
          <a:xfrm>
            <a:off x="1417320" y="1536192"/>
            <a:ext cx="1874520" cy="548640"/>
          </a:xfrm>
          <a:prstGeom prst="rect">
            <a:avLst/>
          </a:prstGeom>
          <a:noFill/>
          <a:ln/>
        </p:spPr>
        <p:txBody>
          <a:bodyPr wrap="square" lIns="0" tIns="0" rIns="0" bIns="0" rtlCol="0" anchor="ctr"/>
          <a:lstStyle/>
          <a:p>
            <a:pPr indent="0" marL="0">
              <a:buNone/>
            </a:pPr>
            <a:r>
              <a:rPr lang="en-US" sz="1400" b="1" dirty="0">
                <a:solidFill>
                  <a:srgbClr val="B3393C"/>
                </a:solidFill>
                <a:latin typeface="Cambria" pitchFamily="34" charset="0"/>
                <a:ea typeface="Cambria" pitchFamily="34" charset="-122"/>
                <a:cs typeface="Cambria" pitchFamily="34" charset="-120"/>
              </a:rPr>
              <a:t>Product characteristics</a:t>
            </a:r>
            <a:endParaRPr lang="en-US" sz="1400" dirty="0"/>
          </a:p>
        </p:txBody>
      </p:sp>
      <p:sp>
        <p:nvSpPr>
          <p:cNvPr id="8" name="anim1_449"/>
          <p:cNvSpPr txBox="1"/>
          <p:nvPr/>
        </p:nvSpPr>
        <p:spPr>
          <a:xfrm>
            <a:off x="1417320" y="2121408"/>
            <a:ext cx="1874520" cy="475488"/>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Processing, fat + carbohydrate, glycemic load</a:t>
            </a:r>
            <a:endParaRPr lang="en-US" sz="1150" dirty="0"/>
          </a:p>
        </p:txBody>
      </p:sp>
      <p:sp>
        <p:nvSpPr>
          <p:cNvPr id="9" name="anim1_450"/>
          <p:cNvSpPr/>
          <p:nvPr/>
        </p:nvSpPr>
        <p:spPr>
          <a:xfrm>
            <a:off x="548640" y="2926080"/>
            <a:ext cx="2788920" cy="1188720"/>
          </a:xfrm>
          <a:prstGeom prst="roundRect">
            <a:avLst>
              <a:gd name="adj" fmla="val 7692"/>
            </a:avLst>
          </a:prstGeom>
          <a:solidFill>
            <a:srgbClr val="FBF0DD"/>
          </a:solidFill>
          <a:ln w="25400">
            <a:solidFill>
              <a:srgbClr val="D88A1F"/>
            </a:solidFill>
            <a:prstDash val="solid"/>
          </a:ln>
        </p:spPr>
      </p:sp>
      <p:sp>
        <p:nvSpPr>
          <p:cNvPr id="10" name="anim1_451"/>
          <p:cNvSpPr/>
          <p:nvPr/>
        </p:nvSpPr>
        <p:spPr>
          <a:xfrm>
            <a:off x="713232" y="3227832"/>
            <a:ext cx="566928" cy="566928"/>
          </a:xfrm>
          <a:prstGeom prst="ellipse">
            <a:avLst/>
          </a:prstGeom>
          <a:solidFill>
            <a:srgbClr val="D88A1F"/>
          </a:solidFill>
          <a:ln w="6350">
            <a:solidFill>
              <a:srgbClr val="D88A1F"/>
            </a:solidFill>
            <a:prstDash val="solid"/>
          </a:ln>
        </p:spPr>
      </p:sp>
      <p:pic>
        <p:nvPicPr>
          <p:cNvPr id="11" name="anim1_452" descr="cart icon">    </p:cNvPr>
          <p:cNvPicPr>
            <a:picLocks noChangeAspect="1"/>
          </p:cNvPicPr>
          <p:nvPr/>
        </p:nvPicPr>
        <p:blipFill>
          <a:blip r:embed="rId2"/>
          <a:stretch>
            <a:fillRect/>
          </a:stretch>
        </p:blipFill>
        <p:spPr>
          <a:xfrm>
            <a:off x="866303" y="3380903"/>
            <a:ext cx="260787" cy="260787"/>
          </a:xfrm>
          <a:prstGeom prst="rect">
            <a:avLst/>
          </a:prstGeom>
        </p:spPr>
      </p:pic>
      <p:sp>
        <p:nvSpPr>
          <p:cNvPr id="12" name="anim1_453"/>
          <p:cNvSpPr txBox="1"/>
          <p:nvPr/>
        </p:nvSpPr>
        <p:spPr>
          <a:xfrm>
            <a:off x="1417320" y="2999232"/>
            <a:ext cx="1874520" cy="548640"/>
          </a:xfrm>
          <a:prstGeom prst="rect">
            <a:avLst/>
          </a:prstGeom>
          <a:noFill/>
          <a:ln/>
        </p:spPr>
        <p:txBody>
          <a:bodyPr wrap="square" lIns="0" tIns="0" rIns="0" bIns="0" rtlCol="0" anchor="ctr"/>
          <a:lstStyle/>
          <a:p>
            <a:pPr indent="0" marL="0">
              <a:buNone/>
            </a:pPr>
            <a:r>
              <a:rPr lang="en-US" sz="1400" b="1" dirty="0">
                <a:solidFill>
                  <a:srgbClr val="D88A1F"/>
                </a:solidFill>
                <a:latin typeface="Cambria" pitchFamily="34" charset="0"/>
                <a:ea typeface="Cambria" pitchFamily="34" charset="-122"/>
                <a:cs typeface="Cambria" pitchFamily="34" charset="-120"/>
              </a:rPr>
              <a:t>Food environment</a:t>
            </a:r>
            <a:endParaRPr lang="en-US" sz="1400" dirty="0"/>
          </a:p>
        </p:txBody>
      </p:sp>
      <p:sp>
        <p:nvSpPr>
          <p:cNvPr id="13" name="anim1_454"/>
          <p:cNvSpPr txBox="1"/>
          <p:nvPr/>
        </p:nvSpPr>
        <p:spPr>
          <a:xfrm>
            <a:off x="1417320" y="3584448"/>
            <a:ext cx="1874520" cy="475488"/>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Availability, price, marketing</a:t>
            </a:r>
            <a:endParaRPr lang="en-US" sz="1150" dirty="0"/>
          </a:p>
        </p:txBody>
      </p:sp>
      <p:sp>
        <p:nvSpPr>
          <p:cNvPr id="14" name="anim1_455"/>
          <p:cNvSpPr/>
          <p:nvPr/>
        </p:nvSpPr>
        <p:spPr>
          <a:xfrm>
            <a:off x="548640" y="4389120"/>
            <a:ext cx="2788920" cy="1188720"/>
          </a:xfrm>
          <a:prstGeom prst="roundRect">
            <a:avLst>
              <a:gd name="adj" fmla="val 7692"/>
            </a:avLst>
          </a:prstGeom>
          <a:solidFill>
            <a:srgbClr val="EFEAF6"/>
          </a:solidFill>
          <a:ln w="25400">
            <a:solidFill>
              <a:srgbClr val="6A4C93"/>
            </a:solidFill>
            <a:prstDash val="solid"/>
          </a:ln>
        </p:spPr>
      </p:sp>
      <p:sp>
        <p:nvSpPr>
          <p:cNvPr id="15" name="anim1_456"/>
          <p:cNvSpPr/>
          <p:nvPr/>
        </p:nvSpPr>
        <p:spPr>
          <a:xfrm>
            <a:off x="713232" y="4690872"/>
            <a:ext cx="566928" cy="566928"/>
          </a:xfrm>
          <a:prstGeom prst="ellipse">
            <a:avLst/>
          </a:prstGeom>
          <a:solidFill>
            <a:srgbClr val="6A4C93"/>
          </a:solidFill>
          <a:ln w="6350">
            <a:solidFill>
              <a:srgbClr val="6A4C93"/>
            </a:solidFill>
            <a:prstDash val="solid"/>
          </a:ln>
        </p:spPr>
      </p:sp>
      <p:pic>
        <p:nvPicPr>
          <p:cNvPr id="16" name="anim1_457" descr="dna icon">    </p:cNvPr>
          <p:cNvPicPr>
            <a:picLocks noChangeAspect="1"/>
          </p:cNvPicPr>
          <p:nvPr/>
        </p:nvPicPr>
        <p:blipFill>
          <a:blip r:embed="rId3"/>
          <a:stretch>
            <a:fillRect/>
          </a:stretch>
        </p:blipFill>
        <p:spPr>
          <a:xfrm>
            <a:off x="866303" y="4843943"/>
            <a:ext cx="260787" cy="260787"/>
          </a:xfrm>
          <a:prstGeom prst="rect">
            <a:avLst/>
          </a:prstGeom>
        </p:spPr>
      </p:pic>
      <p:sp>
        <p:nvSpPr>
          <p:cNvPr id="17" name="anim1_458"/>
          <p:cNvSpPr txBox="1"/>
          <p:nvPr/>
        </p:nvSpPr>
        <p:spPr>
          <a:xfrm>
            <a:off x="1417320" y="4462272"/>
            <a:ext cx="1874520" cy="548640"/>
          </a:xfrm>
          <a:prstGeom prst="rect">
            <a:avLst/>
          </a:prstGeom>
          <a:noFill/>
          <a:ln/>
        </p:spPr>
        <p:txBody>
          <a:bodyPr wrap="square" lIns="0" tIns="0" rIns="0" bIns="0" rtlCol="0" anchor="ctr"/>
          <a:lstStyle/>
          <a:p>
            <a:pPr indent="0" marL="0">
              <a:buNone/>
            </a:pPr>
            <a:r>
              <a:rPr lang="en-US" sz="1400" b="1" dirty="0">
                <a:solidFill>
                  <a:srgbClr val="6A4C93"/>
                </a:solidFill>
                <a:latin typeface="Cambria" pitchFamily="34" charset="0"/>
                <a:ea typeface="Cambria" pitchFamily="34" charset="-122"/>
                <a:cs typeface="Cambria" pitchFamily="34" charset="-120"/>
              </a:rPr>
              <a:t>Individual vulnerability</a:t>
            </a:r>
            <a:endParaRPr lang="en-US" sz="1400" dirty="0"/>
          </a:p>
        </p:txBody>
      </p:sp>
      <p:sp>
        <p:nvSpPr>
          <p:cNvPr id="18" name="anim1_459"/>
          <p:cNvSpPr txBox="1"/>
          <p:nvPr/>
        </p:nvSpPr>
        <p:spPr>
          <a:xfrm>
            <a:off x="1417320" y="5047488"/>
            <a:ext cx="1874520" cy="475488"/>
          </a:xfrm>
          <a:prstGeom prst="rect">
            <a:avLst/>
          </a:prstGeom>
          <a:noFill/>
          <a:ln/>
        </p:spPr>
        <p:txBody>
          <a:bodyPr wrap="square" lIns="0" tIns="0" rIns="0" bIns="0" rtlCol="0" anchor="t"/>
          <a:lstStyle/>
          <a:p>
            <a:pPr indent="0" marL="0">
              <a:buNone/>
            </a:pPr>
            <a:r>
              <a:rPr lang="en-US" sz="1150" dirty="0">
                <a:solidFill>
                  <a:srgbClr val="1B1F24"/>
                </a:solidFill>
                <a:latin typeface="Calibri" pitchFamily="34" charset="0"/>
                <a:ea typeface="Calibri" pitchFamily="34" charset="-122"/>
                <a:cs typeface="Calibri" pitchFamily="34" charset="-120"/>
              </a:rPr>
              <a:t>Age, mental health, food insecurity</a:t>
            </a:r>
            <a:endParaRPr lang="en-US" sz="1150" dirty="0"/>
          </a:p>
        </p:txBody>
      </p:sp>
      <p:sp>
        <p:nvSpPr>
          <p:cNvPr id="19" name="anim2_460"/>
          <p:cNvSpPr/>
          <p:nvPr/>
        </p:nvSpPr>
        <p:spPr>
          <a:xfrm>
            <a:off x="3401568" y="2057400"/>
            <a:ext cx="457200" cy="411480"/>
          </a:xfrm>
          <a:prstGeom prst="line">
            <a:avLst/>
          </a:prstGeom>
          <a:noFill/>
          <a:ln w="28575">
            <a:solidFill>
              <a:srgbClr val="4A5560"/>
            </a:solidFill>
            <a:prstDash val="dash"/>
            <a:tailEnd type="triangle"/>
          </a:ln>
        </p:spPr>
      </p:sp>
      <p:sp>
        <p:nvSpPr>
          <p:cNvPr id="20" name="anim2_461"/>
          <p:cNvSpPr/>
          <p:nvPr/>
        </p:nvSpPr>
        <p:spPr>
          <a:xfrm>
            <a:off x="3401568" y="3520440"/>
            <a:ext cx="457200" cy="0"/>
          </a:xfrm>
          <a:prstGeom prst="line">
            <a:avLst/>
          </a:prstGeom>
          <a:noFill/>
          <a:ln w="28575">
            <a:solidFill>
              <a:srgbClr val="4A5560"/>
            </a:solidFill>
            <a:prstDash val="dash"/>
            <a:tailEnd type="triangle"/>
          </a:ln>
        </p:spPr>
      </p:sp>
      <p:sp>
        <p:nvSpPr>
          <p:cNvPr id="21" name="anim2_462"/>
          <p:cNvSpPr/>
          <p:nvPr/>
        </p:nvSpPr>
        <p:spPr>
          <a:xfrm flipV="1">
            <a:off x="3401568" y="4572000"/>
            <a:ext cx="457200" cy="411480"/>
          </a:xfrm>
          <a:prstGeom prst="line">
            <a:avLst/>
          </a:prstGeom>
          <a:noFill/>
          <a:ln w="28575">
            <a:solidFill>
              <a:srgbClr val="4A5560"/>
            </a:solidFill>
            <a:prstDash val="dash"/>
            <a:tailEnd type="triangle"/>
          </a:ln>
        </p:spPr>
      </p:sp>
      <p:sp>
        <p:nvSpPr>
          <p:cNvPr id="22" name="anim2_463"/>
          <p:cNvSpPr/>
          <p:nvPr/>
        </p:nvSpPr>
        <p:spPr>
          <a:xfrm>
            <a:off x="3931920" y="1371600"/>
            <a:ext cx="3246120" cy="4389120"/>
          </a:xfrm>
          <a:prstGeom prst="roundRect">
            <a:avLst>
              <a:gd name="adj" fmla="val 2817"/>
            </a:avLst>
          </a:prstGeom>
          <a:solidFill>
            <a:srgbClr val="E8EEF5"/>
          </a:solidFill>
          <a:ln w="25400">
            <a:solidFill>
              <a:srgbClr val="1F3A5F"/>
            </a:solidFill>
            <a:prstDash val="solid"/>
          </a:ln>
        </p:spPr>
      </p:sp>
      <p:sp>
        <p:nvSpPr>
          <p:cNvPr id="23" name="anim2_464"/>
          <p:cNvSpPr txBox="1"/>
          <p:nvPr/>
        </p:nvSpPr>
        <p:spPr>
          <a:xfrm>
            <a:off x="3931920" y="1463040"/>
            <a:ext cx="3246120" cy="411480"/>
          </a:xfrm>
          <a:prstGeom prst="rect">
            <a:avLst/>
          </a:prstGeom>
          <a:noFill/>
          <a:ln/>
        </p:spPr>
        <p:txBody>
          <a:bodyPr wrap="square" lIns="0" tIns="0" rIns="0" bIns="0" rtlCol="0" anchor="ctr"/>
          <a:lstStyle/>
          <a:p>
            <a:pPr algn="ctr" indent="0" marL="0">
              <a:buNone/>
            </a:pPr>
            <a:r>
              <a:rPr lang="en-US" sz="1600" b="1" dirty="0">
                <a:solidFill>
                  <a:srgbClr val="1F3A5F"/>
                </a:solidFill>
                <a:latin typeface="Cambria" pitchFamily="34" charset="0"/>
                <a:ea typeface="Cambria" pitchFamily="34" charset="-122"/>
                <a:cs typeface="Cambria" pitchFamily="34" charset="-120"/>
              </a:rPr>
              <a:t>Mediating mechanisms</a:t>
            </a:r>
            <a:endParaRPr lang="en-US" sz="1600" dirty="0"/>
          </a:p>
        </p:txBody>
      </p:sp>
      <p:sp>
        <p:nvSpPr>
          <p:cNvPr id="24" name="anim3_465"/>
          <p:cNvSpPr/>
          <p:nvPr/>
        </p:nvSpPr>
        <p:spPr>
          <a:xfrm>
            <a:off x="4160520" y="2011680"/>
            <a:ext cx="2788920" cy="1600200"/>
          </a:xfrm>
          <a:prstGeom prst="roundRect">
            <a:avLst>
              <a:gd name="adj" fmla="val 5714"/>
            </a:avLst>
          </a:prstGeom>
          <a:solidFill>
            <a:srgbClr val="FFFFFF"/>
          </a:solidFill>
          <a:ln w="25400">
            <a:solidFill>
              <a:srgbClr val="2A7A8C"/>
            </a:solidFill>
            <a:prstDash val="solid"/>
          </a:ln>
        </p:spPr>
      </p:sp>
      <p:sp>
        <p:nvSpPr>
          <p:cNvPr id="25" name="anim3_466"/>
          <p:cNvSpPr/>
          <p:nvPr/>
        </p:nvSpPr>
        <p:spPr>
          <a:xfrm>
            <a:off x="5230368" y="2148840"/>
            <a:ext cx="548640" cy="548640"/>
          </a:xfrm>
          <a:prstGeom prst="ellipse">
            <a:avLst/>
          </a:prstGeom>
          <a:solidFill>
            <a:srgbClr val="2A7A8C"/>
          </a:solidFill>
          <a:ln w="6350">
            <a:solidFill>
              <a:srgbClr val="2A7A8C"/>
            </a:solidFill>
            <a:prstDash val="solid"/>
          </a:ln>
        </p:spPr>
      </p:sp>
      <p:pic>
        <p:nvPicPr>
          <p:cNvPr id="26" name="anim3_467" descr="bolt icon">    </p:cNvPr>
          <p:cNvPicPr>
            <a:picLocks noChangeAspect="1"/>
          </p:cNvPicPr>
          <p:nvPr/>
        </p:nvPicPr>
        <p:blipFill>
          <a:blip r:embed="rId4"/>
          <a:stretch>
            <a:fillRect/>
          </a:stretch>
        </p:blipFill>
        <p:spPr>
          <a:xfrm>
            <a:off x="5378501" y="2296973"/>
            <a:ext cx="252374" cy="252374"/>
          </a:xfrm>
          <a:prstGeom prst="rect">
            <a:avLst/>
          </a:prstGeom>
        </p:spPr>
      </p:pic>
      <p:sp>
        <p:nvSpPr>
          <p:cNvPr id="27" name="anim3_468"/>
          <p:cNvSpPr txBox="1"/>
          <p:nvPr/>
        </p:nvSpPr>
        <p:spPr>
          <a:xfrm>
            <a:off x="4251960" y="2743200"/>
            <a:ext cx="2606040" cy="365760"/>
          </a:xfrm>
          <a:prstGeom prst="rect">
            <a:avLst/>
          </a:prstGeom>
          <a:noFill/>
          <a:ln/>
        </p:spPr>
        <p:txBody>
          <a:bodyPr wrap="square" lIns="0" tIns="0" rIns="0" bIns="0" rtlCol="0" anchor="t"/>
          <a:lstStyle/>
          <a:p>
            <a:pPr algn="ctr" indent="0" marL="0">
              <a:buNone/>
            </a:pPr>
            <a:r>
              <a:rPr lang="en-US" sz="1500" b="1" dirty="0">
                <a:solidFill>
                  <a:srgbClr val="2A7A8C"/>
                </a:solidFill>
                <a:latin typeface="Calibri" pitchFamily="34" charset="0"/>
                <a:ea typeface="Calibri" pitchFamily="34" charset="-122"/>
                <a:cs typeface="Calibri" pitchFamily="34" charset="-120"/>
              </a:rPr>
              <a:t>Physiological response</a:t>
            </a:r>
            <a:endParaRPr lang="en-US" sz="1500" dirty="0"/>
          </a:p>
        </p:txBody>
      </p:sp>
      <p:sp>
        <p:nvSpPr>
          <p:cNvPr id="28" name="anim3_469"/>
          <p:cNvSpPr txBox="1"/>
          <p:nvPr/>
        </p:nvSpPr>
        <p:spPr>
          <a:xfrm>
            <a:off x="4251960" y="3108960"/>
            <a:ext cx="2606040" cy="41148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Rapid absorption, gut–brain signaling</a:t>
            </a:r>
            <a:endParaRPr lang="en-US" sz="1250" dirty="0"/>
          </a:p>
        </p:txBody>
      </p:sp>
      <p:sp>
        <p:nvSpPr>
          <p:cNvPr id="29" name="anim3_470"/>
          <p:cNvSpPr/>
          <p:nvPr/>
        </p:nvSpPr>
        <p:spPr>
          <a:xfrm>
            <a:off x="4160520" y="3840480"/>
            <a:ext cx="2788920" cy="1600200"/>
          </a:xfrm>
          <a:prstGeom prst="roundRect">
            <a:avLst>
              <a:gd name="adj" fmla="val 5714"/>
            </a:avLst>
          </a:prstGeom>
          <a:solidFill>
            <a:srgbClr val="FFFFFF"/>
          </a:solidFill>
          <a:ln w="25400">
            <a:solidFill>
              <a:srgbClr val="2A7A8C"/>
            </a:solidFill>
            <a:prstDash val="solid"/>
          </a:ln>
        </p:spPr>
      </p:sp>
      <p:sp>
        <p:nvSpPr>
          <p:cNvPr id="30" name="anim3_471"/>
          <p:cNvSpPr/>
          <p:nvPr/>
        </p:nvSpPr>
        <p:spPr>
          <a:xfrm>
            <a:off x="5230368" y="3977640"/>
            <a:ext cx="548640" cy="548640"/>
          </a:xfrm>
          <a:prstGeom prst="ellipse">
            <a:avLst/>
          </a:prstGeom>
          <a:solidFill>
            <a:srgbClr val="2A7A8C"/>
          </a:solidFill>
          <a:ln w="6350">
            <a:solidFill>
              <a:srgbClr val="2A7A8C"/>
            </a:solidFill>
            <a:prstDash val="solid"/>
          </a:ln>
        </p:spPr>
      </p:sp>
      <p:pic>
        <p:nvPicPr>
          <p:cNvPr id="31" name="anim3_472" descr="brain icon">    </p:cNvPr>
          <p:cNvPicPr>
            <a:picLocks noChangeAspect="1"/>
          </p:cNvPicPr>
          <p:nvPr/>
        </p:nvPicPr>
        <p:blipFill>
          <a:blip r:embed="rId5"/>
          <a:stretch>
            <a:fillRect/>
          </a:stretch>
        </p:blipFill>
        <p:spPr>
          <a:xfrm>
            <a:off x="5378501" y="4125773"/>
            <a:ext cx="252374" cy="252374"/>
          </a:xfrm>
          <a:prstGeom prst="rect">
            <a:avLst/>
          </a:prstGeom>
        </p:spPr>
      </p:pic>
      <p:sp>
        <p:nvSpPr>
          <p:cNvPr id="32" name="anim3_473"/>
          <p:cNvSpPr txBox="1"/>
          <p:nvPr/>
        </p:nvSpPr>
        <p:spPr>
          <a:xfrm>
            <a:off x="4251960" y="4572000"/>
            <a:ext cx="2606040" cy="365760"/>
          </a:xfrm>
          <a:prstGeom prst="rect">
            <a:avLst/>
          </a:prstGeom>
          <a:noFill/>
          <a:ln/>
        </p:spPr>
        <p:txBody>
          <a:bodyPr wrap="square" lIns="0" tIns="0" rIns="0" bIns="0" rtlCol="0" anchor="t"/>
          <a:lstStyle/>
          <a:p>
            <a:pPr algn="ctr" indent="0" marL="0">
              <a:buNone/>
            </a:pPr>
            <a:r>
              <a:rPr lang="en-US" sz="1500" b="1" dirty="0">
                <a:solidFill>
                  <a:srgbClr val="2A7A8C"/>
                </a:solidFill>
                <a:latin typeface="Calibri" pitchFamily="34" charset="0"/>
                <a:ea typeface="Calibri" pitchFamily="34" charset="-122"/>
                <a:cs typeface="Calibri" pitchFamily="34" charset="-120"/>
              </a:rPr>
              <a:t>Neural reward circuits</a:t>
            </a:r>
            <a:endParaRPr lang="en-US" sz="1500" dirty="0"/>
          </a:p>
        </p:txBody>
      </p:sp>
      <p:sp>
        <p:nvSpPr>
          <p:cNvPr id="33" name="anim3_474"/>
          <p:cNvSpPr txBox="1"/>
          <p:nvPr/>
        </p:nvSpPr>
        <p:spPr>
          <a:xfrm>
            <a:off x="4251960" y="4937760"/>
            <a:ext cx="2606040" cy="41148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Reinforced reward, striatum</a:t>
            </a:r>
            <a:endParaRPr lang="en-US" sz="1250" dirty="0"/>
          </a:p>
        </p:txBody>
      </p:sp>
      <p:sp>
        <p:nvSpPr>
          <p:cNvPr id="34" name="anim4_475"/>
          <p:cNvSpPr/>
          <p:nvPr/>
        </p:nvSpPr>
        <p:spPr>
          <a:xfrm>
            <a:off x="7242048" y="3566160"/>
            <a:ext cx="457200" cy="0"/>
          </a:xfrm>
          <a:prstGeom prst="line">
            <a:avLst/>
          </a:prstGeom>
          <a:noFill/>
          <a:ln w="28575">
            <a:solidFill>
              <a:srgbClr val="4A5560"/>
            </a:solidFill>
            <a:prstDash val="dash"/>
            <a:tailEnd type="triangle"/>
          </a:ln>
        </p:spPr>
      </p:sp>
      <p:sp>
        <p:nvSpPr>
          <p:cNvPr id="35" name="anim4_476"/>
          <p:cNvSpPr/>
          <p:nvPr/>
        </p:nvSpPr>
        <p:spPr>
          <a:xfrm>
            <a:off x="7772400" y="2697480"/>
            <a:ext cx="1783080" cy="1737360"/>
          </a:xfrm>
          <a:prstGeom prst="roundRect">
            <a:avLst>
              <a:gd name="adj" fmla="val 5263"/>
            </a:avLst>
          </a:prstGeom>
          <a:solidFill>
            <a:srgbClr val="E8F2EC"/>
          </a:solidFill>
          <a:ln w="25400">
            <a:solidFill>
              <a:srgbClr val="3B7D5A"/>
            </a:solidFill>
            <a:prstDash val="solid"/>
          </a:ln>
        </p:spPr>
      </p:sp>
      <p:sp>
        <p:nvSpPr>
          <p:cNvPr id="36" name="anim4_477"/>
          <p:cNvSpPr txBox="1"/>
          <p:nvPr/>
        </p:nvSpPr>
        <p:spPr>
          <a:xfrm>
            <a:off x="7863840" y="2834640"/>
            <a:ext cx="1600200" cy="731520"/>
          </a:xfrm>
          <a:prstGeom prst="rect">
            <a:avLst/>
          </a:prstGeom>
          <a:noFill/>
          <a:ln/>
        </p:spPr>
        <p:txBody>
          <a:bodyPr wrap="square" lIns="0" tIns="0" rIns="0" bIns="0" rtlCol="0" anchor="ctr"/>
          <a:lstStyle/>
          <a:p>
            <a:pPr algn="ctr" indent="0" marL="0">
              <a:buNone/>
            </a:pPr>
            <a:r>
              <a:rPr lang="en-US" sz="1500" b="1" dirty="0">
                <a:solidFill>
                  <a:srgbClr val="3B7D5A"/>
                </a:solidFill>
                <a:latin typeface="Calibri" pitchFamily="34" charset="0"/>
                <a:ea typeface="Calibri" pitchFamily="34" charset="-122"/>
                <a:cs typeface="Calibri" pitchFamily="34" charset="-120"/>
              </a:rPr>
              <a:t>Behavioral phenotype</a:t>
            </a:r>
            <a:endParaRPr lang="en-US" sz="1500" dirty="0"/>
          </a:p>
        </p:txBody>
      </p:sp>
      <p:sp>
        <p:nvSpPr>
          <p:cNvPr id="37" name="anim4_478"/>
          <p:cNvSpPr txBox="1"/>
          <p:nvPr/>
        </p:nvSpPr>
        <p:spPr>
          <a:xfrm>
            <a:off x="7863840" y="3611880"/>
            <a:ext cx="1600200" cy="640080"/>
          </a:xfrm>
          <a:prstGeom prst="rect">
            <a:avLst/>
          </a:prstGeom>
          <a:noFill/>
          <a:ln/>
        </p:spPr>
        <p:txBody>
          <a:bodyPr wrap="square" lIns="0" tIns="0" rIns="0" bIns="0" rtlCol="0" anchor="t"/>
          <a:lstStyle/>
          <a:p>
            <a:pPr algn="ctr" indent="0" marL="0">
              <a:buNone/>
            </a:pPr>
            <a:r>
              <a:rPr lang="en-US" sz="1250" dirty="0">
                <a:solidFill>
                  <a:srgbClr val="1B1F24"/>
                </a:solidFill>
                <a:latin typeface="Calibri" pitchFamily="34" charset="0"/>
                <a:ea typeface="Calibri" pitchFamily="34" charset="-122"/>
                <a:cs typeface="Calibri" pitchFamily="34" charset="-120"/>
              </a:rPr>
              <a:t>Addictive-like eating</a:t>
            </a:r>
            <a:endParaRPr lang="en-US" sz="1250" dirty="0"/>
          </a:p>
        </p:txBody>
      </p:sp>
      <p:sp>
        <p:nvSpPr>
          <p:cNvPr id="38" name="anim5_479"/>
          <p:cNvSpPr/>
          <p:nvPr/>
        </p:nvSpPr>
        <p:spPr>
          <a:xfrm>
            <a:off x="9601200" y="3566160"/>
            <a:ext cx="292608" cy="0"/>
          </a:xfrm>
          <a:prstGeom prst="line">
            <a:avLst/>
          </a:prstGeom>
          <a:noFill/>
          <a:ln w="28575">
            <a:solidFill>
              <a:srgbClr val="4A5560"/>
            </a:solidFill>
            <a:prstDash val="dash"/>
            <a:tailEnd type="triangle"/>
          </a:ln>
        </p:spPr>
      </p:sp>
      <p:sp>
        <p:nvSpPr>
          <p:cNvPr id="39" name="anim5_480"/>
          <p:cNvSpPr/>
          <p:nvPr/>
        </p:nvSpPr>
        <p:spPr>
          <a:xfrm>
            <a:off x="9948672" y="2697480"/>
            <a:ext cx="1664208" cy="1737360"/>
          </a:xfrm>
          <a:prstGeom prst="roundRect">
            <a:avLst>
              <a:gd name="adj" fmla="val 5495"/>
            </a:avLst>
          </a:prstGeom>
          <a:solidFill>
            <a:srgbClr val="E8EEF5"/>
          </a:solidFill>
          <a:ln w="25400">
            <a:solidFill>
              <a:srgbClr val="1F3A5F"/>
            </a:solidFill>
            <a:prstDash val="solid"/>
          </a:ln>
        </p:spPr>
      </p:sp>
      <p:sp>
        <p:nvSpPr>
          <p:cNvPr id="40" name="anim5_481"/>
          <p:cNvSpPr txBox="1"/>
          <p:nvPr/>
        </p:nvSpPr>
        <p:spPr>
          <a:xfrm>
            <a:off x="10012680" y="2880360"/>
            <a:ext cx="1536192" cy="1371600"/>
          </a:xfrm>
          <a:prstGeom prst="rect">
            <a:avLst/>
          </a:prstGeom>
          <a:noFill/>
          <a:ln/>
        </p:spPr>
        <p:txBody>
          <a:bodyPr wrap="square" lIns="0" tIns="0" rIns="0" bIns="0" rtlCol="0" anchor="ctr"/>
          <a:lstStyle/>
          <a:p>
            <a:pPr algn="ctr" indent="0" marL="0">
              <a:buNone/>
            </a:pPr>
            <a:r>
              <a:rPr lang="en-US" sz="1500" b="1" dirty="0">
                <a:solidFill>
                  <a:srgbClr val="1F3A5F"/>
                </a:solidFill>
                <a:latin typeface="Calibri" pitchFamily="34" charset="0"/>
                <a:ea typeface="Calibri" pitchFamily="34" charset="-122"/>
                <a:cs typeface="Calibri" pitchFamily="34" charset="-120"/>
              </a:rPr>
              <a:t>Related health outcomes</a:t>
            </a:r>
            <a:endParaRPr lang="en-US" sz="1500" dirty="0"/>
          </a:p>
        </p:txBody>
      </p:sp>
      <p:sp>
        <p:nvSpPr>
          <p:cNvPr id="41" name="anim6_482"/>
          <p:cNvSpPr/>
          <p:nvPr/>
        </p:nvSpPr>
        <p:spPr>
          <a:xfrm>
            <a:off x="7772400" y="4709160"/>
            <a:ext cx="3840480" cy="1051560"/>
          </a:xfrm>
          <a:prstGeom prst="roundRect">
            <a:avLst>
              <a:gd name="adj" fmla="val 6957"/>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42" name="anim6_483"/>
          <p:cNvSpPr/>
          <p:nvPr/>
        </p:nvSpPr>
        <p:spPr>
          <a:xfrm>
            <a:off x="7909560" y="4873752"/>
            <a:ext cx="502920" cy="502920"/>
          </a:xfrm>
          <a:prstGeom prst="ellipse">
            <a:avLst/>
          </a:prstGeom>
          <a:solidFill>
            <a:srgbClr val="D88A1F"/>
          </a:solidFill>
          <a:ln w="6350">
            <a:solidFill>
              <a:srgbClr val="D88A1F"/>
            </a:solidFill>
            <a:prstDash val="solid"/>
          </a:ln>
        </p:spPr>
      </p:sp>
      <p:pic>
        <p:nvPicPr>
          <p:cNvPr id="43" name="anim6_484" descr="warn icon">    </p:cNvPr>
          <p:cNvPicPr>
            <a:picLocks noChangeAspect="1"/>
          </p:cNvPicPr>
          <p:nvPr/>
        </p:nvPicPr>
        <p:blipFill>
          <a:blip r:embed="rId6"/>
          <a:stretch>
            <a:fillRect/>
          </a:stretch>
        </p:blipFill>
        <p:spPr>
          <a:xfrm>
            <a:off x="8045348" y="5009540"/>
            <a:ext cx="231343" cy="231343"/>
          </a:xfrm>
          <a:prstGeom prst="rect">
            <a:avLst/>
          </a:prstGeom>
        </p:spPr>
      </p:pic>
      <p:sp>
        <p:nvSpPr>
          <p:cNvPr id="44" name="anim6_485"/>
          <p:cNvSpPr txBox="1"/>
          <p:nvPr/>
        </p:nvSpPr>
        <p:spPr>
          <a:xfrm>
            <a:off x="8549640" y="4754880"/>
            <a:ext cx="2971800" cy="960120"/>
          </a:xfrm>
          <a:prstGeom prst="rect">
            <a:avLst/>
          </a:prstGeom>
          <a:noFill/>
          <a:ln/>
        </p:spPr>
        <p:txBody>
          <a:bodyPr wrap="square" lIns="0" tIns="0" rIns="0" bIns="0" rtlCol="0" anchor="ctr"/>
          <a:lstStyle/>
          <a:p>
            <a:pPr indent="0" marL="0">
              <a:buNone/>
            </a:pPr>
            <a:r>
              <a:rPr lang="en-US" sz="1250" dirty="0">
                <a:solidFill>
                  <a:srgbClr val="7A4A08"/>
                </a:solidFill>
                <a:latin typeface="Calibri" pitchFamily="34" charset="0"/>
                <a:ea typeface="Calibri" pitchFamily="34" charset="-122"/>
                <a:cs typeface="Calibri" pitchFamily="34" charset="-120"/>
              </a:rPr>
              <a:t>Dashed arrows are hypothesized pathways, not proven causality. Each arrow is a testable question.</a:t>
            </a:r>
            <a:endParaRPr lang="en-US" sz="1250" dirty="0"/>
          </a:p>
        </p:txBody>
      </p:sp>
      <p:sp>
        <p:nvSpPr>
          <p:cNvPr id="45" name="anim6_486"/>
          <p:cNvSpPr txBox="1"/>
          <p:nvPr/>
        </p:nvSpPr>
        <p:spPr>
          <a:xfrm>
            <a:off x="7772400" y="2103120"/>
            <a:ext cx="3840480" cy="365760"/>
          </a:xfrm>
          <a:prstGeom prst="rect">
            <a:avLst/>
          </a:prstGeom>
          <a:noFill/>
          <a:ln/>
        </p:spPr>
        <p:txBody>
          <a:bodyPr wrap="square" lIns="0" tIns="0" rIns="0" bIns="0" rtlCol="0" anchor="t"/>
          <a:lstStyle/>
          <a:p>
            <a:pPr algn="ctr" indent="0" marL="0">
              <a:buNone/>
            </a:pPr>
            <a:r>
              <a:rPr lang="en-US" sz="1200" i="1" dirty="0">
                <a:solidFill>
                  <a:srgbClr val="5F6B76"/>
                </a:solidFill>
                <a:latin typeface="Calibri" pitchFamily="34" charset="0"/>
                <a:ea typeface="Calibri" pitchFamily="34" charset="-122"/>
                <a:cs typeface="Calibri" pitchFamily="34" charset="-120"/>
              </a:rPr>
              <a:t>Each box is a separate research target</a:t>
            </a:r>
            <a:endParaRPr lang="en-US" sz="1200" dirty="0"/>
          </a:p>
        </p:txBody>
      </p:sp>
      <p:sp>
        <p:nvSpPr>
          <p:cNvPr id="46" name="Text 3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Model compiled by the author from Schulte and Gearhardt; DiFeliceantonio et al. 2018; Volkow et al. 2013; Gearhardt et al. 2023; LaFata et al. 2024.</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5" fill="hold">
                      <p:stCondLst>
                        <p:cond delay="indefinite"/>
                        <p:cond evt="onBegin" delay="0">
                          <p:tn val="2"/>
                        </p:cond>
                      </p:stCondLst>
                      <p:childTnLst>
                        <p:par>
                          <p:cTn id="4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par>
                          <p:cTn id="64" fill="hold">
                            <p:stCondLst>
                              <p:cond delay="38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childTnLst>
                          </p:cTn>
                        </p:par>
                        <p:par>
                          <p:cTn id="95" fill="hold">
                            <p:stCondLst>
                              <p:cond delay="380"/>
                            </p:stCondLst>
                            <p:childTnLst>
                              <p:par>
                                <p:cTn id="65" presetID="10" presetClass="entr" presetSubtype="0" fill="hold" nodeType="after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childTnLst>
                          </p:cTn>
                        </p:par>
                        <p:par>
                          <p:cTn id="108" fill="hold">
                            <p:stCondLst>
                              <p:cond delay="380"/>
                            </p:stCondLst>
                            <p:childTnLst>
                              <p:par>
                                <p:cTn id="96" presetID="10" presetClass="entr" presetSubtype="0" fill="hold" nodeType="after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450"/>
                                        <p:tgtEl>
                                          <p:spTgt spid="37"/>
                                        </p:tgtEl>
                                      </p:cBhvr>
                                    </p:animEffect>
                                  </p:childTnLst>
                                </p:cTn>
                              </p:par>
                            </p:childTnLst>
                          </p:cTn>
                        </p:par>
                        <p:par>
                          <p:cTn id="118" fill="hold">
                            <p:stCondLst>
                              <p:cond delay="380"/>
                            </p:stCondLst>
                            <p:childTnLst>
                              <p:par>
                                <p:cTn id="109" presetID="10" presetClass="entr" presetSubtype="0" fill="hold" nodeType="after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childTnLst>
                          </p:cTn>
                        </p:par>
                        <p:par>
                          <p:cTn id="134" fill="hold">
                            <p:stCondLst>
                              <p:cond delay="380"/>
                            </p:stCondLst>
                            <p:childTnLst>
                              <p:par>
                                <p:cTn id="119" presetID="10" presetClass="entr" presetSubtype="0" fill="hold" nodeType="after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450"/>
                                        <p:tgtEl>
                                          <p:spTgt spid="41"/>
                                        </p:tgtEl>
                                      </p:cBhvr>
                                    </p:animEffect>
                                  </p:childTnLst>
                                </p:cTn>
                              </p:par>
                              <p:par>
                                <p:cTn id="122" presetID="10" presetClass="entr" presetSubtype="0" fill="hold"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450"/>
                                        <p:tgtEl>
                                          <p:spTgt spid="42"/>
                                        </p:tgtEl>
                                      </p:cBhvr>
                                    </p:animEffect>
                                  </p:childTnLst>
                                </p:cTn>
                              </p:par>
                              <p:par>
                                <p:cTn id="125" presetID="10" presetClass="entr" presetSubtype="0" fill="hold"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450"/>
                                        <p:tgtEl>
                                          <p:spTgt spid="4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450"/>
                                        <p:tgtEl>
                                          <p:spTgt spid="4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3" grpId="0" animBg="1"/>
      <p:bldP spid="27" grpId="0" animBg="1"/>
      <p:bldP spid="28" grpId="0" animBg="1"/>
      <p:bldP spid="32" grpId="0" animBg="1"/>
      <p:bldP spid="33" grpId="0" animBg="1"/>
      <p:bldP spid="36" grpId="0" animBg="1"/>
      <p:bldP spid="37" grpId="0" animBg="1"/>
      <p:bldP spid="40" grpId="0" animBg="1"/>
      <p:bldP spid="44" grpId="0" animBg="1"/>
      <p:bldP spid="4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Delivery speed and the fat + carbohydrate combination</a:t>
            </a:r>
            <a:endParaRPr lang="en-US" sz="3200" dirty="0"/>
          </a:p>
        </p:txBody>
      </p:sp>
      <p:sp>
        <p:nvSpPr>
          <p:cNvPr id="4" name="anim1_487"/>
          <p:cNvSpPr/>
          <p:nvPr/>
        </p:nvSpPr>
        <p:spPr>
          <a:xfrm>
            <a:off x="548640" y="1325880"/>
            <a:ext cx="5440680" cy="4617720"/>
          </a:xfrm>
          <a:prstGeom prst="roundRect">
            <a:avLst>
              <a:gd name="adj" fmla="val 158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488"/>
          <p:cNvSpPr/>
          <p:nvPr/>
        </p:nvSpPr>
        <p:spPr>
          <a:xfrm>
            <a:off x="749808" y="1481328"/>
            <a:ext cx="566928" cy="566928"/>
          </a:xfrm>
          <a:prstGeom prst="ellipse">
            <a:avLst/>
          </a:prstGeom>
          <a:solidFill>
            <a:srgbClr val="2A7A8C"/>
          </a:solidFill>
          <a:ln w="6350">
            <a:solidFill>
              <a:srgbClr val="2A7A8C"/>
            </a:solidFill>
            <a:prstDash val="solid"/>
          </a:ln>
        </p:spPr>
      </p:sp>
      <p:pic>
        <p:nvPicPr>
          <p:cNvPr id="6" name="anim1_489" descr="gauge icon">    </p:cNvPr>
          <p:cNvPicPr>
            <a:picLocks noChangeAspect="1"/>
          </p:cNvPicPr>
          <p:nvPr/>
        </p:nvPicPr>
        <p:blipFill>
          <a:blip r:embed="rId1"/>
          <a:stretch>
            <a:fillRect/>
          </a:stretch>
        </p:blipFill>
        <p:spPr>
          <a:xfrm>
            <a:off x="902879" y="1634399"/>
            <a:ext cx="260787" cy="260787"/>
          </a:xfrm>
          <a:prstGeom prst="rect">
            <a:avLst/>
          </a:prstGeom>
        </p:spPr>
      </p:pic>
      <p:sp>
        <p:nvSpPr>
          <p:cNvPr id="7" name="anim1_490"/>
          <p:cNvSpPr txBox="1"/>
          <p:nvPr/>
        </p:nvSpPr>
        <p:spPr>
          <a:xfrm>
            <a:off x="1463040" y="1554480"/>
            <a:ext cx="4297680" cy="411480"/>
          </a:xfrm>
          <a:prstGeom prst="rect">
            <a:avLst/>
          </a:prstGeom>
          <a:noFill/>
          <a:ln/>
        </p:spPr>
        <p:txBody>
          <a:bodyPr wrap="square" lIns="0" tIns="0" rIns="0" bIns="0" rtlCol="0" anchor="ctr"/>
          <a:lstStyle/>
          <a:p>
            <a:pPr indent="0" marL="0">
              <a:buNone/>
            </a:pPr>
            <a:r>
              <a:rPr lang="en-US" sz="1800" b="1" dirty="0">
                <a:solidFill>
                  <a:srgbClr val="2A7A8C"/>
                </a:solidFill>
                <a:latin typeface="Cambria" pitchFamily="34" charset="0"/>
                <a:ea typeface="Cambria" pitchFamily="34" charset="-122"/>
                <a:cs typeface="Cambria" pitchFamily="34" charset="-120"/>
              </a:rPr>
              <a:t>Speed of delivery</a:t>
            </a:r>
            <a:endParaRPr lang="en-US" sz="1800" dirty="0"/>
          </a:p>
        </p:txBody>
      </p:sp>
      <p:sp>
        <p:nvSpPr>
          <p:cNvPr id="8" name="anim1_491"/>
          <p:cNvSpPr txBox="1"/>
          <p:nvPr/>
        </p:nvSpPr>
        <p:spPr>
          <a:xfrm>
            <a:off x="777240" y="2148840"/>
            <a:ext cx="5029200" cy="77724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In addiction science, faster delivery means stronger reinforcement. Processing may speed up refined-carbohydrate delivery — a hypothesis, not a proven mechanism.</a:t>
            </a:r>
            <a:endParaRPr lang="en-US" sz="1300" dirty="0"/>
          </a:p>
        </p:txBody>
      </p:sp>
      <p:sp>
        <p:nvSpPr>
          <p:cNvPr id="9" name="anim2_492"/>
          <p:cNvSpPr txBox="1"/>
          <p:nvPr/>
        </p:nvSpPr>
        <p:spPr>
          <a:xfrm>
            <a:off x="777240" y="2971800"/>
            <a:ext cx="2743200" cy="2743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Haber et al. 1977</a:t>
            </a:r>
            <a:endParaRPr lang="en-US" sz="1200" dirty="0"/>
          </a:p>
        </p:txBody>
      </p:sp>
      <p:sp>
        <p:nvSpPr>
          <p:cNvPr id="10" name="anim2_493"/>
          <p:cNvSpPr/>
          <p:nvPr/>
        </p:nvSpPr>
        <p:spPr>
          <a:xfrm>
            <a:off x="2811780" y="3200400"/>
            <a:ext cx="502920" cy="502920"/>
          </a:xfrm>
          <a:prstGeom prst="ellipse">
            <a:avLst/>
          </a:prstGeom>
          <a:solidFill>
            <a:srgbClr val="3B7D5A"/>
          </a:solidFill>
          <a:ln w="6350">
            <a:solidFill>
              <a:srgbClr val="3B7D5A"/>
            </a:solidFill>
            <a:prstDash val="solid"/>
          </a:ln>
        </p:spPr>
      </p:sp>
      <p:pic>
        <p:nvPicPr>
          <p:cNvPr id="11" name="anim2_494" descr="apple icon">    </p:cNvPr>
          <p:cNvPicPr>
            <a:picLocks noChangeAspect="1"/>
          </p:cNvPicPr>
          <p:nvPr/>
        </p:nvPicPr>
        <p:blipFill>
          <a:blip r:embed="rId2"/>
          <a:stretch>
            <a:fillRect/>
          </a:stretch>
        </p:blipFill>
        <p:spPr>
          <a:xfrm>
            <a:off x="2947568" y="3336188"/>
            <a:ext cx="231343" cy="231343"/>
          </a:xfrm>
          <a:prstGeom prst="rect">
            <a:avLst/>
          </a:prstGeom>
        </p:spPr>
      </p:pic>
      <p:sp>
        <p:nvSpPr>
          <p:cNvPr id="12" name="anim2_495"/>
          <p:cNvSpPr txBox="1"/>
          <p:nvPr/>
        </p:nvSpPr>
        <p:spPr>
          <a:xfrm>
            <a:off x="2240280" y="3730752"/>
            <a:ext cx="1645920" cy="274320"/>
          </a:xfrm>
          <a:prstGeom prst="rect">
            <a:avLst/>
          </a:prstGeom>
          <a:noFill/>
          <a:ln/>
        </p:spPr>
        <p:txBody>
          <a:bodyPr wrap="square" lIns="0" tIns="0" rIns="0" bIns="0" rtlCol="0" anchor="t"/>
          <a:lstStyle/>
          <a:p>
            <a:pPr algn="ctr" indent="0" marL="0">
              <a:buNone/>
            </a:pPr>
            <a:r>
              <a:rPr lang="en-US" sz="1250" b="1" dirty="0">
                <a:solidFill>
                  <a:srgbClr val="3B7D5A"/>
                </a:solidFill>
                <a:latin typeface="Calibri" pitchFamily="34" charset="0"/>
                <a:ea typeface="Calibri" pitchFamily="34" charset="-122"/>
                <a:cs typeface="Calibri" pitchFamily="34" charset="-120"/>
              </a:rPr>
              <a:t>Whole apple</a:t>
            </a:r>
            <a:endParaRPr lang="en-US" sz="1250" dirty="0"/>
          </a:p>
        </p:txBody>
      </p:sp>
      <p:sp>
        <p:nvSpPr>
          <p:cNvPr id="13" name="anim2_496"/>
          <p:cNvSpPr/>
          <p:nvPr/>
        </p:nvSpPr>
        <p:spPr>
          <a:xfrm>
            <a:off x="4594860" y="3200400"/>
            <a:ext cx="502920" cy="502920"/>
          </a:xfrm>
          <a:prstGeom prst="ellipse">
            <a:avLst/>
          </a:prstGeom>
          <a:solidFill>
            <a:srgbClr val="D88A1F"/>
          </a:solidFill>
          <a:ln w="6350">
            <a:solidFill>
              <a:srgbClr val="D88A1F"/>
            </a:solidFill>
            <a:prstDash val="solid"/>
          </a:ln>
        </p:spPr>
      </p:sp>
      <p:pic>
        <p:nvPicPr>
          <p:cNvPr id="14" name="anim2_497" descr="bottle icon">    </p:cNvPr>
          <p:cNvPicPr>
            <a:picLocks noChangeAspect="1"/>
          </p:cNvPicPr>
          <p:nvPr/>
        </p:nvPicPr>
        <p:blipFill>
          <a:blip r:embed="rId3"/>
          <a:stretch>
            <a:fillRect/>
          </a:stretch>
        </p:blipFill>
        <p:spPr>
          <a:xfrm>
            <a:off x="4730648" y="3336188"/>
            <a:ext cx="231343" cy="231343"/>
          </a:xfrm>
          <a:prstGeom prst="rect">
            <a:avLst/>
          </a:prstGeom>
        </p:spPr>
      </p:pic>
      <p:sp>
        <p:nvSpPr>
          <p:cNvPr id="15" name="anim2_498"/>
          <p:cNvSpPr txBox="1"/>
          <p:nvPr/>
        </p:nvSpPr>
        <p:spPr>
          <a:xfrm>
            <a:off x="4023360" y="3730752"/>
            <a:ext cx="1645920" cy="274320"/>
          </a:xfrm>
          <a:prstGeom prst="rect">
            <a:avLst/>
          </a:prstGeom>
          <a:noFill/>
          <a:ln/>
        </p:spPr>
        <p:txBody>
          <a:bodyPr wrap="square" lIns="0" tIns="0" rIns="0" bIns="0" rtlCol="0" anchor="t"/>
          <a:lstStyle/>
          <a:p>
            <a:pPr algn="ctr" indent="0" marL="0">
              <a:buNone/>
            </a:pPr>
            <a:r>
              <a:rPr lang="en-US" sz="1250" b="1" dirty="0">
                <a:solidFill>
                  <a:srgbClr val="D88A1F"/>
                </a:solidFill>
                <a:latin typeface="Calibri" pitchFamily="34" charset="0"/>
                <a:ea typeface="Calibri" pitchFamily="34" charset="-122"/>
                <a:cs typeface="Calibri" pitchFamily="34" charset="-120"/>
              </a:rPr>
              <a:t>Fiber-free juice</a:t>
            </a:r>
            <a:endParaRPr lang="en-US" sz="1250" dirty="0"/>
          </a:p>
        </p:txBody>
      </p:sp>
      <p:sp>
        <p:nvSpPr>
          <p:cNvPr id="16" name="anim3_499"/>
          <p:cNvSpPr/>
          <p:nvPr/>
        </p:nvSpPr>
        <p:spPr>
          <a:xfrm>
            <a:off x="777240" y="4114800"/>
            <a:ext cx="4983480" cy="347472"/>
          </a:xfrm>
          <a:prstGeom prst="rect">
            <a:avLst/>
          </a:prstGeom>
          <a:solidFill>
            <a:srgbClr val="EEF2F6"/>
          </a:solidFill>
          <a:ln w="12700">
            <a:solidFill>
              <a:srgbClr val="EEF2F6"/>
            </a:solidFill>
            <a:prstDash val="solid"/>
          </a:ln>
        </p:spPr>
      </p:sp>
      <p:sp>
        <p:nvSpPr>
          <p:cNvPr id="17" name="anim3_500"/>
          <p:cNvSpPr txBox="1"/>
          <p:nvPr/>
        </p:nvSpPr>
        <p:spPr>
          <a:xfrm>
            <a:off x="868680" y="4114800"/>
            <a:ext cx="1463040" cy="347472"/>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Eating speed</a:t>
            </a:r>
            <a:endParaRPr lang="en-US" sz="1250" dirty="0"/>
          </a:p>
        </p:txBody>
      </p:sp>
      <p:sp>
        <p:nvSpPr>
          <p:cNvPr id="18" name="anim3_501"/>
          <p:cNvSpPr txBox="1"/>
          <p:nvPr/>
        </p:nvSpPr>
        <p:spPr>
          <a:xfrm>
            <a:off x="2286000" y="4114800"/>
            <a:ext cx="1554480" cy="347472"/>
          </a:xfrm>
          <a:prstGeom prst="rect">
            <a:avLst/>
          </a:prstGeom>
          <a:noFill/>
          <a:ln/>
        </p:spPr>
        <p:txBody>
          <a:bodyPr wrap="square" lIns="0" tIns="0" rIns="0" bIns="0" rtlCol="0" anchor="ctr"/>
          <a:lstStyle/>
          <a:p>
            <a:pPr algn="ctr" indent="0" marL="0">
              <a:buNone/>
            </a:pPr>
            <a:r>
              <a:rPr lang="en-US" sz="1250" dirty="0">
                <a:solidFill>
                  <a:srgbClr val="3B7D5A"/>
                </a:solidFill>
                <a:latin typeface="Calibri" pitchFamily="34" charset="0"/>
                <a:ea typeface="Calibri" pitchFamily="34" charset="-122"/>
                <a:cs typeface="Calibri" pitchFamily="34" charset="-120"/>
              </a:rPr>
              <a:t>slower</a:t>
            </a:r>
            <a:endParaRPr lang="en-US" sz="1250" dirty="0"/>
          </a:p>
        </p:txBody>
      </p:sp>
      <p:sp>
        <p:nvSpPr>
          <p:cNvPr id="19" name="anim3_502"/>
          <p:cNvSpPr txBox="1"/>
          <p:nvPr/>
        </p:nvSpPr>
        <p:spPr>
          <a:xfrm>
            <a:off x="4069080" y="4114800"/>
            <a:ext cx="1554480" cy="347472"/>
          </a:xfrm>
          <a:prstGeom prst="rect">
            <a:avLst/>
          </a:prstGeom>
          <a:noFill/>
          <a:ln/>
        </p:spPr>
        <p:txBody>
          <a:bodyPr wrap="square" lIns="0" tIns="0" rIns="0" bIns="0" rtlCol="0" anchor="ctr"/>
          <a:lstStyle/>
          <a:p>
            <a:pPr algn="ctr" indent="0" marL="0">
              <a:buNone/>
            </a:pPr>
            <a:r>
              <a:rPr lang="en-US" sz="1250" b="1" dirty="0">
                <a:solidFill>
                  <a:srgbClr val="B06A0A"/>
                </a:solidFill>
                <a:latin typeface="Calibri" pitchFamily="34" charset="0"/>
                <a:ea typeface="Calibri" pitchFamily="34" charset="-122"/>
                <a:cs typeface="Calibri" pitchFamily="34" charset="-120"/>
              </a:rPr>
              <a:t>much faster</a:t>
            </a:r>
            <a:endParaRPr lang="en-US" sz="1250" dirty="0"/>
          </a:p>
        </p:txBody>
      </p:sp>
      <p:sp>
        <p:nvSpPr>
          <p:cNvPr id="20" name="anim3_503"/>
          <p:cNvSpPr/>
          <p:nvPr/>
        </p:nvSpPr>
        <p:spPr>
          <a:xfrm>
            <a:off x="777240" y="4498848"/>
            <a:ext cx="4983480" cy="347472"/>
          </a:xfrm>
          <a:prstGeom prst="rect">
            <a:avLst/>
          </a:prstGeom>
          <a:solidFill>
            <a:srgbClr val="FFFFFF"/>
          </a:solidFill>
          <a:ln w="12700">
            <a:solidFill>
              <a:srgbClr val="FFFFFF"/>
            </a:solidFill>
            <a:prstDash val="solid"/>
          </a:ln>
        </p:spPr>
      </p:sp>
      <p:sp>
        <p:nvSpPr>
          <p:cNvPr id="21" name="anim3_504"/>
          <p:cNvSpPr txBox="1"/>
          <p:nvPr/>
        </p:nvSpPr>
        <p:spPr>
          <a:xfrm>
            <a:off x="868680" y="4498848"/>
            <a:ext cx="1463040" cy="347472"/>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Insulin rise</a:t>
            </a:r>
            <a:endParaRPr lang="en-US" sz="1250" dirty="0"/>
          </a:p>
        </p:txBody>
      </p:sp>
      <p:sp>
        <p:nvSpPr>
          <p:cNvPr id="22" name="anim3_505"/>
          <p:cNvSpPr txBox="1"/>
          <p:nvPr/>
        </p:nvSpPr>
        <p:spPr>
          <a:xfrm>
            <a:off x="2286000" y="4498848"/>
            <a:ext cx="1554480" cy="347472"/>
          </a:xfrm>
          <a:prstGeom prst="rect">
            <a:avLst/>
          </a:prstGeom>
          <a:noFill/>
          <a:ln/>
        </p:spPr>
        <p:txBody>
          <a:bodyPr wrap="square" lIns="0" tIns="0" rIns="0" bIns="0" rtlCol="0" anchor="ctr"/>
          <a:lstStyle/>
          <a:p>
            <a:pPr algn="ctr" indent="0" marL="0">
              <a:buNone/>
            </a:pPr>
            <a:r>
              <a:rPr lang="en-US" sz="1250" dirty="0">
                <a:solidFill>
                  <a:srgbClr val="3B7D5A"/>
                </a:solidFill>
                <a:latin typeface="Calibri" pitchFamily="34" charset="0"/>
                <a:ea typeface="Calibri" pitchFamily="34" charset="-122"/>
                <a:cs typeface="Calibri" pitchFamily="34" charset="-120"/>
              </a:rPr>
              <a:t>smaller</a:t>
            </a:r>
            <a:endParaRPr lang="en-US" sz="1250" dirty="0"/>
          </a:p>
        </p:txBody>
      </p:sp>
      <p:sp>
        <p:nvSpPr>
          <p:cNvPr id="23" name="anim3_506"/>
          <p:cNvSpPr txBox="1"/>
          <p:nvPr/>
        </p:nvSpPr>
        <p:spPr>
          <a:xfrm>
            <a:off x="4069080" y="4498848"/>
            <a:ext cx="1554480" cy="347472"/>
          </a:xfrm>
          <a:prstGeom prst="rect">
            <a:avLst/>
          </a:prstGeom>
          <a:noFill/>
          <a:ln/>
        </p:spPr>
        <p:txBody>
          <a:bodyPr wrap="square" lIns="0" tIns="0" rIns="0" bIns="0" rtlCol="0" anchor="ctr"/>
          <a:lstStyle/>
          <a:p>
            <a:pPr algn="ctr" indent="0" marL="0">
              <a:buNone/>
            </a:pPr>
            <a:r>
              <a:rPr lang="en-US" sz="1250" b="1" dirty="0">
                <a:solidFill>
                  <a:srgbClr val="B06A0A"/>
                </a:solidFill>
                <a:latin typeface="Calibri" pitchFamily="34" charset="0"/>
                <a:ea typeface="Calibri" pitchFamily="34" charset="-122"/>
                <a:cs typeface="Calibri" pitchFamily="34" charset="-120"/>
              </a:rPr>
              <a:t>greater</a:t>
            </a:r>
            <a:endParaRPr lang="en-US" sz="1250" dirty="0"/>
          </a:p>
        </p:txBody>
      </p:sp>
      <p:sp>
        <p:nvSpPr>
          <p:cNvPr id="24" name="anim3_507"/>
          <p:cNvSpPr/>
          <p:nvPr/>
        </p:nvSpPr>
        <p:spPr>
          <a:xfrm>
            <a:off x="777240" y="4882896"/>
            <a:ext cx="4983480" cy="347472"/>
          </a:xfrm>
          <a:prstGeom prst="rect">
            <a:avLst/>
          </a:prstGeom>
          <a:solidFill>
            <a:srgbClr val="EEF2F6"/>
          </a:solidFill>
          <a:ln w="12700">
            <a:solidFill>
              <a:srgbClr val="EEF2F6"/>
            </a:solidFill>
            <a:prstDash val="solid"/>
          </a:ln>
        </p:spPr>
      </p:sp>
      <p:sp>
        <p:nvSpPr>
          <p:cNvPr id="25" name="anim3_508"/>
          <p:cNvSpPr txBox="1"/>
          <p:nvPr/>
        </p:nvSpPr>
        <p:spPr>
          <a:xfrm>
            <a:off x="868680" y="4882896"/>
            <a:ext cx="1463040" cy="347472"/>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Glucose afterwards</a:t>
            </a:r>
            <a:endParaRPr lang="en-US" sz="1250" dirty="0"/>
          </a:p>
        </p:txBody>
      </p:sp>
      <p:sp>
        <p:nvSpPr>
          <p:cNvPr id="26" name="anim3_509"/>
          <p:cNvSpPr txBox="1"/>
          <p:nvPr/>
        </p:nvSpPr>
        <p:spPr>
          <a:xfrm>
            <a:off x="2286000" y="4882896"/>
            <a:ext cx="1554480" cy="347472"/>
          </a:xfrm>
          <a:prstGeom prst="rect">
            <a:avLst/>
          </a:prstGeom>
          <a:noFill/>
          <a:ln/>
        </p:spPr>
        <p:txBody>
          <a:bodyPr wrap="square" lIns="0" tIns="0" rIns="0" bIns="0" rtlCol="0" anchor="ctr"/>
          <a:lstStyle/>
          <a:p>
            <a:pPr algn="ctr" indent="0" marL="0">
              <a:buNone/>
            </a:pPr>
            <a:r>
              <a:rPr lang="en-US" sz="1250" dirty="0">
                <a:solidFill>
                  <a:srgbClr val="3B7D5A"/>
                </a:solidFill>
                <a:latin typeface="Calibri" pitchFamily="34" charset="0"/>
                <a:ea typeface="Calibri" pitchFamily="34" charset="-122"/>
                <a:cs typeface="Calibri" pitchFamily="34" charset="-120"/>
              </a:rPr>
              <a:t>steady</a:t>
            </a:r>
            <a:endParaRPr lang="en-US" sz="1250" dirty="0"/>
          </a:p>
        </p:txBody>
      </p:sp>
      <p:sp>
        <p:nvSpPr>
          <p:cNvPr id="27" name="anim3_510"/>
          <p:cNvSpPr txBox="1"/>
          <p:nvPr/>
        </p:nvSpPr>
        <p:spPr>
          <a:xfrm>
            <a:off x="4069080" y="4882896"/>
            <a:ext cx="1554480" cy="347472"/>
          </a:xfrm>
          <a:prstGeom prst="rect">
            <a:avLst/>
          </a:prstGeom>
          <a:noFill/>
          <a:ln/>
        </p:spPr>
        <p:txBody>
          <a:bodyPr wrap="square" lIns="0" tIns="0" rIns="0" bIns="0" rtlCol="0" anchor="ctr"/>
          <a:lstStyle/>
          <a:p>
            <a:pPr algn="ctr" indent="0" marL="0">
              <a:buNone/>
            </a:pPr>
            <a:r>
              <a:rPr lang="en-US" sz="1250" b="1" dirty="0">
                <a:solidFill>
                  <a:srgbClr val="B06A0A"/>
                </a:solidFill>
                <a:latin typeface="Calibri" pitchFamily="34" charset="0"/>
                <a:ea typeface="Calibri" pitchFamily="34" charset="-122"/>
                <a:cs typeface="Calibri" pitchFamily="34" charset="-120"/>
              </a:rPr>
              <a:t>rebound fall</a:t>
            </a:r>
            <a:endParaRPr lang="en-US" sz="1250" dirty="0"/>
          </a:p>
        </p:txBody>
      </p:sp>
      <p:sp>
        <p:nvSpPr>
          <p:cNvPr id="28" name="anim3_511"/>
          <p:cNvSpPr txBox="1"/>
          <p:nvPr/>
        </p:nvSpPr>
        <p:spPr>
          <a:xfrm>
            <a:off x="777240" y="5349240"/>
            <a:ext cx="5029200" cy="502920"/>
          </a:xfrm>
          <a:prstGeom prst="rect">
            <a:avLst/>
          </a:prstGeom>
          <a:noFill/>
          <a:ln/>
        </p:spPr>
        <p:txBody>
          <a:bodyPr wrap="square" lIns="0" tIns="0" rIns="0" bIns="0" rtlCol="0" anchor="ctr"/>
          <a:lstStyle/>
          <a:p>
            <a:pPr indent="0" marL="0">
              <a:buNone/>
            </a:pPr>
            <a:r>
              <a:rPr lang="en-US" sz="1200" i="1" dirty="0">
                <a:solidFill>
                  <a:srgbClr val="5F6B76"/>
                </a:solidFill>
                <a:latin typeface="Calibri" pitchFamily="34" charset="0"/>
                <a:ea typeface="Calibri" pitchFamily="34" charset="-122"/>
                <a:cs typeface="Calibri" pitchFamily="34" charset="-120"/>
              </a:rPr>
              <a:t>Juice is not necessarily NOVA group 4: the lesson concerns food structure.</a:t>
            </a:r>
            <a:endParaRPr lang="en-US" sz="1200" dirty="0"/>
          </a:p>
        </p:txBody>
      </p:sp>
      <p:sp>
        <p:nvSpPr>
          <p:cNvPr id="29" name="anim4_512"/>
          <p:cNvSpPr/>
          <p:nvPr/>
        </p:nvSpPr>
        <p:spPr>
          <a:xfrm>
            <a:off x="6172200" y="1325880"/>
            <a:ext cx="5440680" cy="4617720"/>
          </a:xfrm>
          <a:prstGeom prst="roundRect">
            <a:avLst>
              <a:gd name="adj" fmla="val 158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0" name="anim4_513"/>
          <p:cNvSpPr/>
          <p:nvPr/>
        </p:nvSpPr>
        <p:spPr>
          <a:xfrm>
            <a:off x="6373368" y="1481328"/>
            <a:ext cx="566928" cy="566928"/>
          </a:xfrm>
          <a:prstGeom prst="ellipse">
            <a:avLst/>
          </a:prstGeom>
          <a:solidFill>
            <a:srgbClr val="B3393C"/>
          </a:solidFill>
          <a:ln w="6350">
            <a:solidFill>
              <a:srgbClr val="B3393C"/>
            </a:solidFill>
            <a:prstDash val="solid"/>
          </a:ln>
        </p:spPr>
      </p:sp>
      <p:pic>
        <p:nvPicPr>
          <p:cNvPr id="31" name="anim4_514" descr="burst icon">    </p:cNvPr>
          <p:cNvPicPr>
            <a:picLocks noChangeAspect="1"/>
          </p:cNvPicPr>
          <p:nvPr/>
        </p:nvPicPr>
        <p:blipFill>
          <a:blip r:embed="rId4"/>
          <a:stretch>
            <a:fillRect/>
          </a:stretch>
        </p:blipFill>
        <p:spPr>
          <a:xfrm>
            <a:off x="6526439" y="1634399"/>
            <a:ext cx="260787" cy="260787"/>
          </a:xfrm>
          <a:prstGeom prst="rect">
            <a:avLst/>
          </a:prstGeom>
        </p:spPr>
      </p:pic>
      <p:sp>
        <p:nvSpPr>
          <p:cNvPr id="32" name="anim4_515"/>
          <p:cNvSpPr txBox="1"/>
          <p:nvPr/>
        </p:nvSpPr>
        <p:spPr>
          <a:xfrm>
            <a:off x="7086600" y="1554480"/>
            <a:ext cx="4389120" cy="411480"/>
          </a:xfrm>
          <a:prstGeom prst="rect">
            <a:avLst/>
          </a:prstGeom>
          <a:noFill/>
          <a:ln/>
        </p:spPr>
        <p:txBody>
          <a:bodyPr wrap="square" lIns="0" tIns="0" rIns="0" bIns="0" rtlCol="0" anchor="ctr"/>
          <a:lstStyle/>
          <a:p>
            <a:pPr indent="0" marL="0">
              <a:buNone/>
            </a:pPr>
            <a:r>
              <a:rPr lang="en-US" sz="1800" b="1" dirty="0">
                <a:solidFill>
                  <a:srgbClr val="B3393C"/>
                </a:solidFill>
                <a:latin typeface="Cambria" pitchFamily="34" charset="0"/>
                <a:ea typeface="Cambria" pitchFamily="34" charset="-122"/>
                <a:cs typeface="Cambria" pitchFamily="34" charset="-120"/>
              </a:rPr>
              <a:t>Fat + carbohydrate: supra-additive</a:t>
            </a:r>
            <a:endParaRPr lang="en-US" sz="1800" dirty="0"/>
          </a:p>
        </p:txBody>
      </p:sp>
      <p:sp>
        <p:nvSpPr>
          <p:cNvPr id="33" name="anim4_516"/>
          <p:cNvSpPr txBox="1"/>
          <p:nvPr/>
        </p:nvSpPr>
        <p:spPr>
          <a:xfrm>
            <a:off x="6400800" y="2148840"/>
            <a:ext cx="3657600" cy="2743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DiFeliceantonio et al. 2018</a:t>
            </a:r>
            <a:endParaRPr lang="en-US" sz="1200" dirty="0"/>
          </a:p>
        </p:txBody>
      </p:sp>
      <p:sp>
        <p:nvSpPr>
          <p:cNvPr id="34" name="anim5_517"/>
          <p:cNvSpPr/>
          <p:nvPr/>
        </p:nvSpPr>
        <p:spPr>
          <a:xfrm>
            <a:off x="6446520" y="2697480"/>
            <a:ext cx="868680" cy="868680"/>
          </a:xfrm>
          <a:prstGeom prst="ellipse">
            <a:avLst/>
          </a:prstGeom>
          <a:solidFill>
            <a:srgbClr val="D88A1F"/>
          </a:solidFill>
          <a:ln w="25400">
            <a:solidFill>
              <a:srgbClr val="FFFFFF"/>
            </a:solidFill>
          </a:ln>
        </p:spPr>
        <p:txBody>
          <a:bodyPr wrap="square" lIns="0" tIns="0" rIns="0" bIns="0" rtlCol="0" anchor="ctr"/>
          <a:lstStyle/>
          <a:p>
            <a:pPr algn="ctr" indent="0" marL="0">
              <a:buNone/>
            </a:pPr>
            <a:r>
              <a:rPr lang="en-US" sz="1500" b="1" dirty="0">
                <a:solidFill>
                  <a:srgbClr val="FFFFFF"/>
                </a:solidFill>
              </a:rPr>
              <a:t>Fat</a:t>
            </a:r>
            <a:endParaRPr lang="en-US" sz="1500" dirty="0"/>
          </a:p>
        </p:txBody>
      </p:sp>
      <p:sp>
        <p:nvSpPr>
          <p:cNvPr id="35" name="anim5_518"/>
          <p:cNvSpPr txBox="1"/>
          <p:nvPr/>
        </p:nvSpPr>
        <p:spPr>
          <a:xfrm>
            <a:off x="7360920" y="2834640"/>
            <a:ext cx="365760" cy="548640"/>
          </a:xfrm>
          <a:prstGeom prst="rect">
            <a:avLst/>
          </a:prstGeom>
          <a:noFill/>
          <a:ln/>
        </p:spPr>
        <p:txBody>
          <a:bodyPr wrap="square" lIns="0" tIns="0" rIns="0" bIns="0" rtlCol="0" anchor="ctr"/>
          <a:lstStyle/>
          <a:p>
            <a:pPr algn="ctr" indent="0" marL="0">
              <a:buNone/>
            </a:pPr>
            <a:r>
              <a:rPr lang="en-US" sz="2800" b="1" dirty="0">
                <a:solidFill>
                  <a:srgbClr val="5F6B76"/>
                </a:solidFill>
                <a:latin typeface="Calibri" pitchFamily="34" charset="0"/>
                <a:ea typeface="Calibri" pitchFamily="34" charset="-122"/>
                <a:cs typeface="Calibri" pitchFamily="34" charset="-120"/>
              </a:rPr>
              <a:t>+</a:t>
            </a:r>
            <a:endParaRPr lang="en-US" sz="2800" dirty="0"/>
          </a:p>
        </p:txBody>
      </p:sp>
      <p:sp>
        <p:nvSpPr>
          <p:cNvPr id="36" name="anim5_519"/>
          <p:cNvSpPr/>
          <p:nvPr/>
        </p:nvSpPr>
        <p:spPr>
          <a:xfrm>
            <a:off x="7772400" y="2697480"/>
            <a:ext cx="868680" cy="868680"/>
          </a:xfrm>
          <a:prstGeom prst="ellipse">
            <a:avLst/>
          </a:prstGeom>
          <a:solidFill>
            <a:srgbClr val="2A7A8C"/>
          </a:solidFill>
          <a:ln w="25400">
            <a:solidFill>
              <a:srgbClr val="FFFFFF"/>
            </a:solidFill>
          </a:ln>
        </p:spPr>
        <p:txBody>
          <a:bodyPr wrap="square" lIns="0" tIns="0" rIns="0" bIns="0" rtlCol="0" anchor="ctr"/>
          <a:lstStyle/>
          <a:p>
            <a:pPr algn="ctr" indent="0" marL="0">
              <a:buNone/>
            </a:pPr>
            <a:r>
              <a:rPr lang="en-US" sz="1500" b="1" dirty="0">
                <a:solidFill>
                  <a:srgbClr val="FFFFFF"/>
                </a:solidFill>
              </a:rPr>
              <a:t>Carb</a:t>
            </a:r>
            <a:endParaRPr lang="en-US" sz="1500" dirty="0"/>
          </a:p>
        </p:txBody>
      </p:sp>
      <p:sp>
        <p:nvSpPr>
          <p:cNvPr id="37" name="anim5_520"/>
          <p:cNvSpPr txBox="1"/>
          <p:nvPr/>
        </p:nvSpPr>
        <p:spPr>
          <a:xfrm>
            <a:off x="8686800" y="2788920"/>
            <a:ext cx="457200" cy="640080"/>
          </a:xfrm>
          <a:prstGeom prst="rect">
            <a:avLst/>
          </a:prstGeom>
          <a:noFill/>
          <a:ln/>
        </p:spPr>
        <p:txBody>
          <a:bodyPr wrap="square" lIns="0" tIns="0" rIns="0" bIns="0" rtlCol="0" anchor="ctr"/>
          <a:lstStyle/>
          <a:p>
            <a:pPr algn="ctr" indent="0" marL="0">
              <a:buNone/>
            </a:pPr>
            <a:r>
              <a:rPr lang="en-US" sz="3400" b="1" dirty="0">
                <a:solidFill>
                  <a:srgbClr val="B3393C"/>
                </a:solidFill>
                <a:latin typeface="Cambria" pitchFamily="34" charset="0"/>
                <a:ea typeface="Cambria" pitchFamily="34" charset="-122"/>
                <a:cs typeface="Cambria" pitchFamily="34" charset="-120"/>
              </a:rPr>
              <a:t>&lt;</a:t>
            </a:r>
            <a:endParaRPr lang="en-US" sz="3400" dirty="0"/>
          </a:p>
        </p:txBody>
      </p:sp>
      <p:sp>
        <p:nvSpPr>
          <p:cNvPr id="38" name="anim5_521"/>
          <p:cNvSpPr/>
          <p:nvPr/>
        </p:nvSpPr>
        <p:spPr>
          <a:xfrm>
            <a:off x="9235440" y="2514600"/>
            <a:ext cx="1280160" cy="1280160"/>
          </a:xfrm>
          <a:prstGeom prst="ellipse">
            <a:avLst/>
          </a:prstGeom>
          <a:solidFill>
            <a:srgbClr val="B3393C"/>
          </a:solidFill>
          <a:ln w="25400">
            <a:solidFill>
              <a:srgbClr val="FFFFFF"/>
            </a:solidFill>
          </a:ln>
          <a:effectLst>
            <a:outerShdw sx="100000" sy="100000" kx="0" ky="0" algn="bl" rotWithShape="0" blurRad="114300" dist="31750" dir="5400000">
              <a:srgbClr val="1B1F24">
                <a:alpha val="14000"/>
              </a:srgbClr>
            </a:outerShdw>
          </a:effectLst>
        </p:spPr>
        <p:txBody>
          <a:bodyPr wrap="square" lIns="0" tIns="0" rIns="0" bIns="0" rtlCol="0" anchor="ctr"/>
          <a:lstStyle/>
          <a:p>
            <a:pPr algn="ctr" indent="0" marL="0">
              <a:buNone/>
            </a:pPr>
            <a:r>
              <a:rPr lang="en-US" sz="1500" b="1" dirty="0">
                <a:solidFill>
                  <a:srgbClr val="FFFFFF"/>
                </a:solidFill>
              </a:rPr>
              <a:t>Fat + carb</a:t>
            </a:r>
            <a:endParaRPr lang="en-US" sz="1500" dirty="0"/>
          </a:p>
        </p:txBody>
      </p:sp>
      <p:sp>
        <p:nvSpPr>
          <p:cNvPr id="39" name="anim5_522"/>
          <p:cNvSpPr txBox="1"/>
          <p:nvPr/>
        </p:nvSpPr>
        <p:spPr>
          <a:xfrm>
            <a:off x="8732520" y="3794760"/>
            <a:ext cx="2286000" cy="274320"/>
          </a:xfrm>
          <a:prstGeom prst="rect">
            <a:avLst/>
          </a:prstGeom>
          <a:noFill/>
          <a:ln/>
        </p:spPr>
        <p:txBody>
          <a:bodyPr wrap="square" lIns="0" tIns="0" rIns="0" bIns="0" rtlCol="0" anchor="t"/>
          <a:lstStyle/>
          <a:p>
            <a:pPr algn="ctr" indent="0" marL="0">
              <a:buNone/>
            </a:pPr>
            <a:r>
              <a:rPr lang="en-US" sz="1150" i="1" dirty="0">
                <a:solidFill>
                  <a:srgbClr val="B3393C"/>
                </a:solidFill>
                <a:latin typeface="Calibri" pitchFamily="34" charset="0"/>
                <a:ea typeface="Calibri" pitchFamily="34" charset="-122"/>
                <a:cs typeface="Calibri" pitchFamily="34" charset="-120"/>
              </a:rPr>
              <a:t>more than the sum of its parts</a:t>
            </a:r>
            <a:endParaRPr lang="en-US" sz="1150" dirty="0"/>
          </a:p>
        </p:txBody>
      </p:sp>
      <p:sp>
        <p:nvSpPr>
          <p:cNvPr id="40" name="anim6_523"/>
          <p:cNvSpPr txBox="1"/>
          <p:nvPr/>
        </p:nvSpPr>
        <p:spPr>
          <a:xfrm>
            <a:off x="6400800" y="4160520"/>
            <a:ext cx="5029200" cy="9601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Higher willingness to pay</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Greater response in reward-valuation regions, including the striatum</a:t>
            </a:r>
            <a:endParaRPr lang="en-US" sz="1300" dirty="0"/>
          </a:p>
          <a:p>
            <a:pPr marL="342900" indent="-342900">
              <a:spcAft>
                <a:spcPts val="500"/>
              </a:spcAft>
              <a:buSzPct val="100000"/>
              <a:buChar char="•"/>
            </a:pPr>
            <a:r>
              <a:rPr lang="en-US" sz="1300" dirty="0">
                <a:solidFill>
                  <a:srgbClr val="1B1F24"/>
                </a:solidFill>
                <a:latin typeface="Calibri" pitchFamily="34" charset="0"/>
                <a:ea typeface="Calibri" pitchFamily="34" charset="-122"/>
                <a:cs typeface="Calibri" pitchFamily="34" charset="-120"/>
              </a:rPr>
              <a:t>Foods matched for familiarity, reported liking and calories</a:t>
            </a:r>
            <a:endParaRPr lang="en-US" sz="1300" dirty="0"/>
          </a:p>
        </p:txBody>
      </p:sp>
      <p:sp>
        <p:nvSpPr>
          <p:cNvPr id="41" name="anim7_524"/>
          <p:cNvSpPr txBox="1"/>
          <p:nvPr/>
        </p:nvSpPr>
        <p:spPr>
          <a:xfrm>
            <a:off x="6400800" y="5138928"/>
            <a:ext cx="5029200" cy="731520"/>
          </a:xfrm>
          <a:prstGeom prst="rect">
            <a:avLst/>
          </a:prstGeom>
          <a:noFill/>
          <a:ln/>
        </p:spPr>
        <p:txBody>
          <a:bodyPr wrap="square" lIns="0" tIns="0" rIns="0" bIns="0" rtlCol="0" anchor="t"/>
          <a:lstStyle/>
          <a:p>
            <a:pPr indent="0" marL="0">
              <a:buNone/>
            </a:pPr>
            <a:r>
              <a:rPr lang="en-US" sz="1200" b="1" dirty="0">
                <a:solidFill>
                  <a:srgbClr val="5F6B76"/>
                </a:solidFill>
                <a:latin typeface="Calibri" pitchFamily="34" charset="0"/>
                <a:ea typeface="Calibri" pitchFamily="34" charset="-122"/>
                <a:cs typeface="Calibri" pitchFamily="34" charset="-120"/>
              </a:rPr>
              <a:t>Evolutionary hypothesis: </a:t>
            </a:r>
            <a:r>
              <a:rPr lang="en-US" sz="1200" dirty="0">
                <a:solidFill>
                  <a:srgbClr val="5F6B76"/>
                </a:solidFill>
                <a:latin typeface="Calibri" pitchFamily="34" charset="0"/>
                <a:ea typeface="Calibri" pitchFamily="34" charset="-122"/>
                <a:cs typeface="Calibri" pitchFamily="34" charset="-120"/>
              </a:rPr>
              <a:t>such rich combinations were rare in natural foods (breast milk is the cited example). Untested in humans — and a supra-additive effect is not an addictive effect.</a:t>
            </a:r>
            <a:endParaRPr lang="en-US" sz="1200" dirty="0"/>
          </a:p>
        </p:txBody>
      </p:sp>
      <p:sp>
        <p:nvSpPr>
          <p:cNvPr id="42" name="Text 35"/>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Schulte and Gearhardt; Haber et al. 1977; DiFeliceantonio et al. 2018; Small and DiFeliceantonio 2019.</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4"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40"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childTnLst>
                          </p:cTn>
                        </p:par>
                        <p:par>
                          <p:cTn id="80" fill="hold">
                            <p:stCondLst>
                              <p:cond delay="380"/>
                            </p:stCondLst>
                            <p:childTnLst>
                              <p:par>
                                <p:cTn id="41" presetID="10" presetClass="entr" presetSubtype="0" fill="hold"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childTnLst>
                          </p:cTn>
                        </p:par>
                        <p:par>
                          <p:cTn id="96" fill="hold">
                            <p:stCondLst>
                              <p:cond delay="380"/>
                            </p:stCondLst>
                            <p:childTnLst>
                              <p:par>
                                <p:cTn id="81" presetID="10" presetClass="entr" presetSubtype="0"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45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45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450"/>
                                        <p:tgtEl>
                                          <p:spTgt spid="33"/>
                                        </p:tgtEl>
                                      </p:cBhvr>
                                    </p:animEffect>
                                  </p:childTnLst>
                                </p:cTn>
                              </p:par>
                            </p:childTnLst>
                          </p:cTn>
                        </p:par>
                        <p:par>
                          <p:cTn id="115" fill="hold">
                            <p:stCondLst>
                              <p:cond delay="380"/>
                            </p:stCondLst>
                            <p:childTnLst>
                              <p:par>
                                <p:cTn id="97" presetID="10" presetClass="entr" presetSubtype="0" fill="hold" grpId="0" nodeType="after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childTnLst>
                          </p:cTn>
                        </p:par>
                        <p:par>
                          <p:cTn id="119" fill="hold">
                            <p:stCondLst>
                              <p:cond delay="380"/>
                            </p:stCondLst>
                            <p:childTnLst>
                              <p:par>
                                <p:cTn id="116" presetID="10" presetClass="entr" presetSubtype="0" fill="hold" grpId="0" nodeType="after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450"/>
                                        <p:tgtEl>
                                          <p:spTgt spid="40"/>
                                        </p:tgtEl>
                                      </p:cBhvr>
                                    </p:animEffect>
                                  </p:childTnLst>
                                </p:cTn>
                              </p:par>
                            </p:childTnLst>
                          </p:cTn>
                        </p:par>
                        <p:par>
                          <p:cTn id="123" fill="hold">
                            <p:stCondLst>
                              <p:cond delay="380"/>
                            </p:stCondLst>
                            <p:childTnLst>
                              <p:par>
                                <p:cTn id="120" presetID="10" presetClass="entr" presetSubtype="0" fill="hold" grpId="0" nodeType="after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Dopamine: three competing models</a:t>
            </a:r>
            <a:endParaRPr lang="en-US" sz="3200" dirty="0"/>
          </a:p>
        </p:txBody>
      </p:sp>
      <p:sp>
        <p:nvSpPr>
          <p:cNvPr id="4" name="anim1_525"/>
          <p:cNvSpPr/>
          <p:nvPr/>
        </p:nvSpPr>
        <p:spPr>
          <a:xfrm>
            <a:off x="548640" y="1325880"/>
            <a:ext cx="3566160" cy="365760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526"/>
          <p:cNvSpPr/>
          <p:nvPr/>
        </p:nvSpPr>
        <p:spPr>
          <a:xfrm>
            <a:off x="749808" y="1508760"/>
            <a:ext cx="621792" cy="621792"/>
          </a:xfrm>
          <a:prstGeom prst="ellipse">
            <a:avLst/>
          </a:prstGeom>
          <a:solidFill>
            <a:srgbClr val="2A7A8C"/>
          </a:solidFill>
          <a:ln w="6350">
            <a:solidFill>
              <a:srgbClr val="2A7A8C"/>
            </a:solidFill>
            <a:prstDash val="solid"/>
          </a:ln>
        </p:spPr>
      </p:sp>
      <p:pic>
        <p:nvPicPr>
          <p:cNvPr id="6" name="anim1_527" descr="arrowDown icon">    </p:cNvPr>
          <p:cNvPicPr>
            <a:picLocks noChangeAspect="1"/>
          </p:cNvPicPr>
          <p:nvPr/>
        </p:nvPicPr>
        <p:blipFill>
          <a:blip r:embed="rId1"/>
          <a:stretch>
            <a:fillRect/>
          </a:stretch>
        </p:blipFill>
        <p:spPr>
          <a:xfrm>
            <a:off x="917692" y="1676644"/>
            <a:ext cx="286024" cy="286024"/>
          </a:xfrm>
          <a:prstGeom prst="rect">
            <a:avLst/>
          </a:prstGeom>
        </p:spPr>
      </p:pic>
      <p:sp>
        <p:nvSpPr>
          <p:cNvPr id="7" name="anim1_528"/>
          <p:cNvSpPr txBox="1"/>
          <p:nvPr/>
        </p:nvSpPr>
        <p:spPr>
          <a:xfrm>
            <a:off x="1508760" y="1536192"/>
            <a:ext cx="2468880" cy="566928"/>
          </a:xfrm>
          <a:prstGeom prst="rect">
            <a:avLst/>
          </a:prstGeom>
          <a:noFill/>
          <a:ln/>
        </p:spPr>
        <p:txBody>
          <a:bodyPr wrap="square" lIns="0" tIns="0" rIns="0" bIns="0" rtlCol="0" anchor="ctr"/>
          <a:lstStyle/>
          <a:p>
            <a:pPr indent="0" marL="0">
              <a:buNone/>
            </a:pPr>
            <a:r>
              <a:rPr lang="en-US" sz="1750" b="1" dirty="0">
                <a:solidFill>
                  <a:srgbClr val="2A7A8C"/>
                </a:solidFill>
                <a:latin typeface="Cambria" pitchFamily="34" charset="0"/>
                <a:ea typeface="Cambria" pitchFamily="34" charset="-122"/>
                <a:cs typeface="Cambria" pitchFamily="34" charset="-120"/>
              </a:rPr>
              <a:t>Reward deficiency</a:t>
            </a:r>
            <a:endParaRPr lang="en-US" sz="1750" dirty="0"/>
          </a:p>
        </p:txBody>
      </p:sp>
      <p:sp>
        <p:nvSpPr>
          <p:cNvPr id="8" name="anim1_529"/>
          <p:cNvSpPr txBox="1"/>
          <p:nvPr/>
        </p:nvSpPr>
        <p:spPr>
          <a:xfrm>
            <a:off x="749808" y="2240280"/>
            <a:ext cx="3154680" cy="731520"/>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Reduced dopamine signaling drives eating more to reach the same reward.</a:t>
            </a:r>
            <a:endParaRPr lang="en-US" sz="1350" dirty="0"/>
          </a:p>
        </p:txBody>
      </p:sp>
      <p:sp>
        <p:nvSpPr>
          <p:cNvPr id="9" name="anim1_530"/>
          <p:cNvSpPr txBox="1"/>
          <p:nvPr/>
        </p:nvSpPr>
        <p:spPr>
          <a:xfrm>
            <a:off x="749808" y="3017520"/>
            <a:ext cx="3154680" cy="1371600"/>
          </a:xfrm>
          <a:prstGeom prst="rect">
            <a:avLst/>
          </a:prstGeom>
          <a:noFill/>
          <a:ln/>
        </p:spPr>
        <p:txBody>
          <a:bodyPr wrap="square" lIns="0" tIns="0" rIns="0" bIns="0" rtlCol="0" anchor="t"/>
          <a:lstStyle/>
          <a:p>
            <a:pPr marL="342900" indent="-342900">
              <a:spcAft>
                <a:spcPts val="400"/>
              </a:spcAft>
              <a:buSzPct val="100000"/>
              <a:buChar char="•"/>
            </a:pPr>
            <a:r>
              <a:rPr lang="en-US" sz="1200" b="1" dirty="0">
                <a:solidFill>
                  <a:srgbClr val="2A7A8C"/>
                </a:solidFill>
                <a:latin typeface="Calibri" pitchFamily="34" charset="0"/>
                <a:ea typeface="Calibri" pitchFamily="34" charset="-122"/>
                <a:cs typeface="Calibri" pitchFamily="34" charset="-120"/>
              </a:rPr>
              <a:t>Wang, Volkow et al. 2001: </a:t>
            </a:r>
            <a:r>
              <a:rPr lang="en-US" sz="1200" dirty="0">
                <a:solidFill>
                  <a:srgbClr val="1B1F24"/>
                </a:solidFill>
                <a:latin typeface="Calibri" pitchFamily="34" charset="0"/>
                <a:ea typeface="Calibri" pitchFamily="34" charset="-122"/>
                <a:cs typeface="Calibri" pitchFamily="34" charset="-120"/>
              </a:rPr>
              <a:t>lower striatal D2 receptor availability in obesity (PET) — cross-sectional, so no causal direction</a:t>
            </a:r>
            <a:endParaRPr lang="en-US" sz="1200" dirty="0"/>
          </a:p>
          <a:p>
            <a:pPr marL="342900" indent="-342900">
              <a:spcAft>
                <a:spcPts val="400"/>
              </a:spcAft>
              <a:buSzPct val="100000"/>
              <a:buChar char="•"/>
            </a:pPr>
            <a:r>
              <a:rPr lang="en-US" sz="1200" b="1" dirty="0">
                <a:solidFill>
                  <a:srgbClr val="2A7A8C"/>
                </a:solidFill>
                <a:latin typeface="Calibri" pitchFamily="34" charset="0"/>
                <a:ea typeface="Calibri" pitchFamily="34" charset="-122"/>
                <a:cs typeface="Calibri" pitchFamily="34" charset="-120"/>
              </a:rPr>
              <a:t>Johnson and Kenny 2010: </a:t>
            </a:r>
            <a:r>
              <a:rPr lang="en-US" sz="1200" dirty="0">
                <a:solidFill>
                  <a:srgbClr val="1B1F24"/>
                </a:solidFill>
                <a:latin typeface="Calibri" pitchFamily="34" charset="0"/>
                <a:ea typeface="Calibri" pitchFamily="34" charset="-122"/>
                <a:cs typeface="Calibri" pitchFamily="34" charset="-120"/>
              </a:rPr>
              <a:t>cafeteria-diet rats lost D2 availability and kept eating despite punishment — an animal model</a:t>
            </a:r>
            <a:endParaRPr lang="en-US" sz="1200" dirty="0"/>
          </a:p>
        </p:txBody>
      </p:sp>
      <p:sp>
        <p:nvSpPr>
          <p:cNvPr id="10" name="anim1_531"/>
          <p:cNvSpPr/>
          <p:nvPr/>
        </p:nvSpPr>
        <p:spPr>
          <a:xfrm>
            <a:off x="749808" y="4480560"/>
            <a:ext cx="3154680" cy="347472"/>
          </a:xfrm>
          <a:prstGeom prst="roundRect">
            <a:avLst>
              <a:gd name="adj" fmla="val 50000"/>
            </a:avLst>
          </a:prstGeom>
          <a:solidFill>
            <a:srgbClr val="EEF2F6"/>
          </a:solidFill>
          <a:ln w="12700">
            <a:solidFill>
              <a:srgbClr val="2A7A8C"/>
            </a:solidFill>
          </a:ln>
        </p:spPr>
        <p:txBody>
          <a:bodyPr wrap="square" lIns="0" tIns="0" rIns="0" bIns="0" rtlCol="0" anchor="ctr"/>
          <a:lstStyle/>
          <a:p>
            <a:pPr algn="ctr" indent="0" marL="0">
              <a:buNone/>
            </a:pPr>
            <a:r>
              <a:rPr lang="en-US" sz="1200" b="1" dirty="0">
                <a:solidFill>
                  <a:srgbClr val="2A7A8C"/>
                </a:solidFill>
              </a:rPr>
              <a:t>Predicts: blunted reward sensitivity</a:t>
            </a:r>
            <a:endParaRPr lang="en-US" sz="1200" dirty="0"/>
          </a:p>
        </p:txBody>
      </p:sp>
      <p:sp>
        <p:nvSpPr>
          <p:cNvPr id="11" name="anim2_532"/>
          <p:cNvSpPr/>
          <p:nvPr/>
        </p:nvSpPr>
        <p:spPr>
          <a:xfrm>
            <a:off x="4297680" y="1325880"/>
            <a:ext cx="3566160" cy="365760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2" name="anim2_533"/>
          <p:cNvSpPr/>
          <p:nvPr/>
        </p:nvSpPr>
        <p:spPr>
          <a:xfrm>
            <a:off x="4498848" y="1508760"/>
            <a:ext cx="621792" cy="621792"/>
          </a:xfrm>
          <a:prstGeom prst="ellipse">
            <a:avLst/>
          </a:prstGeom>
          <a:solidFill>
            <a:srgbClr val="6A4C93"/>
          </a:solidFill>
          <a:ln w="6350">
            <a:solidFill>
              <a:srgbClr val="6A4C93"/>
            </a:solidFill>
            <a:prstDash val="solid"/>
          </a:ln>
        </p:spPr>
      </p:sp>
      <p:pic>
        <p:nvPicPr>
          <p:cNvPr id="13" name="anim2_534" descr="magnet icon">    </p:cNvPr>
          <p:cNvPicPr>
            <a:picLocks noChangeAspect="1"/>
          </p:cNvPicPr>
          <p:nvPr/>
        </p:nvPicPr>
        <p:blipFill>
          <a:blip r:embed="rId2"/>
          <a:stretch>
            <a:fillRect/>
          </a:stretch>
        </p:blipFill>
        <p:spPr>
          <a:xfrm>
            <a:off x="4666732" y="1676644"/>
            <a:ext cx="286024" cy="286024"/>
          </a:xfrm>
          <a:prstGeom prst="rect">
            <a:avLst/>
          </a:prstGeom>
        </p:spPr>
      </p:pic>
      <p:sp>
        <p:nvSpPr>
          <p:cNvPr id="14" name="anim2_535"/>
          <p:cNvSpPr txBox="1"/>
          <p:nvPr/>
        </p:nvSpPr>
        <p:spPr>
          <a:xfrm>
            <a:off x="5257800" y="1536192"/>
            <a:ext cx="2468880" cy="566928"/>
          </a:xfrm>
          <a:prstGeom prst="rect">
            <a:avLst/>
          </a:prstGeom>
          <a:noFill/>
          <a:ln/>
        </p:spPr>
        <p:txBody>
          <a:bodyPr wrap="square" lIns="0" tIns="0" rIns="0" bIns="0" rtlCol="0" anchor="ctr"/>
          <a:lstStyle/>
          <a:p>
            <a:pPr indent="0" marL="0">
              <a:buNone/>
            </a:pPr>
            <a:r>
              <a:rPr lang="en-US" sz="1750" b="1" dirty="0">
                <a:solidFill>
                  <a:srgbClr val="6A4C93"/>
                </a:solidFill>
                <a:latin typeface="Cambria" pitchFamily="34" charset="0"/>
                <a:ea typeface="Cambria" pitchFamily="34" charset="-122"/>
                <a:cs typeface="Cambria" pitchFamily="34" charset="-120"/>
              </a:rPr>
              <a:t>Incentive sensitization</a:t>
            </a:r>
            <a:endParaRPr lang="en-US" sz="1750" dirty="0"/>
          </a:p>
        </p:txBody>
      </p:sp>
      <p:sp>
        <p:nvSpPr>
          <p:cNvPr id="15" name="anim2_536"/>
          <p:cNvSpPr txBox="1"/>
          <p:nvPr/>
        </p:nvSpPr>
        <p:spPr>
          <a:xfrm>
            <a:off x="4498848" y="2240280"/>
            <a:ext cx="3154680" cy="731520"/>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Repeated exposure sensitizes cue-triggered “wanting” — without more “liking”.</a:t>
            </a:r>
            <a:endParaRPr lang="en-US" sz="1350" dirty="0"/>
          </a:p>
        </p:txBody>
      </p:sp>
      <p:sp>
        <p:nvSpPr>
          <p:cNvPr id="16" name="anim2_537"/>
          <p:cNvSpPr txBox="1"/>
          <p:nvPr/>
        </p:nvSpPr>
        <p:spPr>
          <a:xfrm>
            <a:off x="4498848" y="3017520"/>
            <a:ext cx="3154680" cy="1371600"/>
          </a:xfrm>
          <a:prstGeom prst="rect">
            <a:avLst/>
          </a:prstGeom>
          <a:noFill/>
          <a:ln/>
        </p:spPr>
        <p:txBody>
          <a:bodyPr wrap="square" lIns="0" tIns="0" rIns="0" bIns="0" rtlCol="0" anchor="t"/>
          <a:lstStyle/>
          <a:p>
            <a:pPr marL="342900" indent="-342900">
              <a:spcAft>
                <a:spcPts val="400"/>
              </a:spcAft>
              <a:buSzPct val="100000"/>
              <a:buChar char="•"/>
            </a:pPr>
            <a:r>
              <a:rPr lang="en-US" sz="1200" b="1" dirty="0">
                <a:solidFill>
                  <a:srgbClr val="6A4C93"/>
                </a:solidFill>
                <a:latin typeface="Calibri" pitchFamily="34" charset="0"/>
                <a:ea typeface="Calibri" pitchFamily="34" charset="-122"/>
                <a:cs typeface="Calibri" pitchFamily="34" charset="-120"/>
              </a:rPr>
              <a:t>Robinson and Berridge: </a:t>
            </a:r>
            <a:r>
              <a:rPr lang="en-US" sz="1200" dirty="0">
                <a:solidFill>
                  <a:srgbClr val="1B1F24"/>
                </a:solidFill>
                <a:latin typeface="Calibri" pitchFamily="34" charset="0"/>
                <a:ea typeface="Calibri" pitchFamily="34" charset="-122"/>
                <a:cs typeface="Calibri" pitchFamily="34" charset="-120"/>
              </a:rPr>
              <a:t>motivation to obtain a reward dissociates from the pleasure of consuming it</a:t>
            </a:r>
            <a:endParaRPr lang="en-US" sz="1200" dirty="0"/>
          </a:p>
          <a:p>
            <a:pPr marL="342900" indent="-342900">
              <a:spcAft>
                <a:spcPts val="400"/>
              </a:spcAft>
              <a:buSzPct val="100000"/>
              <a:buChar char="•"/>
            </a:pPr>
            <a:r>
              <a:rPr lang="en-US" sz="1200" dirty="0">
                <a:solidFill>
                  <a:srgbClr val="1B1F24"/>
                </a:solidFill>
                <a:latin typeface="Calibri" pitchFamily="34" charset="0"/>
                <a:ea typeface="Calibri" pitchFamily="34" charset="-122"/>
                <a:cs typeface="Calibri" pitchFamily="34" charset="-120"/>
              </a:rPr>
              <a:t>A person may want a food more without enjoying it more</a:t>
            </a:r>
            <a:endParaRPr lang="en-US" sz="1200" dirty="0"/>
          </a:p>
        </p:txBody>
      </p:sp>
      <p:sp>
        <p:nvSpPr>
          <p:cNvPr id="17" name="anim2_538"/>
          <p:cNvSpPr/>
          <p:nvPr/>
        </p:nvSpPr>
        <p:spPr>
          <a:xfrm>
            <a:off x="4498848" y="4480560"/>
            <a:ext cx="3154680" cy="347472"/>
          </a:xfrm>
          <a:prstGeom prst="roundRect">
            <a:avLst>
              <a:gd name="adj" fmla="val 50000"/>
            </a:avLst>
          </a:prstGeom>
          <a:solidFill>
            <a:srgbClr val="EEF2F6"/>
          </a:solidFill>
          <a:ln w="12700">
            <a:solidFill>
              <a:srgbClr val="6A4C93"/>
            </a:solidFill>
          </a:ln>
        </p:spPr>
        <p:txBody>
          <a:bodyPr wrap="square" lIns="0" tIns="0" rIns="0" bIns="0" rtlCol="0" anchor="ctr"/>
          <a:lstStyle/>
          <a:p>
            <a:pPr algn="ctr" indent="0" marL="0">
              <a:buNone/>
            </a:pPr>
            <a:r>
              <a:rPr lang="en-US" sz="1200" b="1" dirty="0">
                <a:solidFill>
                  <a:srgbClr val="6A4C93"/>
                </a:solidFill>
              </a:rPr>
              <a:t>Predicts: heightened cue reactivity</a:t>
            </a:r>
            <a:endParaRPr lang="en-US" sz="1200" dirty="0"/>
          </a:p>
        </p:txBody>
      </p:sp>
      <p:sp>
        <p:nvSpPr>
          <p:cNvPr id="18" name="anim3_539"/>
          <p:cNvSpPr/>
          <p:nvPr/>
        </p:nvSpPr>
        <p:spPr>
          <a:xfrm>
            <a:off x="8046720" y="1325880"/>
            <a:ext cx="3566160" cy="365760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9" name="anim3_540"/>
          <p:cNvSpPr/>
          <p:nvPr/>
        </p:nvSpPr>
        <p:spPr>
          <a:xfrm>
            <a:off x="8247888" y="1508760"/>
            <a:ext cx="621792" cy="621792"/>
          </a:xfrm>
          <a:prstGeom prst="ellipse">
            <a:avLst/>
          </a:prstGeom>
          <a:solidFill>
            <a:srgbClr val="B3393C"/>
          </a:solidFill>
          <a:ln w="6350">
            <a:solidFill>
              <a:srgbClr val="B3393C"/>
            </a:solidFill>
            <a:prstDash val="solid"/>
          </a:ln>
        </p:spPr>
      </p:sp>
      <p:pic>
        <p:nvPicPr>
          <p:cNvPr id="20" name="anim3_541" descr="repeat icon">    </p:cNvPr>
          <p:cNvPicPr>
            <a:picLocks noChangeAspect="1"/>
          </p:cNvPicPr>
          <p:nvPr/>
        </p:nvPicPr>
        <p:blipFill>
          <a:blip r:embed="rId3"/>
          <a:stretch>
            <a:fillRect/>
          </a:stretch>
        </p:blipFill>
        <p:spPr>
          <a:xfrm>
            <a:off x="8415772" y="1676644"/>
            <a:ext cx="286024" cy="286024"/>
          </a:xfrm>
          <a:prstGeom prst="rect">
            <a:avLst/>
          </a:prstGeom>
        </p:spPr>
      </p:pic>
      <p:sp>
        <p:nvSpPr>
          <p:cNvPr id="21" name="anim3_542"/>
          <p:cNvSpPr txBox="1"/>
          <p:nvPr/>
        </p:nvSpPr>
        <p:spPr>
          <a:xfrm>
            <a:off x="9006840" y="1536192"/>
            <a:ext cx="2468880" cy="566928"/>
          </a:xfrm>
          <a:prstGeom prst="rect">
            <a:avLst/>
          </a:prstGeom>
          <a:noFill/>
          <a:ln/>
        </p:spPr>
        <p:txBody>
          <a:bodyPr wrap="square" lIns="0" tIns="0" rIns="0" bIns="0" rtlCol="0" anchor="ctr"/>
          <a:lstStyle/>
          <a:p>
            <a:pPr indent="0" marL="0">
              <a:buNone/>
            </a:pPr>
            <a:r>
              <a:rPr lang="en-US" sz="1750" b="1" dirty="0">
                <a:solidFill>
                  <a:srgbClr val="B3393C"/>
                </a:solidFill>
                <a:latin typeface="Cambria" pitchFamily="34" charset="0"/>
                <a:ea typeface="Cambria" pitchFamily="34" charset="-122"/>
                <a:cs typeface="Cambria" pitchFamily="34" charset="-120"/>
              </a:rPr>
              <a:t>Habit to compulsion</a:t>
            </a:r>
            <a:endParaRPr lang="en-US" sz="1750" dirty="0"/>
          </a:p>
        </p:txBody>
      </p:sp>
      <p:sp>
        <p:nvSpPr>
          <p:cNvPr id="22" name="anim3_543"/>
          <p:cNvSpPr txBox="1"/>
          <p:nvPr/>
        </p:nvSpPr>
        <p:spPr>
          <a:xfrm>
            <a:off x="8247888" y="2240280"/>
            <a:ext cx="3154680" cy="731520"/>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Control shifts from goal-directed action to habit; dorsal striatal circuits take over.</a:t>
            </a:r>
            <a:endParaRPr lang="en-US" sz="1350" dirty="0"/>
          </a:p>
        </p:txBody>
      </p:sp>
      <p:sp>
        <p:nvSpPr>
          <p:cNvPr id="23" name="anim3_544"/>
          <p:cNvSpPr txBox="1"/>
          <p:nvPr/>
        </p:nvSpPr>
        <p:spPr>
          <a:xfrm>
            <a:off x="8247888" y="3017520"/>
            <a:ext cx="3154680" cy="1371600"/>
          </a:xfrm>
          <a:prstGeom prst="rect">
            <a:avLst/>
          </a:prstGeom>
          <a:noFill/>
          <a:ln/>
        </p:spPr>
        <p:txBody>
          <a:bodyPr wrap="square" lIns="0" tIns="0" rIns="0" bIns="0" rtlCol="0" anchor="t"/>
          <a:lstStyle/>
          <a:p>
            <a:pPr marL="342900" indent="-342900">
              <a:spcAft>
                <a:spcPts val="400"/>
              </a:spcAft>
              <a:buSzPct val="100000"/>
              <a:buChar char="•"/>
            </a:pPr>
            <a:r>
              <a:rPr lang="en-US" sz="1200" b="1" dirty="0">
                <a:solidFill>
                  <a:srgbClr val="B3393C"/>
                </a:solidFill>
                <a:latin typeface="Calibri" pitchFamily="34" charset="0"/>
                <a:ea typeface="Calibri" pitchFamily="34" charset="-122"/>
                <a:cs typeface="Calibri" pitchFamily="34" charset="-120"/>
              </a:rPr>
              <a:t>Everitt and Robbins: </a:t>
            </a:r>
            <a:r>
              <a:rPr lang="en-US" sz="1200" dirty="0">
                <a:solidFill>
                  <a:srgbClr val="1B1F24"/>
                </a:solidFill>
                <a:latin typeface="Calibri" pitchFamily="34" charset="0"/>
                <a:ea typeface="Calibri" pitchFamily="34" charset="-122"/>
                <a:cs typeface="Calibri" pitchFamily="34" charset="-120"/>
              </a:rPr>
              <a:t>behavior persists even after the reward is devalued</a:t>
            </a:r>
            <a:endParaRPr lang="en-US" sz="1200" dirty="0"/>
          </a:p>
          <a:p>
            <a:pPr marL="342900" indent="-342900">
              <a:spcAft>
                <a:spcPts val="400"/>
              </a:spcAft>
              <a:buSzPct val="100000"/>
              <a:buChar char="•"/>
            </a:pPr>
            <a:r>
              <a:rPr lang="en-US" sz="1200" dirty="0">
                <a:solidFill>
                  <a:srgbClr val="1B1F24"/>
                </a:solidFill>
                <a:latin typeface="Calibri" pitchFamily="34" charset="0"/>
                <a:ea typeface="Calibri" pitchFamily="34" charset="-122"/>
                <a:cs typeface="Calibri" pitchFamily="34" charset="-120"/>
              </a:rPr>
              <a:t>Compulsion need not mean “needing more reward”</a:t>
            </a:r>
            <a:endParaRPr lang="en-US" sz="1200" dirty="0"/>
          </a:p>
        </p:txBody>
      </p:sp>
      <p:sp>
        <p:nvSpPr>
          <p:cNvPr id="24" name="anim3_545"/>
          <p:cNvSpPr/>
          <p:nvPr/>
        </p:nvSpPr>
        <p:spPr>
          <a:xfrm>
            <a:off x="8247888" y="4480560"/>
            <a:ext cx="3154680" cy="347472"/>
          </a:xfrm>
          <a:prstGeom prst="roundRect">
            <a:avLst>
              <a:gd name="adj" fmla="val 50000"/>
            </a:avLst>
          </a:prstGeom>
          <a:solidFill>
            <a:srgbClr val="EEF2F6"/>
          </a:solidFill>
          <a:ln w="12700">
            <a:solidFill>
              <a:srgbClr val="B3393C"/>
            </a:solidFill>
          </a:ln>
        </p:spPr>
        <p:txBody>
          <a:bodyPr wrap="square" lIns="0" tIns="0" rIns="0" bIns="0" rtlCol="0" anchor="ctr"/>
          <a:lstStyle/>
          <a:p>
            <a:pPr algn="ctr" indent="0" marL="0">
              <a:buNone/>
            </a:pPr>
            <a:r>
              <a:rPr lang="en-US" sz="1200" b="1" dirty="0">
                <a:solidFill>
                  <a:srgbClr val="B3393C"/>
                </a:solidFill>
              </a:rPr>
              <a:t>Predicts: insensitivity to outcomes</a:t>
            </a:r>
            <a:endParaRPr lang="en-US" sz="1200" dirty="0"/>
          </a:p>
        </p:txBody>
      </p:sp>
      <p:sp>
        <p:nvSpPr>
          <p:cNvPr id="25" name="anim4_546"/>
          <p:cNvSpPr/>
          <p:nvPr/>
        </p:nvSpPr>
        <p:spPr>
          <a:xfrm>
            <a:off x="548640" y="5166360"/>
            <a:ext cx="11064240" cy="777240"/>
          </a:xfrm>
          <a:prstGeom prst="roundRect">
            <a:avLst>
              <a:gd name="adj" fmla="val 9412"/>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26" name="anim4_547"/>
          <p:cNvSpPr/>
          <p:nvPr/>
        </p:nvSpPr>
        <p:spPr>
          <a:xfrm>
            <a:off x="713232" y="5276088"/>
            <a:ext cx="548640" cy="548640"/>
          </a:xfrm>
          <a:prstGeom prst="ellipse">
            <a:avLst/>
          </a:prstGeom>
          <a:solidFill>
            <a:srgbClr val="D88A1F"/>
          </a:solidFill>
          <a:ln w="6350">
            <a:solidFill>
              <a:srgbClr val="D88A1F"/>
            </a:solidFill>
            <a:prstDash val="solid"/>
          </a:ln>
        </p:spPr>
      </p:sp>
      <p:pic>
        <p:nvPicPr>
          <p:cNvPr id="27" name="anim4_548" descr="scaleU icon">    </p:cNvPr>
          <p:cNvPicPr>
            <a:picLocks noChangeAspect="1"/>
          </p:cNvPicPr>
          <p:nvPr/>
        </p:nvPicPr>
        <p:blipFill>
          <a:blip r:embed="rId4"/>
          <a:stretch>
            <a:fillRect/>
          </a:stretch>
        </p:blipFill>
        <p:spPr>
          <a:xfrm>
            <a:off x="861365" y="5424221"/>
            <a:ext cx="252374" cy="252374"/>
          </a:xfrm>
          <a:prstGeom prst="rect">
            <a:avLst/>
          </a:prstGeom>
        </p:spPr>
      </p:pic>
      <p:sp>
        <p:nvSpPr>
          <p:cNvPr id="28" name="anim4_549"/>
          <p:cNvSpPr txBox="1"/>
          <p:nvPr/>
        </p:nvSpPr>
        <p:spPr>
          <a:xfrm>
            <a:off x="1417320" y="5193792"/>
            <a:ext cx="10058400" cy="731520"/>
          </a:xfrm>
          <a:prstGeom prst="rect">
            <a:avLst/>
          </a:prstGeom>
          <a:noFill/>
          <a:ln/>
        </p:spPr>
        <p:txBody>
          <a:bodyPr wrap="square" lIns="0" tIns="0" rIns="0" bIns="0" rtlCol="0" anchor="ctr"/>
          <a:lstStyle/>
          <a:p>
            <a:pPr indent="0" marL="0">
              <a:buNone/>
            </a:pPr>
            <a:r>
              <a:rPr lang="en-US" sz="1400" b="1" dirty="0">
                <a:solidFill>
                  <a:srgbClr val="9A5E0B"/>
                </a:solidFill>
                <a:latin typeface="Calibri" pitchFamily="34" charset="0"/>
                <a:ea typeface="Calibri" pitchFamily="34" charset="-122"/>
                <a:cs typeface="Calibri" pitchFamily="34" charset="-120"/>
              </a:rPr>
              <a:t>Different predictions, not one model. </a:t>
            </a:r>
            <a:r>
              <a:rPr lang="en-US" sz="1400" dirty="0">
                <a:solidFill>
                  <a:srgbClr val="1B1F24"/>
                </a:solidFill>
                <a:latin typeface="Calibri" pitchFamily="34" charset="0"/>
                <a:ea typeface="Calibri" pitchFamily="34" charset="-122"/>
                <a:cs typeface="Calibri" pitchFamily="34" charset="-120"/>
              </a:rPr>
              <a:t>Citing only findings that fit a favored model artificially strengthens the construct (Ziauddeen, Farooqi and Fletcher 2012).</a:t>
            </a:r>
            <a:endParaRPr lang="en-US" sz="1400" dirty="0"/>
          </a:p>
        </p:txBody>
      </p:sp>
      <p:sp>
        <p:nvSpPr>
          <p:cNvPr id="29" name="Text 22"/>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Wang et al. 2001; Johnson and Kenny 2010; Robinson and Berridge 2008; Everitt and Robbins 2005; Ziauddeen et al. 2012; Volkow et al. 2013.</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2" fill="hold">
                      <p:stCondLst>
                        <p:cond delay="indefinite"/>
                        <p:cond evt="onBegin" delay="0">
                          <p:tn val="2"/>
                        </p:cond>
                      </p:stCondLst>
                      <p:childTnLst>
                        <p:par>
                          <p:cTn id="24"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par>
                          <p:cTn id="46" fill="hold">
                            <p:stCondLst>
                              <p:cond delay="380"/>
                            </p:stCondLst>
                            <p:childTnLst>
                              <p:par>
                                <p:cTn id="25" presetID="10"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68" fill="hold">
                            <p:stCondLst>
                              <p:cond delay="380"/>
                            </p:stCondLst>
                            <p:childTnLst>
                              <p:par>
                                <p:cTn id="47" presetID="10" presetClass="entr" presetSubtype="0"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childTnLst>
                          </p:cTn>
                        </p:par>
                        <p:par>
                          <p:cTn id="81" fill="hold">
                            <p:stCondLst>
                              <p:cond delay="380"/>
                            </p:stCondLst>
                            <p:childTnLst>
                              <p:par>
                                <p:cTn id="69" presetID="10" presetClass="entr" presetSubtype="0"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4" grpId="0" animBg="1"/>
      <p:bldP spid="15" grpId="0" animBg="1"/>
      <p:bldP spid="16" grpId="0" animBg="1"/>
      <p:bldP spid="17" grpId="0" animBg="1"/>
      <p:bldP spid="21" grpId="0" animBg="1"/>
      <p:bldP spid="22" grpId="0" animBg="1"/>
      <p:bldP spid="23" grpId="0" animBg="1"/>
      <p:bldP spid="24"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Opioids, endocannabinoids, genes and GLP-1 drugs</a:t>
            </a:r>
            <a:endParaRPr lang="en-US" sz="3200" dirty="0"/>
          </a:p>
        </p:txBody>
      </p:sp>
      <p:sp>
        <p:nvSpPr>
          <p:cNvPr id="4" name="anim1_550"/>
          <p:cNvSpPr/>
          <p:nvPr/>
        </p:nvSpPr>
        <p:spPr>
          <a:xfrm>
            <a:off x="548640" y="1325880"/>
            <a:ext cx="5440680" cy="2084832"/>
          </a:xfrm>
          <a:prstGeom prst="roundRect">
            <a:avLst>
              <a:gd name="adj" fmla="val 350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551"/>
          <p:cNvSpPr/>
          <p:nvPr/>
        </p:nvSpPr>
        <p:spPr>
          <a:xfrm>
            <a:off x="749808" y="1508760"/>
            <a:ext cx="548640" cy="548640"/>
          </a:xfrm>
          <a:prstGeom prst="ellipse">
            <a:avLst/>
          </a:prstGeom>
          <a:solidFill>
            <a:srgbClr val="D88A1F"/>
          </a:solidFill>
          <a:ln w="6350">
            <a:solidFill>
              <a:srgbClr val="D88A1F"/>
            </a:solidFill>
            <a:prstDash val="solid"/>
          </a:ln>
        </p:spPr>
      </p:sp>
      <p:pic>
        <p:nvPicPr>
          <p:cNvPr id="6" name="anim1_552" descr="heart icon">    </p:cNvPr>
          <p:cNvPicPr>
            <a:picLocks noChangeAspect="1"/>
          </p:cNvPicPr>
          <p:nvPr/>
        </p:nvPicPr>
        <p:blipFill>
          <a:blip r:embed="rId1"/>
          <a:stretch>
            <a:fillRect/>
          </a:stretch>
        </p:blipFill>
        <p:spPr>
          <a:xfrm>
            <a:off x="897941" y="1656893"/>
            <a:ext cx="252374" cy="252374"/>
          </a:xfrm>
          <a:prstGeom prst="rect">
            <a:avLst/>
          </a:prstGeom>
        </p:spPr>
      </p:pic>
      <p:sp>
        <p:nvSpPr>
          <p:cNvPr id="7" name="anim1_553"/>
          <p:cNvSpPr txBox="1"/>
          <p:nvPr/>
        </p:nvSpPr>
        <p:spPr>
          <a:xfrm>
            <a:off x="1444752" y="1508760"/>
            <a:ext cx="4389120" cy="548640"/>
          </a:xfrm>
          <a:prstGeom prst="rect">
            <a:avLst/>
          </a:prstGeom>
          <a:noFill/>
          <a:ln/>
        </p:spPr>
        <p:txBody>
          <a:bodyPr wrap="square" lIns="0" tIns="0" rIns="0" bIns="0" rtlCol="0" anchor="ctr"/>
          <a:lstStyle/>
          <a:p>
            <a:pPr indent="0" marL="0">
              <a:buNone/>
            </a:pPr>
            <a:r>
              <a:rPr lang="en-US" sz="1700" b="1" dirty="0">
                <a:solidFill>
                  <a:srgbClr val="D88A1F"/>
                </a:solidFill>
                <a:latin typeface="Cambria" pitchFamily="34" charset="0"/>
                <a:ea typeface="Cambria" pitchFamily="34" charset="-122"/>
                <a:cs typeface="Cambria" pitchFamily="34" charset="-120"/>
              </a:rPr>
              <a:t>Opioids: “liking”</a:t>
            </a:r>
            <a:endParaRPr lang="en-US" sz="1700" dirty="0"/>
          </a:p>
        </p:txBody>
      </p:sp>
      <p:sp>
        <p:nvSpPr>
          <p:cNvPr id="8" name="anim1_554"/>
          <p:cNvSpPr txBox="1"/>
          <p:nvPr/>
        </p:nvSpPr>
        <p:spPr>
          <a:xfrm>
            <a:off x="777240" y="2148840"/>
            <a:ext cx="5029200" cy="11887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Opioids carry hedonic “liking”; dopamine carries “wanting”</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OPRM1 A118G and DRD2 Taq1A variants studied in binge-eating disorder (Davis et al. 2009)</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Association is not causation</a:t>
            </a:r>
            <a:endParaRPr lang="en-US" sz="1250" dirty="0"/>
          </a:p>
        </p:txBody>
      </p:sp>
      <p:sp>
        <p:nvSpPr>
          <p:cNvPr id="9" name="anim2_555"/>
          <p:cNvSpPr/>
          <p:nvPr/>
        </p:nvSpPr>
        <p:spPr>
          <a:xfrm>
            <a:off x="6172200" y="1325880"/>
            <a:ext cx="5440680" cy="2084832"/>
          </a:xfrm>
          <a:prstGeom prst="roundRect">
            <a:avLst>
              <a:gd name="adj" fmla="val 350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0" name="anim2_556"/>
          <p:cNvSpPr/>
          <p:nvPr/>
        </p:nvSpPr>
        <p:spPr>
          <a:xfrm>
            <a:off x="6373368" y="1508760"/>
            <a:ext cx="548640" cy="548640"/>
          </a:xfrm>
          <a:prstGeom prst="ellipse">
            <a:avLst/>
          </a:prstGeom>
          <a:solidFill>
            <a:srgbClr val="5B6B8C"/>
          </a:solidFill>
          <a:ln w="6350">
            <a:solidFill>
              <a:srgbClr val="5B6B8C"/>
            </a:solidFill>
            <a:prstDash val="solid"/>
          </a:ln>
        </p:spPr>
      </p:sp>
      <p:pic>
        <p:nvPicPr>
          <p:cNvPr id="11" name="anim2_557" descr="dna icon">    </p:cNvPr>
          <p:cNvPicPr>
            <a:picLocks noChangeAspect="1"/>
          </p:cNvPicPr>
          <p:nvPr/>
        </p:nvPicPr>
        <p:blipFill>
          <a:blip r:embed="rId2"/>
          <a:stretch>
            <a:fillRect/>
          </a:stretch>
        </p:blipFill>
        <p:spPr>
          <a:xfrm>
            <a:off x="6521501" y="1656893"/>
            <a:ext cx="252374" cy="252374"/>
          </a:xfrm>
          <a:prstGeom prst="rect">
            <a:avLst/>
          </a:prstGeom>
        </p:spPr>
      </p:pic>
      <p:sp>
        <p:nvSpPr>
          <p:cNvPr id="12" name="anim2_558"/>
          <p:cNvSpPr txBox="1"/>
          <p:nvPr/>
        </p:nvSpPr>
        <p:spPr>
          <a:xfrm>
            <a:off x="7068312" y="1508760"/>
            <a:ext cx="4389120" cy="548640"/>
          </a:xfrm>
          <a:prstGeom prst="rect">
            <a:avLst/>
          </a:prstGeom>
          <a:noFill/>
          <a:ln/>
        </p:spPr>
        <p:txBody>
          <a:bodyPr wrap="square" lIns="0" tIns="0" rIns="0" bIns="0" rtlCol="0" anchor="ctr"/>
          <a:lstStyle/>
          <a:p>
            <a:pPr indent="0" marL="0">
              <a:buNone/>
            </a:pPr>
            <a:r>
              <a:rPr lang="en-US" sz="1700" b="1" dirty="0">
                <a:solidFill>
                  <a:srgbClr val="5B6B8C"/>
                </a:solidFill>
                <a:latin typeface="Cambria" pitchFamily="34" charset="0"/>
                <a:ea typeface="Cambria" pitchFamily="34" charset="-122"/>
                <a:cs typeface="Cambria" pitchFamily="34" charset="-120"/>
              </a:rPr>
              <a:t>Genetics: weak support</a:t>
            </a:r>
            <a:endParaRPr lang="en-US" sz="1700" dirty="0"/>
          </a:p>
        </p:txBody>
      </p:sp>
      <p:sp>
        <p:nvSpPr>
          <p:cNvPr id="13" name="anim2_559"/>
          <p:cNvSpPr txBox="1"/>
          <p:nvPr/>
        </p:nvSpPr>
        <p:spPr>
          <a:xfrm>
            <a:off x="6400800" y="2148840"/>
            <a:ext cx="5029200" cy="11887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Candidate-gene findings (e.g., DRD2 Taq1A) replicate poorly (Border et al. 2019)</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Genome-wide approaches now preferred (Hatoum et al. 2023)</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No robust genetic overlap established</a:t>
            </a:r>
            <a:endParaRPr lang="en-US" sz="1250" dirty="0"/>
          </a:p>
        </p:txBody>
      </p:sp>
      <p:sp>
        <p:nvSpPr>
          <p:cNvPr id="14" name="anim3_560"/>
          <p:cNvSpPr/>
          <p:nvPr/>
        </p:nvSpPr>
        <p:spPr>
          <a:xfrm>
            <a:off x="548640" y="3566160"/>
            <a:ext cx="5440680" cy="2084832"/>
          </a:xfrm>
          <a:prstGeom prst="roundRect">
            <a:avLst>
              <a:gd name="adj" fmla="val 350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561"/>
          <p:cNvSpPr/>
          <p:nvPr/>
        </p:nvSpPr>
        <p:spPr>
          <a:xfrm>
            <a:off x="749808" y="3749040"/>
            <a:ext cx="548640" cy="548640"/>
          </a:xfrm>
          <a:prstGeom prst="ellipse">
            <a:avLst/>
          </a:prstGeom>
          <a:solidFill>
            <a:srgbClr val="3B7D5A"/>
          </a:solidFill>
          <a:ln w="6350">
            <a:solidFill>
              <a:srgbClr val="3B7D5A"/>
            </a:solidFill>
            <a:prstDash val="solid"/>
          </a:ln>
        </p:spPr>
      </p:sp>
      <p:pic>
        <p:nvPicPr>
          <p:cNvPr id="16" name="anim3_562" descr="pills icon">    </p:cNvPr>
          <p:cNvPicPr>
            <a:picLocks noChangeAspect="1"/>
          </p:cNvPicPr>
          <p:nvPr/>
        </p:nvPicPr>
        <p:blipFill>
          <a:blip r:embed="rId3"/>
          <a:stretch>
            <a:fillRect/>
          </a:stretch>
        </p:blipFill>
        <p:spPr>
          <a:xfrm>
            <a:off x="897941" y="3897173"/>
            <a:ext cx="252374" cy="252374"/>
          </a:xfrm>
          <a:prstGeom prst="rect">
            <a:avLst/>
          </a:prstGeom>
        </p:spPr>
      </p:pic>
      <p:sp>
        <p:nvSpPr>
          <p:cNvPr id="17" name="anim3_563"/>
          <p:cNvSpPr txBox="1"/>
          <p:nvPr/>
        </p:nvSpPr>
        <p:spPr>
          <a:xfrm>
            <a:off x="1444752" y="3749040"/>
            <a:ext cx="4389120" cy="548640"/>
          </a:xfrm>
          <a:prstGeom prst="rect">
            <a:avLst/>
          </a:prstGeom>
          <a:noFill/>
          <a:ln/>
        </p:spPr>
        <p:txBody>
          <a:bodyPr wrap="square" lIns="0" tIns="0" rIns="0" bIns="0" rtlCol="0" anchor="ctr"/>
          <a:lstStyle/>
          <a:p>
            <a:pPr indent="0" marL="0">
              <a:buNone/>
            </a:pPr>
            <a:r>
              <a:rPr lang="en-US" sz="1700" b="1" dirty="0">
                <a:solidFill>
                  <a:srgbClr val="3B7D5A"/>
                </a:solidFill>
                <a:latin typeface="Cambria" pitchFamily="34" charset="0"/>
                <a:ea typeface="Cambria" pitchFamily="34" charset="-122"/>
                <a:cs typeface="Cambria" pitchFamily="34" charset="-120"/>
              </a:rPr>
              <a:t>Endocannabinoids: a cautionary tale</a:t>
            </a:r>
            <a:endParaRPr lang="en-US" sz="1700" dirty="0"/>
          </a:p>
        </p:txBody>
      </p:sp>
      <p:sp>
        <p:nvSpPr>
          <p:cNvPr id="18" name="anim3_564"/>
          <p:cNvSpPr txBox="1"/>
          <p:nvPr/>
        </p:nvSpPr>
        <p:spPr>
          <a:xfrm>
            <a:off x="777240" y="4389120"/>
            <a:ext cx="5029200" cy="11887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CB1 activation boosts eating motivation and hedonics</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Rimonabant </a:t>
            </a:r>
            <a:r>
              <a:rPr lang="en-US" sz="1250" dirty="0">
                <a:solidFill>
                  <a:srgbClr val="1B1F24"/>
                </a:solidFill>
                <a:latin typeface="Calibri" pitchFamily="34" charset="0"/>
                <a:ea typeface="Calibri" pitchFamily="34" charset="-122"/>
                <a:cs typeface="Calibri" pitchFamily="34" charset="-120"/>
              </a:rPr>
              <a:t>(CB1 antagonist): weight loss, but depression and suicidal ideation — withdrawn from the EU market (Christensen et al. 2007)</a:t>
            </a:r>
            <a:endParaRPr lang="en-US" sz="1250" dirty="0"/>
          </a:p>
        </p:txBody>
      </p:sp>
      <p:sp>
        <p:nvSpPr>
          <p:cNvPr id="19" name="anim4_565"/>
          <p:cNvSpPr/>
          <p:nvPr/>
        </p:nvSpPr>
        <p:spPr>
          <a:xfrm>
            <a:off x="6172200" y="3566160"/>
            <a:ext cx="5440680" cy="2084832"/>
          </a:xfrm>
          <a:prstGeom prst="roundRect">
            <a:avLst>
              <a:gd name="adj" fmla="val 3509"/>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4_566"/>
          <p:cNvSpPr/>
          <p:nvPr/>
        </p:nvSpPr>
        <p:spPr>
          <a:xfrm>
            <a:off x="6373368" y="3749040"/>
            <a:ext cx="548640" cy="548640"/>
          </a:xfrm>
          <a:prstGeom prst="ellipse">
            <a:avLst/>
          </a:prstGeom>
          <a:solidFill>
            <a:srgbClr val="6A4C93"/>
          </a:solidFill>
          <a:ln w="6350">
            <a:solidFill>
              <a:srgbClr val="6A4C93"/>
            </a:solidFill>
            <a:prstDash val="solid"/>
          </a:ln>
        </p:spPr>
      </p:sp>
      <p:pic>
        <p:nvPicPr>
          <p:cNvPr id="21" name="anim4_567" descr="syringe icon">    </p:cNvPr>
          <p:cNvPicPr>
            <a:picLocks noChangeAspect="1"/>
          </p:cNvPicPr>
          <p:nvPr/>
        </p:nvPicPr>
        <p:blipFill>
          <a:blip r:embed="rId4"/>
          <a:stretch>
            <a:fillRect/>
          </a:stretch>
        </p:blipFill>
        <p:spPr>
          <a:xfrm>
            <a:off x="6521501" y="3897173"/>
            <a:ext cx="252374" cy="252374"/>
          </a:xfrm>
          <a:prstGeom prst="rect">
            <a:avLst/>
          </a:prstGeom>
        </p:spPr>
      </p:pic>
      <p:sp>
        <p:nvSpPr>
          <p:cNvPr id="22" name="anim4_568"/>
          <p:cNvSpPr txBox="1"/>
          <p:nvPr/>
        </p:nvSpPr>
        <p:spPr>
          <a:xfrm>
            <a:off x="7068312" y="3749040"/>
            <a:ext cx="4389120" cy="548640"/>
          </a:xfrm>
          <a:prstGeom prst="rect">
            <a:avLst/>
          </a:prstGeom>
          <a:noFill/>
          <a:ln/>
        </p:spPr>
        <p:txBody>
          <a:bodyPr wrap="square" lIns="0" tIns="0" rIns="0" bIns="0" rtlCol="0" anchor="ctr"/>
          <a:lstStyle/>
          <a:p>
            <a:pPr indent="0" marL="0">
              <a:buNone/>
            </a:pPr>
            <a:r>
              <a:rPr lang="en-US" sz="1700" b="1" dirty="0">
                <a:solidFill>
                  <a:srgbClr val="6A4C93"/>
                </a:solidFill>
                <a:latin typeface="Cambria" pitchFamily="34" charset="0"/>
                <a:ea typeface="Cambria" pitchFamily="34" charset="-122"/>
                <a:cs typeface="Cambria" pitchFamily="34" charset="-120"/>
              </a:rPr>
              <a:t>GLP-1-based drugs</a:t>
            </a:r>
            <a:endParaRPr lang="en-US" sz="1700" dirty="0"/>
          </a:p>
        </p:txBody>
      </p:sp>
      <p:sp>
        <p:nvSpPr>
          <p:cNvPr id="23" name="anim4_569"/>
          <p:cNvSpPr txBox="1"/>
          <p:nvPr/>
        </p:nvSpPr>
        <p:spPr>
          <a:xfrm>
            <a:off x="6400800" y="4389120"/>
            <a:ext cx="5029200" cy="1188720"/>
          </a:xfrm>
          <a:prstGeom prst="rect">
            <a:avLst/>
          </a:prstGeom>
          <a:noFill/>
          <a:ln/>
        </p:spPr>
        <p:txBody>
          <a:bodyPr wrap="square" lIns="0" tIns="0" rIns="0" bIns="0" rtlCol="0" anchor="t"/>
          <a:lstStyle/>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Semaglutide, n = 30, 12 weeks: </a:t>
            </a:r>
            <a:r>
              <a:rPr lang="en-US" sz="1250" dirty="0">
                <a:solidFill>
                  <a:srgbClr val="1B1F24"/>
                </a:solidFill>
                <a:latin typeface="Calibri" pitchFamily="34" charset="0"/>
                <a:ea typeface="Calibri" pitchFamily="34" charset="-122"/>
                <a:cs typeface="Calibri" pitchFamily="34" charset="-120"/>
              </a:rPr>
              <a:t>less food craving, better eating control (Blundell 2017)</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Alcohol use disorder, n = 48: </a:t>
            </a:r>
            <a:r>
              <a:rPr lang="en-US" sz="1250" dirty="0">
                <a:solidFill>
                  <a:srgbClr val="1B1F24"/>
                </a:solidFill>
                <a:latin typeface="Calibri" pitchFamily="34" charset="0"/>
                <a:ea typeface="Calibri" pitchFamily="34" charset="-122"/>
                <a:cs typeface="Calibri" pitchFamily="34" charset="-120"/>
              </a:rPr>
              <a:t>fewer drinks per drinking day, less craving; drinking days unchanged (Hendershot 2025)</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Animal dopamine data mixed; </a:t>
            </a:r>
            <a:r>
              <a:rPr lang="en-US" sz="1250" dirty="0">
                <a:solidFill>
                  <a:srgbClr val="1B1F24"/>
                </a:solidFill>
                <a:latin typeface="Calibri" pitchFamily="34" charset="0"/>
                <a:ea typeface="Calibri" pitchFamily="34" charset="-122"/>
                <a:cs typeface="Calibri" pitchFamily="34" charset="-120"/>
              </a:rPr>
              <a:t>tirzepatide is a dual GIP/GLP-1 agonist</a:t>
            </a:r>
            <a:endParaRPr lang="en-US" sz="1250" dirty="0"/>
          </a:p>
        </p:txBody>
      </p:sp>
      <p:sp>
        <p:nvSpPr>
          <p:cNvPr id="24" name="anim5_570"/>
          <p:cNvSpPr/>
          <p:nvPr/>
        </p:nvSpPr>
        <p:spPr>
          <a:xfrm>
            <a:off x="548640" y="5806440"/>
            <a:ext cx="2103120" cy="292608"/>
          </a:xfrm>
          <a:prstGeom prst="roundRect">
            <a:avLst>
              <a:gd name="adj" fmla="val 50000"/>
            </a:avLst>
          </a:prstGeom>
          <a:solidFill>
            <a:srgbClr val="6A4C93"/>
          </a:solidFill>
          <a:ln w="6350">
            <a:solidFill>
              <a:srgbClr val="6A4C93"/>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HYPOTHESIS-GENERATING</a:t>
            </a:r>
            <a:endParaRPr lang="en-US" sz="950" dirty="0"/>
          </a:p>
        </p:txBody>
      </p:sp>
      <p:sp>
        <p:nvSpPr>
          <p:cNvPr id="25" name="anim5_571"/>
          <p:cNvSpPr txBox="1"/>
          <p:nvPr/>
        </p:nvSpPr>
        <p:spPr>
          <a:xfrm>
            <a:off x="2788920" y="5760720"/>
            <a:ext cx="8823960" cy="384048"/>
          </a:xfrm>
          <a:prstGeom prst="rect">
            <a:avLst/>
          </a:prstGeom>
          <a:noFill/>
          <a:ln/>
        </p:spPr>
        <p:txBody>
          <a:bodyPr wrap="square" lIns="0" tIns="0" rIns="0" bIns="0" rtlCol="0" anchor="ctr"/>
          <a:lstStyle/>
          <a:p>
            <a:pPr indent="0" marL="0">
              <a:buNone/>
            </a:pPr>
            <a:r>
              <a:rPr lang="en-US" sz="1350" i="1" dirty="0">
                <a:solidFill>
                  <a:srgbClr val="6A4C93"/>
                </a:solidFill>
                <a:latin typeface="Calibri" pitchFamily="34" charset="0"/>
                <a:ea typeface="Calibri" pitchFamily="34" charset="-122"/>
                <a:cs typeface="Calibri" pitchFamily="34" charset="-120"/>
              </a:rPr>
              <a:t>Less craving after a drug does not prove addiction: GLP-1 agonists also change appetite, satiety and intake.</a:t>
            </a:r>
            <a:endParaRPr lang="en-US" sz="135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par>
                          <p:cTn id="73" fill="hold">
                            <p:stCondLst>
                              <p:cond delay="380"/>
                            </p:stCondLst>
                            <p:childTnLst>
                              <p:par>
                                <p:cTn id="67" presetID="10" presetClass="entr" presetSubtype="0" fill="hold" grpId="0"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P spid="24"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D88A1F"/>
                </a:solidFill>
                <a:latin typeface="Cambria" pitchFamily="34" charset="0"/>
                <a:ea typeface="Cambria" pitchFamily="34" charset="-122"/>
                <a:cs typeface="Cambria" pitchFamily="34" charset="-120"/>
              </a:rPr>
              <a:t>04</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Human Evidence</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What do trials and cohorts actually show?</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6A4C93"/>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A7A8C"/>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5971032" y="5166360"/>
            <a:ext cx="384048" cy="384048"/>
          </a:xfrm>
          <a:prstGeom prst="ellipse">
            <a:avLst/>
          </a:prstGeom>
          <a:solidFill>
            <a:srgbClr val="D88A1F"/>
          </a:solidFill>
          <a:ln w="25400">
            <a:solidFill>
              <a:srgbClr val="FFFFFF"/>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2E4A6B"/>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2E4A6B"/>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572"/>
          <p:cNvSpPr/>
          <p:nvPr/>
        </p:nvSpPr>
        <p:spPr>
          <a:xfrm>
            <a:off x="10607040" y="2240280"/>
            <a:ext cx="960120" cy="960120"/>
          </a:xfrm>
          <a:prstGeom prst="ellipse">
            <a:avLst/>
          </a:prstGeom>
          <a:solidFill>
            <a:srgbClr val="D88A1F"/>
          </a:solidFill>
          <a:ln w="6350">
            <a:solidFill>
              <a:srgbClr val="D88A1F"/>
            </a:solidFill>
            <a:prstDash val="solid"/>
          </a:ln>
        </p:spPr>
      </p:sp>
      <p:pic>
        <p:nvPicPr>
          <p:cNvPr id="25" name="ic_573" descr="microscope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Hall et al. 2019: the inpatient feeding trial</a:t>
            </a:r>
            <a:endParaRPr lang="en-US" sz="3200" dirty="0"/>
          </a:p>
        </p:txBody>
      </p:sp>
      <p:graphicFrame>
        <p:nvGraphicFramePr>
          <p:cNvPr id="4" name="chartHall" descr=""/>
          <p:cNvGraphicFramePr/>
          <p:nvPr/>
        </p:nvGraphicFramePr>
        <p:xfrm>
          <a:off x="457200" y="1280160"/>
          <a:ext cx="5760720" cy="4343400"/>
        </p:xfrm>
        <a:graphic xmlns:a="http://schemas.openxmlformats.org/drawingml/2006/main">
          <a:graphicData uri="http://schemas.openxmlformats.org/drawingml/2006/chart">
            <c:chart xmlns:c="http://schemas.openxmlformats.org/drawingml/2006/chart" r:id="rId1"/>
          </a:graphicData>
        </a:graphic>
      </p:graphicFrame>
      <p:sp>
        <p:nvSpPr>
          <p:cNvPr id="5" name="anim1_574"/>
          <p:cNvSpPr txBox="1"/>
          <p:nvPr/>
        </p:nvSpPr>
        <p:spPr>
          <a:xfrm>
            <a:off x="685800" y="5596128"/>
            <a:ext cx="5486400" cy="411480"/>
          </a:xfrm>
          <a:prstGeom prst="rect">
            <a:avLst/>
          </a:prstGeom>
          <a:noFill/>
          <a:ln/>
        </p:spPr>
        <p:txBody>
          <a:bodyPr wrap="square" lIns="0" tIns="0" rIns="0" bIns="0" rtlCol="0" anchor="t"/>
          <a:lstStyle/>
          <a:p>
            <a:pPr indent="0" marL="0">
              <a:buNone/>
            </a:pPr>
            <a:r>
              <a:rPr lang="en-US" sz="1200" i="1" dirty="0">
                <a:solidFill>
                  <a:srgbClr val="5F6B76"/>
                </a:solidFill>
                <a:latin typeface="Calibri" pitchFamily="34" charset="0"/>
                <a:ea typeface="Calibri" pitchFamily="34" charset="-122"/>
                <a:cs typeface="Calibri" pitchFamily="34" charset="-120"/>
              </a:rPr>
              <a:t>Protein intake unchanged — consistent with protein leverage, but the trial was not designed to test it.</a:t>
            </a:r>
            <a:endParaRPr lang="en-US" sz="1200" dirty="0"/>
          </a:p>
        </p:txBody>
      </p:sp>
      <p:sp>
        <p:nvSpPr>
          <p:cNvPr id="6" name="anim1_575"/>
          <p:cNvSpPr/>
          <p:nvPr/>
        </p:nvSpPr>
        <p:spPr>
          <a:xfrm>
            <a:off x="6446520" y="1325880"/>
            <a:ext cx="5166360" cy="1143000"/>
          </a:xfrm>
          <a:prstGeom prst="roundRect">
            <a:avLst>
              <a:gd name="adj" fmla="val 6400"/>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7" name="anim1_576"/>
          <p:cNvSpPr/>
          <p:nvPr/>
        </p:nvSpPr>
        <p:spPr>
          <a:xfrm>
            <a:off x="6629400" y="1508760"/>
            <a:ext cx="566928" cy="566928"/>
          </a:xfrm>
          <a:prstGeom prst="ellipse">
            <a:avLst/>
          </a:prstGeom>
          <a:solidFill>
            <a:srgbClr val="1F3A5F"/>
          </a:solidFill>
          <a:ln w="6350">
            <a:solidFill>
              <a:srgbClr val="1F3A5F"/>
            </a:solidFill>
            <a:prstDash val="solid"/>
          </a:ln>
        </p:spPr>
      </p:sp>
      <p:pic>
        <p:nvPicPr>
          <p:cNvPr id="8" name="anim1_577" descr="bed icon">    </p:cNvPr>
          <p:cNvPicPr>
            <a:picLocks noChangeAspect="1"/>
          </p:cNvPicPr>
          <p:nvPr/>
        </p:nvPicPr>
        <p:blipFill>
          <a:blip r:embed="rId2"/>
          <a:stretch>
            <a:fillRect/>
          </a:stretch>
        </p:blipFill>
        <p:spPr>
          <a:xfrm>
            <a:off x="6782471" y="1661831"/>
            <a:ext cx="260787" cy="260787"/>
          </a:xfrm>
          <a:prstGeom prst="rect">
            <a:avLst/>
          </a:prstGeom>
        </p:spPr>
      </p:pic>
      <p:sp>
        <p:nvSpPr>
          <p:cNvPr id="9" name="anim1_578"/>
          <p:cNvSpPr txBox="1"/>
          <p:nvPr/>
        </p:nvSpPr>
        <p:spPr>
          <a:xfrm>
            <a:off x="7360920" y="1389888"/>
            <a:ext cx="4114800" cy="1024128"/>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n = 20 adults · 4 weeks inpatient · crossover</a:t>
            </a:r>
            <a:endParaRPr lang="en-US" sz="1200" dirty="0"/>
          </a:p>
          <a:p>
            <a:pPr indent="0" marL="0">
              <a:buNone/>
            </a:pPr>
            <a:r>
              <a:rPr lang="en-US" sz="1200" dirty="0">
                <a:solidFill>
                  <a:srgbClr val="1B1F24"/>
                </a:solidFill>
                <a:latin typeface="Calibri" pitchFamily="34" charset="0"/>
                <a:ea typeface="Calibri" pitchFamily="34" charset="-122"/>
                <a:cs typeface="Calibri" pitchFamily="34" charset="-120"/>
              </a:rPr>
              <a:t>2 weeks UPF + 2 weeks minimally processed; diets matched for presented energy, macronutrients, sugar, sodium and fiber; eat as much as wanted</a:t>
            </a:r>
            <a:endParaRPr lang="en-US" sz="1200" dirty="0"/>
          </a:p>
        </p:txBody>
      </p:sp>
      <p:sp>
        <p:nvSpPr>
          <p:cNvPr id="10" name="anim2_579"/>
          <p:cNvSpPr/>
          <p:nvPr/>
        </p:nvSpPr>
        <p:spPr>
          <a:xfrm>
            <a:off x="6446520" y="2651760"/>
            <a:ext cx="1655064" cy="1691640"/>
          </a:xfrm>
          <a:prstGeom prst="roundRect">
            <a:avLst>
              <a:gd name="adj" fmla="val 4420"/>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580"/>
          <p:cNvSpPr txBox="1"/>
          <p:nvPr/>
        </p:nvSpPr>
        <p:spPr>
          <a:xfrm>
            <a:off x="6519672" y="2743200"/>
            <a:ext cx="1508760" cy="594360"/>
          </a:xfrm>
          <a:prstGeom prst="rect">
            <a:avLst/>
          </a:prstGeom>
          <a:noFill/>
          <a:ln/>
        </p:spPr>
        <p:txBody>
          <a:bodyPr wrap="square" lIns="0" tIns="0" rIns="0" bIns="0" rtlCol="0" anchor="ctr"/>
          <a:lstStyle/>
          <a:p>
            <a:pPr algn="ctr" indent="0" marL="0">
              <a:buNone/>
            </a:pPr>
            <a:r>
              <a:rPr lang="en-US" sz="2600" b="1" dirty="0">
                <a:solidFill>
                  <a:srgbClr val="B3393C"/>
                </a:solidFill>
                <a:latin typeface="Cambria" pitchFamily="34" charset="0"/>
                <a:ea typeface="Cambria" pitchFamily="34" charset="-122"/>
                <a:cs typeface="Cambria" pitchFamily="34" charset="-120"/>
              </a:rPr>
              <a:t>+508</a:t>
            </a:r>
            <a:endParaRPr lang="en-US" sz="2600" dirty="0"/>
          </a:p>
        </p:txBody>
      </p:sp>
      <p:sp>
        <p:nvSpPr>
          <p:cNvPr id="12" name="anim2_581"/>
          <p:cNvSpPr txBox="1"/>
          <p:nvPr/>
        </p:nvSpPr>
        <p:spPr>
          <a:xfrm>
            <a:off x="6556248" y="3364992"/>
            <a:ext cx="1435608" cy="914400"/>
          </a:xfrm>
          <a:prstGeom prst="rect">
            <a:avLst/>
          </a:prstGeom>
          <a:noFill/>
          <a:ln/>
        </p:spPr>
        <p:txBody>
          <a:bodyPr wrap="square" lIns="0" tIns="0" rIns="0" bIns="0" rtlCol="0" anchor="t"/>
          <a:lstStyle/>
          <a:p>
            <a:pPr algn="ctr" indent="0" marL="0">
              <a:buNone/>
            </a:pPr>
            <a:r>
              <a:rPr lang="en-US" sz="1150" dirty="0">
                <a:solidFill>
                  <a:srgbClr val="1B1F24"/>
                </a:solidFill>
                <a:latin typeface="Calibri" pitchFamily="34" charset="0"/>
                <a:ea typeface="Calibri" pitchFamily="34" charset="-122"/>
                <a:cs typeface="Calibri" pitchFamily="34" charset="-120"/>
              </a:rPr>
              <a:t>kcal/day more on the UPF diet</a:t>
            </a:r>
            <a:endParaRPr lang="en-US" sz="1150" dirty="0"/>
          </a:p>
        </p:txBody>
      </p:sp>
      <p:sp>
        <p:nvSpPr>
          <p:cNvPr id="13" name="anim3_582"/>
          <p:cNvSpPr/>
          <p:nvPr/>
        </p:nvSpPr>
        <p:spPr>
          <a:xfrm>
            <a:off x="8202168" y="2651760"/>
            <a:ext cx="1655064" cy="1691640"/>
          </a:xfrm>
          <a:prstGeom prst="roundRect">
            <a:avLst>
              <a:gd name="adj" fmla="val 4420"/>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4" name="anim3_583"/>
          <p:cNvSpPr txBox="1"/>
          <p:nvPr/>
        </p:nvSpPr>
        <p:spPr>
          <a:xfrm>
            <a:off x="8275320" y="2743200"/>
            <a:ext cx="1508760" cy="594360"/>
          </a:xfrm>
          <a:prstGeom prst="rect">
            <a:avLst/>
          </a:prstGeom>
          <a:noFill/>
          <a:ln/>
        </p:spPr>
        <p:txBody>
          <a:bodyPr wrap="square" lIns="0" tIns="0" rIns="0" bIns="0" rtlCol="0" anchor="ctr"/>
          <a:lstStyle/>
          <a:p>
            <a:pPr algn="ctr" indent="0" marL="0">
              <a:buNone/>
            </a:pPr>
            <a:r>
              <a:rPr lang="en-US" sz="2200" b="1" dirty="0">
                <a:solidFill>
                  <a:srgbClr val="B3393C"/>
                </a:solidFill>
                <a:latin typeface="Cambria" pitchFamily="34" charset="0"/>
                <a:ea typeface="Cambria" pitchFamily="34" charset="-122"/>
                <a:cs typeface="Cambria" pitchFamily="34" charset="-120"/>
              </a:rPr>
              <a:t>+0.9 kg</a:t>
            </a:r>
            <a:endParaRPr lang="en-US" sz="2200" dirty="0"/>
          </a:p>
        </p:txBody>
      </p:sp>
      <p:sp>
        <p:nvSpPr>
          <p:cNvPr id="15" name="anim3_584"/>
          <p:cNvSpPr txBox="1"/>
          <p:nvPr/>
        </p:nvSpPr>
        <p:spPr>
          <a:xfrm>
            <a:off x="8311896" y="3364992"/>
            <a:ext cx="1435608" cy="914400"/>
          </a:xfrm>
          <a:prstGeom prst="rect">
            <a:avLst/>
          </a:prstGeom>
          <a:noFill/>
          <a:ln/>
        </p:spPr>
        <p:txBody>
          <a:bodyPr wrap="square" lIns="0" tIns="0" rIns="0" bIns="0" rtlCol="0" anchor="t"/>
          <a:lstStyle/>
          <a:p>
            <a:pPr algn="ctr" indent="0" marL="0">
              <a:buNone/>
            </a:pPr>
            <a:r>
              <a:rPr lang="en-US" sz="1150" dirty="0">
                <a:solidFill>
                  <a:srgbClr val="1B1F24"/>
                </a:solidFill>
                <a:latin typeface="Calibri" pitchFamily="34" charset="0"/>
                <a:ea typeface="Calibri" pitchFamily="34" charset="-122"/>
                <a:cs typeface="Calibri" pitchFamily="34" charset="-120"/>
              </a:rPr>
              <a:t>vs −0.9 kg on the minimally processed diet (2 weeks)</a:t>
            </a:r>
            <a:endParaRPr lang="en-US" sz="1150" dirty="0"/>
          </a:p>
        </p:txBody>
      </p:sp>
      <p:sp>
        <p:nvSpPr>
          <p:cNvPr id="16" name="anim4_585"/>
          <p:cNvSpPr/>
          <p:nvPr/>
        </p:nvSpPr>
        <p:spPr>
          <a:xfrm>
            <a:off x="9957816" y="2651760"/>
            <a:ext cx="1655064" cy="1691640"/>
          </a:xfrm>
          <a:prstGeom prst="roundRect">
            <a:avLst>
              <a:gd name="adj" fmla="val 4420"/>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7" name="anim4_586"/>
          <p:cNvSpPr txBox="1"/>
          <p:nvPr/>
        </p:nvSpPr>
        <p:spPr>
          <a:xfrm>
            <a:off x="10030968" y="2743200"/>
            <a:ext cx="1508760" cy="594360"/>
          </a:xfrm>
          <a:prstGeom prst="rect">
            <a:avLst/>
          </a:prstGeom>
          <a:noFill/>
          <a:ln/>
        </p:spPr>
        <p:txBody>
          <a:bodyPr wrap="square" lIns="0" tIns="0" rIns="0" bIns="0" rtlCol="0" anchor="ctr"/>
          <a:lstStyle/>
          <a:p>
            <a:pPr algn="ctr" indent="0" marL="0">
              <a:buNone/>
            </a:pPr>
            <a:r>
              <a:rPr lang="en-US" sz="2200" b="1" dirty="0">
                <a:solidFill>
                  <a:srgbClr val="D88A1F"/>
                </a:solidFill>
                <a:latin typeface="Cambria" pitchFamily="34" charset="0"/>
                <a:ea typeface="Cambria" pitchFamily="34" charset="-122"/>
                <a:cs typeface="Cambria" pitchFamily="34" charset="-120"/>
              </a:rPr>
              <a:t>48 vs 31</a:t>
            </a:r>
            <a:endParaRPr lang="en-US" sz="2200" dirty="0"/>
          </a:p>
        </p:txBody>
      </p:sp>
      <p:sp>
        <p:nvSpPr>
          <p:cNvPr id="18" name="anim4_587"/>
          <p:cNvSpPr txBox="1"/>
          <p:nvPr/>
        </p:nvSpPr>
        <p:spPr>
          <a:xfrm>
            <a:off x="10067544" y="3364992"/>
            <a:ext cx="1435608" cy="914400"/>
          </a:xfrm>
          <a:prstGeom prst="rect">
            <a:avLst/>
          </a:prstGeom>
          <a:noFill/>
          <a:ln/>
        </p:spPr>
        <p:txBody>
          <a:bodyPr wrap="square" lIns="0" tIns="0" rIns="0" bIns="0" rtlCol="0" anchor="t"/>
          <a:lstStyle/>
          <a:p>
            <a:pPr algn="ctr" indent="0" marL="0">
              <a:buNone/>
            </a:pPr>
            <a:r>
              <a:rPr lang="en-US" sz="1150" dirty="0">
                <a:solidFill>
                  <a:srgbClr val="1B1F24"/>
                </a:solidFill>
                <a:latin typeface="Calibri" pitchFamily="34" charset="0"/>
                <a:ea typeface="Calibri" pitchFamily="34" charset="-122"/>
                <a:cs typeface="Calibri" pitchFamily="34" charset="-120"/>
              </a:rPr>
              <a:t>kcal per minute: faster eating on UPF</a:t>
            </a:r>
            <a:endParaRPr lang="en-US" sz="1150" dirty="0"/>
          </a:p>
        </p:txBody>
      </p:sp>
      <p:sp>
        <p:nvSpPr>
          <p:cNvPr id="19" name="anim5_588"/>
          <p:cNvSpPr/>
          <p:nvPr/>
        </p:nvSpPr>
        <p:spPr>
          <a:xfrm>
            <a:off x="6446520" y="4526280"/>
            <a:ext cx="5166360" cy="1417320"/>
          </a:xfrm>
          <a:prstGeom prst="roundRect">
            <a:avLst>
              <a:gd name="adj" fmla="val 5161"/>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20" name="anim5_589"/>
          <p:cNvSpPr/>
          <p:nvPr/>
        </p:nvSpPr>
        <p:spPr>
          <a:xfrm>
            <a:off x="6601968" y="4663440"/>
            <a:ext cx="502920" cy="502920"/>
          </a:xfrm>
          <a:prstGeom prst="ellipse">
            <a:avLst/>
          </a:prstGeom>
          <a:solidFill>
            <a:srgbClr val="D88A1F"/>
          </a:solidFill>
          <a:ln w="6350">
            <a:solidFill>
              <a:srgbClr val="D88A1F"/>
            </a:solidFill>
            <a:prstDash val="solid"/>
          </a:ln>
        </p:spPr>
      </p:sp>
      <p:pic>
        <p:nvPicPr>
          <p:cNvPr id="21" name="anim5_590" descr="warn icon">    </p:cNvPr>
          <p:cNvPicPr>
            <a:picLocks noChangeAspect="1"/>
          </p:cNvPicPr>
          <p:nvPr/>
        </p:nvPicPr>
        <p:blipFill>
          <a:blip r:embed="rId3"/>
          <a:stretch>
            <a:fillRect/>
          </a:stretch>
        </p:blipFill>
        <p:spPr>
          <a:xfrm>
            <a:off x="6737756" y="4799228"/>
            <a:ext cx="231343" cy="231343"/>
          </a:xfrm>
          <a:prstGeom prst="rect">
            <a:avLst/>
          </a:prstGeom>
        </p:spPr>
      </p:pic>
      <p:sp>
        <p:nvSpPr>
          <p:cNvPr id="22" name="anim5_591"/>
          <p:cNvSpPr txBox="1"/>
          <p:nvPr/>
        </p:nvSpPr>
        <p:spPr>
          <a:xfrm>
            <a:off x="7223760" y="4572000"/>
            <a:ext cx="4251960" cy="1325880"/>
          </a:xfrm>
          <a:prstGeom prst="rect">
            <a:avLst/>
          </a:prstGeom>
          <a:noFill/>
          <a:ln/>
        </p:spPr>
        <p:txBody>
          <a:bodyPr wrap="square" lIns="0" tIns="0" rIns="0" bIns="0" rtlCol="0" anchor="ctr"/>
          <a:lstStyle/>
          <a:p>
            <a:pPr indent="0" marL="0">
              <a:buNone/>
            </a:pPr>
            <a:r>
              <a:rPr lang="en-US" sz="1300" b="1" dirty="0">
                <a:solidFill>
                  <a:srgbClr val="9A5E0B"/>
                </a:solidFill>
                <a:latin typeface="Calibri" pitchFamily="34" charset="0"/>
                <a:ea typeface="Calibri" pitchFamily="34" charset="-122"/>
                <a:cs typeface="Calibri" pitchFamily="34" charset="-120"/>
              </a:rPr>
              <a:t>Limits: </a:t>
            </a:r>
            <a:r>
              <a:rPr lang="en-US" sz="1300" dirty="0">
                <a:solidFill>
                  <a:srgbClr val="1B1F24"/>
                </a:solidFill>
                <a:latin typeface="Calibri" pitchFamily="34" charset="0"/>
                <a:ea typeface="Calibri" pitchFamily="34" charset="-122"/>
                <a:cs typeface="Calibri" pitchFamily="34" charset="-120"/>
              </a:rPr>
              <a:t>small, short, inpatient; diets also differed in non-beverage energy density, eating rate and texture. </a:t>
            </a:r>
            <a:r>
              <a:rPr lang="en-US" sz="1300" b="1" dirty="0">
                <a:solidFill>
                  <a:srgbClr val="1B1F24"/>
                </a:solidFill>
                <a:latin typeface="Calibri" pitchFamily="34" charset="0"/>
                <a:ea typeface="Calibri" pitchFamily="34" charset="-122"/>
                <a:cs typeface="Calibri" pitchFamily="34" charset="-120"/>
              </a:rPr>
              <a:t>No measure of addictive-like eating.</a:t>
            </a:r>
            <a:endParaRPr lang="en-US" sz="1300" dirty="0"/>
          </a:p>
        </p:txBody>
      </p:sp>
      <p:sp>
        <p:nvSpPr>
          <p:cNvPr id="23" name="Text 1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 Hall et al. 2019 (Cell Metabolism). Values are mean differences; error bars omitted.</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2"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28"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38" fill="hold">
                            <p:stCondLst>
                              <p:cond delay="38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childTnLst>
                          </p:cTn>
                        </p:par>
                        <p:par>
                          <p:cTn id="48" fill="hold">
                            <p:stCondLst>
                              <p:cond delay="380"/>
                            </p:stCondLst>
                            <p:childTnLst>
                              <p:par>
                                <p:cTn id="39" presetID="10" presetClass="entr" presetSubtype="0" fill="hold"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childTnLst>
                          </p:cTn>
                        </p:par>
                        <p:par>
                          <p:cTn id="61" fill="hold">
                            <p:stCondLst>
                              <p:cond delay="380"/>
                            </p:stCondLst>
                            <p:childTnLst>
                              <p:par>
                                <p:cTn id="49" presetID="10"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1" grpId="0" animBg="1"/>
      <p:bldP spid="12" grpId="0" animBg="1"/>
      <p:bldP spid="14" grpId="0" animBg="1"/>
      <p:bldP spid="15" grpId="0" animBg="1"/>
      <p:bldP spid="17" grpId="0" animBg="1"/>
      <p:bldP spid="18"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Dicken et al. 2025: UPF within dietary guidelines</a:t>
            </a:r>
            <a:endParaRPr lang="en-US" sz="3200" dirty="0"/>
          </a:p>
        </p:txBody>
      </p:sp>
      <p:sp>
        <p:nvSpPr>
          <p:cNvPr id="4" name="anim1_592"/>
          <p:cNvSpPr/>
          <p:nvPr/>
        </p:nvSpPr>
        <p:spPr>
          <a:xfrm>
            <a:off x="548640" y="1325880"/>
            <a:ext cx="6263640" cy="2697480"/>
          </a:xfrm>
          <a:prstGeom prst="roundRect">
            <a:avLst>
              <a:gd name="adj" fmla="val 2712"/>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593"/>
          <p:cNvSpPr txBox="1"/>
          <p:nvPr/>
        </p:nvSpPr>
        <p:spPr>
          <a:xfrm>
            <a:off x="777240" y="1444752"/>
            <a:ext cx="5852160" cy="365760"/>
          </a:xfrm>
          <a:prstGeom prst="rect">
            <a:avLst/>
          </a:prstGeom>
          <a:noFill/>
          <a:ln/>
        </p:spPr>
        <p:txBody>
          <a:bodyPr wrap="square" lIns="0" tIns="0" rIns="0" bIns="0" rtlCol="0" anchor="t"/>
          <a:lstStyle/>
          <a:p>
            <a:pPr indent="0" marL="0">
              <a:buNone/>
            </a:pPr>
            <a:r>
              <a:rPr lang="en-US" sz="1700" b="1" dirty="0">
                <a:solidFill>
                  <a:srgbClr val="1F3A5F"/>
                </a:solidFill>
                <a:latin typeface="Cambria" pitchFamily="34" charset="0"/>
                <a:ea typeface="Cambria" pitchFamily="34" charset="-122"/>
                <a:cs typeface="Cambria" pitchFamily="34" charset="-120"/>
              </a:rPr>
              <a:t>Randomized crossover trial, England</a:t>
            </a:r>
            <a:endParaRPr lang="en-US" sz="1700" dirty="0"/>
          </a:p>
        </p:txBody>
      </p:sp>
      <p:sp>
        <p:nvSpPr>
          <p:cNvPr id="6" name="anim1_594"/>
          <p:cNvSpPr txBox="1"/>
          <p:nvPr/>
        </p:nvSpPr>
        <p:spPr>
          <a:xfrm>
            <a:off x="777240" y="1828800"/>
            <a:ext cx="5852160" cy="32004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55 randomized · 50 in intention-to-treat · BMI 25 to &lt;40 · habitual UPF ≥50% of energy</a:t>
            </a:r>
            <a:endParaRPr lang="en-US" sz="1250" dirty="0"/>
          </a:p>
        </p:txBody>
      </p:sp>
      <p:sp>
        <p:nvSpPr>
          <p:cNvPr id="7" name="anim2_595"/>
          <p:cNvSpPr/>
          <p:nvPr/>
        </p:nvSpPr>
        <p:spPr>
          <a:xfrm>
            <a:off x="777240" y="2331720"/>
            <a:ext cx="2103120" cy="502920"/>
          </a:xfrm>
          <a:prstGeom prst="roundRect">
            <a:avLst>
              <a:gd name="adj" fmla="val 18182"/>
            </a:avLst>
          </a:prstGeom>
          <a:solidFill>
            <a:srgbClr val="3B7D5A"/>
          </a:solidFill>
          <a:ln w="19050">
            <a:solidFill>
              <a:srgbClr val="FFFFFF"/>
            </a:solidFill>
          </a:ln>
        </p:spPr>
        <p:txBody>
          <a:bodyPr wrap="square" lIns="0" tIns="0" rIns="0" bIns="0" rtlCol="0" anchor="ctr"/>
          <a:lstStyle/>
          <a:p>
            <a:pPr algn="ctr" indent="0" marL="0">
              <a:buNone/>
            </a:pPr>
            <a:r>
              <a:rPr lang="en-US" sz="1300" b="1" dirty="0">
                <a:solidFill>
                  <a:srgbClr val="FFFFFF"/>
                </a:solidFill>
              </a:rPr>
              <a:t>Diet A · 8 weeks</a:t>
            </a:r>
            <a:endParaRPr lang="en-US" sz="1300" dirty="0"/>
          </a:p>
        </p:txBody>
      </p:sp>
      <p:sp>
        <p:nvSpPr>
          <p:cNvPr id="8" name="anim2_596"/>
          <p:cNvSpPr/>
          <p:nvPr/>
        </p:nvSpPr>
        <p:spPr>
          <a:xfrm>
            <a:off x="2953512" y="2331720"/>
            <a:ext cx="1417320" cy="502920"/>
          </a:xfrm>
          <a:prstGeom prst="roundRect">
            <a:avLst>
              <a:gd name="adj" fmla="val 18182"/>
            </a:avLst>
          </a:prstGeom>
          <a:solidFill>
            <a:srgbClr val="9AA0A6"/>
          </a:solidFill>
          <a:ln w="19050">
            <a:solidFill>
              <a:srgbClr val="FFFFFF"/>
            </a:solidFill>
          </a:ln>
        </p:spPr>
        <p:txBody>
          <a:bodyPr wrap="square" lIns="0" tIns="0" rIns="0" bIns="0" rtlCol="0" anchor="ctr"/>
          <a:lstStyle/>
          <a:p>
            <a:pPr algn="ctr" indent="0" marL="0">
              <a:buNone/>
            </a:pPr>
            <a:r>
              <a:rPr lang="en-US" sz="1300" b="1" dirty="0">
                <a:solidFill>
                  <a:srgbClr val="FFFFFF"/>
                </a:solidFill>
              </a:rPr>
              <a:t>Washout · 4 weeks</a:t>
            </a:r>
            <a:endParaRPr lang="en-US" sz="1300" dirty="0"/>
          </a:p>
        </p:txBody>
      </p:sp>
      <p:sp>
        <p:nvSpPr>
          <p:cNvPr id="9" name="anim2_597"/>
          <p:cNvSpPr/>
          <p:nvPr/>
        </p:nvSpPr>
        <p:spPr>
          <a:xfrm>
            <a:off x="4443984" y="2331720"/>
            <a:ext cx="2103120" cy="502920"/>
          </a:xfrm>
          <a:prstGeom prst="roundRect">
            <a:avLst>
              <a:gd name="adj" fmla="val 18182"/>
            </a:avLst>
          </a:prstGeom>
          <a:solidFill>
            <a:srgbClr val="B3393C"/>
          </a:solidFill>
          <a:ln w="19050">
            <a:solidFill>
              <a:srgbClr val="FFFFFF"/>
            </a:solidFill>
          </a:ln>
        </p:spPr>
        <p:txBody>
          <a:bodyPr wrap="square" lIns="0" tIns="0" rIns="0" bIns="0" rtlCol="0" anchor="ctr"/>
          <a:lstStyle/>
          <a:p>
            <a:pPr algn="ctr" indent="0" marL="0">
              <a:buNone/>
            </a:pPr>
            <a:r>
              <a:rPr lang="en-US" sz="1300" b="1" dirty="0">
                <a:solidFill>
                  <a:srgbClr val="FFFFFF"/>
                </a:solidFill>
              </a:rPr>
              <a:t>Diet B · 8 weeks</a:t>
            </a:r>
            <a:endParaRPr lang="en-US" sz="1300" dirty="0"/>
          </a:p>
        </p:txBody>
      </p:sp>
      <p:sp>
        <p:nvSpPr>
          <p:cNvPr id="10" name="anim2_598"/>
          <p:cNvSpPr txBox="1"/>
          <p:nvPr/>
        </p:nvSpPr>
        <p:spPr>
          <a:xfrm>
            <a:off x="777240" y="2852928"/>
            <a:ext cx="5760720" cy="274320"/>
          </a:xfrm>
          <a:prstGeom prst="rect">
            <a:avLst/>
          </a:prstGeom>
          <a:noFill/>
          <a:ln/>
        </p:spPr>
        <p:txBody>
          <a:bodyPr wrap="square" lIns="0" tIns="0" rIns="0" bIns="0" rtlCol="0" anchor="t"/>
          <a:lstStyle/>
          <a:p>
            <a:pPr algn="ctr" indent="0" marL="0">
              <a:buNone/>
            </a:pPr>
            <a:r>
              <a:rPr lang="en-US" sz="1150" i="1" dirty="0">
                <a:solidFill>
                  <a:srgbClr val="5F6B76"/>
                </a:solidFill>
                <a:latin typeface="Calibri" pitchFamily="34" charset="0"/>
                <a:ea typeface="Calibri" pitchFamily="34" charset="-122"/>
                <a:cs typeface="Calibri" pitchFamily="34" charset="-120"/>
              </a:rPr>
              <a:t>random order</a:t>
            </a:r>
            <a:endParaRPr lang="en-US" sz="1150" dirty="0"/>
          </a:p>
        </p:txBody>
      </p:sp>
      <p:sp>
        <p:nvSpPr>
          <p:cNvPr id="11" name="anim2_599"/>
          <p:cNvSpPr txBox="1"/>
          <p:nvPr/>
        </p:nvSpPr>
        <p:spPr>
          <a:xfrm>
            <a:off x="777240" y="3154680"/>
            <a:ext cx="5852160" cy="777240"/>
          </a:xfrm>
          <a:prstGeom prst="rect">
            <a:avLst/>
          </a:prstGeom>
          <a:noFill/>
          <a:ln/>
        </p:spPr>
        <p:txBody>
          <a:bodyPr wrap="square" lIns="0" tIns="0" rIns="0" bIns="0" rtlCol="0" anchor="t"/>
          <a:lstStyle/>
          <a:p>
            <a:pPr indent="0" marL="0">
              <a:buNone/>
            </a:pPr>
            <a:r>
              <a:rPr lang="en-US" sz="1300" b="1" dirty="0">
                <a:solidFill>
                  <a:srgbClr val="1B1F24"/>
                </a:solidFill>
                <a:latin typeface="Calibri" pitchFamily="34" charset="0"/>
                <a:ea typeface="Calibri" pitchFamily="34" charset="-122"/>
                <a:cs typeface="Calibri" pitchFamily="34" charset="-120"/>
              </a:rPr>
              <a:t>Both diets followed the UK Eatwell Guide, </a:t>
            </a:r>
            <a:r>
              <a:rPr lang="en-US" sz="1300" dirty="0">
                <a:solidFill>
                  <a:srgbClr val="1B1F24"/>
                </a:solidFill>
                <a:latin typeface="Calibri" pitchFamily="34" charset="0"/>
                <a:ea typeface="Calibri" pitchFamily="34" charset="-122"/>
                <a:cs typeface="Calibri" pitchFamily="34" charset="-120"/>
              </a:rPr>
              <a:t>ad libitum and delivered to participants: one mainly minimally processed, one mainly ultra-processed.</a:t>
            </a:r>
            <a:endParaRPr lang="en-US" sz="1300" dirty="0"/>
          </a:p>
        </p:txBody>
      </p:sp>
      <p:graphicFrame>
        <p:nvGraphicFramePr>
          <p:cNvPr id="12" name="chartDicken" descr=""/>
          <p:cNvGraphicFramePr/>
          <p:nvPr/>
        </p:nvGraphicFramePr>
        <p:xfrm>
          <a:off x="6949440" y="1280160"/>
          <a:ext cx="4663440" cy="2788920"/>
        </p:xfrm>
        <a:graphic xmlns:a="http://schemas.openxmlformats.org/drawingml/2006/main">
          <a:graphicData uri="http://schemas.openxmlformats.org/drawingml/2006/chart">
            <c:chart xmlns:c="http://schemas.openxmlformats.org/drawingml/2006/chart" r:id="rId1"/>
          </a:graphicData>
        </a:graphic>
      </p:graphicFrame>
      <p:sp>
        <p:nvSpPr>
          <p:cNvPr id="13" name="anim3_600"/>
          <p:cNvSpPr/>
          <p:nvPr/>
        </p:nvSpPr>
        <p:spPr>
          <a:xfrm>
            <a:off x="548640" y="4206240"/>
            <a:ext cx="5440680" cy="1737360"/>
          </a:xfrm>
          <a:prstGeom prst="roundRect">
            <a:avLst>
              <a:gd name="adj" fmla="val 4211"/>
            </a:avLst>
          </a:prstGeom>
          <a:solidFill>
            <a:srgbClr val="E8F2EC"/>
          </a:solidFill>
          <a:ln w="9525">
            <a:solidFill>
              <a:srgbClr val="CFE3D6"/>
            </a:solidFill>
            <a:prstDash val="solid"/>
          </a:ln>
          <a:effectLst>
            <a:outerShdw sx="100000" sy="100000" kx="0" ky="0" algn="bl" rotWithShape="0" blurRad="114300" dist="31750" dir="5400000">
              <a:srgbClr val="1B1F24">
                <a:alpha val="14000"/>
              </a:srgbClr>
            </a:outerShdw>
          </a:effectLst>
        </p:spPr>
      </p:sp>
      <p:sp>
        <p:nvSpPr>
          <p:cNvPr id="14" name="anim3_601"/>
          <p:cNvSpPr/>
          <p:nvPr/>
        </p:nvSpPr>
        <p:spPr>
          <a:xfrm>
            <a:off x="731520" y="4370832"/>
            <a:ext cx="530352" cy="530352"/>
          </a:xfrm>
          <a:prstGeom prst="ellipse">
            <a:avLst/>
          </a:prstGeom>
          <a:solidFill>
            <a:srgbClr val="3B7D5A"/>
          </a:solidFill>
          <a:ln w="6350">
            <a:solidFill>
              <a:srgbClr val="3B7D5A"/>
            </a:solidFill>
            <a:prstDash val="solid"/>
          </a:ln>
        </p:spPr>
      </p:sp>
      <p:pic>
        <p:nvPicPr>
          <p:cNvPr id="15" name="anim3_602" descr="check icon">    </p:cNvPr>
          <p:cNvPicPr>
            <a:picLocks noChangeAspect="1"/>
          </p:cNvPicPr>
          <p:nvPr/>
        </p:nvPicPr>
        <p:blipFill>
          <a:blip r:embed="rId2"/>
          <a:stretch>
            <a:fillRect/>
          </a:stretch>
        </p:blipFill>
        <p:spPr>
          <a:xfrm>
            <a:off x="874715" y="4514027"/>
            <a:ext cx="243962" cy="243962"/>
          </a:xfrm>
          <a:prstGeom prst="rect">
            <a:avLst/>
          </a:prstGeom>
        </p:spPr>
      </p:pic>
      <p:sp>
        <p:nvSpPr>
          <p:cNvPr id="16" name="anim3_603"/>
          <p:cNvSpPr txBox="1"/>
          <p:nvPr/>
        </p:nvSpPr>
        <p:spPr>
          <a:xfrm>
            <a:off x="1417320" y="4343400"/>
            <a:ext cx="4480560" cy="365760"/>
          </a:xfrm>
          <a:prstGeom prst="rect">
            <a:avLst/>
          </a:prstGeom>
          <a:noFill/>
          <a:ln/>
        </p:spPr>
        <p:txBody>
          <a:bodyPr wrap="square" lIns="0" tIns="0" rIns="0" bIns="0" rtlCol="0" anchor="t"/>
          <a:lstStyle/>
          <a:p>
            <a:pPr indent="0" marL="0">
              <a:buNone/>
            </a:pPr>
            <a:r>
              <a:rPr lang="en-US" sz="1700" b="1" dirty="0">
                <a:solidFill>
                  <a:srgbClr val="3B7D5A"/>
                </a:solidFill>
                <a:latin typeface="Cambria" pitchFamily="34" charset="0"/>
                <a:ea typeface="Cambria" pitchFamily="34" charset="-122"/>
                <a:cs typeface="Cambria" pitchFamily="34" charset="-120"/>
              </a:rPr>
              <a:t>Difference −1.01 percentage points</a:t>
            </a:r>
            <a:endParaRPr lang="en-US" sz="1700" dirty="0"/>
          </a:p>
        </p:txBody>
      </p:sp>
      <p:sp>
        <p:nvSpPr>
          <p:cNvPr id="17" name="anim3_604"/>
          <p:cNvSpPr txBox="1"/>
          <p:nvPr/>
        </p:nvSpPr>
        <p:spPr>
          <a:xfrm>
            <a:off x="1417320" y="4727448"/>
            <a:ext cx="4434840" cy="11430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95% CI −1.87 to −0.14; p = 0.024. Fat mass also fell more on the minimally processed diet, and some craving measures moved the same way.</a:t>
            </a:r>
            <a:endParaRPr lang="en-US" sz="1300" dirty="0"/>
          </a:p>
        </p:txBody>
      </p:sp>
      <p:sp>
        <p:nvSpPr>
          <p:cNvPr id="18" name="anim4_605"/>
          <p:cNvSpPr/>
          <p:nvPr/>
        </p:nvSpPr>
        <p:spPr>
          <a:xfrm>
            <a:off x="6172200" y="4206240"/>
            <a:ext cx="5440680" cy="1737360"/>
          </a:xfrm>
          <a:prstGeom prst="roundRect">
            <a:avLst>
              <a:gd name="adj" fmla="val 4211"/>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19" name="anim4_606"/>
          <p:cNvSpPr/>
          <p:nvPr/>
        </p:nvSpPr>
        <p:spPr>
          <a:xfrm>
            <a:off x="6355080" y="4370832"/>
            <a:ext cx="530352" cy="530352"/>
          </a:xfrm>
          <a:prstGeom prst="ellipse">
            <a:avLst/>
          </a:prstGeom>
          <a:solidFill>
            <a:srgbClr val="D88A1F"/>
          </a:solidFill>
          <a:ln w="6350">
            <a:solidFill>
              <a:srgbClr val="D88A1F"/>
            </a:solidFill>
            <a:prstDash val="solid"/>
          </a:ln>
        </p:spPr>
      </p:sp>
      <p:pic>
        <p:nvPicPr>
          <p:cNvPr id="20" name="anim4_607" descr="layer icon">    </p:cNvPr>
          <p:cNvPicPr>
            <a:picLocks noChangeAspect="1"/>
          </p:cNvPicPr>
          <p:nvPr/>
        </p:nvPicPr>
        <p:blipFill>
          <a:blip r:embed="rId3"/>
          <a:stretch>
            <a:fillRect/>
          </a:stretch>
        </p:blipFill>
        <p:spPr>
          <a:xfrm>
            <a:off x="6498275" y="4514027"/>
            <a:ext cx="243962" cy="243962"/>
          </a:xfrm>
          <a:prstGeom prst="rect">
            <a:avLst/>
          </a:prstGeom>
        </p:spPr>
      </p:pic>
      <p:sp>
        <p:nvSpPr>
          <p:cNvPr id="21" name="anim4_608"/>
          <p:cNvSpPr txBox="1"/>
          <p:nvPr/>
        </p:nvSpPr>
        <p:spPr>
          <a:xfrm>
            <a:off x="7040880" y="4343400"/>
            <a:ext cx="4480560" cy="365760"/>
          </a:xfrm>
          <a:prstGeom prst="rect">
            <a:avLst/>
          </a:prstGeom>
          <a:noFill/>
          <a:ln/>
        </p:spPr>
        <p:txBody>
          <a:bodyPr wrap="square" lIns="0" tIns="0" rIns="0" bIns="0" rtlCol="0" anchor="t"/>
          <a:lstStyle/>
          <a:p>
            <a:pPr indent="0" marL="0">
              <a:buNone/>
            </a:pPr>
            <a:r>
              <a:rPr lang="en-US" sz="1700" b="1" dirty="0">
                <a:solidFill>
                  <a:srgbClr val="9A5E0B"/>
                </a:solidFill>
                <a:latin typeface="Cambria" pitchFamily="34" charset="0"/>
                <a:ea typeface="Cambria" pitchFamily="34" charset="-122"/>
                <a:cs typeface="Cambria" pitchFamily="34" charset="-120"/>
              </a:rPr>
              <a:t>Neither trial isolates “processing”</a:t>
            </a:r>
            <a:endParaRPr lang="en-US" sz="1700" dirty="0"/>
          </a:p>
        </p:txBody>
      </p:sp>
      <p:sp>
        <p:nvSpPr>
          <p:cNvPr id="22" name="anim4_609"/>
          <p:cNvSpPr txBox="1"/>
          <p:nvPr/>
        </p:nvSpPr>
        <p:spPr>
          <a:xfrm>
            <a:off x="7040880" y="4727448"/>
            <a:ext cx="4434840" cy="114300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Diets were bundles: energy density, eating rate, sensory properties and palatability changed together. Of 106 national guidelines, most still give nutrient-based messages (Koios et al. 2022).</a:t>
            </a:r>
            <a:endParaRPr lang="en-US" sz="1300" dirty="0"/>
          </a:p>
        </p:txBody>
      </p:sp>
      <p:sp>
        <p:nvSpPr>
          <p:cNvPr id="23" name="Text 1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Dicken et al. 2025 (Nature Medicine); Hall et al. 2019; Koios, Machado and Lacy-Nichols 2022.</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12"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28" fill="hold">
                            <p:stCondLst>
                              <p:cond delay="38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44" fill="hold">
                            <p:stCondLst>
                              <p:cond delay="380"/>
                            </p:stCondLst>
                            <p:childTnLst>
                              <p:par>
                                <p:cTn id="29" presetID="10"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childTnLst>
                          </p:cTn>
                        </p:par>
                        <p:par>
                          <p:cTn id="60" fill="hold">
                            <p:stCondLst>
                              <p:cond delay="380"/>
                            </p:stCondLst>
                            <p:childTnLst>
                              <p:par>
                                <p:cTn id="45" presetID="10"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6" grpId="0" animBg="1"/>
      <p:bldP spid="17" grpId="0" animBg="1"/>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Lane et al. 2024: umbrella review of 45 pooled analyses</a:t>
            </a:r>
            <a:endParaRPr lang="en-US" sz="3200" dirty="0"/>
          </a:p>
        </p:txBody>
      </p:sp>
      <p:sp>
        <p:nvSpPr>
          <p:cNvPr id="4" name="anim1_610"/>
          <p:cNvSpPr/>
          <p:nvPr/>
        </p:nvSpPr>
        <p:spPr>
          <a:xfrm>
            <a:off x="548640" y="1261872"/>
            <a:ext cx="2651760" cy="804672"/>
          </a:xfrm>
          <a:prstGeom prst="roundRect">
            <a:avLst>
              <a:gd name="adj" fmla="val 9091"/>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5" name="anim1_611"/>
          <p:cNvSpPr txBox="1"/>
          <p:nvPr/>
        </p:nvSpPr>
        <p:spPr>
          <a:xfrm>
            <a:off x="658368" y="1298448"/>
            <a:ext cx="2432304" cy="411480"/>
          </a:xfrm>
          <a:prstGeom prst="rect">
            <a:avLst/>
          </a:prstGeom>
          <a:noFill/>
          <a:ln/>
        </p:spPr>
        <p:txBody>
          <a:bodyPr wrap="square" lIns="0" tIns="0" rIns="0" bIns="0" rtlCol="0" anchor="ctr"/>
          <a:lstStyle/>
          <a:p>
            <a:pPr algn="ctr" indent="0" marL="0">
              <a:buNone/>
            </a:pPr>
            <a:r>
              <a:rPr lang="en-US" sz="2000" b="1" dirty="0">
                <a:solidFill>
                  <a:srgbClr val="1F3A5F"/>
                </a:solidFill>
                <a:latin typeface="Cambria" pitchFamily="34" charset="0"/>
                <a:ea typeface="Cambria" pitchFamily="34" charset="-122"/>
                <a:cs typeface="Cambria" pitchFamily="34" charset="-120"/>
              </a:rPr>
              <a:t>45</a:t>
            </a:r>
            <a:endParaRPr lang="en-US" sz="2000" dirty="0"/>
          </a:p>
        </p:txBody>
      </p:sp>
      <p:sp>
        <p:nvSpPr>
          <p:cNvPr id="6" name="anim1_612"/>
          <p:cNvSpPr txBox="1"/>
          <p:nvPr/>
        </p:nvSpPr>
        <p:spPr>
          <a:xfrm>
            <a:off x="658368" y="1700784"/>
            <a:ext cx="2432304" cy="29260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pooled analyses from 14 meta-analyses</a:t>
            </a:r>
            <a:endParaRPr lang="en-US" sz="1100" dirty="0"/>
          </a:p>
        </p:txBody>
      </p:sp>
      <p:sp>
        <p:nvSpPr>
          <p:cNvPr id="7" name="anim1_613"/>
          <p:cNvSpPr/>
          <p:nvPr/>
        </p:nvSpPr>
        <p:spPr>
          <a:xfrm>
            <a:off x="3346704" y="1261872"/>
            <a:ext cx="2651760" cy="804672"/>
          </a:xfrm>
          <a:prstGeom prst="roundRect">
            <a:avLst>
              <a:gd name="adj" fmla="val 9091"/>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8" name="anim1_614"/>
          <p:cNvSpPr txBox="1"/>
          <p:nvPr/>
        </p:nvSpPr>
        <p:spPr>
          <a:xfrm>
            <a:off x="3456432" y="1298448"/>
            <a:ext cx="2432304" cy="411480"/>
          </a:xfrm>
          <a:prstGeom prst="rect">
            <a:avLst/>
          </a:prstGeom>
          <a:noFill/>
          <a:ln/>
        </p:spPr>
        <p:txBody>
          <a:bodyPr wrap="square" lIns="0" tIns="0" rIns="0" bIns="0" rtlCol="0" anchor="ctr"/>
          <a:lstStyle/>
          <a:p>
            <a:pPr algn="ctr" indent="0" marL="0">
              <a:buNone/>
            </a:pPr>
            <a:r>
              <a:rPr lang="en-US" sz="2000" b="1" dirty="0">
                <a:solidFill>
                  <a:srgbClr val="1F3A5F"/>
                </a:solidFill>
                <a:latin typeface="Cambria" pitchFamily="34" charset="0"/>
                <a:ea typeface="Cambria" pitchFamily="34" charset="-122"/>
                <a:cs typeface="Cambria" pitchFamily="34" charset="-120"/>
              </a:rPr>
              <a:t>9,888,373</a:t>
            </a:r>
            <a:endParaRPr lang="en-US" sz="2000" dirty="0"/>
          </a:p>
        </p:txBody>
      </p:sp>
      <p:sp>
        <p:nvSpPr>
          <p:cNvPr id="9" name="anim1_615"/>
          <p:cNvSpPr txBox="1"/>
          <p:nvPr/>
        </p:nvSpPr>
        <p:spPr>
          <a:xfrm>
            <a:off x="3456432" y="1700784"/>
            <a:ext cx="2432304" cy="29260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participations — not unique individuals</a:t>
            </a:r>
            <a:endParaRPr lang="en-US" sz="1100" dirty="0"/>
          </a:p>
        </p:txBody>
      </p:sp>
      <p:sp>
        <p:nvSpPr>
          <p:cNvPr id="10" name="anim1_616"/>
          <p:cNvSpPr/>
          <p:nvPr/>
        </p:nvSpPr>
        <p:spPr>
          <a:xfrm>
            <a:off x="6144768" y="1261872"/>
            <a:ext cx="2651760" cy="804672"/>
          </a:xfrm>
          <a:prstGeom prst="roundRect">
            <a:avLst>
              <a:gd name="adj" fmla="val 9091"/>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11" name="anim1_617"/>
          <p:cNvSpPr txBox="1"/>
          <p:nvPr/>
        </p:nvSpPr>
        <p:spPr>
          <a:xfrm>
            <a:off x="6254496" y="1298448"/>
            <a:ext cx="2432304" cy="411480"/>
          </a:xfrm>
          <a:prstGeom prst="rect">
            <a:avLst/>
          </a:prstGeom>
          <a:noFill/>
          <a:ln/>
        </p:spPr>
        <p:txBody>
          <a:bodyPr wrap="square" lIns="0" tIns="0" rIns="0" bIns="0" rtlCol="0" anchor="ctr"/>
          <a:lstStyle/>
          <a:p>
            <a:pPr algn="ctr" indent="0" marL="0">
              <a:buNone/>
            </a:pPr>
            <a:r>
              <a:rPr lang="en-US" sz="2000" b="1" dirty="0">
                <a:solidFill>
                  <a:srgbClr val="B3393C"/>
                </a:solidFill>
                <a:latin typeface="Cambria" pitchFamily="34" charset="0"/>
                <a:ea typeface="Cambria" pitchFamily="34" charset="-122"/>
                <a:cs typeface="Cambria" pitchFamily="34" charset="-120"/>
              </a:rPr>
              <a:t>32 / 45</a:t>
            </a:r>
            <a:endParaRPr lang="en-US" sz="2000" dirty="0"/>
          </a:p>
        </p:txBody>
      </p:sp>
      <p:sp>
        <p:nvSpPr>
          <p:cNvPr id="12" name="anim1_618"/>
          <p:cNvSpPr txBox="1"/>
          <p:nvPr/>
        </p:nvSpPr>
        <p:spPr>
          <a:xfrm>
            <a:off x="6254496" y="1700784"/>
            <a:ext cx="2432304" cy="29260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(71%) direct associations with harm</a:t>
            </a:r>
            <a:endParaRPr lang="en-US" sz="1100" dirty="0"/>
          </a:p>
        </p:txBody>
      </p:sp>
      <p:sp>
        <p:nvSpPr>
          <p:cNvPr id="13" name="anim1_619"/>
          <p:cNvSpPr/>
          <p:nvPr/>
        </p:nvSpPr>
        <p:spPr>
          <a:xfrm>
            <a:off x="8942832" y="1261872"/>
            <a:ext cx="2651760" cy="804672"/>
          </a:xfrm>
          <a:prstGeom prst="roundRect">
            <a:avLst>
              <a:gd name="adj" fmla="val 9091"/>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14" name="anim1_620"/>
          <p:cNvSpPr txBox="1"/>
          <p:nvPr/>
        </p:nvSpPr>
        <p:spPr>
          <a:xfrm>
            <a:off x="9052560" y="1298448"/>
            <a:ext cx="2432304" cy="411480"/>
          </a:xfrm>
          <a:prstGeom prst="rect">
            <a:avLst/>
          </a:prstGeom>
          <a:noFill/>
          <a:ln/>
        </p:spPr>
        <p:txBody>
          <a:bodyPr wrap="square" lIns="0" tIns="0" rIns="0" bIns="0" rtlCol="0" anchor="ctr"/>
          <a:lstStyle/>
          <a:p>
            <a:pPr algn="ctr" indent="0" marL="0">
              <a:buNone/>
            </a:pPr>
            <a:r>
              <a:rPr lang="en-US" sz="2000" b="1" dirty="0">
                <a:solidFill>
                  <a:srgbClr val="D88A1F"/>
                </a:solidFill>
                <a:latin typeface="Cambria" pitchFamily="34" charset="0"/>
                <a:ea typeface="Cambria" pitchFamily="34" charset="-122"/>
                <a:cs typeface="Cambria" pitchFamily="34" charset="-120"/>
              </a:rPr>
              <a:t>0 · 4 · 22 · 19</a:t>
            </a:r>
            <a:endParaRPr lang="en-US" sz="2000" dirty="0"/>
          </a:p>
        </p:txBody>
      </p:sp>
      <p:sp>
        <p:nvSpPr>
          <p:cNvPr id="15" name="anim1_621"/>
          <p:cNvSpPr txBox="1"/>
          <p:nvPr/>
        </p:nvSpPr>
        <p:spPr>
          <a:xfrm>
            <a:off x="9052560" y="1700784"/>
            <a:ext cx="2432304" cy="29260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GRADE high · moderate · low · very low</a:t>
            </a:r>
            <a:endParaRPr lang="en-US" sz="1100" dirty="0"/>
          </a:p>
        </p:txBody>
      </p:sp>
      <p:sp>
        <p:nvSpPr>
          <p:cNvPr id="16" name="Text 13"/>
          <p:cNvSpPr txBox="1"/>
          <p:nvPr/>
        </p:nvSpPr>
        <p:spPr>
          <a:xfrm>
            <a:off x="548640" y="2157984"/>
            <a:ext cx="2743200" cy="256032"/>
          </a:xfrm>
          <a:prstGeom prst="rect">
            <a:avLst/>
          </a:prstGeom>
          <a:noFill/>
          <a:ln/>
        </p:spPr>
        <p:txBody>
          <a:bodyPr wrap="square" lIns="0" tIns="0" rIns="0" bIns="0" rtlCol="0" anchor="t"/>
          <a:lstStyle/>
          <a:p>
            <a:pPr indent="0" marL="0">
              <a:buNone/>
            </a:pPr>
            <a:r>
              <a:rPr lang="en-US" sz="1050" b="1" spc="100" kern="0" dirty="0">
                <a:solidFill>
                  <a:srgbClr val="7A8591"/>
                </a:solidFill>
                <a:latin typeface="Calibri" pitchFamily="34" charset="0"/>
                <a:ea typeface="Calibri" pitchFamily="34" charset="-122"/>
                <a:cs typeface="Calibri" pitchFamily="34" charset="-120"/>
              </a:rPr>
              <a:t>OUTCOME</a:t>
            </a:r>
            <a:endParaRPr lang="en-US" sz="1050" dirty="0"/>
          </a:p>
        </p:txBody>
      </p:sp>
      <p:sp>
        <p:nvSpPr>
          <p:cNvPr id="17" name="Text 14"/>
          <p:cNvSpPr txBox="1"/>
          <p:nvPr/>
        </p:nvSpPr>
        <p:spPr>
          <a:xfrm>
            <a:off x="8366760" y="2157984"/>
            <a:ext cx="1920240" cy="256032"/>
          </a:xfrm>
          <a:prstGeom prst="rect">
            <a:avLst/>
          </a:prstGeom>
          <a:noFill/>
          <a:ln/>
        </p:spPr>
        <p:txBody>
          <a:bodyPr wrap="square" lIns="0" tIns="0" rIns="0" bIns="0" rtlCol="0" anchor="t"/>
          <a:lstStyle/>
          <a:p>
            <a:pPr indent="0" marL="0">
              <a:buNone/>
            </a:pPr>
            <a:r>
              <a:rPr lang="en-US" sz="1050" b="1" spc="100" kern="0" dirty="0">
                <a:solidFill>
                  <a:srgbClr val="7A8591"/>
                </a:solidFill>
                <a:latin typeface="Calibri" pitchFamily="34" charset="0"/>
                <a:ea typeface="Calibri" pitchFamily="34" charset="-122"/>
                <a:cs typeface="Calibri" pitchFamily="34" charset="-120"/>
              </a:rPr>
              <a:t>ESTIMATE (95% CI)</a:t>
            </a:r>
            <a:endParaRPr lang="en-US" sz="1050" dirty="0"/>
          </a:p>
        </p:txBody>
      </p:sp>
      <p:sp>
        <p:nvSpPr>
          <p:cNvPr id="18" name="Text 15"/>
          <p:cNvSpPr txBox="1"/>
          <p:nvPr/>
        </p:nvSpPr>
        <p:spPr>
          <a:xfrm>
            <a:off x="10378440" y="2157984"/>
            <a:ext cx="1234440" cy="256032"/>
          </a:xfrm>
          <a:prstGeom prst="rect">
            <a:avLst/>
          </a:prstGeom>
          <a:noFill/>
          <a:ln/>
        </p:spPr>
        <p:txBody>
          <a:bodyPr wrap="square" lIns="0" tIns="0" rIns="0" bIns="0" rtlCol="0" anchor="t"/>
          <a:lstStyle/>
          <a:p>
            <a:pPr algn="ctr" indent="0" marL="0">
              <a:buNone/>
            </a:pPr>
            <a:r>
              <a:rPr lang="en-US" sz="1050" b="1" spc="100" kern="0" dirty="0">
                <a:solidFill>
                  <a:srgbClr val="7A8591"/>
                </a:solidFill>
                <a:latin typeface="Calibri" pitchFamily="34" charset="0"/>
                <a:ea typeface="Calibri" pitchFamily="34" charset="-122"/>
                <a:cs typeface="Calibri" pitchFamily="34" charset="-120"/>
              </a:rPr>
              <a:t>GRADE</a:t>
            </a:r>
            <a:endParaRPr lang="en-US" sz="1050" dirty="0"/>
          </a:p>
        </p:txBody>
      </p:sp>
      <p:sp>
        <p:nvSpPr>
          <p:cNvPr id="19" name="nullLine"/>
          <p:cNvSpPr/>
          <p:nvPr/>
        </p:nvSpPr>
        <p:spPr>
          <a:xfrm>
            <a:off x="4618047" y="2404872"/>
            <a:ext cx="0" cy="3397910"/>
          </a:xfrm>
          <a:prstGeom prst="line">
            <a:avLst/>
          </a:prstGeom>
          <a:noFill/>
          <a:ln w="15875">
            <a:solidFill>
              <a:srgbClr val="8A96A3"/>
            </a:solidFill>
            <a:prstDash val="dash"/>
          </a:ln>
        </p:spPr>
      </p:sp>
      <p:sp>
        <p:nvSpPr>
          <p:cNvPr id="20" name="Text 17"/>
          <p:cNvSpPr txBox="1"/>
          <p:nvPr/>
        </p:nvSpPr>
        <p:spPr>
          <a:xfrm>
            <a:off x="4343727" y="5821070"/>
            <a:ext cx="548640" cy="201168"/>
          </a:xfrm>
          <a:prstGeom prst="rect">
            <a:avLst/>
          </a:prstGeom>
          <a:noFill/>
          <a:ln/>
        </p:spPr>
        <p:txBody>
          <a:bodyPr wrap="square" lIns="0" tIns="0" rIns="0" bIns="0" rtlCol="0" anchor="t"/>
          <a:lstStyle/>
          <a:p>
            <a:pPr algn="ctr" indent="0" marL="0">
              <a:buNone/>
            </a:pPr>
            <a:r>
              <a:rPr lang="en-US" sz="1000" dirty="0">
                <a:solidFill>
                  <a:srgbClr val="7A8591"/>
                </a:solidFill>
                <a:latin typeface="Calibri" pitchFamily="34" charset="0"/>
                <a:ea typeface="Calibri" pitchFamily="34" charset="-122"/>
                <a:cs typeface="Calibri" pitchFamily="34" charset="-120"/>
              </a:rPr>
              <a:t>1.00</a:t>
            </a:r>
            <a:endParaRPr lang="en-US" sz="1000" dirty="0"/>
          </a:p>
        </p:txBody>
      </p:sp>
      <p:sp>
        <p:nvSpPr>
          <p:cNvPr id="21" name="Text 18"/>
          <p:cNvSpPr txBox="1"/>
          <p:nvPr/>
        </p:nvSpPr>
        <p:spPr>
          <a:xfrm>
            <a:off x="5506388" y="5821070"/>
            <a:ext cx="548640" cy="201168"/>
          </a:xfrm>
          <a:prstGeom prst="rect">
            <a:avLst/>
          </a:prstGeom>
          <a:noFill/>
          <a:ln/>
        </p:spPr>
        <p:txBody>
          <a:bodyPr wrap="square" lIns="0" tIns="0" rIns="0" bIns="0" rtlCol="0" anchor="t"/>
          <a:lstStyle/>
          <a:p>
            <a:pPr algn="ctr" indent="0" marL="0">
              <a:buNone/>
            </a:pPr>
            <a:r>
              <a:rPr lang="en-US" sz="1000" dirty="0">
                <a:solidFill>
                  <a:srgbClr val="7A8591"/>
                </a:solidFill>
                <a:latin typeface="Calibri" pitchFamily="34" charset="0"/>
                <a:ea typeface="Calibri" pitchFamily="34" charset="-122"/>
                <a:cs typeface="Calibri" pitchFamily="34" charset="-120"/>
              </a:rPr>
              <a:t>1.25</a:t>
            </a:r>
            <a:endParaRPr lang="en-US" sz="1000" dirty="0"/>
          </a:p>
        </p:txBody>
      </p:sp>
      <p:sp>
        <p:nvSpPr>
          <p:cNvPr id="22" name="Text 19"/>
          <p:cNvSpPr txBox="1"/>
          <p:nvPr/>
        </p:nvSpPr>
        <p:spPr>
          <a:xfrm>
            <a:off x="6456350" y="5821070"/>
            <a:ext cx="548640" cy="201168"/>
          </a:xfrm>
          <a:prstGeom prst="rect">
            <a:avLst/>
          </a:prstGeom>
          <a:noFill/>
          <a:ln/>
        </p:spPr>
        <p:txBody>
          <a:bodyPr wrap="square" lIns="0" tIns="0" rIns="0" bIns="0" rtlCol="0" anchor="t"/>
          <a:lstStyle/>
          <a:p>
            <a:pPr algn="ctr" indent="0" marL="0">
              <a:buNone/>
            </a:pPr>
            <a:r>
              <a:rPr lang="en-US" sz="1000" dirty="0">
                <a:solidFill>
                  <a:srgbClr val="7A8591"/>
                </a:solidFill>
                <a:latin typeface="Calibri" pitchFamily="34" charset="0"/>
                <a:ea typeface="Calibri" pitchFamily="34" charset="-122"/>
                <a:cs typeface="Calibri" pitchFamily="34" charset="-120"/>
              </a:rPr>
              <a:t>1.50</a:t>
            </a:r>
            <a:endParaRPr lang="en-US" sz="1000" dirty="0"/>
          </a:p>
        </p:txBody>
      </p:sp>
      <p:sp>
        <p:nvSpPr>
          <p:cNvPr id="23" name="Text 20"/>
          <p:cNvSpPr txBox="1"/>
          <p:nvPr/>
        </p:nvSpPr>
        <p:spPr>
          <a:xfrm>
            <a:off x="7259532" y="5821070"/>
            <a:ext cx="548640" cy="201168"/>
          </a:xfrm>
          <a:prstGeom prst="rect">
            <a:avLst/>
          </a:prstGeom>
          <a:noFill/>
          <a:ln/>
        </p:spPr>
        <p:txBody>
          <a:bodyPr wrap="square" lIns="0" tIns="0" rIns="0" bIns="0" rtlCol="0" anchor="t"/>
          <a:lstStyle/>
          <a:p>
            <a:pPr algn="ctr" indent="0" marL="0">
              <a:buNone/>
            </a:pPr>
            <a:r>
              <a:rPr lang="en-US" sz="1000" dirty="0">
                <a:solidFill>
                  <a:srgbClr val="7A8591"/>
                </a:solidFill>
                <a:latin typeface="Calibri" pitchFamily="34" charset="0"/>
                <a:ea typeface="Calibri" pitchFamily="34" charset="-122"/>
                <a:cs typeface="Calibri" pitchFamily="34" charset="-120"/>
              </a:rPr>
              <a:t>1.75</a:t>
            </a:r>
            <a:endParaRPr lang="en-US" sz="1000" dirty="0"/>
          </a:p>
        </p:txBody>
      </p:sp>
      <p:sp>
        <p:nvSpPr>
          <p:cNvPr id="24" name="anim2_622"/>
          <p:cNvSpPr txBox="1"/>
          <p:nvPr/>
        </p:nvSpPr>
        <p:spPr>
          <a:xfrm>
            <a:off x="548640" y="2450592"/>
            <a:ext cx="3474720" cy="257861"/>
          </a:xfrm>
          <a:prstGeom prst="rect">
            <a:avLst/>
          </a:prstGeom>
          <a:noFill/>
          <a:ln/>
        </p:spPr>
        <p:txBody>
          <a:bodyPr wrap="square" lIns="0" tIns="0" rIns="0" bIns="0" rtlCol="0" anchor="ctr"/>
          <a:lstStyle/>
          <a:p>
            <a:pPr indent="0" marL="0">
              <a:buNone/>
            </a:pPr>
            <a:r>
              <a:rPr lang="en-US" sz="1250" b="1" dirty="0">
                <a:solidFill>
                  <a:srgbClr val="B3393C"/>
                </a:solidFill>
                <a:latin typeface="Calibri" pitchFamily="34" charset="0"/>
                <a:ea typeface="Calibri" pitchFamily="34" charset="-122"/>
                <a:cs typeface="Calibri" pitchFamily="34" charset="-120"/>
              </a:rPr>
              <a:t>Convincing evidence (Class I)</a:t>
            </a:r>
            <a:endParaRPr lang="en-US" sz="1250" dirty="0"/>
          </a:p>
        </p:txBody>
      </p:sp>
      <p:sp>
        <p:nvSpPr>
          <p:cNvPr id="25" name="anim2_623"/>
          <p:cNvSpPr txBox="1"/>
          <p:nvPr/>
        </p:nvSpPr>
        <p:spPr>
          <a:xfrm>
            <a:off x="685800" y="2708453"/>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Cardiovascular disease mortality (RR)</a:t>
            </a:r>
            <a:endParaRPr lang="en-US" sz="1150" dirty="0"/>
          </a:p>
        </p:txBody>
      </p:sp>
      <p:sp>
        <p:nvSpPr>
          <p:cNvPr id="26" name="anim2_624"/>
          <p:cNvSpPr/>
          <p:nvPr/>
        </p:nvSpPr>
        <p:spPr>
          <a:xfrm>
            <a:off x="6258327" y="2837383"/>
            <a:ext cx="905402" cy="0"/>
          </a:xfrm>
          <a:prstGeom prst="line">
            <a:avLst/>
          </a:prstGeom>
          <a:noFill/>
          <a:ln w="28575">
            <a:solidFill>
              <a:srgbClr val="B3393C"/>
            </a:solidFill>
            <a:prstDash val="solid"/>
          </a:ln>
        </p:spPr>
      </p:sp>
      <p:sp>
        <p:nvSpPr>
          <p:cNvPr id="27" name="anim2_625"/>
          <p:cNvSpPr/>
          <p:nvPr/>
        </p:nvSpPr>
        <p:spPr>
          <a:xfrm>
            <a:off x="6662090" y="2768803"/>
            <a:ext cx="137160" cy="137160"/>
          </a:xfrm>
          <a:prstGeom prst="rect">
            <a:avLst/>
          </a:prstGeom>
          <a:solidFill>
            <a:srgbClr val="B3393C"/>
          </a:solidFill>
          <a:ln w="12700">
            <a:solidFill>
              <a:srgbClr val="B3393C"/>
            </a:solidFill>
            <a:prstDash val="solid"/>
          </a:ln>
        </p:spPr>
      </p:sp>
      <p:sp>
        <p:nvSpPr>
          <p:cNvPr id="28" name="anim2_626"/>
          <p:cNvSpPr txBox="1"/>
          <p:nvPr/>
        </p:nvSpPr>
        <p:spPr>
          <a:xfrm>
            <a:off x="8366760" y="2708453"/>
            <a:ext cx="1920240" cy="257861"/>
          </a:xfrm>
          <a:prstGeom prst="rect">
            <a:avLst/>
          </a:prstGeom>
          <a:noFill/>
          <a:ln/>
        </p:spPr>
        <p:txBody>
          <a:bodyPr wrap="square" lIns="0" tIns="0" rIns="0" bIns="0" rtlCol="0" anchor="ctr"/>
          <a:lstStyle/>
          <a:p>
            <a:pPr indent="0" marL="0">
              <a:buNone/>
            </a:pPr>
            <a:r>
              <a:rPr lang="en-US" sz="1150" b="1" dirty="0">
                <a:solidFill>
                  <a:srgbClr val="B3393C"/>
                </a:solidFill>
                <a:latin typeface="Calibri" pitchFamily="34" charset="0"/>
                <a:ea typeface="Calibri" pitchFamily="34" charset="-122"/>
                <a:cs typeface="Calibri" pitchFamily="34" charset="-120"/>
              </a:rPr>
              <a:t>1.50  (1.37–1.63)</a:t>
            </a:r>
            <a:endParaRPr lang="en-US" sz="1150" dirty="0"/>
          </a:p>
        </p:txBody>
      </p:sp>
      <p:sp>
        <p:nvSpPr>
          <p:cNvPr id="29" name="anim4_627"/>
          <p:cNvSpPr/>
          <p:nvPr/>
        </p:nvSpPr>
        <p:spPr>
          <a:xfrm>
            <a:off x="10515600" y="2740457"/>
            <a:ext cx="960120" cy="193853"/>
          </a:xfrm>
          <a:prstGeom prst="roundRect">
            <a:avLst>
              <a:gd name="adj" fmla="val 47170"/>
            </a:avLst>
          </a:prstGeom>
          <a:solidFill>
            <a:srgbClr val="B3393C"/>
          </a:solidFill>
          <a:ln>
            <a:solidFill>
              <a:srgbClr val="B3393C"/>
            </a:solidFill>
          </a:ln>
        </p:spPr>
        <p:txBody>
          <a:bodyPr wrap="square" lIns="0" tIns="0" rIns="0" bIns="0" rtlCol="0" anchor="ctr"/>
          <a:lstStyle/>
          <a:p>
            <a:pPr algn="ctr" indent="0" marL="0">
              <a:buNone/>
            </a:pPr>
            <a:r>
              <a:rPr lang="en-US" sz="1050" b="1" dirty="0">
                <a:solidFill>
                  <a:srgbClr val="FFFFFF"/>
                </a:solidFill>
              </a:rPr>
              <a:t>Very low</a:t>
            </a:r>
            <a:endParaRPr lang="en-US" sz="1050" dirty="0"/>
          </a:p>
        </p:txBody>
      </p:sp>
      <p:sp>
        <p:nvSpPr>
          <p:cNvPr id="30" name="anim2_628"/>
          <p:cNvSpPr/>
          <p:nvPr/>
        </p:nvSpPr>
        <p:spPr>
          <a:xfrm>
            <a:off x="548640" y="2966314"/>
            <a:ext cx="11064240" cy="257861"/>
          </a:xfrm>
          <a:prstGeom prst="rect">
            <a:avLst/>
          </a:prstGeom>
          <a:solidFill>
            <a:srgbClr val="F6F8FA"/>
          </a:solidFill>
          <a:ln w="12700">
            <a:solidFill>
              <a:srgbClr val="F6F8FA"/>
            </a:solidFill>
            <a:prstDash val="solid"/>
          </a:ln>
        </p:spPr>
      </p:sp>
      <p:sp>
        <p:nvSpPr>
          <p:cNvPr id="31" name="anim2_629"/>
          <p:cNvSpPr txBox="1"/>
          <p:nvPr/>
        </p:nvSpPr>
        <p:spPr>
          <a:xfrm>
            <a:off x="685800" y="2966314"/>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Type 2 diabetes, per +10% energy (RR)</a:t>
            </a:r>
            <a:endParaRPr lang="en-US" sz="1150" dirty="0"/>
          </a:p>
        </p:txBody>
      </p:sp>
      <p:sp>
        <p:nvSpPr>
          <p:cNvPr id="32" name="anim2_630"/>
          <p:cNvSpPr/>
          <p:nvPr/>
        </p:nvSpPr>
        <p:spPr>
          <a:xfrm>
            <a:off x="5161801" y="3095244"/>
            <a:ext cx="93045" cy="0"/>
          </a:xfrm>
          <a:prstGeom prst="line">
            <a:avLst/>
          </a:prstGeom>
          <a:noFill/>
          <a:ln w="28575">
            <a:solidFill>
              <a:srgbClr val="B3393C"/>
            </a:solidFill>
            <a:prstDash val="solid"/>
          </a:ln>
        </p:spPr>
      </p:sp>
      <p:sp>
        <p:nvSpPr>
          <p:cNvPr id="33" name="anim2_631"/>
          <p:cNvSpPr/>
          <p:nvPr/>
        </p:nvSpPr>
        <p:spPr>
          <a:xfrm>
            <a:off x="5139952" y="3026664"/>
            <a:ext cx="137160" cy="137160"/>
          </a:xfrm>
          <a:prstGeom prst="rect">
            <a:avLst/>
          </a:prstGeom>
          <a:solidFill>
            <a:srgbClr val="B3393C"/>
          </a:solidFill>
          <a:ln w="12700">
            <a:solidFill>
              <a:srgbClr val="B3393C"/>
            </a:solidFill>
            <a:prstDash val="solid"/>
          </a:ln>
        </p:spPr>
      </p:sp>
      <p:sp>
        <p:nvSpPr>
          <p:cNvPr id="34" name="anim2_632"/>
          <p:cNvSpPr txBox="1"/>
          <p:nvPr/>
        </p:nvSpPr>
        <p:spPr>
          <a:xfrm>
            <a:off x="8366760" y="2966314"/>
            <a:ext cx="1920240" cy="257861"/>
          </a:xfrm>
          <a:prstGeom prst="rect">
            <a:avLst/>
          </a:prstGeom>
          <a:noFill/>
          <a:ln/>
        </p:spPr>
        <p:txBody>
          <a:bodyPr wrap="square" lIns="0" tIns="0" rIns="0" bIns="0" rtlCol="0" anchor="ctr"/>
          <a:lstStyle/>
          <a:p>
            <a:pPr indent="0" marL="0">
              <a:buNone/>
            </a:pPr>
            <a:r>
              <a:rPr lang="en-US" sz="1150" b="1" dirty="0">
                <a:solidFill>
                  <a:srgbClr val="B3393C"/>
                </a:solidFill>
                <a:latin typeface="Calibri" pitchFamily="34" charset="0"/>
                <a:ea typeface="Calibri" pitchFamily="34" charset="-122"/>
                <a:cs typeface="Calibri" pitchFamily="34" charset="-120"/>
              </a:rPr>
              <a:t>1.12  (1.11–1.13)</a:t>
            </a:r>
            <a:endParaRPr lang="en-US" sz="1150" dirty="0"/>
          </a:p>
        </p:txBody>
      </p:sp>
      <p:sp>
        <p:nvSpPr>
          <p:cNvPr id="35" name="anim4_633"/>
          <p:cNvSpPr/>
          <p:nvPr/>
        </p:nvSpPr>
        <p:spPr>
          <a:xfrm>
            <a:off x="10515600" y="2998318"/>
            <a:ext cx="960120" cy="193853"/>
          </a:xfrm>
          <a:prstGeom prst="roundRect">
            <a:avLst>
              <a:gd name="adj" fmla="val 47170"/>
            </a:avLst>
          </a:prstGeom>
          <a:solidFill>
            <a:srgbClr val="2A7A8C"/>
          </a:solidFill>
          <a:ln>
            <a:solidFill>
              <a:srgbClr val="2A7A8C"/>
            </a:solidFill>
          </a:ln>
        </p:spPr>
        <p:txBody>
          <a:bodyPr wrap="square" lIns="0" tIns="0" rIns="0" bIns="0" rtlCol="0" anchor="ctr"/>
          <a:lstStyle/>
          <a:p>
            <a:pPr algn="ctr" indent="0" marL="0">
              <a:buNone/>
            </a:pPr>
            <a:r>
              <a:rPr lang="en-US" sz="1050" b="1" dirty="0">
                <a:solidFill>
                  <a:srgbClr val="FFFFFF"/>
                </a:solidFill>
              </a:rPr>
              <a:t>Moderate</a:t>
            </a:r>
            <a:endParaRPr lang="en-US" sz="1050" dirty="0"/>
          </a:p>
        </p:txBody>
      </p:sp>
      <p:sp>
        <p:nvSpPr>
          <p:cNvPr id="36" name="anim2_634"/>
          <p:cNvSpPr txBox="1"/>
          <p:nvPr/>
        </p:nvSpPr>
        <p:spPr>
          <a:xfrm>
            <a:off x="685800" y="3224174"/>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Anxiety (OR)</a:t>
            </a:r>
            <a:endParaRPr lang="en-US" sz="1150" dirty="0"/>
          </a:p>
        </p:txBody>
      </p:sp>
      <p:sp>
        <p:nvSpPr>
          <p:cNvPr id="37" name="anim2_635"/>
          <p:cNvSpPr/>
          <p:nvPr/>
        </p:nvSpPr>
        <p:spPr>
          <a:xfrm>
            <a:off x="6258327" y="3353105"/>
            <a:ext cx="775945" cy="0"/>
          </a:xfrm>
          <a:prstGeom prst="line">
            <a:avLst/>
          </a:prstGeom>
          <a:noFill/>
          <a:ln w="28575">
            <a:solidFill>
              <a:srgbClr val="B3393C"/>
            </a:solidFill>
            <a:prstDash val="solid"/>
          </a:ln>
        </p:spPr>
      </p:sp>
      <p:sp>
        <p:nvSpPr>
          <p:cNvPr id="38" name="anim2_636"/>
          <p:cNvSpPr/>
          <p:nvPr/>
        </p:nvSpPr>
        <p:spPr>
          <a:xfrm>
            <a:off x="6592151" y="3284525"/>
            <a:ext cx="137160" cy="137160"/>
          </a:xfrm>
          <a:prstGeom prst="rect">
            <a:avLst/>
          </a:prstGeom>
          <a:solidFill>
            <a:srgbClr val="B3393C"/>
          </a:solidFill>
          <a:ln w="12700">
            <a:solidFill>
              <a:srgbClr val="B3393C"/>
            </a:solidFill>
            <a:prstDash val="solid"/>
          </a:ln>
        </p:spPr>
      </p:sp>
      <p:sp>
        <p:nvSpPr>
          <p:cNvPr id="39" name="anim2_637"/>
          <p:cNvSpPr txBox="1"/>
          <p:nvPr/>
        </p:nvSpPr>
        <p:spPr>
          <a:xfrm>
            <a:off x="8366760" y="3224174"/>
            <a:ext cx="1920240" cy="257861"/>
          </a:xfrm>
          <a:prstGeom prst="rect">
            <a:avLst/>
          </a:prstGeom>
          <a:noFill/>
          <a:ln/>
        </p:spPr>
        <p:txBody>
          <a:bodyPr wrap="square" lIns="0" tIns="0" rIns="0" bIns="0" rtlCol="0" anchor="ctr"/>
          <a:lstStyle/>
          <a:p>
            <a:pPr indent="0" marL="0">
              <a:buNone/>
            </a:pPr>
            <a:r>
              <a:rPr lang="en-US" sz="1150" b="1" dirty="0">
                <a:solidFill>
                  <a:srgbClr val="B3393C"/>
                </a:solidFill>
                <a:latin typeface="Calibri" pitchFamily="34" charset="0"/>
                <a:ea typeface="Calibri" pitchFamily="34" charset="-122"/>
                <a:cs typeface="Calibri" pitchFamily="34" charset="-120"/>
              </a:rPr>
              <a:t>1.48  (1.37–1.59)</a:t>
            </a:r>
            <a:endParaRPr lang="en-US" sz="1150" dirty="0"/>
          </a:p>
        </p:txBody>
      </p:sp>
      <p:sp>
        <p:nvSpPr>
          <p:cNvPr id="40" name="anim4_638"/>
          <p:cNvSpPr/>
          <p:nvPr/>
        </p:nvSpPr>
        <p:spPr>
          <a:xfrm>
            <a:off x="10515600" y="3256178"/>
            <a:ext cx="960120" cy="193853"/>
          </a:xfrm>
          <a:prstGeom prst="roundRect">
            <a:avLst>
              <a:gd name="adj" fmla="val 47170"/>
            </a:avLst>
          </a:prstGeom>
          <a:solidFill>
            <a:srgbClr val="D88A1F"/>
          </a:solidFill>
          <a:ln>
            <a:solidFill>
              <a:srgbClr val="D88A1F"/>
            </a:solidFill>
          </a:ln>
        </p:spPr>
        <p:txBody>
          <a:bodyPr wrap="square" lIns="0" tIns="0" rIns="0" bIns="0" rtlCol="0" anchor="ctr"/>
          <a:lstStyle/>
          <a:p>
            <a:pPr algn="ctr" indent="0" marL="0">
              <a:buNone/>
            </a:pPr>
            <a:r>
              <a:rPr lang="en-US" sz="1050" b="1" dirty="0">
                <a:solidFill>
                  <a:srgbClr val="FFFFFF"/>
                </a:solidFill>
              </a:rPr>
              <a:t>Low</a:t>
            </a:r>
            <a:endParaRPr lang="en-US" sz="1050" dirty="0"/>
          </a:p>
        </p:txBody>
      </p:sp>
      <p:sp>
        <p:nvSpPr>
          <p:cNvPr id="41" name="anim2_639"/>
          <p:cNvSpPr/>
          <p:nvPr/>
        </p:nvSpPr>
        <p:spPr>
          <a:xfrm>
            <a:off x="548640" y="3482035"/>
            <a:ext cx="11064240" cy="257861"/>
          </a:xfrm>
          <a:prstGeom prst="rect">
            <a:avLst/>
          </a:prstGeom>
          <a:solidFill>
            <a:srgbClr val="F6F8FA"/>
          </a:solidFill>
          <a:ln w="12700">
            <a:solidFill>
              <a:srgbClr val="F6F8FA"/>
            </a:solidFill>
            <a:prstDash val="solid"/>
          </a:ln>
        </p:spPr>
      </p:sp>
      <p:sp>
        <p:nvSpPr>
          <p:cNvPr id="42" name="anim2_640"/>
          <p:cNvSpPr txBox="1"/>
          <p:nvPr/>
        </p:nvSpPr>
        <p:spPr>
          <a:xfrm>
            <a:off x="685800" y="3482035"/>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Common mental disorders (OR)</a:t>
            </a:r>
            <a:endParaRPr lang="en-US" sz="1150" dirty="0"/>
          </a:p>
        </p:txBody>
      </p:sp>
      <p:sp>
        <p:nvSpPr>
          <p:cNvPr id="43" name="anim2_641"/>
          <p:cNvSpPr/>
          <p:nvPr/>
        </p:nvSpPr>
        <p:spPr>
          <a:xfrm>
            <a:off x="6481663" y="3610966"/>
            <a:ext cx="682066" cy="0"/>
          </a:xfrm>
          <a:prstGeom prst="line">
            <a:avLst/>
          </a:prstGeom>
          <a:noFill/>
          <a:ln w="28575">
            <a:solidFill>
              <a:srgbClr val="B3393C"/>
            </a:solidFill>
            <a:prstDash val="solid"/>
          </a:ln>
        </p:spPr>
      </p:sp>
      <p:sp>
        <p:nvSpPr>
          <p:cNvPr id="44" name="anim2_642"/>
          <p:cNvSpPr/>
          <p:nvPr/>
        </p:nvSpPr>
        <p:spPr>
          <a:xfrm>
            <a:off x="6765269" y="3542386"/>
            <a:ext cx="137160" cy="137160"/>
          </a:xfrm>
          <a:prstGeom prst="rect">
            <a:avLst/>
          </a:prstGeom>
          <a:solidFill>
            <a:srgbClr val="B3393C"/>
          </a:solidFill>
          <a:ln w="12700">
            <a:solidFill>
              <a:srgbClr val="B3393C"/>
            </a:solidFill>
            <a:prstDash val="solid"/>
          </a:ln>
        </p:spPr>
      </p:sp>
      <p:sp>
        <p:nvSpPr>
          <p:cNvPr id="45" name="anim2_643"/>
          <p:cNvSpPr txBox="1"/>
          <p:nvPr/>
        </p:nvSpPr>
        <p:spPr>
          <a:xfrm>
            <a:off x="8366760" y="3482035"/>
            <a:ext cx="1920240" cy="257861"/>
          </a:xfrm>
          <a:prstGeom prst="rect">
            <a:avLst/>
          </a:prstGeom>
          <a:noFill/>
          <a:ln/>
        </p:spPr>
        <p:txBody>
          <a:bodyPr wrap="square" lIns="0" tIns="0" rIns="0" bIns="0" rtlCol="0" anchor="ctr"/>
          <a:lstStyle/>
          <a:p>
            <a:pPr indent="0" marL="0">
              <a:buNone/>
            </a:pPr>
            <a:r>
              <a:rPr lang="en-US" sz="1150" b="1" dirty="0">
                <a:solidFill>
                  <a:srgbClr val="B3393C"/>
                </a:solidFill>
                <a:latin typeface="Calibri" pitchFamily="34" charset="0"/>
                <a:ea typeface="Calibri" pitchFamily="34" charset="-122"/>
                <a:cs typeface="Calibri" pitchFamily="34" charset="-120"/>
              </a:rPr>
              <a:t>1.53  (1.43–1.63)</a:t>
            </a:r>
            <a:endParaRPr lang="en-US" sz="1150" dirty="0"/>
          </a:p>
        </p:txBody>
      </p:sp>
      <p:sp>
        <p:nvSpPr>
          <p:cNvPr id="46" name="anim4_644"/>
          <p:cNvSpPr/>
          <p:nvPr/>
        </p:nvSpPr>
        <p:spPr>
          <a:xfrm>
            <a:off x="10515600" y="3514039"/>
            <a:ext cx="960120" cy="193853"/>
          </a:xfrm>
          <a:prstGeom prst="roundRect">
            <a:avLst>
              <a:gd name="adj" fmla="val 47170"/>
            </a:avLst>
          </a:prstGeom>
          <a:solidFill>
            <a:srgbClr val="D88A1F"/>
          </a:solidFill>
          <a:ln>
            <a:solidFill>
              <a:srgbClr val="D88A1F"/>
            </a:solidFill>
          </a:ln>
        </p:spPr>
        <p:txBody>
          <a:bodyPr wrap="square" lIns="0" tIns="0" rIns="0" bIns="0" rtlCol="0" anchor="ctr"/>
          <a:lstStyle/>
          <a:p>
            <a:pPr algn="ctr" indent="0" marL="0">
              <a:buNone/>
            </a:pPr>
            <a:r>
              <a:rPr lang="en-US" sz="1050" b="1" dirty="0">
                <a:solidFill>
                  <a:srgbClr val="FFFFFF"/>
                </a:solidFill>
              </a:rPr>
              <a:t>Low</a:t>
            </a:r>
            <a:endParaRPr lang="en-US" sz="1050" dirty="0"/>
          </a:p>
        </p:txBody>
      </p:sp>
      <p:sp>
        <p:nvSpPr>
          <p:cNvPr id="47" name="anim3_645"/>
          <p:cNvSpPr txBox="1"/>
          <p:nvPr/>
        </p:nvSpPr>
        <p:spPr>
          <a:xfrm>
            <a:off x="548640" y="3739896"/>
            <a:ext cx="3474720" cy="257861"/>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Highly suggestive evidence (Class II)</a:t>
            </a:r>
            <a:endParaRPr lang="en-US" sz="1250" dirty="0"/>
          </a:p>
        </p:txBody>
      </p:sp>
      <p:sp>
        <p:nvSpPr>
          <p:cNvPr id="48" name="anim3_646"/>
          <p:cNvSpPr/>
          <p:nvPr/>
        </p:nvSpPr>
        <p:spPr>
          <a:xfrm>
            <a:off x="548640" y="3997757"/>
            <a:ext cx="11064240" cy="257861"/>
          </a:xfrm>
          <a:prstGeom prst="rect">
            <a:avLst/>
          </a:prstGeom>
          <a:solidFill>
            <a:srgbClr val="F6F8FA"/>
          </a:solidFill>
          <a:ln w="12700">
            <a:solidFill>
              <a:srgbClr val="F6F8FA"/>
            </a:solidFill>
            <a:prstDash val="solid"/>
          </a:ln>
        </p:spPr>
      </p:sp>
      <p:sp>
        <p:nvSpPr>
          <p:cNvPr id="49" name="anim3_647"/>
          <p:cNvSpPr txBox="1"/>
          <p:nvPr/>
        </p:nvSpPr>
        <p:spPr>
          <a:xfrm>
            <a:off x="685800" y="3997757"/>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All-cause mortality (RR)</a:t>
            </a:r>
            <a:endParaRPr lang="en-US" sz="1150" dirty="0"/>
          </a:p>
        </p:txBody>
      </p:sp>
      <p:sp>
        <p:nvSpPr>
          <p:cNvPr id="50" name="anim3_648"/>
          <p:cNvSpPr/>
          <p:nvPr/>
        </p:nvSpPr>
        <p:spPr>
          <a:xfrm>
            <a:off x="5346259" y="4126687"/>
            <a:ext cx="517155" cy="0"/>
          </a:xfrm>
          <a:prstGeom prst="line">
            <a:avLst/>
          </a:prstGeom>
          <a:noFill/>
          <a:ln w="28575">
            <a:solidFill>
              <a:srgbClr val="1F3A5F"/>
            </a:solidFill>
            <a:prstDash val="solid"/>
          </a:ln>
        </p:spPr>
      </p:sp>
      <p:sp>
        <p:nvSpPr>
          <p:cNvPr id="51" name="anim3_649"/>
          <p:cNvSpPr/>
          <p:nvPr/>
        </p:nvSpPr>
        <p:spPr>
          <a:xfrm>
            <a:off x="5542670" y="4058107"/>
            <a:ext cx="137160" cy="137160"/>
          </a:xfrm>
          <a:prstGeom prst="rect">
            <a:avLst/>
          </a:prstGeom>
          <a:solidFill>
            <a:srgbClr val="1F3A5F"/>
          </a:solidFill>
          <a:ln w="12700">
            <a:solidFill>
              <a:srgbClr val="1F3A5F"/>
            </a:solidFill>
            <a:prstDash val="solid"/>
          </a:ln>
        </p:spPr>
      </p:sp>
      <p:sp>
        <p:nvSpPr>
          <p:cNvPr id="52" name="anim3_650"/>
          <p:cNvSpPr txBox="1"/>
          <p:nvPr/>
        </p:nvSpPr>
        <p:spPr>
          <a:xfrm>
            <a:off x="8366760" y="3997757"/>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1.21  (1.15–1.27)</a:t>
            </a:r>
            <a:endParaRPr lang="en-US" sz="1150" dirty="0"/>
          </a:p>
        </p:txBody>
      </p:sp>
      <p:sp>
        <p:nvSpPr>
          <p:cNvPr id="53" name="anim3_651"/>
          <p:cNvSpPr txBox="1"/>
          <p:nvPr/>
        </p:nvSpPr>
        <p:spPr>
          <a:xfrm>
            <a:off x="685800" y="4255618"/>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Heart disease mortality (HR)</a:t>
            </a:r>
            <a:endParaRPr lang="en-US" sz="1150" dirty="0"/>
          </a:p>
        </p:txBody>
      </p:sp>
      <p:sp>
        <p:nvSpPr>
          <p:cNvPr id="54" name="anim3_652"/>
          <p:cNvSpPr/>
          <p:nvPr/>
        </p:nvSpPr>
        <p:spPr>
          <a:xfrm>
            <a:off x="6765291" y="4384548"/>
            <a:ext cx="1029860" cy="0"/>
          </a:xfrm>
          <a:prstGeom prst="line">
            <a:avLst/>
          </a:prstGeom>
          <a:noFill/>
          <a:ln w="28575">
            <a:solidFill>
              <a:srgbClr val="1F3A5F"/>
            </a:solidFill>
            <a:prstDash val="solid"/>
          </a:ln>
        </p:spPr>
      </p:sp>
      <p:sp>
        <p:nvSpPr>
          <p:cNvPr id="55" name="anim3_653"/>
          <p:cNvSpPr/>
          <p:nvPr/>
        </p:nvSpPr>
        <p:spPr>
          <a:xfrm>
            <a:off x="7190174" y="4315968"/>
            <a:ext cx="137160" cy="137160"/>
          </a:xfrm>
          <a:prstGeom prst="rect">
            <a:avLst/>
          </a:prstGeom>
          <a:solidFill>
            <a:srgbClr val="1F3A5F"/>
          </a:solidFill>
          <a:ln w="12700">
            <a:solidFill>
              <a:srgbClr val="1F3A5F"/>
            </a:solidFill>
            <a:prstDash val="solid"/>
          </a:ln>
        </p:spPr>
      </p:sp>
      <p:sp>
        <p:nvSpPr>
          <p:cNvPr id="56" name="anim3_654"/>
          <p:cNvSpPr txBox="1"/>
          <p:nvPr/>
        </p:nvSpPr>
        <p:spPr>
          <a:xfrm>
            <a:off x="8366760" y="4255618"/>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1.66  (1.51–1.84)</a:t>
            </a:r>
            <a:endParaRPr lang="en-US" sz="1150" dirty="0"/>
          </a:p>
        </p:txBody>
      </p:sp>
      <p:sp>
        <p:nvSpPr>
          <p:cNvPr id="57" name="anim3_655"/>
          <p:cNvSpPr/>
          <p:nvPr/>
        </p:nvSpPr>
        <p:spPr>
          <a:xfrm>
            <a:off x="548640" y="4513478"/>
            <a:ext cx="11064240" cy="257861"/>
          </a:xfrm>
          <a:prstGeom prst="rect">
            <a:avLst/>
          </a:prstGeom>
          <a:solidFill>
            <a:srgbClr val="F6F8FA"/>
          </a:solidFill>
          <a:ln w="12700">
            <a:solidFill>
              <a:srgbClr val="F6F8FA"/>
            </a:solidFill>
            <a:prstDash val="solid"/>
          </a:ln>
        </p:spPr>
      </p:sp>
      <p:sp>
        <p:nvSpPr>
          <p:cNvPr id="58" name="anim3_656"/>
          <p:cNvSpPr txBox="1"/>
          <p:nvPr/>
        </p:nvSpPr>
        <p:spPr>
          <a:xfrm>
            <a:off x="685800" y="4513478"/>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Type 2 diabetes, non-dose–response (OR)</a:t>
            </a:r>
            <a:endParaRPr lang="en-US" sz="1150" dirty="0"/>
          </a:p>
        </p:txBody>
      </p:sp>
      <p:sp>
        <p:nvSpPr>
          <p:cNvPr id="59" name="anim3_657"/>
          <p:cNvSpPr/>
          <p:nvPr/>
        </p:nvSpPr>
        <p:spPr>
          <a:xfrm>
            <a:off x="5696667" y="4642409"/>
            <a:ext cx="1337605" cy="0"/>
          </a:xfrm>
          <a:prstGeom prst="line">
            <a:avLst/>
          </a:prstGeom>
          <a:noFill/>
          <a:ln w="28575">
            <a:solidFill>
              <a:srgbClr val="1F3A5F"/>
            </a:solidFill>
            <a:prstDash val="solid"/>
          </a:ln>
        </p:spPr>
      </p:sp>
      <p:sp>
        <p:nvSpPr>
          <p:cNvPr id="60" name="anim3_658"/>
          <p:cNvSpPr/>
          <p:nvPr/>
        </p:nvSpPr>
        <p:spPr>
          <a:xfrm>
            <a:off x="6302612" y="4573829"/>
            <a:ext cx="137160" cy="137160"/>
          </a:xfrm>
          <a:prstGeom prst="rect">
            <a:avLst/>
          </a:prstGeom>
          <a:solidFill>
            <a:srgbClr val="1F3A5F"/>
          </a:solidFill>
          <a:ln w="12700">
            <a:solidFill>
              <a:srgbClr val="1F3A5F"/>
            </a:solidFill>
            <a:prstDash val="solid"/>
          </a:ln>
        </p:spPr>
      </p:sp>
      <p:sp>
        <p:nvSpPr>
          <p:cNvPr id="61" name="anim3_659"/>
          <p:cNvSpPr txBox="1"/>
          <p:nvPr/>
        </p:nvSpPr>
        <p:spPr>
          <a:xfrm>
            <a:off x="8366760" y="4513478"/>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1.40  (1.23–1.59)</a:t>
            </a:r>
            <a:endParaRPr lang="en-US" sz="1150" dirty="0"/>
          </a:p>
        </p:txBody>
      </p:sp>
      <p:sp>
        <p:nvSpPr>
          <p:cNvPr id="62" name="anim3_660"/>
          <p:cNvSpPr txBox="1"/>
          <p:nvPr/>
        </p:nvSpPr>
        <p:spPr>
          <a:xfrm>
            <a:off x="685800" y="4771339"/>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Depression (HR)</a:t>
            </a:r>
            <a:endParaRPr lang="en-US" sz="1150" dirty="0"/>
          </a:p>
        </p:txBody>
      </p:sp>
      <p:sp>
        <p:nvSpPr>
          <p:cNvPr id="63" name="anim3_661"/>
          <p:cNvSpPr/>
          <p:nvPr/>
        </p:nvSpPr>
        <p:spPr>
          <a:xfrm>
            <a:off x="5391370" y="4900270"/>
            <a:ext cx="512909" cy="0"/>
          </a:xfrm>
          <a:prstGeom prst="line">
            <a:avLst/>
          </a:prstGeom>
          <a:noFill/>
          <a:ln w="28575">
            <a:solidFill>
              <a:srgbClr val="1F3A5F"/>
            </a:solidFill>
            <a:prstDash val="solid"/>
          </a:ln>
        </p:spPr>
      </p:sp>
      <p:sp>
        <p:nvSpPr>
          <p:cNvPr id="64" name="anim3_662"/>
          <p:cNvSpPr/>
          <p:nvPr/>
        </p:nvSpPr>
        <p:spPr>
          <a:xfrm>
            <a:off x="5585554" y="4831690"/>
            <a:ext cx="137160" cy="137160"/>
          </a:xfrm>
          <a:prstGeom prst="rect">
            <a:avLst/>
          </a:prstGeom>
          <a:solidFill>
            <a:srgbClr val="1F3A5F"/>
          </a:solidFill>
          <a:ln w="12700">
            <a:solidFill>
              <a:srgbClr val="1F3A5F"/>
            </a:solidFill>
            <a:prstDash val="solid"/>
          </a:ln>
        </p:spPr>
      </p:sp>
      <p:sp>
        <p:nvSpPr>
          <p:cNvPr id="65" name="anim3_663"/>
          <p:cNvSpPr txBox="1"/>
          <p:nvPr/>
        </p:nvSpPr>
        <p:spPr>
          <a:xfrm>
            <a:off x="8366760" y="4771339"/>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1.22  (1.16–1.28)</a:t>
            </a:r>
            <a:endParaRPr lang="en-US" sz="1150" dirty="0"/>
          </a:p>
        </p:txBody>
      </p:sp>
      <p:sp>
        <p:nvSpPr>
          <p:cNvPr id="66" name="anim3_664"/>
          <p:cNvSpPr/>
          <p:nvPr/>
        </p:nvSpPr>
        <p:spPr>
          <a:xfrm>
            <a:off x="548640" y="5029200"/>
            <a:ext cx="11064240" cy="257861"/>
          </a:xfrm>
          <a:prstGeom prst="rect">
            <a:avLst/>
          </a:prstGeom>
          <a:solidFill>
            <a:srgbClr val="F6F8FA"/>
          </a:solidFill>
          <a:ln w="12700">
            <a:solidFill>
              <a:srgbClr val="F6F8FA"/>
            </a:solidFill>
            <a:prstDash val="solid"/>
          </a:ln>
        </p:spPr>
      </p:sp>
      <p:sp>
        <p:nvSpPr>
          <p:cNvPr id="67" name="anim3_665"/>
          <p:cNvSpPr txBox="1"/>
          <p:nvPr/>
        </p:nvSpPr>
        <p:spPr>
          <a:xfrm>
            <a:off x="685800" y="5029200"/>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Adverse sleep outcomes (OR)</a:t>
            </a:r>
            <a:endParaRPr lang="en-US" sz="1150" dirty="0"/>
          </a:p>
        </p:txBody>
      </p:sp>
      <p:sp>
        <p:nvSpPr>
          <p:cNvPr id="68" name="anim3_666"/>
          <p:cNvSpPr/>
          <p:nvPr/>
        </p:nvSpPr>
        <p:spPr>
          <a:xfrm>
            <a:off x="5738857" y="5158130"/>
            <a:ext cx="1360546" cy="0"/>
          </a:xfrm>
          <a:prstGeom prst="line">
            <a:avLst/>
          </a:prstGeom>
          <a:noFill/>
          <a:ln w="28575">
            <a:solidFill>
              <a:srgbClr val="1F3A5F"/>
            </a:solidFill>
            <a:prstDash val="solid"/>
          </a:ln>
        </p:spPr>
      </p:sp>
      <p:sp>
        <p:nvSpPr>
          <p:cNvPr id="69" name="anim3_667"/>
          <p:cNvSpPr/>
          <p:nvPr/>
        </p:nvSpPr>
        <p:spPr>
          <a:xfrm>
            <a:off x="6339696" y="5089550"/>
            <a:ext cx="137160" cy="137160"/>
          </a:xfrm>
          <a:prstGeom prst="rect">
            <a:avLst/>
          </a:prstGeom>
          <a:solidFill>
            <a:srgbClr val="1F3A5F"/>
          </a:solidFill>
          <a:ln w="12700">
            <a:solidFill>
              <a:srgbClr val="1F3A5F"/>
            </a:solidFill>
            <a:prstDash val="solid"/>
          </a:ln>
        </p:spPr>
      </p:sp>
      <p:sp>
        <p:nvSpPr>
          <p:cNvPr id="70" name="anim3_668"/>
          <p:cNvSpPr txBox="1"/>
          <p:nvPr/>
        </p:nvSpPr>
        <p:spPr>
          <a:xfrm>
            <a:off x="8366760" y="5029200"/>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1.41  (1.24–1.61)</a:t>
            </a:r>
            <a:endParaRPr lang="en-US" sz="1150" dirty="0"/>
          </a:p>
        </p:txBody>
      </p:sp>
      <p:sp>
        <p:nvSpPr>
          <p:cNvPr id="71" name="anim3_669"/>
          <p:cNvSpPr txBox="1"/>
          <p:nvPr/>
        </p:nvSpPr>
        <p:spPr>
          <a:xfrm>
            <a:off x="685800" y="5287061"/>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Wheezing (RR)</a:t>
            </a:r>
            <a:endParaRPr lang="en-US" sz="1150" dirty="0"/>
          </a:p>
        </p:txBody>
      </p:sp>
      <p:sp>
        <p:nvSpPr>
          <p:cNvPr id="72" name="anim3_670"/>
          <p:cNvSpPr/>
          <p:nvPr/>
        </p:nvSpPr>
        <p:spPr>
          <a:xfrm>
            <a:off x="5863414" y="5415991"/>
            <a:ext cx="1038104" cy="0"/>
          </a:xfrm>
          <a:prstGeom prst="line">
            <a:avLst/>
          </a:prstGeom>
          <a:noFill/>
          <a:ln w="28575">
            <a:solidFill>
              <a:srgbClr val="1F3A5F"/>
            </a:solidFill>
            <a:prstDash val="solid"/>
          </a:ln>
        </p:spPr>
      </p:sp>
      <p:sp>
        <p:nvSpPr>
          <p:cNvPr id="73" name="anim3_671"/>
          <p:cNvSpPr/>
          <p:nvPr/>
        </p:nvSpPr>
        <p:spPr>
          <a:xfrm>
            <a:off x="6302612" y="5347411"/>
            <a:ext cx="137160" cy="137160"/>
          </a:xfrm>
          <a:prstGeom prst="rect">
            <a:avLst/>
          </a:prstGeom>
          <a:solidFill>
            <a:srgbClr val="1F3A5F"/>
          </a:solidFill>
          <a:ln w="12700">
            <a:solidFill>
              <a:srgbClr val="1F3A5F"/>
            </a:solidFill>
            <a:prstDash val="solid"/>
          </a:ln>
        </p:spPr>
      </p:sp>
      <p:sp>
        <p:nvSpPr>
          <p:cNvPr id="74" name="anim3_672"/>
          <p:cNvSpPr txBox="1"/>
          <p:nvPr/>
        </p:nvSpPr>
        <p:spPr>
          <a:xfrm>
            <a:off x="8366760" y="5287061"/>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1.40  (1.27–1.55)</a:t>
            </a:r>
            <a:endParaRPr lang="en-US" sz="1150" dirty="0"/>
          </a:p>
        </p:txBody>
      </p:sp>
      <p:sp>
        <p:nvSpPr>
          <p:cNvPr id="75" name="anim3_673"/>
          <p:cNvSpPr/>
          <p:nvPr/>
        </p:nvSpPr>
        <p:spPr>
          <a:xfrm>
            <a:off x="548640" y="5544922"/>
            <a:ext cx="11064240" cy="257861"/>
          </a:xfrm>
          <a:prstGeom prst="rect">
            <a:avLst/>
          </a:prstGeom>
          <a:solidFill>
            <a:srgbClr val="F6F8FA"/>
          </a:solidFill>
          <a:ln w="12700">
            <a:solidFill>
              <a:srgbClr val="F6F8FA"/>
            </a:solidFill>
            <a:prstDash val="solid"/>
          </a:ln>
        </p:spPr>
      </p:sp>
      <p:sp>
        <p:nvSpPr>
          <p:cNvPr id="76" name="anim3_674"/>
          <p:cNvSpPr txBox="1"/>
          <p:nvPr/>
        </p:nvSpPr>
        <p:spPr>
          <a:xfrm>
            <a:off x="685800" y="5544922"/>
            <a:ext cx="3337560" cy="257861"/>
          </a:xfrm>
          <a:prstGeom prst="rect">
            <a:avLst/>
          </a:prstGeom>
          <a:noFill/>
          <a:ln/>
        </p:spPr>
        <p:txBody>
          <a:bodyPr wrap="square" lIns="0" tIns="0" rIns="0" bIns="0" rtlCol="0" anchor="ctr"/>
          <a:lstStyle/>
          <a:p>
            <a:pPr indent="0" marL="0">
              <a:buNone/>
            </a:pPr>
            <a:r>
              <a:rPr lang="en-US" sz="1150" dirty="0">
                <a:solidFill>
                  <a:srgbClr val="1B1F24"/>
                </a:solidFill>
                <a:latin typeface="Calibri" pitchFamily="34" charset="0"/>
                <a:ea typeface="Calibri" pitchFamily="34" charset="-122"/>
                <a:cs typeface="Calibri" pitchFamily="34" charset="-120"/>
              </a:rPr>
              <a:t>Obesity (OR)</a:t>
            </a:r>
            <a:endParaRPr lang="en-US" sz="1150" dirty="0"/>
          </a:p>
        </p:txBody>
      </p:sp>
      <p:sp>
        <p:nvSpPr>
          <p:cNvPr id="77" name="anim3_675"/>
          <p:cNvSpPr/>
          <p:nvPr/>
        </p:nvSpPr>
        <p:spPr>
          <a:xfrm>
            <a:off x="6220156" y="5673852"/>
            <a:ext cx="1372905" cy="0"/>
          </a:xfrm>
          <a:prstGeom prst="line">
            <a:avLst/>
          </a:prstGeom>
          <a:noFill/>
          <a:ln w="28575">
            <a:solidFill>
              <a:srgbClr val="1F3A5F"/>
            </a:solidFill>
            <a:prstDash val="solid"/>
          </a:ln>
        </p:spPr>
      </p:sp>
      <p:sp>
        <p:nvSpPr>
          <p:cNvPr id="78" name="anim3_676"/>
          <p:cNvSpPr/>
          <p:nvPr/>
        </p:nvSpPr>
        <p:spPr>
          <a:xfrm>
            <a:off x="6832937" y="5605272"/>
            <a:ext cx="137160" cy="137160"/>
          </a:xfrm>
          <a:prstGeom prst="rect">
            <a:avLst/>
          </a:prstGeom>
          <a:solidFill>
            <a:srgbClr val="1F3A5F"/>
          </a:solidFill>
          <a:ln w="12700">
            <a:solidFill>
              <a:srgbClr val="1F3A5F"/>
            </a:solidFill>
            <a:prstDash val="solid"/>
          </a:ln>
        </p:spPr>
      </p:sp>
      <p:sp>
        <p:nvSpPr>
          <p:cNvPr id="79" name="anim3_677"/>
          <p:cNvSpPr txBox="1"/>
          <p:nvPr/>
        </p:nvSpPr>
        <p:spPr>
          <a:xfrm>
            <a:off x="8366760" y="5544922"/>
            <a:ext cx="1920240" cy="257861"/>
          </a:xfrm>
          <a:prstGeom prst="rect">
            <a:avLst/>
          </a:prstGeom>
          <a:noFill/>
          <a:ln/>
        </p:spPr>
        <p:txBody>
          <a:bodyPr wrap="square" lIns="0" tIns="0" rIns="0" bIns="0" rtlCol="0" anchor="ctr"/>
          <a:lstStyle/>
          <a:p>
            <a:pPr indent="0" marL="0">
              <a:buNone/>
            </a:pPr>
            <a:r>
              <a:rPr lang="en-US" sz="1150" b="1" dirty="0">
                <a:solidFill>
                  <a:srgbClr val="1F3A5F"/>
                </a:solidFill>
                <a:latin typeface="Calibri" pitchFamily="34" charset="0"/>
                <a:ea typeface="Calibri" pitchFamily="34" charset="-122"/>
                <a:cs typeface="Calibri" pitchFamily="34" charset="-120"/>
              </a:rPr>
              <a:t>1.55  (1.36–1.77)</a:t>
            </a:r>
            <a:endParaRPr lang="en-US" sz="1150" dirty="0"/>
          </a:p>
        </p:txBody>
      </p:sp>
      <p:sp>
        <p:nvSpPr>
          <p:cNvPr id="80" name="anim4_678"/>
          <p:cNvSpPr txBox="1"/>
          <p:nvPr/>
        </p:nvSpPr>
        <p:spPr>
          <a:xfrm>
            <a:off x="10287000" y="3997757"/>
            <a:ext cx="1325880" cy="731520"/>
          </a:xfrm>
          <a:prstGeom prst="rect">
            <a:avLst/>
          </a:prstGeom>
          <a:noFill/>
          <a:ln/>
        </p:spPr>
        <p:txBody>
          <a:bodyPr wrap="square" lIns="0" tIns="0" rIns="0" bIns="0" rtlCol="0" anchor="ctr"/>
          <a:lstStyle/>
          <a:p>
            <a:pPr algn="ctr" indent="0" marL="0">
              <a:buNone/>
            </a:pPr>
            <a:r>
              <a:rPr lang="en-US" sz="1200" b="1" i="1" dirty="0">
                <a:solidFill>
                  <a:srgbClr val="B3393C"/>
                </a:solidFill>
                <a:latin typeface="Calibri" pitchFamily="34" charset="0"/>
                <a:ea typeface="Calibri" pitchFamily="34" charset="-122"/>
                <a:cs typeface="Calibri" pitchFamily="34" charset="-120"/>
              </a:rPr>
              <a:t>Class I is not high certainty</a:t>
            </a:r>
            <a:endParaRPr lang="en-US" sz="1200" dirty="0"/>
          </a:p>
        </p:txBody>
      </p:sp>
      <p:sp>
        <p:nvSpPr>
          <p:cNvPr id="81" name="anim4_679"/>
          <p:cNvSpPr txBox="1"/>
          <p:nvPr/>
        </p:nvSpPr>
        <p:spPr>
          <a:xfrm>
            <a:off x="10287000" y="4771339"/>
            <a:ext cx="1325880" cy="731520"/>
          </a:xfrm>
          <a:prstGeom prst="rect">
            <a:avLst/>
          </a:prstGeom>
          <a:noFill/>
          <a:ln/>
        </p:spPr>
        <p:txBody>
          <a:bodyPr wrap="square" lIns="0" tIns="0" rIns="0" bIns="0" rtlCol="0" anchor="ctr"/>
          <a:lstStyle/>
          <a:p>
            <a:pPr algn="ctr" indent="0" marL="0">
              <a:buNone/>
            </a:pPr>
            <a:r>
              <a:rPr lang="en-US" sz="1000" i="1" dirty="0">
                <a:solidFill>
                  <a:srgbClr val="5F6B76"/>
                </a:solidFill>
                <a:latin typeface="Calibri" pitchFamily="34" charset="0"/>
                <a:ea typeface="Calibri" pitchFamily="34" charset="-122"/>
                <a:cs typeface="Calibri" pitchFamily="34" charset="-120"/>
              </a:rPr>
              <a:t>GRADE shown where reported in the seminar text</a:t>
            </a:r>
            <a:endParaRPr lang="en-US" sz="1000" dirty="0"/>
          </a:p>
        </p:txBody>
      </p:sp>
      <p:sp>
        <p:nvSpPr>
          <p:cNvPr id="82" name="Text 79"/>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 Lane et al. 2024 (BMJ). Class = credibility of association; GRADE = certainty of evidence. Mainly observational data.</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7" fill="hold">
                      <p:stCondLst>
                        <p:cond delay="indefinite"/>
                        <p:cond evt="onBegin" delay="0">
                          <p:tn val="2"/>
                        </p:cond>
                      </p:stCondLst>
                      <p:childTnLst>
                        <p:par>
                          <p:cTn id="39"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97" fill="hold">
                            <p:stCondLst>
                              <p:cond delay="380"/>
                            </p:stCondLst>
                            <p:childTnLst>
                              <p:par>
                                <p:cTn id="40" presetID="10" presetClass="entr" presetSubtype="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childTnLst>
                                </p:cTn>
                              </p:par>
                              <p:par>
                                <p:cTn id="46" presetID="10" presetClass="entr" presetSubtype="0"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5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5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5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50"/>
                                        <p:tgtEl>
                                          <p:spTgt spid="32"/>
                                        </p:tgtEl>
                                      </p:cBhvr>
                                    </p:animEffect>
                                  </p:childTnLst>
                                </p:cTn>
                              </p:par>
                              <p:par>
                                <p:cTn id="64" presetID="10" presetClass="entr" presetSubtype="0"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5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5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450"/>
                                        <p:tgtEl>
                                          <p:spTgt spid="36"/>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450"/>
                                        <p:tgtEl>
                                          <p:spTgt spid="37"/>
                                        </p:tgtEl>
                                      </p:cBhvr>
                                    </p:animEffect>
                                  </p:childTnLst>
                                </p:cTn>
                              </p:par>
                              <p:par>
                                <p:cTn id="76" presetID="10" presetClass="entr" presetSubtype="0" fill="hold"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450"/>
                                        <p:tgtEl>
                                          <p:spTgt spid="3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fade">
                                      <p:cBhvr>
                                        <p:cTn id="81" dur="450"/>
                                        <p:tgtEl>
                                          <p:spTgt spid="39"/>
                                        </p:tgtEl>
                                      </p:cBhvr>
                                    </p:animEffect>
                                  </p:childTnLst>
                                </p:cTn>
                              </p:par>
                              <p:par>
                                <p:cTn id="82" presetID="10" presetClass="entr" presetSubtype="0" fill="hold"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50"/>
                                        <p:tgtEl>
                                          <p:spTgt spid="4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50"/>
                                        <p:tgtEl>
                                          <p:spTgt spid="42"/>
                                        </p:tgtEl>
                                      </p:cBhvr>
                                    </p:animEffect>
                                  </p:childTnLst>
                                </p:cTn>
                              </p:par>
                              <p:par>
                                <p:cTn id="88" presetID="10" presetClass="entr" presetSubtype="0"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5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5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50"/>
                                        <p:tgtEl>
                                          <p:spTgt spid="45"/>
                                        </p:tgtEl>
                                      </p:cBhvr>
                                    </p:animEffect>
                                  </p:childTnLst>
                                </p:cTn>
                              </p:par>
                            </p:childTnLst>
                          </p:cTn>
                        </p:par>
                        <p:par>
                          <p:cTn id="197" fill="hold">
                            <p:stCondLst>
                              <p:cond delay="380"/>
                            </p:stCondLst>
                            <p:childTnLst>
                              <p:par>
                                <p:cTn id="98" presetID="10" presetClass="entr" presetSubtype="0" fill="hold" grpId="0" nodeType="after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450"/>
                                        <p:tgtEl>
                                          <p:spTgt spid="47"/>
                                        </p:tgtEl>
                                      </p:cBhvr>
                                    </p:animEffect>
                                  </p:childTnLst>
                                </p:cTn>
                              </p:par>
                              <p:par>
                                <p:cTn id="101" presetID="10" presetClass="entr" presetSubtype="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fade">
                                      <p:cBhvr>
                                        <p:cTn id="103" dur="450"/>
                                        <p:tgtEl>
                                          <p:spTgt spid="4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450"/>
                                        <p:tgtEl>
                                          <p:spTgt spid="49"/>
                                        </p:tgtEl>
                                      </p:cBhvr>
                                    </p:animEffect>
                                  </p:childTnLst>
                                </p:cTn>
                              </p:par>
                              <p:par>
                                <p:cTn id="107" presetID="10" presetClass="entr" presetSubtype="0" fill="hold" nodeType="with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50"/>
                                        <p:tgtEl>
                                          <p:spTgt spid="50"/>
                                        </p:tgtEl>
                                      </p:cBhvr>
                                    </p:animEffect>
                                  </p:childTnLst>
                                </p:cTn>
                              </p:par>
                              <p:par>
                                <p:cTn id="110" presetID="10" presetClass="entr" presetSubtype="0" fill="hold"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450"/>
                                        <p:tgtEl>
                                          <p:spTgt spid="5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2"/>
                                        </p:tgtEl>
                                        <p:attrNameLst>
                                          <p:attrName>style.visibility</p:attrName>
                                        </p:attrNameLst>
                                      </p:cBhvr>
                                      <p:to>
                                        <p:strVal val="visible"/>
                                      </p:to>
                                    </p:set>
                                    <p:animEffect transition="in" filter="fade">
                                      <p:cBhvr>
                                        <p:cTn id="115" dur="450"/>
                                        <p:tgtEl>
                                          <p:spTgt spid="5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3"/>
                                        </p:tgtEl>
                                        <p:attrNameLst>
                                          <p:attrName>style.visibility</p:attrName>
                                        </p:attrNameLst>
                                      </p:cBhvr>
                                      <p:to>
                                        <p:strVal val="visible"/>
                                      </p:to>
                                    </p:set>
                                    <p:animEffect transition="in" filter="fade">
                                      <p:cBhvr>
                                        <p:cTn id="118" dur="450"/>
                                        <p:tgtEl>
                                          <p:spTgt spid="53"/>
                                        </p:tgtEl>
                                      </p:cBhvr>
                                    </p:animEffect>
                                  </p:childTnLst>
                                </p:cTn>
                              </p:par>
                              <p:par>
                                <p:cTn id="119" presetID="10" presetClass="entr" presetSubtype="0" fill="hold" nodeType="withEffect">
                                  <p:stCondLst>
                                    <p:cond delay="0"/>
                                  </p:stCondLst>
                                  <p:childTnLst>
                                    <p:set>
                                      <p:cBhvr>
                                        <p:cTn id="120" dur="1" fill="hold">
                                          <p:stCondLst>
                                            <p:cond delay="0"/>
                                          </p:stCondLst>
                                        </p:cTn>
                                        <p:tgtEl>
                                          <p:spTgt spid="54"/>
                                        </p:tgtEl>
                                        <p:attrNameLst>
                                          <p:attrName>style.visibility</p:attrName>
                                        </p:attrNameLst>
                                      </p:cBhvr>
                                      <p:to>
                                        <p:strVal val="visible"/>
                                      </p:to>
                                    </p:set>
                                    <p:animEffect transition="in" filter="fade">
                                      <p:cBhvr>
                                        <p:cTn id="121" dur="450"/>
                                        <p:tgtEl>
                                          <p:spTgt spid="54"/>
                                        </p:tgtEl>
                                      </p:cBhvr>
                                    </p:animEffect>
                                  </p:childTnLst>
                                </p:cTn>
                              </p:par>
                              <p:par>
                                <p:cTn id="122" presetID="10" presetClass="entr" presetSubtype="0" fill="hold" nodeType="with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fade">
                                      <p:cBhvr>
                                        <p:cTn id="124" dur="450"/>
                                        <p:tgtEl>
                                          <p:spTgt spid="5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6"/>
                                        </p:tgtEl>
                                        <p:attrNameLst>
                                          <p:attrName>style.visibility</p:attrName>
                                        </p:attrNameLst>
                                      </p:cBhvr>
                                      <p:to>
                                        <p:strVal val="visible"/>
                                      </p:to>
                                    </p:set>
                                    <p:animEffect transition="in" filter="fade">
                                      <p:cBhvr>
                                        <p:cTn id="127" dur="450"/>
                                        <p:tgtEl>
                                          <p:spTgt spid="56"/>
                                        </p:tgtEl>
                                      </p:cBhvr>
                                    </p:animEffect>
                                  </p:childTnLst>
                                </p:cTn>
                              </p:par>
                              <p:par>
                                <p:cTn id="128" presetID="10" presetClass="entr" presetSubtype="0" fill="hold" nodeType="withEffect">
                                  <p:stCondLst>
                                    <p:cond delay="0"/>
                                  </p:stCondLst>
                                  <p:childTnLst>
                                    <p:set>
                                      <p:cBhvr>
                                        <p:cTn id="129" dur="1" fill="hold">
                                          <p:stCondLst>
                                            <p:cond delay="0"/>
                                          </p:stCondLst>
                                        </p:cTn>
                                        <p:tgtEl>
                                          <p:spTgt spid="57"/>
                                        </p:tgtEl>
                                        <p:attrNameLst>
                                          <p:attrName>style.visibility</p:attrName>
                                        </p:attrNameLst>
                                      </p:cBhvr>
                                      <p:to>
                                        <p:strVal val="visible"/>
                                      </p:to>
                                    </p:set>
                                    <p:animEffect transition="in" filter="fade">
                                      <p:cBhvr>
                                        <p:cTn id="130" dur="450"/>
                                        <p:tgtEl>
                                          <p:spTgt spid="5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8"/>
                                        </p:tgtEl>
                                        <p:attrNameLst>
                                          <p:attrName>style.visibility</p:attrName>
                                        </p:attrNameLst>
                                      </p:cBhvr>
                                      <p:to>
                                        <p:strVal val="visible"/>
                                      </p:to>
                                    </p:set>
                                    <p:animEffect transition="in" filter="fade">
                                      <p:cBhvr>
                                        <p:cTn id="133" dur="450"/>
                                        <p:tgtEl>
                                          <p:spTgt spid="58"/>
                                        </p:tgtEl>
                                      </p:cBhvr>
                                    </p:animEffect>
                                  </p:childTnLst>
                                </p:cTn>
                              </p:par>
                              <p:par>
                                <p:cTn id="134" presetID="10" presetClass="entr" presetSubtype="0" fill="hold" nodeType="withEffect">
                                  <p:stCondLst>
                                    <p:cond delay="0"/>
                                  </p:stCondLst>
                                  <p:childTnLst>
                                    <p:set>
                                      <p:cBhvr>
                                        <p:cTn id="135" dur="1" fill="hold">
                                          <p:stCondLst>
                                            <p:cond delay="0"/>
                                          </p:stCondLst>
                                        </p:cTn>
                                        <p:tgtEl>
                                          <p:spTgt spid="59"/>
                                        </p:tgtEl>
                                        <p:attrNameLst>
                                          <p:attrName>style.visibility</p:attrName>
                                        </p:attrNameLst>
                                      </p:cBhvr>
                                      <p:to>
                                        <p:strVal val="visible"/>
                                      </p:to>
                                    </p:set>
                                    <p:animEffect transition="in" filter="fade">
                                      <p:cBhvr>
                                        <p:cTn id="136" dur="450"/>
                                        <p:tgtEl>
                                          <p:spTgt spid="59"/>
                                        </p:tgtEl>
                                      </p:cBhvr>
                                    </p:animEffect>
                                  </p:childTnLst>
                                </p:cTn>
                              </p:par>
                              <p:par>
                                <p:cTn id="137" presetID="10" presetClass="entr" presetSubtype="0" fill="hold" nodeType="withEffect">
                                  <p:stCondLst>
                                    <p:cond delay="0"/>
                                  </p:stCondLst>
                                  <p:childTnLst>
                                    <p:set>
                                      <p:cBhvr>
                                        <p:cTn id="138" dur="1" fill="hold">
                                          <p:stCondLst>
                                            <p:cond delay="0"/>
                                          </p:stCondLst>
                                        </p:cTn>
                                        <p:tgtEl>
                                          <p:spTgt spid="60"/>
                                        </p:tgtEl>
                                        <p:attrNameLst>
                                          <p:attrName>style.visibility</p:attrName>
                                        </p:attrNameLst>
                                      </p:cBhvr>
                                      <p:to>
                                        <p:strVal val="visible"/>
                                      </p:to>
                                    </p:set>
                                    <p:animEffect transition="in" filter="fade">
                                      <p:cBhvr>
                                        <p:cTn id="139" dur="450"/>
                                        <p:tgtEl>
                                          <p:spTgt spid="6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61"/>
                                        </p:tgtEl>
                                        <p:attrNameLst>
                                          <p:attrName>style.visibility</p:attrName>
                                        </p:attrNameLst>
                                      </p:cBhvr>
                                      <p:to>
                                        <p:strVal val="visible"/>
                                      </p:to>
                                    </p:set>
                                    <p:animEffect transition="in" filter="fade">
                                      <p:cBhvr>
                                        <p:cTn id="142" dur="450"/>
                                        <p:tgtEl>
                                          <p:spTgt spid="6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animEffect transition="in" filter="fade">
                                      <p:cBhvr>
                                        <p:cTn id="145" dur="450"/>
                                        <p:tgtEl>
                                          <p:spTgt spid="62"/>
                                        </p:tgtEl>
                                      </p:cBhvr>
                                    </p:animEffect>
                                  </p:childTnLst>
                                </p:cTn>
                              </p:par>
                              <p:par>
                                <p:cTn id="146" presetID="10" presetClass="entr" presetSubtype="0" fill="hold" nodeType="withEffect">
                                  <p:stCondLst>
                                    <p:cond delay="0"/>
                                  </p:stCondLst>
                                  <p:childTnLst>
                                    <p:set>
                                      <p:cBhvr>
                                        <p:cTn id="147" dur="1" fill="hold">
                                          <p:stCondLst>
                                            <p:cond delay="0"/>
                                          </p:stCondLst>
                                        </p:cTn>
                                        <p:tgtEl>
                                          <p:spTgt spid="63"/>
                                        </p:tgtEl>
                                        <p:attrNameLst>
                                          <p:attrName>style.visibility</p:attrName>
                                        </p:attrNameLst>
                                      </p:cBhvr>
                                      <p:to>
                                        <p:strVal val="visible"/>
                                      </p:to>
                                    </p:set>
                                    <p:animEffect transition="in" filter="fade">
                                      <p:cBhvr>
                                        <p:cTn id="148" dur="450"/>
                                        <p:tgtEl>
                                          <p:spTgt spid="63"/>
                                        </p:tgtEl>
                                      </p:cBhvr>
                                    </p:animEffect>
                                  </p:childTnLst>
                                </p:cTn>
                              </p:par>
                              <p:par>
                                <p:cTn id="149" presetID="10" presetClass="entr" presetSubtype="0" fill="hold" nodeType="withEffect">
                                  <p:stCondLst>
                                    <p:cond delay="0"/>
                                  </p:stCondLst>
                                  <p:childTnLst>
                                    <p:set>
                                      <p:cBhvr>
                                        <p:cTn id="150" dur="1" fill="hold">
                                          <p:stCondLst>
                                            <p:cond delay="0"/>
                                          </p:stCondLst>
                                        </p:cTn>
                                        <p:tgtEl>
                                          <p:spTgt spid="64"/>
                                        </p:tgtEl>
                                        <p:attrNameLst>
                                          <p:attrName>style.visibility</p:attrName>
                                        </p:attrNameLst>
                                      </p:cBhvr>
                                      <p:to>
                                        <p:strVal val="visible"/>
                                      </p:to>
                                    </p:set>
                                    <p:animEffect transition="in" filter="fade">
                                      <p:cBhvr>
                                        <p:cTn id="151" dur="450"/>
                                        <p:tgtEl>
                                          <p:spTgt spid="6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65"/>
                                        </p:tgtEl>
                                        <p:attrNameLst>
                                          <p:attrName>style.visibility</p:attrName>
                                        </p:attrNameLst>
                                      </p:cBhvr>
                                      <p:to>
                                        <p:strVal val="visible"/>
                                      </p:to>
                                    </p:set>
                                    <p:animEffect transition="in" filter="fade">
                                      <p:cBhvr>
                                        <p:cTn id="154" dur="450"/>
                                        <p:tgtEl>
                                          <p:spTgt spid="65"/>
                                        </p:tgtEl>
                                      </p:cBhvr>
                                    </p:animEffect>
                                  </p:childTnLst>
                                </p:cTn>
                              </p:par>
                              <p:par>
                                <p:cTn id="155" presetID="10" presetClass="entr" presetSubtype="0" fill="hold" nodeType="withEffect">
                                  <p:stCondLst>
                                    <p:cond delay="0"/>
                                  </p:stCondLst>
                                  <p:childTnLst>
                                    <p:set>
                                      <p:cBhvr>
                                        <p:cTn id="156" dur="1" fill="hold">
                                          <p:stCondLst>
                                            <p:cond delay="0"/>
                                          </p:stCondLst>
                                        </p:cTn>
                                        <p:tgtEl>
                                          <p:spTgt spid="66"/>
                                        </p:tgtEl>
                                        <p:attrNameLst>
                                          <p:attrName>style.visibility</p:attrName>
                                        </p:attrNameLst>
                                      </p:cBhvr>
                                      <p:to>
                                        <p:strVal val="visible"/>
                                      </p:to>
                                    </p:set>
                                    <p:animEffect transition="in" filter="fade">
                                      <p:cBhvr>
                                        <p:cTn id="157" dur="450"/>
                                        <p:tgtEl>
                                          <p:spTgt spid="6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7"/>
                                        </p:tgtEl>
                                        <p:attrNameLst>
                                          <p:attrName>style.visibility</p:attrName>
                                        </p:attrNameLst>
                                      </p:cBhvr>
                                      <p:to>
                                        <p:strVal val="visible"/>
                                      </p:to>
                                    </p:set>
                                    <p:animEffect transition="in" filter="fade">
                                      <p:cBhvr>
                                        <p:cTn id="160" dur="450"/>
                                        <p:tgtEl>
                                          <p:spTgt spid="67"/>
                                        </p:tgtEl>
                                      </p:cBhvr>
                                    </p:animEffect>
                                  </p:childTnLst>
                                </p:cTn>
                              </p:par>
                              <p:par>
                                <p:cTn id="161" presetID="10" presetClass="entr" presetSubtype="0" fill="hold" nodeType="withEffect">
                                  <p:stCondLst>
                                    <p:cond delay="0"/>
                                  </p:stCondLst>
                                  <p:childTnLst>
                                    <p:set>
                                      <p:cBhvr>
                                        <p:cTn id="162" dur="1" fill="hold">
                                          <p:stCondLst>
                                            <p:cond delay="0"/>
                                          </p:stCondLst>
                                        </p:cTn>
                                        <p:tgtEl>
                                          <p:spTgt spid="68"/>
                                        </p:tgtEl>
                                        <p:attrNameLst>
                                          <p:attrName>style.visibility</p:attrName>
                                        </p:attrNameLst>
                                      </p:cBhvr>
                                      <p:to>
                                        <p:strVal val="visible"/>
                                      </p:to>
                                    </p:set>
                                    <p:animEffect transition="in" filter="fade">
                                      <p:cBhvr>
                                        <p:cTn id="163" dur="450"/>
                                        <p:tgtEl>
                                          <p:spTgt spid="68"/>
                                        </p:tgtEl>
                                      </p:cBhvr>
                                    </p:animEffect>
                                  </p:childTnLst>
                                </p:cTn>
                              </p:par>
                              <p:par>
                                <p:cTn id="164" presetID="10" presetClass="entr" presetSubtype="0" fill="hold" nodeType="withEffect">
                                  <p:stCondLst>
                                    <p:cond delay="0"/>
                                  </p:stCondLst>
                                  <p:childTnLst>
                                    <p:set>
                                      <p:cBhvr>
                                        <p:cTn id="165" dur="1" fill="hold">
                                          <p:stCondLst>
                                            <p:cond delay="0"/>
                                          </p:stCondLst>
                                        </p:cTn>
                                        <p:tgtEl>
                                          <p:spTgt spid="69"/>
                                        </p:tgtEl>
                                        <p:attrNameLst>
                                          <p:attrName>style.visibility</p:attrName>
                                        </p:attrNameLst>
                                      </p:cBhvr>
                                      <p:to>
                                        <p:strVal val="visible"/>
                                      </p:to>
                                    </p:set>
                                    <p:animEffect transition="in" filter="fade">
                                      <p:cBhvr>
                                        <p:cTn id="166" dur="450"/>
                                        <p:tgtEl>
                                          <p:spTgt spid="6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70"/>
                                        </p:tgtEl>
                                        <p:attrNameLst>
                                          <p:attrName>style.visibility</p:attrName>
                                        </p:attrNameLst>
                                      </p:cBhvr>
                                      <p:to>
                                        <p:strVal val="visible"/>
                                      </p:to>
                                    </p:set>
                                    <p:animEffect transition="in" filter="fade">
                                      <p:cBhvr>
                                        <p:cTn id="169" dur="450"/>
                                        <p:tgtEl>
                                          <p:spTgt spid="70"/>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71"/>
                                        </p:tgtEl>
                                        <p:attrNameLst>
                                          <p:attrName>style.visibility</p:attrName>
                                        </p:attrNameLst>
                                      </p:cBhvr>
                                      <p:to>
                                        <p:strVal val="visible"/>
                                      </p:to>
                                    </p:set>
                                    <p:animEffect transition="in" filter="fade">
                                      <p:cBhvr>
                                        <p:cTn id="172" dur="450"/>
                                        <p:tgtEl>
                                          <p:spTgt spid="71"/>
                                        </p:tgtEl>
                                      </p:cBhvr>
                                    </p:animEffect>
                                  </p:childTnLst>
                                </p:cTn>
                              </p:par>
                              <p:par>
                                <p:cTn id="173" presetID="10" presetClass="entr" presetSubtype="0" fill="hold" nodeType="withEffect">
                                  <p:stCondLst>
                                    <p:cond delay="0"/>
                                  </p:stCondLst>
                                  <p:childTnLst>
                                    <p:set>
                                      <p:cBhvr>
                                        <p:cTn id="174" dur="1" fill="hold">
                                          <p:stCondLst>
                                            <p:cond delay="0"/>
                                          </p:stCondLst>
                                        </p:cTn>
                                        <p:tgtEl>
                                          <p:spTgt spid="72"/>
                                        </p:tgtEl>
                                        <p:attrNameLst>
                                          <p:attrName>style.visibility</p:attrName>
                                        </p:attrNameLst>
                                      </p:cBhvr>
                                      <p:to>
                                        <p:strVal val="visible"/>
                                      </p:to>
                                    </p:set>
                                    <p:animEffect transition="in" filter="fade">
                                      <p:cBhvr>
                                        <p:cTn id="175" dur="450"/>
                                        <p:tgtEl>
                                          <p:spTgt spid="72"/>
                                        </p:tgtEl>
                                      </p:cBhvr>
                                    </p:animEffect>
                                  </p:childTnLst>
                                </p:cTn>
                              </p:par>
                              <p:par>
                                <p:cTn id="176" presetID="10" presetClass="entr" presetSubtype="0" fill="hold" nodeType="withEffect">
                                  <p:stCondLst>
                                    <p:cond delay="0"/>
                                  </p:stCondLst>
                                  <p:childTnLst>
                                    <p:set>
                                      <p:cBhvr>
                                        <p:cTn id="177" dur="1" fill="hold">
                                          <p:stCondLst>
                                            <p:cond delay="0"/>
                                          </p:stCondLst>
                                        </p:cTn>
                                        <p:tgtEl>
                                          <p:spTgt spid="73"/>
                                        </p:tgtEl>
                                        <p:attrNameLst>
                                          <p:attrName>style.visibility</p:attrName>
                                        </p:attrNameLst>
                                      </p:cBhvr>
                                      <p:to>
                                        <p:strVal val="visible"/>
                                      </p:to>
                                    </p:set>
                                    <p:animEffect transition="in" filter="fade">
                                      <p:cBhvr>
                                        <p:cTn id="178" dur="450"/>
                                        <p:tgtEl>
                                          <p:spTgt spid="73"/>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4"/>
                                        </p:tgtEl>
                                        <p:attrNameLst>
                                          <p:attrName>style.visibility</p:attrName>
                                        </p:attrNameLst>
                                      </p:cBhvr>
                                      <p:to>
                                        <p:strVal val="visible"/>
                                      </p:to>
                                    </p:set>
                                    <p:animEffect transition="in" filter="fade">
                                      <p:cBhvr>
                                        <p:cTn id="181" dur="450"/>
                                        <p:tgtEl>
                                          <p:spTgt spid="74"/>
                                        </p:tgtEl>
                                      </p:cBhvr>
                                    </p:animEffect>
                                  </p:childTnLst>
                                </p:cTn>
                              </p:par>
                              <p:par>
                                <p:cTn id="182" presetID="10" presetClass="entr" presetSubtype="0" fill="hold" nodeType="withEffect">
                                  <p:stCondLst>
                                    <p:cond delay="0"/>
                                  </p:stCondLst>
                                  <p:childTnLst>
                                    <p:set>
                                      <p:cBhvr>
                                        <p:cTn id="183" dur="1" fill="hold">
                                          <p:stCondLst>
                                            <p:cond delay="0"/>
                                          </p:stCondLst>
                                        </p:cTn>
                                        <p:tgtEl>
                                          <p:spTgt spid="75"/>
                                        </p:tgtEl>
                                        <p:attrNameLst>
                                          <p:attrName>style.visibility</p:attrName>
                                        </p:attrNameLst>
                                      </p:cBhvr>
                                      <p:to>
                                        <p:strVal val="visible"/>
                                      </p:to>
                                    </p:set>
                                    <p:animEffect transition="in" filter="fade">
                                      <p:cBhvr>
                                        <p:cTn id="184" dur="450"/>
                                        <p:tgtEl>
                                          <p:spTgt spid="75"/>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76"/>
                                        </p:tgtEl>
                                        <p:attrNameLst>
                                          <p:attrName>style.visibility</p:attrName>
                                        </p:attrNameLst>
                                      </p:cBhvr>
                                      <p:to>
                                        <p:strVal val="visible"/>
                                      </p:to>
                                    </p:set>
                                    <p:animEffect transition="in" filter="fade">
                                      <p:cBhvr>
                                        <p:cTn id="187" dur="450"/>
                                        <p:tgtEl>
                                          <p:spTgt spid="76"/>
                                        </p:tgtEl>
                                      </p:cBhvr>
                                    </p:animEffect>
                                  </p:childTnLst>
                                </p:cTn>
                              </p:par>
                              <p:par>
                                <p:cTn id="188" presetID="10" presetClass="entr" presetSubtype="0" fill="hold" nodeType="withEffect">
                                  <p:stCondLst>
                                    <p:cond delay="0"/>
                                  </p:stCondLst>
                                  <p:childTnLst>
                                    <p:set>
                                      <p:cBhvr>
                                        <p:cTn id="189" dur="1" fill="hold">
                                          <p:stCondLst>
                                            <p:cond delay="0"/>
                                          </p:stCondLst>
                                        </p:cTn>
                                        <p:tgtEl>
                                          <p:spTgt spid="77"/>
                                        </p:tgtEl>
                                        <p:attrNameLst>
                                          <p:attrName>style.visibility</p:attrName>
                                        </p:attrNameLst>
                                      </p:cBhvr>
                                      <p:to>
                                        <p:strVal val="visible"/>
                                      </p:to>
                                    </p:set>
                                    <p:animEffect transition="in" filter="fade">
                                      <p:cBhvr>
                                        <p:cTn id="190" dur="450"/>
                                        <p:tgtEl>
                                          <p:spTgt spid="77"/>
                                        </p:tgtEl>
                                      </p:cBhvr>
                                    </p:animEffect>
                                  </p:childTnLst>
                                </p:cTn>
                              </p:par>
                              <p:par>
                                <p:cTn id="191" presetID="10" presetClass="entr" presetSubtype="0" fill="hold" nodeType="withEffect">
                                  <p:stCondLst>
                                    <p:cond delay="0"/>
                                  </p:stCondLst>
                                  <p:childTnLst>
                                    <p:set>
                                      <p:cBhvr>
                                        <p:cTn id="192" dur="1" fill="hold">
                                          <p:stCondLst>
                                            <p:cond delay="0"/>
                                          </p:stCondLst>
                                        </p:cTn>
                                        <p:tgtEl>
                                          <p:spTgt spid="78"/>
                                        </p:tgtEl>
                                        <p:attrNameLst>
                                          <p:attrName>style.visibility</p:attrName>
                                        </p:attrNameLst>
                                      </p:cBhvr>
                                      <p:to>
                                        <p:strVal val="visible"/>
                                      </p:to>
                                    </p:set>
                                    <p:animEffect transition="in" filter="fade">
                                      <p:cBhvr>
                                        <p:cTn id="193" dur="450"/>
                                        <p:tgtEl>
                                          <p:spTgt spid="78"/>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79"/>
                                        </p:tgtEl>
                                        <p:attrNameLst>
                                          <p:attrName>style.visibility</p:attrName>
                                        </p:attrNameLst>
                                      </p:cBhvr>
                                      <p:to>
                                        <p:strVal val="visible"/>
                                      </p:to>
                                    </p:set>
                                    <p:animEffect transition="in" filter="fade">
                                      <p:cBhvr>
                                        <p:cTn id="196" dur="450"/>
                                        <p:tgtEl>
                                          <p:spTgt spid="79"/>
                                        </p:tgtEl>
                                      </p:cBhvr>
                                    </p:animEffect>
                                  </p:childTnLst>
                                </p:cTn>
                              </p:par>
                            </p:childTnLst>
                          </p:cTn>
                        </p:par>
                        <p:par>
                          <p:cTn id="216" fill="hold">
                            <p:stCondLst>
                              <p:cond delay="380"/>
                            </p:stCondLst>
                            <p:childTnLst>
                              <p:par>
                                <p:cTn id="198" presetID="10" presetClass="entr" presetSubtype="0" fill="hold" grpId="0" nodeType="afterEffect">
                                  <p:stCondLst>
                                    <p:cond delay="0"/>
                                  </p:stCondLst>
                                  <p:childTnLst>
                                    <p:set>
                                      <p:cBhvr>
                                        <p:cTn id="199" dur="1" fill="hold">
                                          <p:stCondLst>
                                            <p:cond delay="0"/>
                                          </p:stCondLst>
                                        </p:cTn>
                                        <p:tgtEl>
                                          <p:spTgt spid="29"/>
                                        </p:tgtEl>
                                        <p:attrNameLst>
                                          <p:attrName>style.visibility</p:attrName>
                                        </p:attrNameLst>
                                      </p:cBhvr>
                                      <p:to>
                                        <p:strVal val="visible"/>
                                      </p:to>
                                    </p:set>
                                    <p:animEffect transition="in" filter="fade">
                                      <p:cBhvr>
                                        <p:cTn id="200" dur="450"/>
                                        <p:tgtEl>
                                          <p:spTgt spid="2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35"/>
                                        </p:tgtEl>
                                        <p:attrNameLst>
                                          <p:attrName>style.visibility</p:attrName>
                                        </p:attrNameLst>
                                      </p:cBhvr>
                                      <p:to>
                                        <p:strVal val="visible"/>
                                      </p:to>
                                    </p:set>
                                    <p:animEffect transition="in" filter="fade">
                                      <p:cBhvr>
                                        <p:cTn id="203" dur="450"/>
                                        <p:tgtEl>
                                          <p:spTgt spid="35"/>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40"/>
                                        </p:tgtEl>
                                        <p:attrNameLst>
                                          <p:attrName>style.visibility</p:attrName>
                                        </p:attrNameLst>
                                      </p:cBhvr>
                                      <p:to>
                                        <p:strVal val="visible"/>
                                      </p:to>
                                    </p:set>
                                    <p:animEffect transition="in" filter="fade">
                                      <p:cBhvr>
                                        <p:cTn id="206" dur="450"/>
                                        <p:tgtEl>
                                          <p:spTgt spid="40"/>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46"/>
                                        </p:tgtEl>
                                        <p:attrNameLst>
                                          <p:attrName>style.visibility</p:attrName>
                                        </p:attrNameLst>
                                      </p:cBhvr>
                                      <p:to>
                                        <p:strVal val="visible"/>
                                      </p:to>
                                    </p:set>
                                    <p:animEffect transition="in" filter="fade">
                                      <p:cBhvr>
                                        <p:cTn id="209" dur="450"/>
                                        <p:tgtEl>
                                          <p:spTgt spid="4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80"/>
                                        </p:tgtEl>
                                        <p:attrNameLst>
                                          <p:attrName>style.visibility</p:attrName>
                                        </p:attrNameLst>
                                      </p:cBhvr>
                                      <p:to>
                                        <p:strVal val="visible"/>
                                      </p:to>
                                    </p:set>
                                    <p:animEffect transition="in" filter="fade">
                                      <p:cBhvr>
                                        <p:cTn id="212" dur="450"/>
                                        <p:tgtEl>
                                          <p:spTgt spid="80"/>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81"/>
                                        </p:tgtEl>
                                        <p:attrNameLst>
                                          <p:attrName>style.visibility</p:attrName>
                                        </p:attrNameLst>
                                      </p:cBhvr>
                                      <p:to>
                                        <p:strVal val="visible"/>
                                      </p:to>
                                    </p:set>
                                    <p:animEffect transition="in" filter="fade">
                                      <p:cBhvr>
                                        <p:cTn id="215" dur="45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24" grpId="0" animBg="1"/>
      <p:bldP spid="25" grpId="0" animBg="1"/>
      <p:bldP spid="28" grpId="0" animBg="1"/>
      <p:bldP spid="29" grpId="0" animBg="1"/>
      <p:bldP spid="31" grpId="0" animBg="1"/>
      <p:bldP spid="34" grpId="0" animBg="1"/>
      <p:bldP spid="35" grpId="0" animBg="1"/>
      <p:bldP spid="36" grpId="0" animBg="1"/>
      <p:bldP spid="39" grpId="0" animBg="1"/>
      <p:bldP spid="40" grpId="0" animBg="1"/>
      <p:bldP spid="42" grpId="0" animBg="1"/>
      <p:bldP spid="45" grpId="0" animBg="1"/>
      <p:bldP spid="46" grpId="0" animBg="1"/>
      <p:bldP spid="47" grpId="0" animBg="1"/>
      <p:bldP spid="49" grpId="0" animBg="1"/>
      <p:bldP spid="52" grpId="0" animBg="1"/>
      <p:bldP spid="53" grpId="0" animBg="1"/>
      <p:bldP spid="56" grpId="0" animBg="1"/>
      <p:bldP spid="58" grpId="0" animBg="1"/>
      <p:bldP spid="61" grpId="0" animBg="1"/>
      <p:bldP spid="62" grpId="0" animBg="1"/>
      <p:bldP spid="65" grpId="0" animBg="1"/>
      <p:bldP spid="67" grpId="0" animBg="1"/>
      <p:bldP spid="70" grpId="0" animBg="1"/>
      <p:bldP spid="71" grpId="0" animBg="1"/>
      <p:bldP spid="74" grpId="0" animBg="1"/>
      <p:bldP spid="76" grpId="0" animBg="1"/>
      <p:bldP spid="79" grpId="0" animBg="1"/>
      <p:bldP spid="80" grpId="0" animBg="1"/>
      <p:bldP spid="8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Large cohorts: consistent signals, heterogeneous outcomes</a:t>
            </a:r>
            <a:endParaRPr lang="en-US" sz="3200" dirty="0"/>
          </a:p>
        </p:txBody>
      </p:sp>
      <p:sp>
        <p:nvSpPr>
          <p:cNvPr id="4" name="anim1_680"/>
          <p:cNvSpPr/>
          <p:nvPr/>
        </p:nvSpPr>
        <p:spPr>
          <a:xfrm>
            <a:off x="548640" y="1325880"/>
            <a:ext cx="3566160" cy="3246120"/>
          </a:xfrm>
          <a:prstGeom prst="roundRect">
            <a:avLst>
              <a:gd name="adj" fmla="val 225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681"/>
          <p:cNvSpPr/>
          <p:nvPr/>
        </p:nvSpPr>
        <p:spPr>
          <a:xfrm>
            <a:off x="731520" y="1481328"/>
            <a:ext cx="3200400" cy="1417320"/>
          </a:xfrm>
          <a:prstGeom prst="roundRect">
            <a:avLst>
              <a:gd name="adj" fmla="val 5161"/>
            </a:avLst>
          </a:prstGeom>
          <a:solidFill>
            <a:srgbClr val="E8EEF5"/>
          </a:solidFill>
          <a:ln w="12700">
            <a:solidFill>
              <a:srgbClr val="E8EEF5"/>
            </a:solidFill>
            <a:prstDash val="solid"/>
          </a:ln>
        </p:spPr>
      </p:sp>
      <p:sp>
        <p:nvSpPr>
          <p:cNvPr id="6" name="anim1_682"/>
          <p:cNvSpPr txBox="1"/>
          <p:nvPr/>
        </p:nvSpPr>
        <p:spPr>
          <a:xfrm>
            <a:off x="868680" y="1554480"/>
            <a:ext cx="2926080" cy="365760"/>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NutriNet-Santé</a:t>
            </a:r>
            <a:endParaRPr lang="en-US" sz="1800" dirty="0"/>
          </a:p>
        </p:txBody>
      </p:sp>
      <p:sp>
        <p:nvSpPr>
          <p:cNvPr id="7" name="anim1_683"/>
          <p:cNvSpPr txBox="1"/>
          <p:nvPr/>
        </p:nvSpPr>
        <p:spPr>
          <a:xfrm>
            <a:off x="868680" y="1901952"/>
            <a:ext cx="2926080" cy="27432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France · n = 104,980</a:t>
            </a:r>
            <a:endParaRPr lang="en-US" sz="1150" dirty="0"/>
          </a:p>
        </p:txBody>
      </p:sp>
      <p:sp>
        <p:nvSpPr>
          <p:cNvPr id="8" name="anim1_684"/>
          <p:cNvSpPr txBox="1"/>
          <p:nvPr/>
        </p:nvSpPr>
        <p:spPr>
          <a:xfrm>
            <a:off x="868680" y="2194560"/>
            <a:ext cx="1325880" cy="566928"/>
          </a:xfrm>
          <a:prstGeom prst="rect">
            <a:avLst/>
          </a:prstGeom>
          <a:noFill/>
          <a:ln/>
        </p:spPr>
        <p:txBody>
          <a:bodyPr wrap="square" lIns="0" tIns="0" rIns="0" bIns="0" rtlCol="0" anchor="ctr"/>
          <a:lstStyle/>
          <a:p>
            <a:pPr indent="0" marL="0">
              <a:buNone/>
            </a:pPr>
            <a:r>
              <a:rPr lang="en-US" sz="2400" b="1" dirty="0">
                <a:solidFill>
                  <a:srgbClr val="1F3A5F"/>
                </a:solidFill>
                <a:latin typeface="Cambria" pitchFamily="34" charset="0"/>
                <a:ea typeface="Cambria" pitchFamily="34" charset="-122"/>
                <a:cs typeface="Cambria" pitchFamily="34" charset="-120"/>
              </a:rPr>
              <a:t>HR 1.12</a:t>
            </a:r>
            <a:endParaRPr lang="en-US" sz="2400" dirty="0"/>
          </a:p>
        </p:txBody>
      </p:sp>
      <p:sp>
        <p:nvSpPr>
          <p:cNvPr id="9" name="anim1_685"/>
          <p:cNvSpPr txBox="1"/>
          <p:nvPr/>
        </p:nvSpPr>
        <p:spPr>
          <a:xfrm>
            <a:off x="2194560" y="2194560"/>
            <a:ext cx="1664208" cy="640080"/>
          </a:xfrm>
          <a:prstGeom prst="rect">
            <a:avLst/>
          </a:prstGeom>
          <a:noFill/>
          <a:ln/>
        </p:spPr>
        <p:txBody>
          <a:bodyPr wrap="square" lIns="0" tIns="0" rIns="0" bIns="0" rtlCol="0" anchor="ctr"/>
          <a:lstStyle/>
          <a:p>
            <a:pPr indent="0" marL="0">
              <a:buNone/>
            </a:pPr>
            <a:r>
              <a:rPr lang="en-US" sz="1100" dirty="0">
                <a:solidFill>
                  <a:srgbClr val="1B1F24"/>
                </a:solidFill>
                <a:latin typeface="Calibri" pitchFamily="34" charset="0"/>
                <a:ea typeface="Calibri" pitchFamily="34" charset="-122"/>
                <a:cs typeface="Calibri" pitchFamily="34" charset="-120"/>
              </a:rPr>
              <a:t>overall cancer per +10% UPF energy (1.06–1.18)</a:t>
            </a:r>
            <a:endParaRPr lang="en-US" sz="1100" dirty="0"/>
          </a:p>
        </p:txBody>
      </p:sp>
      <p:sp>
        <p:nvSpPr>
          <p:cNvPr id="10" name="anim1_686"/>
          <p:cNvSpPr txBox="1"/>
          <p:nvPr/>
        </p:nvSpPr>
        <p:spPr>
          <a:xfrm>
            <a:off x="777240" y="3035808"/>
            <a:ext cx="3154680" cy="1463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Breast cancer HR 1.11 (1.02–1.22)</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Robust to diet-quality adjustment</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Residual confounding still possible</a:t>
            </a:r>
            <a:endParaRPr lang="en-US" sz="1250" dirty="0"/>
          </a:p>
        </p:txBody>
      </p:sp>
      <p:sp>
        <p:nvSpPr>
          <p:cNvPr id="11" name="anim2_687"/>
          <p:cNvSpPr/>
          <p:nvPr/>
        </p:nvSpPr>
        <p:spPr>
          <a:xfrm>
            <a:off x="4297680" y="1325880"/>
            <a:ext cx="3566160" cy="3246120"/>
          </a:xfrm>
          <a:prstGeom prst="roundRect">
            <a:avLst>
              <a:gd name="adj" fmla="val 225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2" name="anim2_688"/>
          <p:cNvSpPr/>
          <p:nvPr/>
        </p:nvSpPr>
        <p:spPr>
          <a:xfrm>
            <a:off x="4480560" y="1481328"/>
            <a:ext cx="3200400" cy="1417320"/>
          </a:xfrm>
          <a:prstGeom prst="roundRect">
            <a:avLst>
              <a:gd name="adj" fmla="val 5161"/>
            </a:avLst>
          </a:prstGeom>
          <a:solidFill>
            <a:srgbClr val="E8EEF5"/>
          </a:solidFill>
          <a:ln w="12700">
            <a:solidFill>
              <a:srgbClr val="E8EEF5"/>
            </a:solidFill>
            <a:prstDash val="solid"/>
          </a:ln>
        </p:spPr>
      </p:sp>
      <p:sp>
        <p:nvSpPr>
          <p:cNvPr id="13" name="anim2_689"/>
          <p:cNvSpPr txBox="1"/>
          <p:nvPr/>
        </p:nvSpPr>
        <p:spPr>
          <a:xfrm>
            <a:off x="4617720" y="1554480"/>
            <a:ext cx="2926080" cy="365760"/>
          </a:xfrm>
          <a:prstGeom prst="rect">
            <a:avLst/>
          </a:prstGeom>
          <a:noFill/>
          <a:ln/>
        </p:spPr>
        <p:txBody>
          <a:bodyPr wrap="square" lIns="0" tIns="0" rIns="0" bIns="0" rtlCol="0" anchor="t"/>
          <a:lstStyle/>
          <a:p>
            <a:pPr indent="0" marL="0">
              <a:buNone/>
            </a:pPr>
            <a:r>
              <a:rPr lang="en-US" sz="1800" b="1" dirty="0">
                <a:solidFill>
                  <a:srgbClr val="5B6B8C"/>
                </a:solidFill>
                <a:latin typeface="Cambria" pitchFamily="34" charset="0"/>
                <a:ea typeface="Cambria" pitchFamily="34" charset="-122"/>
                <a:cs typeface="Cambria" pitchFamily="34" charset="-120"/>
              </a:rPr>
              <a:t>EPIC</a:t>
            </a:r>
            <a:endParaRPr lang="en-US" sz="1800" dirty="0"/>
          </a:p>
        </p:txBody>
      </p:sp>
      <p:sp>
        <p:nvSpPr>
          <p:cNvPr id="14" name="anim2_690"/>
          <p:cNvSpPr txBox="1"/>
          <p:nvPr/>
        </p:nvSpPr>
        <p:spPr>
          <a:xfrm>
            <a:off x="4617720" y="1901952"/>
            <a:ext cx="2926080" cy="27432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Europe · 25 cancer sites</a:t>
            </a:r>
            <a:endParaRPr lang="en-US" sz="1150" dirty="0"/>
          </a:p>
        </p:txBody>
      </p:sp>
      <p:sp>
        <p:nvSpPr>
          <p:cNvPr id="15" name="anim2_691"/>
          <p:cNvSpPr txBox="1"/>
          <p:nvPr/>
        </p:nvSpPr>
        <p:spPr>
          <a:xfrm>
            <a:off x="4617720" y="2194560"/>
            <a:ext cx="1325880" cy="566928"/>
          </a:xfrm>
          <a:prstGeom prst="rect">
            <a:avLst/>
          </a:prstGeom>
          <a:noFill/>
          <a:ln/>
        </p:spPr>
        <p:txBody>
          <a:bodyPr wrap="square" lIns="0" tIns="0" rIns="0" bIns="0" rtlCol="0" anchor="ctr"/>
          <a:lstStyle/>
          <a:p>
            <a:pPr indent="0" marL="0">
              <a:buNone/>
            </a:pPr>
            <a:r>
              <a:rPr lang="en-US" sz="2400" b="1" dirty="0">
                <a:solidFill>
                  <a:srgbClr val="5B6B8C"/>
                </a:solidFill>
                <a:latin typeface="Cambria" pitchFamily="34" charset="0"/>
                <a:ea typeface="Cambria" pitchFamily="34" charset="-122"/>
                <a:cs typeface="Cambria" pitchFamily="34" charset="-120"/>
              </a:rPr>
              <a:t>Mixed</a:t>
            </a:r>
            <a:endParaRPr lang="en-US" sz="2400" dirty="0"/>
          </a:p>
        </p:txBody>
      </p:sp>
      <p:sp>
        <p:nvSpPr>
          <p:cNvPr id="16" name="anim2_692"/>
          <p:cNvSpPr txBox="1"/>
          <p:nvPr/>
        </p:nvSpPr>
        <p:spPr>
          <a:xfrm>
            <a:off x="5943600" y="2194560"/>
            <a:ext cx="1664208" cy="640080"/>
          </a:xfrm>
          <a:prstGeom prst="rect">
            <a:avLst/>
          </a:prstGeom>
          <a:noFill/>
          <a:ln/>
        </p:spPr>
        <p:txBody>
          <a:bodyPr wrap="square" lIns="0" tIns="0" rIns="0" bIns="0" rtlCol="0" anchor="ctr"/>
          <a:lstStyle/>
          <a:p>
            <a:pPr indent="0" marL="0">
              <a:buNone/>
            </a:pPr>
            <a:r>
              <a:rPr lang="en-US" sz="1100" dirty="0">
                <a:solidFill>
                  <a:srgbClr val="1B1F24"/>
                </a:solidFill>
                <a:latin typeface="Calibri" pitchFamily="34" charset="0"/>
                <a:ea typeface="Calibri" pitchFamily="34" charset="-122"/>
                <a:cs typeface="Calibri" pitchFamily="34" charset="-120"/>
              </a:rPr>
              <a:t>association pattern differs by cancer site</a:t>
            </a:r>
            <a:endParaRPr lang="en-US" sz="1100" dirty="0"/>
          </a:p>
        </p:txBody>
      </p:sp>
      <p:sp>
        <p:nvSpPr>
          <p:cNvPr id="17" name="anim2_693"/>
          <p:cNvSpPr txBox="1"/>
          <p:nvPr/>
        </p:nvSpPr>
        <p:spPr>
          <a:xfrm>
            <a:off x="4526280" y="3035808"/>
            <a:ext cx="3154680" cy="1463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Processed and ultra-processed foods examined</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Not uniform across populations or sites</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UK Biobank and Moli-sani: similar signals</a:t>
            </a:r>
            <a:endParaRPr lang="en-US" sz="1250" dirty="0"/>
          </a:p>
        </p:txBody>
      </p:sp>
      <p:sp>
        <p:nvSpPr>
          <p:cNvPr id="18" name="anim3_694"/>
          <p:cNvSpPr/>
          <p:nvPr/>
        </p:nvSpPr>
        <p:spPr>
          <a:xfrm>
            <a:off x="8046720" y="1325880"/>
            <a:ext cx="3566160" cy="3246120"/>
          </a:xfrm>
          <a:prstGeom prst="roundRect">
            <a:avLst>
              <a:gd name="adj" fmla="val 225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9" name="anim3_695"/>
          <p:cNvSpPr/>
          <p:nvPr/>
        </p:nvSpPr>
        <p:spPr>
          <a:xfrm>
            <a:off x="8229600" y="1481328"/>
            <a:ext cx="3200400" cy="1417320"/>
          </a:xfrm>
          <a:prstGeom prst="roundRect">
            <a:avLst>
              <a:gd name="adj" fmla="val 5161"/>
            </a:avLst>
          </a:prstGeom>
          <a:solidFill>
            <a:srgbClr val="F8E9E9"/>
          </a:solidFill>
          <a:ln w="12700">
            <a:solidFill>
              <a:srgbClr val="F8E9E9"/>
            </a:solidFill>
            <a:prstDash val="solid"/>
          </a:ln>
        </p:spPr>
      </p:sp>
      <p:sp>
        <p:nvSpPr>
          <p:cNvPr id="20" name="anim3_696"/>
          <p:cNvSpPr txBox="1"/>
          <p:nvPr/>
        </p:nvSpPr>
        <p:spPr>
          <a:xfrm>
            <a:off x="8366760" y="1554480"/>
            <a:ext cx="2926080" cy="365760"/>
          </a:xfrm>
          <a:prstGeom prst="rect">
            <a:avLst/>
          </a:prstGeom>
          <a:noFill/>
          <a:ln/>
        </p:spPr>
        <p:txBody>
          <a:bodyPr wrap="square" lIns="0" tIns="0" rIns="0" bIns="0" rtlCol="0" anchor="t"/>
          <a:lstStyle/>
          <a:p>
            <a:pPr indent="0" marL="0">
              <a:buNone/>
            </a:pPr>
            <a:r>
              <a:rPr lang="en-US" sz="1800" b="1" dirty="0">
                <a:solidFill>
                  <a:srgbClr val="B3393C"/>
                </a:solidFill>
                <a:latin typeface="Cambria" pitchFamily="34" charset="0"/>
                <a:ea typeface="Cambria" pitchFamily="34" charset="-122"/>
                <a:cs typeface="Cambria" pitchFamily="34" charset="-120"/>
              </a:rPr>
              <a:t>TLGS</a:t>
            </a:r>
            <a:endParaRPr lang="en-US" sz="1800" dirty="0"/>
          </a:p>
        </p:txBody>
      </p:sp>
      <p:sp>
        <p:nvSpPr>
          <p:cNvPr id="21" name="anim3_697"/>
          <p:cNvSpPr txBox="1"/>
          <p:nvPr/>
        </p:nvSpPr>
        <p:spPr>
          <a:xfrm>
            <a:off x="8366760" y="1901952"/>
            <a:ext cx="2926080" cy="27432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Tehran · median follow-up 7 years</a:t>
            </a:r>
            <a:endParaRPr lang="en-US" sz="1150" dirty="0"/>
          </a:p>
        </p:txBody>
      </p:sp>
      <p:sp>
        <p:nvSpPr>
          <p:cNvPr id="22" name="anim3_698"/>
          <p:cNvSpPr txBox="1"/>
          <p:nvPr/>
        </p:nvSpPr>
        <p:spPr>
          <a:xfrm>
            <a:off x="8366760" y="2194560"/>
            <a:ext cx="1325880" cy="566928"/>
          </a:xfrm>
          <a:prstGeom prst="rect">
            <a:avLst/>
          </a:prstGeom>
          <a:noFill/>
          <a:ln/>
        </p:spPr>
        <p:txBody>
          <a:bodyPr wrap="square" lIns="0" tIns="0" rIns="0" bIns="0" rtlCol="0" anchor="ctr"/>
          <a:lstStyle/>
          <a:p>
            <a:pPr indent="0" marL="0">
              <a:buNone/>
            </a:pPr>
            <a:r>
              <a:rPr lang="en-US" sz="2400" b="1" dirty="0">
                <a:solidFill>
                  <a:srgbClr val="B3393C"/>
                </a:solidFill>
                <a:latin typeface="Cambria" pitchFamily="34" charset="0"/>
                <a:ea typeface="Cambria" pitchFamily="34" charset="-122"/>
                <a:cs typeface="Cambria" pitchFamily="34" charset="-120"/>
              </a:rPr>
              <a:t>HR 1.28</a:t>
            </a:r>
            <a:endParaRPr lang="en-US" sz="2400" dirty="0"/>
          </a:p>
        </p:txBody>
      </p:sp>
      <p:sp>
        <p:nvSpPr>
          <p:cNvPr id="23" name="anim3_699"/>
          <p:cNvSpPr txBox="1"/>
          <p:nvPr/>
        </p:nvSpPr>
        <p:spPr>
          <a:xfrm>
            <a:off x="9692640" y="2194560"/>
            <a:ext cx="1664208" cy="640080"/>
          </a:xfrm>
          <a:prstGeom prst="rect">
            <a:avLst/>
          </a:prstGeom>
          <a:noFill/>
          <a:ln/>
        </p:spPr>
        <p:txBody>
          <a:bodyPr wrap="square" lIns="0" tIns="0" rIns="0" bIns="0" rtlCol="0" anchor="ctr"/>
          <a:lstStyle/>
          <a:p>
            <a:pPr indent="0" marL="0">
              <a:buNone/>
            </a:pPr>
            <a:r>
              <a:rPr lang="en-US" sz="1100" dirty="0">
                <a:solidFill>
                  <a:srgbClr val="1B1F24"/>
                </a:solidFill>
                <a:latin typeface="Calibri" pitchFamily="34" charset="0"/>
                <a:ea typeface="Calibri" pitchFamily="34" charset="-122"/>
                <a:cs typeface="Calibri" pitchFamily="34" charset="-120"/>
              </a:rPr>
              <a:t>prediabetes, top vs bottom tertile (1.07–1.52)</a:t>
            </a:r>
            <a:endParaRPr lang="en-US" sz="1100" dirty="0"/>
          </a:p>
        </p:txBody>
      </p:sp>
      <p:sp>
        <p:nvSpPr>
          <p:cNvPr id="24" name="anim3_700"/>
          <p:cNvSpPr txBox="1"/>
          <p:nvPr/>
        </p:nvSpPr>
        <p:spPr>
          <a:xfrm>
            <a:off x="8275320" y="3035808"/>
            <a:ext cx="3154680" cy="1463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 = 1,954; 766 prediabetes cases</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Per +10% energy: HR 1.12 (1.02–1.23)</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Type 2 diabetes (n = 2,457): no significant link</a:t>
            </a:r>
            <a:endParaRPr lang="en-US" sz="1250" dirty="0"/>
          </a:p>
        </p:txBody>
      </p:sp>
      <p:sp>
        <p:nvSpPr>
          <p:cNvPr id="25" name="anim4_701"/>
          <p:cNvSpPr/>
          <p:nvPr/>
        </p:nvSpPr>
        <p:spPr>
          <a:xfrm>
            <a:off x="548640" y="4754880"/>
            <a:ext cx="11064240" cy="1188720"/>
          </a:xfrm>
          <a:prstGeom prst="roundRect">
            <a:avLst>
              <a:gd name="adj" fmla="val 6154"/>
            </a:avLst>
          </a:prstGeom>
          <a:solidFill>
            <a:srgbClr val="F8E9E9"/>
          </a:solidFill>
          <a:ln w="9525">
            <a:solidFill>
              <a:srgbClr val="EBCACB"/>
            </a:solidFill>
            <a:prstDash val="solid"/>
          </a:ln>
          <a:effectLst>
            <a:outerShdw sx="100000" sy="100000" kx="0" ky="0" algn="bl" rotWithShape="0" blurRad="114300" dist="31750" dir="5400000">
              <a:srgbClr val="1B1F24">
                <a:alpha val="14000"/>
              </a:srgbClr>
            </a:outerShdw>
          </a:effectLst>
        </p:spPr>
      </p:sp>
      <p:sp>
        <p:nvSpPr>
          <p:cNvPr id="26" name="anim4_702"/>
          <p:cNvSpPr/>
          <p:nvPr/>
        </p:nvSpPr>
        <p:spPr>
          <a:xfrm>
            <a:off x="749808" y="4919472"/>
            <a:ext cx="822960" cy="822960"/>
          </a:xfrm>
          <a:prstGeom prst="ellipse">
            <a:avLst/>
          </a:prstGeom>
          <a:solidFill>
            <a:srgbClr val="B3393C"/>
          </a:solidFill>
          <a:ln w="6350">
            <a:solidFill>
              <a:srgbClr val="B3393C"/>
            </a:solidFill>
            <a:prstDash val="solid"/>
          </a:ln>
        </p:spPr>
      </p:sp>
      <p:pic>
        <p:nvPicPr>
          <p:cNvPr id="27" name="anim4_703" descr="search icon">    </p:cNvPr>
          <p:cNvPicPr>
            <a:picLocks noChangeAspect="1"/>
          </p:cNvPicPr>
          <p:nvPr/>
        </p:nvPicPr>
        <p:blipFill>
          <a:blip r:embed="rId1"/>
          <a:stretch>
            <a:fillRect/>
          </a:stretch>
        </p:blipFill>
        <p:spPr>
          <a:xfrm>
            <a:off x="972007" y="5141671"/>
            <a:ext cx="378562" cy="378562"/>
          </a:xfrm>
          <a:prstGeom prst="rect">
            <a:avLst/>
          </a:prstGeom>
        </p:spPr>
      </p:pic>
      <p:sp>
        <p:nvSpPr>
          <p:cNvPr id="28" name="anim4_704"/>
          <p:cNvSpPr txBox="1"/>
          <p:nvPr/>
        </p:nvSpPr>
        <p:spPr>
          <a:xfrm>
            <a:off x="1783080" y="4846320"/>
            <a:ext cx="2743200" cy="384048"/>
          </a:xfrm>
          <a:prstGeom prst="rect">
            <a:avLst/>
          </a:prstGeom>
          <a:noFill/>
          <a:ln/>
        </p:spPr>
        <p:txBody>
          <a:bodyPr wrap="square" lIns="0" tIns="0" rIns="0" bIns="0" rtlCol="0" anchor="t"/>
          <a:lstStyle/>
          <a:p>
            <a:pPr indent="0" marL="0">
              <a:buNone/>
            </a:pPr>
            <a:r>
              <a:rPr lang="en-US" sz="1900" b="1" dirty="0">
                <a:solidFill>
                  <a:srgbClr val="B3393C"/>
                </a:solidFill>
                <a:latin typeface="Cambria" pitchFamily="34" charset="0"/>
                <a:ea typeface="Cambria" pitchFamily="34" charset="-122"/>
                <a:cs typeface="Cambria" pitchFamily="34" charset="-120"/>
              </a:rPr>
              <a:t>The gap</a:t>
            </a:r>
            <a:endParaRPr lang="en-US" sz="1900" dirty="0"/>
          </a:p>
        </p:txBody>
      </p:sp>
      <p:sp>
        <p:nvSpPr>
          <p:cNvPr id="29" name="anim4_705"/>
          <p:cNvSpPr txBox="1"/>
          <p:nvPr/>
        </p:nvSpPr>
        <p:spPr>
          <a:xfrm>
            <a:off x="1783080" y="5212080"/>
            <a:ext cx="9692640" cy="685800"/>
          </a:xfrm>
          <a:prstGeom prst="rect">
            <a:avLst/>
          </a:prstGeom>
          <a:noFill/>
          <a:ln/>
        </p:spPr>
        <p:txBody>
          <a:bodyPr wrap="square" lIns="0" tIns="0" rIns="0" bIns="0" rtlCol="0" anchor="t"/>
          <a:lstStyle/>
          <a:p>
            <a:pPr indent="0" marL="0">
              <a:buNone/>
            </a:pPr>
            <a:r>
              <a:rPr lang="en-US" sz="1400" dirty="0">
                <a:solidFill>
                  <a:srgbClr val="1B1F24"/>
                </a:solidFill>
                <a:latin typeface="Calibri" pitchFamily="34" charset="0"/>
                <a:ea typeface="Calibri" pitchFamily="34" charset="-122"/>
                <a:cs typeface="Calibri" pitchFamily="34" charset="-120"/>
              </a:rPr>
              <a:t>None of the trials, the umbrella review or these cohorts measured addictive-like eating or YFAS scores. They answer claim (a) — energy intake, weight, health — not claim (b).</a:t>
            </a:r>
            <a:endParaRPr lang="en-US" sz="1400" dirty="0"/>
          </a:p>
        </p:txBody>
      </p:sp>
      <p:sp>
        <p:nvSpPr>
          <p:cNvPr id="30" name="Text 26"/>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Fiolet et al. 2018; Kliemann et al. 2023; Moslehi et al. 2024; Lane et al. 2024; Schulte et al. 2015.</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24"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childTnLst>
                          </p:cTn>
                        </p:par>
                        <p:par>
                          <p:cTn id="46" fill="hold">
                            <p:stCondLst>
                              <p:cond delay="380"/>
                            </p:stCondLst>
                            <p:childTnLst>
                              <p:par>
                                <p:cTn id="25" presetID="10"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68" fill="hold">
                            <p:stCondLst>
                              <p:cond delay="380"/>
                            </p:stCondLst>
                            <p:childTnLst>
                              <p:par>
                                <p:cTn id="47" presetID="10" presetClass="entr" presetSubtype="0"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childTnLst>
                          </p:cTn>
                        </p:par>
                        <p:par>
                          <p:cTn id="84" fill="hold">
                            <p:stCondLst>
                              <p:cond delay="380"/>
                            </p:stCondLst>
                            <p:childTnLst>
                              <p:par>
                                <p:cTn id="69" presetID="10" presetClass="entr" presetSubtype="0"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3" grpId="0" animBg="1"/>
      <p:bldP spid="14" grpId="0" animBg="1"/>
      <p:bldP spid="15" grpId="0" animBg="1"/>
      <p:bldP spid="16" grpId="0" animBg="1"/>
      <p:bldP spid="17" grpId="0" animBg="1"/>
      <p:bldP spid="20" grpId="0" animBg="1"/>
      <p:bldP spid="21" grpId="0" animBg="1"/>
      <p:bldP spid="22" grpId="0" animBg="1"/>
      <p:bldP spid="23" grpId="0" animBg="1"/>
      <p:bldP spid="24" grpId="0" animBg="1"/>
      <p:bldP spid="28" grpId="0" animBg="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5B6B8C"/>
                </a:solidFill>
                <a:latin typeface="Cambria" pitchFamily="34" charset="0"/>
                <a:ea typeface="Cambria" pitchFamily="34" charset="-122"/>
                <a:cs typeface="Cambria" pitchFamily="34" charset="-120"/>
              </a:rPr>
              <a:t>05</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The Debate</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Is “addictive” the right word?</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6A4C93"/>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A7A8C"/>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D88A1F"/>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050024" y="5166360"/>
            <a:ext cx="384048" cy="384048"/>
          </a:xfrm>
          <a:prstGeom prst="ellipse">
            <a:avLst/>
          </a:prstGeom>
          <a:solidFill>
            <a:srgbClr val="5B6B8C"/>
          </a:solidFill>
          <a:ln w="25400">
            <a:solidFill>
              <a:srgbClr val="FFFFFF"/>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2E4A6B"/>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706"/>
          <p:cNvSpPr/>
          <p:nvPr/>
        </p:nvSpPr>
        <p:spPr>
          <a:xfrm>
            <a:off x="10607040" y="2240280"/>
            <a:ext cx="960120" cy="960120"/>
          </a:xfrm>
          <a:prstGeom prst="ellipse">
            <a:avLst/>
          </a:prstGeom>
          <a:solidFill>
            <a:srgbClr val="5B6B8C"/>
          </a:solidFill>
          <a:ln w="6350">
            <a:solidFill>
              <a:srgbClr val="5B6B8C"/>
            </a:solidFill>
            <a:prstDash val="solid"/>
          </a:ln>
        </p:spPr>
      </p:sp>
      <p:pic>
        <p:nvPicPr>
          <p:cNvPr id="25" name="ic_707" descr="scaleU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competing narratives</a:t>
            </a:r>
            <a:endParaRPr lang="en-US" sz="3200" dirty="0"/>
          </a:p>
        </p:txBody>
      </p:sp>
      <p:sp>
        <p:nvSpPr>
          <p:cNvPr id="4" name="anim1_708"/>
          <p:cNvSpPr/>
          <p:nvPr/>
        </p:nvSpPr>
        <p:spPr>
          <a:xfrm>
            <a:off x="548640" y="1325880"/>
            <a:ext cx="5257800" cy="4206240"/>
          </a:xfrm>
          <a:prstGeom prst="roundRect">
            <a:avLst>
              <a:gd name="adj" fmla="val 1739"/>
            </a:avLst>
          </a:prstGeom>
          <a:solidFill>
            <a:srgbClr val="EFEAF6"/>
          </a:solidFill>
          <a:ln w="9525">
            <a:solidFill>
              <a:srgbClr val="DCD3EA"/>
            </a:solidFill>
            <a:prstDash val="solid"/>
          </a:ln>
          <a:effectLst>
            <a:outerShdw sx="100000" sy="100000" kx="0" ky="0" algn="bl" rotWithShape="0" blurRad="114300" dist="31750" dir="5400000">
              <a:srgbClr val="1B1F24">
                <a:alpha val="14000"/>
              </a:srgbClr>
            </a:outerShdw>
          </a:effectLst>
        </p:spPr>
      </p:sp>
      <p:sp>
        <p:nvSpPr>
          <p:cNvPr id="5" name="anim1_709"/>
          <p:cNvSpPr/>
          <p:nvPr/>
        </p:nvSpPr>
        <p:spPr>
          <a:xfrm>
            <a:off x="731520" y="1481328"/>
            <a:ext cx="566928" cy="566928"/>
          </a:xfrm>
          <a:prstGeom prst="ellipse">
            <a:avLst/>
          </a:prstGeom>
          <a:solidFill>
            <a:srgbClr val="6A4C93"/>
          </a:solidFill>
          <a:ln w="6350">
            <a:solidFill>
              <a:srgbClr val="6A4C93"/>
            </a:solidFill>
            <a:prstDash val="solid"/>
          </a:ln>
        </p:spPr>
      </p:sp>
      <p:pic>
        <p:nvPicPr>
          <p:cNvPr id="6" name="anim1_710" descr="check icon">    </p:cNvPr>
          <p:cNvPicPr>
            <a:picLocks noChangeAspect="1"/>
          </p:cNvPicPr>
          <p:nvPr/>
        </p:nvPicPr>
        <p:blipFill>
          <a:blip r:embed="rId1"/>
          <a:stretch>
            <a:fillRect/>
          </a:stretch>
        </p:blipFill>
        <p:spPr>
          <a:xfrm>
            <a:off x="884591" y="1634399"/>
            <a:ext cx="260787" cy="260787"/>
          </a:xfrm>
          <a:prstGeom prst="rect">
            <a:avLst/>
          </a:prstGeom>
        </p:spPr>
      </p:pic>
      <p:sp>
        <p:nvSpPr>
          <p:cNvPr id="7" name="anim1_711"/>
          <p:cNvSpPr txBox="1"/>
          <p:nvPr/>
        </p:nvSpPr>
        <p:spPr>
          <a:xfrm>
            <a:off x="1417320" y="1444752"/>
            <a:ext cx="4206240" cy="685800"/>
          </a:xfrm>
          <a:prstGeom prst="rect">
            <a:avLst/>
          </a:prstGeom>
          <a:noFill/>
          <a:ln/>
        </p:spPr>
        <p:txBody>
          <a:bodyPr wrap="square" lIns="0" tIns="0" rIns="0" bIns="0" rtlCol="0" anchor="ctr"/>
          <a:lstStyle/>
          <a:p>
            <a:pPr indent="0" marL="0">
              <a:buNone/>
            </a:pPr>
            <a:r>
              <a:rPr lang="en-US" sz="1900" b="1" dirty="0">
                <a:solidFill>
                  <a:srgbClr val="6A4C93"/>
                </a:solidFill>
                <a:latin typeface="Cambria" pitchFamily="34" charset="0"/>
                <a:ea typeface="Cambria" pitchFamily="34" charset="-122"/>
                <a:cs typeface="Cambria" pitchFamily="34" charset="-120"/>
              </a:rPr>
              <a:t>The case for</a:t>
            </a:r>
            <a:endParaRPr lang="en-US" sz="1900" dirty="0"/>
          </a:p>
          <a:p>
            <a:pPr indent="0" marL="0">
              <a:buNone/>
            </a:pPr>
            <a:r>
              <a:rPr lang="en-US" sz="1200" b="1" dirty="0">
                <a:solidFill>
                  <a:srgbClr val="5F6B76"/>
                </a:solidFill>
                <a:latin typeface="Calibri" pitchFamily="34" charset="0"/>
                <a:ea typeface="Calibri" pitchFamily="34" charset="-122"/>
                <a:cs typeface="Calibri" pitchFamily="34" charset="-120"/>
              </a:rPr>
              <a:t>Gearhardt and DiFeliceantonio 2023</a:t>
            </a:r>
            <a:endParaRPr lang="en-US" sz="1900" dirty="0"/>
          </a:p>
        </p:txBody>
      </p:sp>
      <p:sp>
        <p:nvSpPr>
          <p:cNvPr id="8" name="anim1_712"/>
          <p:cNvSpPr txBox="1"/>
          <p:nvPr/>
        </p:nvSpPr>
        <p:spPr>
          <a:xfrm>
            <a:off x="777240" y="2240280"/>
            <a:ext cx="4846320" cy="50292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Tobacco criteria (US Surgeon General, 1988) applied to highly processed foods:</a:t>
            </a:r>
            <a:endParaRPr lang="en-US" sz="1300" dirty="0"/>
          </a:p>
        </p:txBody>
      </p:sp>
      <p:sp>
        <p:nvSpPr>
          <p:cNvPr id="9" name="anim2_713"/>
          <p:cNvSpPr/>
          <p:nvPr/>
        </p:nvSpPr>
        <p:spPr>
          <a:xfrm>
            <a:off x="777240" y="2834640"/>
            <a:ext cx="2240280" cy="841248"/>
          </a:xfrm>
          <a:prstGeom prst="roundRect">
            <a:avLst>
              <a:gd name="adj" fmla="val 8696"/>
            </a:avLst>
          </a:prstGeom>
          <a:solidFill>
            <a:srgbClr val="FFFFFF"/>
          </a:solidFill>
          <a:ln w="12700">
            <a:solidFill>
              <a:srgbClr val="6A4C93"/>
            </a:solidFill>
            <a:prstDash val="solid"/>
          </a:ln>
        </p:spPr>
      </p:sp>
      <p:sp>
        <p:nvSpPr>
          <p:cNvPr id="10" name="anim2_714"/>
          <p:cNvSpPr txBox="1"/>
          <p:nvPr/>
        </p:nvSpPr>
        <p:spPr>
          <a:xfrm>
            <a:off x="886968" y="2907792"/>
            <a:ext cx="2011680" cy="320040"/>
          </a:xfrm>
          <a:prstGeom prst="rect">
            <a:avLst/>
          </a:prstGeom>
          <a:noFill/>
          <a:ln/>
        </p:spPr>
        <p:txBody>
          <a:bodyPr wrap="square" lIns="0" tIns="0" rIns="0" bIns="0" rtlCol="0" anchor="t"/>
          <a:lstStyle/>
          <a:p>
            <a:pPr indent="0" marL="0">
              <a:buNone/>
            </a:pPr>
            <a:r>
              <a:rPr lang="en-US" sz="1350" b="1" dirty="0">
                <a:solidFill>
                  <a:srgbClr val="6A4C93"/>
                </a:solidFill>
                <a:latin typeface="Calibri" pitchFamily="34" charset="0"/>
                <a:ea typeface="Calibri" pitchFamily="34" charset="-122"/>
                <a:cs typeface="Calibri" pitchFamily="34" charset="-120"/>
              </a:rPr>
              <a:t>Compulsive use</a:t>
            </a:r>
            <a:endParaRPr lang="en-US" sz="1350" dirty="0"/>
          </a:p>
        </p:txBody>
      </p:sp>
      <p:sp>
        <p:nvSpPr>
          <p:cNvPr id="11" name="anim2_715"/>
          <p:cNvSpPr txBox="1"/>
          <p:nvPr/>
        </p:nvSpPr>
        <p:spPr>
          <a:xfrm>
            <a:off x="886968" y="3246120"/>
            <a:ext cx="201168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despite wanting to stop</a:t>
            </a:r>
            <a:endParaRPr lang="en-US" sz="1150" dirty="0"/>
          </a:p>
        </p:txBody>
      </p:sp>
      <p:sp>
        <p:nvSpPr>
          <p:cNvPr id="12" name="anim2_716"/>
          <p:cNvSpPr/>
          <p:nvPr/>
        </p:nvSpPr>
        <p:spPr>
          <a:xfrm>
            <a:off x="3154680" y="2834640"/>
            <a:ext cx="2240280" cy="841248"/>
          </a:xfrm>
          <a:prstGeom prst="roundRect">
            <a:avLst>
              <a:gd name="adj" fmla="val 8696"/>
            </a:avLst>
          </a:prstGeom>
          <a:solidFill>
            <a:srgbClr val="FFFFFF"/>
          </a:solidFill>
          <a:ln w="12700">
            <a:solidFill>
              <a:srgbClr val="6A4C93"/>
            </a:solidFill>
            <a:prstDash val="solid"/>
          </a:ln>
        </p:spPr>
      </p:sp>
      <p:sp>
        <p:nvSpPr>
          <p:cNvPr id="13" name="anim2_717"/>
          <p:cNvSpPr txBox="1"/>
          <p:nvPr/>
        </p:nvSpPr>
        <p:spPr>
          <a:xfrm>
            <a:off x="3264408" y="2907792"/>
            <a:ext cx="2011680" cy="320040"/>
          </a:xfrm>
          <a:prstGeom prst="rect">
            <a:avLst/>
          </a:prstGeom>
          <a:noFill/>
          <a:ln/>
        </p:spPr>
        <p:txBody>
          <a:bodyPr wrap="square" lIns="0" tIns="0" rIns="0" bIns="0" rtlCol="0" anchor="t"/>
          <a:lstStyle/>
          <a:p>
            <a:pPr indent="0" marL="0">
              <a:buNone/>
            </a:pPr>
            <a:r>
              <a:rPr lang="en-US" sz="1350" b="1" dirty="0">
                <a:solidFill>
                  <a:srgbClr val="6A4C93"/>
                </a:solidFill>
                <a:latin typeface="Calibri" pitchFamily="34" charset="0"/>
                <a:ea typeface="Calibri" pitchFamily="34" charset="-122"/>
                <a:cs typeface="Calibri" pitchFamily="34" charset="-120"/>
              </a:rPr>
              <a:t>Psychoactive effects</a:t>
            </a:r>
            <a:endParaRPr lang="en-US" sz="1350" dirty="0"/>
          </a:p>
        </p:txBody>
      </p:sp>
      <p:sp>
        <p:nvSpPr>
          <p:cNvPr id="14" name="anim2_718"/>
          <p:cNvSpPr txBox="1"/>
          <p:nvPr/>
        </p:nvSpPr>
        <p:spPr>
          <a:xfrm>
            <a:off x="3264408" y="3246120"/>
            <a:ext cx="201168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changes mood or mental state</a:t>
            </a:r>
            <a:endParaRPr lang="en-US" sz="1150" dirty="0"/>
          </a:p>
        </p:txBody>
      </p:sp>
      <p:sp>
        <p:nvSpPr>
          <p:cNvPr id="15" name="anim2_719"/>
          <p:cNvSpPr/>
          <p:nvPr/>
        </p:nvSpPr>
        <p:spPr>
          <a:xfrm>
            <a:off x="777240" y="3794760"/>
            <a:ext cx="2240280" cy="841248"/>
          </a:xfrm>
          <a:prstGeom prst="roundRect">
            <a:avLst>
              <a:gd name="adj" fmla="val 8696"/>
            </a:avLst>
          </a:prstGeom>
          <a:solidFill>
            <a:srgbClr val="FFFFFF"/>
          </a:solidFill>
          <a:ln w="12700">
            <a:solidFill>
              <a:srgbClr val="6A4C93"/>
            </a:solidFill>
            <a:prstDash val="solid"/>
          </a:ln>
        </p:spPr>
      </p:sp>
      <p:sp>
        <p:nvSpPr>
          <p:cNvPr id="16" name="anim2_720"/>
          <p:cNvSpPr txBox="1"/>
          <p:nvPr/>
        </p:nvSpPr>
        <p:spPr>
          <a:xfrm>
            <a:off x="886968" y="3867912"/>
            <a:ext cx="2011680" cy="320040"/>
          </a:xfrm>
          <a:prstGeom prst="rect">
            <a:avLst/>
          </a:prstGeom>
          <a:noFill/>
          <a:ln/>
        </p:spPr>
        <p:txBody>
          <a:bodyPr wrap="square" lIns="0" tIns="0" rIns="0" bIns="0" rtlCol="0" anchor="t"/>
          <a:lstStyle/>
          <a:p>
            <a:pPr indent="0" marL="0">
              <a:buNone/>
            </a:pPr>
            <a:r>
              <a:rPr lang="en-US" sz="1350" b="1" dirty="0">
                <a:solidFill>
                  <a:srgbClr val="6A4C93"/>
                </a:solidFill>
                <a:latin typeface="Calibri" pitchFamily="34" charset="0"/>
                <a:ea typeface="Calibri" pitchFamily="34" charset="-122"/>
                <a:cs typeface="Calibri" pitchFamily="34" charset="-120"/>
              </a:rPr>
              <a:t>Reinforcement</a:t>
            </a:r>
            <a:endParaRPr lang="en-US" sz="1350" dirty="0"/>
          </a:p>
        </p:txBody>
      </p:sp>
      <p:sp>
        <p:nvSpPr>
          <p:cNvPr id="17" name="anim2_721"/>
          <p:cNvSpPr txBox="1"/>
          <p:nvPr/>
        </p:nvSpPr>
        <p:spPr>
          <a:xfrm>
            <a:off x="886968" y="4206240"/>
            <a:ext cx="201168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repeats consumption</a:t>
            </a:r>
            <a:endParaRPr lang="en-US" sz="1150" dirty="0"/>
          </a:p>
        </p:txBody>
      </p:sp>
      <p:sp>
        <p:nvSpPr>
          <p:cNvPr id="18" name="anim2_722"/>
          <p:cNvSpPr/>
          <p:nvPr/>
        </p:nvSpPr>
        <p:spPr>
          <a:xfrm>
            <a:off x="3154680" y="3794760"/>
            <a:ext cx="2240280" cy="841248"/>
          </a:xfrm>
          <a:prstGeom prst="roundRect">
            <a:avLst>
              <a:gd name="adj" fmla="val 8696"/>
            </a:avLst>
          </a:prstGeom>
          <a:solidFill>
            <a:srgbClr val="FFFFFF"/>
          </a:solidFill>
          <a:ln w="12700">
            <a:solidFill>
              <a:srgbClr val="6A4C93"/>
            </a:solidFill>
            <a:prstDash val="solid"/>
          </a:ln>
        </p:spPr>
      </p:sp>
      <p:sp>
        <p:nvSpPr>
          <p:cNvPr id="19" name="anim2_723"/>
          <p:cNvSpPr txBox="1"/>
          <p:nvPr/>
        </p:nvSpPr>
        <p:spPr>
          <a:xfrm>
            <a:off x="3264408" y="3867912"/>
            <a:ext cx="2011680" cy="320040"/>
          </a:xfrm>
          <a:prstGeom prst="rect">
            <a:avLst/>
          </a:prstGeom>
          <a:noFill/>
          <a:ln/>
        </p:spPr>
        <p:txBody>
          <a:bodyPr wrap="square" lIns="0" tIns="0" rIns="0" bIns="0" rtlCol="0" anchor="t"/>
          <a:lstStyle/>
          <a:p>
            <a:pPr indent="0" marL="0">
              <a:buNone/>
            </a:pPr>
            <a:r>
              <a:rPr lang="en-US" sz="1350" b="1" dirty="0">
                <a:solidFill>
                  <a:srgbClr val="6A4C93"/>
                </a:solidFill>
                <a:latin typeface="Calibri" pitchFamily="34" charset="0"/>
                <a:ea typeface="Calibri" pitchFamily="34" charset="-122"/>
                <a:cs typeface="Calibri" pitchFamily="34" charset="-120"/>
              </a:rPr>
              <a:t>Strong cravings</a:t>
            </a:r>
            <a:endParaRPr lang="en-US" sz="1350" dirty="0"/>
          </a:p>
        </p:txBody>
      </p:sp>
      <p:sp>
        <p:nvSpPr>
          <p:cNvPr id="20" name="anim2_724"/>
          <p:cNvSpPr txBox="1"/>
          <p:nvPr/>
        </p:nvSpPr>
        <p:spPr>
          <a:xfrm>
            <a:off x="3264408" y="4206240"/>
            <a:ext cx="2011680" cy="365760"/>
          </a:xfrm>
          <a:prstGeom prst="rect">
            <a:avLst/>
          </a:prstGeom>
          <a:noFill/>
          <a:ln/>
        </p:spPr>
        <p:txBody>
          <a:bodyPr wrap="square" lIns="0" tIns="0" rIns="0" bIns="0" rtlCol="0" anchor="t"/>
          <a:lstStyle/>
          <a:p>
            <a:pPr indent="0" marL="0">
              <a:buNone/>
            </a:pPr>
            <a:r>
              <a:rPr lang="en-US" sz="1150" dirty="0">
                <a:solidFill>
                  <a:srgbClr val="5F6B76"/>
                </a:solidFill>
                <a:latin typeface="Calibri" pitchFamily="34" charset="0"/>
                <a:ea typeface="Calibri" pitchFamily="34" charset="-122"/>
                <a:cs typeface="Calibri" pitchFamily="34" charset="-120"/>
              </a:rPr>
              <a:t>added later from addiction science</a:t>
            </a:r>
            <a:endParaRPr lang="en-US" sz="1150" dirty="0"/>
          </a:p>
        </p:txBody>
      </p:sp>
      <p:sp>
        <p:nvSpPr>
          <p:cNvPr id="21" name="anim2_725"/>
          <p:cNvSpPr txBox="1"/>
          <p:nvPr/>
        </p:nvSpPr>
        <p:spPr>
          <a:xfrm>
            <a:off x="777240" y="4800600"/>
            <a:ext cx="4846320" cy="640080"/>
          </a:xfrm>
          <a:prstGeom prst="rect">
            <a:avLst/>
          </a:prstGeom>
          <a:noFill/>
          <a:ln/>
        </p:spPr>
        <p:txBody>
          <a:bodyPr wrap="square" lIns="0" tIns="0" rIns="0" bIns="0" rtlCol="0" anchor="t"/>
          <a:lstStyle/>
          <a:p>
            <a:pPr indent="0" marL="0">
              <a:buNone/>
            </a:pPr>
            <a:r>
              <a:rPr lang="en-US" sz="1300" i="1" dirty="0">
                <a:solidFill>
                  <a:srgbClr val="6A4C93"/>
                </a:solidFill>
                <a:latin typeface="Calibri" pitchFamily="34" charset="0"/>
                <a:ea typeface="Calibri" pitchFamily="34" charset="-122"/>
                <a:cs typeface="Calibri" pitchFamily="34" charset="-120"/>
              </a:rPr>
              <a:t>No single active ingredient needed: as with tobacco, delivery speed and product design matter.</a:t>
            </a:r>
            <a:endParaRPr lang="en-US" sz="1300" dirty="0"/>
          </a:p>
        </p:txBody>
      </p:sp>
      <p:sp>
        <p:nvSpPr>
          <p:cNvPr id="22" name="anim3_726"/>
          <p:cNvSpPr/>
          <p:nvPr/>
        </p:nvSpPr>
        <p:spPr>
          <a:xfrm>
            <a:off x="5596128" y="3063240"/>
            <a:ext cx="1005840" cy="1005840"/>
          </a:xfrm>
          <a:prstGeom prst="ellipse">
            <a:avLst/>
          </a:prstGeom>
          <a:solidFill>
            <a:srgbClr val="1F3A5F"/>
          </a:solidFill>
          <a:ln w="38100">
            <a:solidFill>
              <a:srgbClr val="FFFFFF"/>
            </a:solidFill>
          </a:ln>
          <a:effectLst>
            <a:outerShdw sx="100000" sy="100000" kx="0" ky="0" algn="bl" rotWithShape="0" blurRad="114300" dist="31750" dir="5400000">
              <a:srgbClr val="1B1F24">
                <a:alpha val="14000"/>
              </a:srgbClr>
            </a:outerShdw>
          </a:effectLst>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VS</a:t>
            </a:r>
            <a:endParaRPr lang="en-US" sz="2400" dirty="0"/>
          </a:p>
        </p:txBody>
      </p:sp>
      <p:sp>
        <p:nvSpPr>
          <p:cNvPr id="23" name="anim3_727"/>
          <p:cNvSpPr/>
          <p:nvPr/>
        </p:nvSpPr>
        <p:spPr>
          <a:xfrm>
            <a:off x="6355080" y="1325880"/>
            <a:ext cx="5257800" cy="4206240"/>
          </a:xfrm>
          <a:prstGeom prst="roundRect">
            <a:avLst>
              <a:gd name="adj" fmla="val 1739"/>
            </a:avLst>
          </a:prstGeom>
          <a:solidFill>
            <a:srgbClr val="F8E9E9"/>
          </a:solidFill>
          <a:ln w="9525">
            <a:solidFill>
              <a:srgbClr val="EBCACB"/>
            </a:solidFill>
            <a:prstDash val="solid"/>
          </a:ln>
          <a:effectLst>
            <a:outerShdw sx="100000" sy="100000" kx="0" ky="0" algn="bl" rotWithShape="0" blurRad="114300" dist="31750" dir="5400000">
              <a:srgbClr val="1B1F24">
                <a:alpha val="14000"/>
              </a:srgbClr>
            </a:outerShdw>
          </a:effectLst>
        </p:spPr>
      </p:sp>
      <p:sp>
        <p:nvSpPr>
          <p:cNvPr id="24" name="anim3_728"/>
          <p:cNvSpPr/>
          <p:nvPr/>
        </p:nvSpPr>
        <p:spPr>
          <a:xfrm>
            <a:off x="6537960" y="1481328"/>
            <a:ext cx="566928" cy="566928"/>
          </a:xfrm>
          <a:prstGeom prst="ellipse">
            <a:avLst/>
          </a:prstGeom>
          <a:solidFill>
            <a:srgbClr val="B3393C"/>
          </a:solidFill>
          <a:ln w="6350">
            <a:solidFill>
              <a:srgbClr val="B3393C"/>
            </a:solidFill>
            <a:prstDash val="solid"/>
          </a:ln>
        </p:spPr>
      </p:sp>
      <p:pic>
        <p:nvPicPr>
          <p:cNvPr id="25" name="anim3_729" descr="xmark icon">    </p:cNvPr>
          <p:cNvPicPr>
            <a:picLocks noChangeAspect="1"/>
          </p:cNvPicPr>
          <p:nvPr/>
        </p:nvPicPr>
        <p:blipFill>
          <a:blip r:embed="rId2"/>
          <a:stretch>
            <a:fillRect/>
          </a:stretch>
        </p:blipFill>
        <p:spPr>
          <a:xfrm>
            <a:off x="6691031" y="1634399"/>
            <a:ext cx="260787" cy="260787"/>
          </a:xfrm>
          <a:prstGeom prst="rect">
            <a:avLst/>
          </a:prstGeom>
        </p:spPr>
      </p:pic>
      <p:sp>
        <p:nvSpPr>
          <p:cNvPr id="26" name="anim3_730"/>
          <p:cNvSpPr txBox="1"/>
          <p:nvPr/>
        </p:nvSpPr>
        <p:spPr>
          <a:xfrm>
            <a:off x="7223760" y="1444752"/>
            <a:ext cx="4297680" cy="685800"/>
          </a:xfrm>
          <a:prstGeom prst="rect">
            <a:avLst/>
          </a:prstGeom>
          <a:noFill/>
          <a:ln/>
        </p:spPr>
        <p:txBody>
          <a:bodyPr wrap="square" lIns="0" tIns="0" rIns="0" bIns="0" rtlCol="0" anchor="ctr"/>
          <a:lstStyle/>
          <a:p>
            <a:pPr indent="0" marL="0">
              <a:buNone/>
            </a:pPr>
            <a:r>
              <a:rPr lang="en-US" sz="1900" b="1" dirty="0">
                <a:solidFill>
                  <a:srgbClr val="B3393C"/>
                </a:solidFill>
                <a:latin typeface="Cambria" pitchFamily="34" charset="0"/>
                <a:ea typeface="Cambria" pitchFamily="34" charset="-122"/>
                <a:cs typeface="Cambria" pitchFamily="34" charset="-120"/>
              </a:rPr>
              <a:t>The case against</a:t>
            </a:r>
            <a:endParaRPr lang="en-US" sz="1900" dirty="0"/>
          </a:p>
          <a:p>
            <a:pPr indent="0" marL="0">
              <a:buNone/>
            </a:pPr>
            <a:r>
              <a:rPr lang="en-US" sz="1200" b="1" dirty="0">
                <a:solidFill>
                  <a:srgbClr val="5F6B76"/>
                </a:solidFill>
                <a:latin typeface="Calibri" pitchFamily="34" charset="0"/>
                <a:ea typeface="Calibri" pitchFamily="34" charset="-122"/>
                <a:cs typeface="Calibri" pitchFamily="34" charset="-120"/>
              </a:rPr>
              <a:t>Ziauddeen, Fletcher, Hebebrand and colleagues</a:t>
            </a:r>
            <a:endParaRPr lang="en-US" sz="1900" dirty="0"/>
          </a:p>
        </p:txBody>
      </p:sp>
      <p:sp>
        <p:nvSpPr>
          <p:cNvPr id="27" name="anim4_731"/>
          <p:cNvSpPr/>
          <p:nvPr/>
        </p:nvSpPr>
        <p:spPr>
          <a:xfrm>
            <a:off x="6583680" y="2286000"/>
            <a:ext cx="411480" cy="41148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8" name="anim4_732"/>
          <p:cNvSpPr txBox="1"/>
          <p:nvPr/>
        </p:nvSpPr>
        <p:spPr>
          <a:xfrm>
            <a:off x="7132320" y="2258568"/>
            <a:ext cx="4297680" cy="320040"/>
          </a:xfrm>
          <a:prstGeom prst="rect">
            <a:avLst/>
          </a:prstGeom>
          <a:noFill/>
          <a:ln/>
        </p:spPr>
        <p:txBody>
          <a:bodyPr wrap="square" lIns="0" tIns="0" rIns="0" bIns="0" rtlCol="0" anchor="t"/>
          <a:lstStyle/>
          <a:p>
            <a:pPr indent="0" marL="0">
              <a:buNone/>
            </a:pPr>
            <a:r>
              <a:rPr lang="en-US" sz="1400" b="1" dirty="0">
                <a:solidFill>
                  <a:srgbClr val="B3393C"/>
                </a:solidFill>
                <a:latin typeface="Calibri" pitchFamily="34" charset="0"/>
                <a:ea typeface="Calibri" pitchFamily="34" charset="-122"/>
                <a:cs typeface="Calibri" pitchFamily="34" charset="-120"/>
              </a:rPr>
              <a:t>No addictive agent</a:t>
            </a:r>
            <a:endParaRPr lang="en-US" sz="1400" dirty="0"/>
          </a:p>
        </p:txBody>
      </p:sp>
      <p:sp>
        <p:nvSpPr>
          <p:cNvPr id="29" name="anim4_733"/>
          <p:cNvSpPr txBox="1"/>
          <p:nvPr/>
        </p:nvSpPr>
        <p:spPr>
          <a:xfrm>
            <a:off x="7132320" y="2578608"/>
            <a:ext cx="4297680" cy="62179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Sugar? Fat? A combination? The agent is unspecified (Ziauddeen and Fletcher 2013).</a:t>
            </a:r>
            <a:endParaRPr lang="en-US" sz="1250" dirty="0"/>
          </a:p>
        </p:txBody>
      </p:sp>
      <p:sp>
        <p:nvSpPr>
          <p:cNvPr id="30" name="anim4_734"/>
          <p:cNvSpPr/>
          <p:nvPr/>
        </p:nvSpPr>
        <p:spPr>
          <a:xfrm>
            <a:off x="6583680" y="3182112"/>
            <a:ext cx="411480" cy="41148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1" name="anim4_735"/>
          <p:cNvSpPr txBox="1"/>
          <p:nvPr/>
        </p:nvSpPr>
        <p:spPr>
          <a:xfrm>
            <a:off x="7132320" y="3154680"/>
            <a:ext cx="4297680" cy="320040"/>
          </a:xfrm>
          <a:prstGeom prst="rect">
            <a:avLst/>
          </a:prstGeom>
          <a:noFill/>
          <a:ln/>
        </p:spPr>
        <p:txBody>
          <a:bodyPr wrap="square" lIns="0" tIns="0" rIns="0" bIns="0" rtlCol="0" anchor="t"/>
          <a:lstStyle/>
          <a:p>
            <a:pPr indent="0" marL="0">
              <a:buNone/>
            </a:pPr>
            <a:r>
              <a:rPr lang="en-US" sz="1400" b="1" dirty="0">
                <a:solidFill>
                  <a:srgbClr val="B3393C"/>
                </a:solidFill>
                <a:latin typeface="Calibri" pitchFamily="34" charset="0"/>
                <a:ea typeface="Calibri" pitchFamily="34" charset="-122"/>
                <a:cs typeface="Calibri" pitchFamily="34" charset="-120"/>
              </a:rPr>
              <a:t>Heterogeneous imaging</a:t>
            </a:r>
            <a:endParaRPr lang="en-US" sz="1400" dirty="0"/>
          </a:p>
        </p:txBody>
      </p:sp>
      <p:sp>
        <p:nvSpPr>
          <p:cNvPr id="32" name="anim4_736"/>
          <p:cNvSpPr txBox="1"/>
          <p:nvPr/>
        </p:nvSpPr>
        <p:spPr>
          <a:xfrm>
            <a:off x="7132320" y="3474720"/>
            <a:ext cx="4297680" cy="62179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Human findings are inconsistent, sometimes contradictory (Ziauddeen et al. 2012).</a:t>
            </a:r>
            <a:endParaRPr lang="en-US" sz="1250" dirty="0"/>
          </a:p>
        </p:txBody>
      </p:sp>
      <p:sp>
        <p:nvSpPr>
          <p:cNvPr id="33" name="anim4_737"/>
          <p:cNvSpPr/>
          <p:nvPr/>
        </p:nvSpPr>
        <p:spPr>
          <a:xfrm>
            <a:off x="6583680" y="4078224"/>
            <a:ext cx="411480" cy="41148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4" name="anim4_738"/>
          <p:cNvSpPr txBox="1"/>
          <p:nvPr/>
        </p:nvSpPr>
        <p:spPr>
          <a:xfrm>
            <a:off x="7132320" y="4050792"/>
            <a:ext cx="4297680" cy="320040"/>
          </a:xfrm>
          <a:prstGeom prst="rect">
            <a:avLst/>
          </a:prstGeom>
          <a:noFill/>
          <a:ln/>
        </p:spPr>
        <p:txBody>
          <a:bodyPr wrap="square" lIns="0" tIns="0" rIns="0" bIns="0" rtlCol="0" anchor="t"/>
          <a:lstStyle/>
          <a:p>
            <a:pPr indent="0" marL="0">
              <a:buNone/>
            </a:pPr>
            <a:r>
              <a:rPr lang="en-US" sz="1400" b="1" dirty="0">
                <a:solidFill>
                  <a:srgbClr val="B3393C"/>
                </a:solidFill>
                <a:latin typeface="Calibri" pitchFamily="34" charset="0"/>
                <a:ea typeface="Calibri" pitchFamily="34" charset="-122"/>
                <a:cs typeface="Calibri" pitchFamily="34" charset="-120"/>
              </a:rPr>
              <a:t>Wrong term</a:t>
            </a:r>
            <a:endParaRPr lang="en-US" sz="1400" dirty="0"/>
          </a:p>
        </p:txBody>
      </p:sp>
      <p:sp>
        <p:nvSpPr>
          <p:cNvPr id="35" name="anim4_739"/>
          <p:cNvSpPr txBox="1"/>
          <p:nvPr/>
        </p:nvSpPr>
        <p:spPr>
          <a:xfrm>
            <a:off x="7132320" y="4370832"/>
            <a:ext cx="4297680" cy="62179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“Eating addiction”: the behavior, not a substance, is addictive-like (Hebebrand et al. 2014).</a:t>
            </a:r>
            <a:endParaRPr lang="en-US" sz="1250" dirty="0"/>
          </a:p>
        </p:txBody>
      </p:sp>
      <p:sp>
        <p:nvSpPr>
          <p:cNvPr id="36" name="anim4_740"/>
          <p:cNvSpPr txBox="1"/>
          <p:nvPr/>
        </p:nvSpPr>
        <p:spPr>
          <a:xfrm>
            <a:off x="6583680" y="5010912"/>
            <a:ext cx="4892040" cy="475488"/>
          </a:xfrm>
          <a:prstGeom prst="rect">
            <a:avLst/>
          </a:prstGeom>
          <a:noFill/>
          <a:ln/>
        </p:spPr>
        <p:txBody>
          <a:bodyPr wrap="square" lIns="0" tIns="0" rIns="0" bIns="0" rtlCol="0" anchor="t"/>
          <a:lstStyle/>
          <a:p>
            <a:pPr indent="0" marL="0">
              <a:buNone/>
            </a:pPr>
            <a:r>
              <a:rPr lang="en-US" sz="1150" i="1" dirty="0">
                <a:solidFill>
                  <a:srgbClr val="5F6B76"/>
                </a:solidFill>
                <a:latin typeface="Calibri" pitchFamily="34" charset="0"/>
                <a:ea typeface="Calibri" pitchFamily="34" charset="-122"/>
                <a:cs typeface="Calibri" pitchFamily="34" charset="-120"/>
              </a:rPr>
              <a:t>Sugar addiction: human evidence scant; animal data rely on intermittent access (Westwater et al. 2016).</a:t>
            </a:r>
            <a:endParaRPr lang="en-US" sz="1150" dirty="0"/>
          </a:p>
        </p:txBody>
      </p:sp>
      <p:sp>
        <p:nvSpPr>
          <p:cNvPr id="37" name="anim5_741"/>
          <p:cNvSpPr/>
          <p:nvPr/>
        </p:nvSpPr>
        <p:spPr>
          <a:xfrm>
            <a:off x="548640" y="5623560"/>
            <a:ext cx="11064240" cy="411480"/>
          </a:xfrm>
          <a:prstGeom prst="roundRect">
            <a:avLst>
              <a:gd name="adj" fmla="val 17778"/>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38" name="anim5_742"/>
          <p:cNvSpPr txBox="1"/>
          <p:nvPr/>
        </p:nvSpPr>
        <p:spPr>
          <a:xfrm>
            <a:off x="731520" y="5623560"/>
            <a:ext cx="10789920" cy="41148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Still live: </a:t>
            </a:r>
            <a:r>
              <a:rPr lang="en-US" sz="1250" dirty="0">
                <a:solidFill>
                  <a:srgbClr val="1B1F24"/>
                </a:solidFill>
                <a:latin typeface="Calibri" pitchFamily="34" charset="0"/>
                <a:ea typeface="Calibri" pitchFamily="34" charset="-122"/>
                <a:cs typeface="Calibri" pitchFamily="34" charset="-120"/>
              </a:rPr>
              <a:t>Fletcher vs Kenny (2018) and the 2021 Gearhardt vs Hebebrand debate — about construct validity, interpretation and consequences, not just data.</a:t>
            </a:r>
            <a:endParaRPr lang="en-US" sz="125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3"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58"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childTnLst>
                          </p:cTn>
                        </p:par>
                        <p:par>
                          <p:cTn id="74" fill="hold">
                            <p:stCondLst>
                              <p:cond delay="380"/>
                            </p:stCondLst>
                            <p:childTnLst>
                              <p:par>
                                <p:cTn id="59" presetID="10" presetClass="entr" presetSubtype="0"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childTnLst>
                          </p:cTn>
                        </p:par>
                        <p:par>
                          <p:cTn id="105" fill="hold">
                            <p:stCondLst>
                              <p:cond delay="380"/>
                            </p:stCondLst>
                            <p:childTnLst>
                              <p:par>
                                <p:cTn id="75" presetID="10" presetClass="entr" presetSubtype="0" fill="hold" grpId="0"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45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45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45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2" fill="hold">
                            <p:stCondLst>
                              <p:cond delay="380"/>
                            </p:stCondLst>
                            <p:childTnLst>
                              <p:par>
                                <p:cTn id="106" presetID="10" presetClass="entr" presetSubtype="0" fill="hold"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1" grpId="0" animBg="1"/>
      <p:bldP spid="22"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Simpler explanations — and methodological limits</a:t>
            </a:r>
            <a:endParaRPr lang="en-US" sz="3200" dirty="0"/>
          </a:p>
        </p:txBody>
      </p:sp>
      <p:sp>
        <p:nvSpPr>
          <p:cNvPr id="4" name="Text 1"/>
          <p:cNvSpPr txBox="1"/>
          <p:nvPr/>
        </p:nvSpPr>
        <p:spPr>
          <a:xfrm>
            <a:off x="548640" y="1280160"/>
            <a:ext cx="6400800" cy="384048"/>
          </a:xfrm>
          <a:prstGeom prst="rect">
            <a:avLst/>
          </a:prstGeom>
          <a:noFill/>
          <a:ln/>
        </p:spPr>
        <p:txBody>
          <a:bodyPr wrap="square" lIns="0" tIns="0" rIns="0" bIns="0" rtlCol="0" anchor="t"/>
          <a:lstStyle/>
          <a:p>
            <a:pPr indent="0" marL="0">
              <a:buNone/>
            </a:pPr>
            <a:r>
              <a:rPr lang="en-US" sz="1800" b="1" dirty="0">
                <a:solidFill>
                  <a:srgbClr val="1F3A5F"/>
                </a:solidFill>
                <a:latin typeface="Cambria" pitchFamily="34" charset="0"/>
                <a:ea typeface="Cambria" pitchFamily="34" charset="-122"/>
                <a:cs typeface="Cambria" pitchFamily="34" charset="-120"/>
              </a:rPr>
              <a:t>Rule these out before invoking addiction</a:t>
            </a:r>
            <a:endParaRPr lang="en-US" sz="1800" dirty="0"/>
          </a:p>
        </p:txBody>
      </p:sp>
      <p:sp>
        <p:nvSpPr>
          <p:cNvPr id="5" name="anim1_743"/>
          <p:cNvSpPr/>
          <p:nvPr/>
        </p:nvSpPr>
        <p:spPr>
          <a:xfrm>
            <a:off x="548640" y="1783080"/>
            <a:ext cx="3154680" cy="1645920"/>
          </a:xfrm>
          <a:prstGeom prst="roundRect">
            <a:avLst>
              <a:gd name="adj" fmla="val 444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 name="anim1_744"/>
          <p:cNvSpPr/>
          <p:nvPr/>
        </p:nvSpPr>
        <p:spPr>
          <a:xfrm>
            <a:off x="731520" y="1965960"/>
            <a:ext cx="530352" cy="530352"/>
          </a:xfrm>
          <a:prstGeom prst="ellipse">
            <a:avLst/>
          </a:prstGeom>
          <a:solidFill>
            <a:srgbClr val="2A7A8C"/>
          </a:solidFill>
          <a:ln w="6350">
            <a:solidFill>
              <a:srgbClr val="2A7A8C"/>
            </a:solidFill>
            <a:prstDash val="solid"/>
          </a:ln>
        </p:spPr>
      </p:sp>
      <p:pic>
        <p:nvPicPr>
          <p:cNvPr id="7" name="anim1_745" descr="weight icon">    </p:cNvPr>
          <p:cNvPicPr>
            <a:picLocks noChangeAspect="1"/>
          </p:cNvPicPr>
          <p:nvPr/>
        </p:nvPicPr>
        <p:blipFill>
          <a:blip r:embed="rId1"/>
          <a:stretch>
            <a:fillRect/>
          </a:stretch>
        </p:blipFill>
        <p:spPr>
          <a:xfrm>
            <a:off x="874715" y="2109155"/>
            <a:ext cx="243962" cy="243962"/>
          </a:xfrm>
          <a:prstGeom prst="rect">
            <a:avLst/>
          </a:prstGeom>
        </p:spPr>
      </p:pic>
      <p:sp>
        <p:nvSpPr>
          <p:cNvPr id="8" name="anim1_746"/>
          <p:cNvSpPr txBox="1"/>
          <p:nvPr/>
        </p:nvSpPr>
        <p:spPr>
          <a:xfrm>
            <a:off x="1389888" y="1965960"/>
            <a:ext cx="2194560" cy="530352"/>
          </a:xfrm>
          <a:prstGeom prst="rect">
            <a:avLst/>
          </a:prstGeom>
          <a:noFill/>
          <a:ln/>
        </p:spPr>
        <p:txBody>
          <a:bodyPr wrap="square" lIns="0" tIns="0" rIns="0" bIns="0" rtlCol="0" anchor="ctr"/>
          <a:lstStyle/>
          <a:p>
            <a:pPr indent="0" marL="0">
              <a:buNone/>
            </a:pPr>
            <a:r>
              <a:rPr lang="en-US" sz="1600" b="1" dirty="0">
                <a:solidFill>
                  <a:srgbClr val="2A7A8C"/>
                </a:solidFill>
                <a:latin typeface="Cambria" pitchFamily="34" charset="0"/>
                <a:ea typeface="Cambria" pitchFamily="34" charset="-122"/>
                <a:cs typeface="Cambria" pitchFamily="34" charset="-120"/>
              </a:rPr>
              <a:t>Energy density</a:t>
            </a:r>
            <a:endParaRPr lang="en-US" sz="1600" dirty="0"/>
          </a:p>
        </p:txBody>
      </p:sp>
      <p:sp>
        <p:nvSpPr>
          <p:cNvPr id="9" name="anim1_747"/>
          <p:cNvSpPr txBox="1"/>
          <p:nvPr/>
        </p:nvSpPr>
        <p:spPr>
          <a:xfrm>
            <a:off x="731520" y="2587752"/>
            <a:ext cx="2834640" cy="777240"/>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More energy per gram → more energy at the same volume (Rolls 2009)</a:t>
            </a:r>
            <a:endParaRPr lang="en-US" sz="1250" dirty="0"/>
          </a:p>
        </p:txBody>
      </p:sp>
      <p:sp>
        <p:nvSpPr>
          <p:cNvPr id="10" name="anim2_748"/>
          <p:cNvSpPr/>
          <p:nvPr/>
        </p:nvSpPr>
        <p:spPr>
          <a:xfrm>
            <a:off x="3886200" y="1783080"/>
            <a:ext cx="3154680" cy="1645920"/>
          </a:xfrm>
          <a:prstGeom prst="roundRect">
            <a:avLst>
              <a:gd name="adj" fmla="val 444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1" name="anim2_749"/>
          <p:cNvSpPr/>
          <p:nvPr/>
        </p:nvSpPr>
        <p:spPr>
          <a:xfrm>
            <a:off x="4069080" y="1965960"/>
            <a:ext cx="530352" cy="530352"/>
          </a:xfrm>
          <a:prstGeom prst="ellipse">
            <a:avLst/>
          </a:prstGeom>
          <a:solidFill>
            <a:srgbClr val="3B7D5A"/>
          </a:solidFill>
          <a:ln w="6350">
            <a:solidFill>
              <a:srgbClr val="3B7D5A"/>
            </a:solidFill>
            <a:prstDash val="solid"/>
          </a:ln>
        </p:spPr>
      </p:sp>
      <p:pic>
        <p:nvPicPr>
          <p:cNvPr id="12" name="anim2_750" descr="egg icon">    </p:cNvPr>
          <p:cNvPicPr>
            <a:picLocks noChangeAspect="1"/>
          </p:cNvPicPr>
          <p:nvPr/>
        </p:nvPicPr>
        <p:blipFill>
          <a:blip r:embed="rId2"/>
          <a:stretch>
            <a:fillRect/>
          </a:stretch>
        </p:blipFill>
        <p:spPr>
          <a:xfrm>
            <a:off x="4212275" y="2109155"/>
            <a:ext cx="243962" cy="243962"/>
          </a:xfrm>
          <a:prstGeom prst="rect">
            <a:avLst/>
          </a:prstGeom>
        </p:spPr>
      </p:pic>
      <p:sp>
        <p:nvSpPr>
          <p:cNvPr id="13" name="anim2_751"/>
          <p:cNvSpPr txBox="1"/>
          <p:nvPr/>
        </p:nvSpPr>
        <p:spPr>
          <a:xfrm>
            <a:off x="4727448" y="1965960"/>
            <a:ext cx="2194560" cy="530352"/>
          </a:xfrm>
          <a:prstGeom prst="rect">
            <a:avLst/>
          </a:prstGeom>
          <a:noFill/>
          <a:ln/>
        </p:spPr>
        <p:txBody>
          <a:bodyPr wrap="square" lIns="0" tIns="0" rIns="0" bIns="0" rtlCol="0" anchor="ctr"/>
          <a:lstStyle/>
          <a:p>
            <a:pPr indent="0" marL="0">
              <a:buNone/>
            </a:pPr>
            <a:r>
              <a:rPr lang="en-US" sz="1600" b="1" dirty="0">
                <a:solidFill>
                  <a:srgbClr val="3B7D5A"/>
                </a:solidFill>
                <a:latin typeface="Cambria" pitchFamily="34" charset="0"/>
                <a:ea typeface="Cambria" pitchFamily="34" charset="-122"/>
                <a:cs typeface="Cambria" pitchFamily="34" charset="-120"/>
              </a:rPr>
              <a:t>Protein leverage</a:t>
            </a:r>
            <a:endParaRPr lang="en-US" sz="1600" dirty="0"/>
          </a:p>
        </p:txBody>
      </p:sp>
      <p:sp>
        <p:nvSpPr>
          <p:cNvPr id="14" name="anim2_752"/>
          <p:cNvSpPr txBox="1"/>
          <p:nvPr/>
        </p:nvSpPr>
        <p:spPr>
          <a:xfrm>
            <a:off x="4069080" y="2587752"/>
            <a:ext cx="2834640" cy="777240"/>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Diluted protein → eat more to hit a protein target (Simpson and Raubenheimer 2005)</a:t>
            </a:r>
            <a:endParaRPr lang="en-US" sz="1250" dirty="0"/>
          </a:p>
        </p:txBody>
      </p:sp>
      <p:sp>
        <p:nvSpPr>
          <p:cNvPr id="15" name="anim3_753"/>
          <p:cNvSpPr/>
          <p:nvPr/>
        </p:nvSpPr>
        <p:spPr>
          <a:xfrm>
            <a:off x="548640" y="3566160"/>
            <a:ext cx="3154680" cy="1645920"/>
          </a:xfrm>
          <a:prstGeom prst="roundRect">
            <a:avLst>
              <a:gd name="adj" fmla="val 444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6" name="anim3_754"/>
          <p:cNvSpPr/>
          <p:nvPr/>
        </p:nvSpPr>
        <p:spPr>
          <a:xfrm>
            <a:off x="731520" y="3749040"/>
            <a:ext cx="530352" cy="530352"/>
          </a:xfrm>
          <a:prstGeom prst="ellipse">
            <a:avLst/>
          </a:prstGeom>
          <a:solidFill>
            <a:srgbClr val="D88A1F"/>
          </a:solidFill>
          <a:ln w="6350">
            <a:solidFill>
              <a:srgbClr val="D88A1F"/>
            </a:solidFill>
            <a:prstDash val="solid"/>
          </a:ln>
        </p:spPr>
      </p:sp>
      <p:pic>
        <p:nvPicPr>
          <p:cNvPr id="17" name="anim3_755" descr="hourglass icon">    </p:cNvPr>
          <p:cNvPicPr>
            <a:picLocks noChangeAspect="1"/>
          </p:cNvPicPr>
          <p:nvPr/>
        </p:nvPicPr>
        <p:blipFill>
          <a:blip r:embed="rId3"/>
          <a:stretch>
            <a:fillRect/>
          </a:stretch>
        </p:blipFill>
        <p:spPr>
          <a:xfrm>
            <a:off x="874715" y="3892235"/>
            <a:ext cx="243962" cy="243962"/>
          </a:xfrm>
          <a:prstGeom prst="rect">
            <a:avLst/>
          </a:prstGeom>
        </p:spPr>
      </p:pic>
      <p:sp>
        <p:nvSpPr>
          <p:cNvPr id="18" name="anim3_756"/>
          <p:cNvSpPr txBox="1"/>
          <p:nvPr/>
        </p:nvSpPr>
        <p:spPr>
          <a:xfrm>
            <a:off x="1389888" y="3749040"/>
            <a:ext cx="2194560" cy="530352"/>
          </a:xfrm>
          <a:prstGeom prst="rect">
            <a:avLst/>
          </a:prstGeom>
          <a:noFill/>
          <a:ln/>
        </p:spPr>
        <p:txBody>
          <a:bodyPr wrap="square" lIns="0" tIns="0" rIns="0" bIns="0" rtlCol="0" anchor="ctr"/>
          <a:lstStyle/>
          <a:p>
            <a:pPr indent="0" marL="0">
              <a:buNone/>
            </a:pPr>
            <a:r>
              <a:rPr lang="en-US" sz="1600" b="1" dirty="0">
                <a:solidFill>
                  <a:srgbClr val="D88A1F"/>
                </a:solidFill>
                <a:latin typeface="Cambria" pitchFamily="34" charset="0"/>
                <a:ea typeface="Cambria" pitchFamily="34" charset="-122"/>
                <a:cs typeface="Cambria" pitchFamily="34" charset="-120"/>
              </a:rPr>
              <a:t>Eating rate</a:t>
            </a:r>
            <a:endParaRPr lang="en-US" sz="1600" dirty="0"/>
          </a:p>
        </p:txBody>
      </p:sp>
      <p:sp>
        <p:nvSpPr>
          <p:cNvPr id="19" name="anim3_757"/>
          <p:cNvSpPr txBox="1"/>
          <p:nvPr/>
        </p:nvSpPr>
        <p:spPr>
          <a:xfrm>
            <a:off x="731520" y="4370832"/>
            <a:ext cx="2834640" cy="777240"/>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Soft texture, less chewing → faster eating → more intake (Robinson et al. 2014)</a:t>
            </a:r>
            <a:endParaRPr lang="en-US" sz="1250" dirty="0"/>
          </a:p>
        </p:txBody>
      </p:sp>
      <p:sp>
        <p:nvSpPr>
          <p:cNvPr id="20" name="anim4_758"/>
          <p:cNvSpPr/>
          <p:nvPr/>
        </p:nvSpPr>
        <p:spPr>
          <a:xfrm>
            <a:off x="3886200" y="3566160"/>
            <a:ext cx="3154680" cy="1645920"/>
          </a:xfrm>
          <a:prstGeom prst="roundRect">
            <a:avLst>
              <a:gd name="adj" fmla="val 4444"/>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1" name="anim4_759"/>
          <p:cNvSpPr/>
          <p:nvPr/>
        </p:nvSpPr>
        <p:spPr>
          <a:xfrm>
            <a:off x="4069080" y="3749040"/>
            <a:ext cx="530352" cy="530352"/>
          </a:xfrm>
          <a:prstGeom prst="ellipse">
            <a:avLst/>
          </a:prstGeom>
          <a:solidFill>
            <a:srgbClr val="6A4C93"/>
          </a:solidFill>
          <a:ln w="6350">
            <a:solidFill>
              <a:srgbClr val="6A4C93"/>
            </a:solidFill>
            <a:prstDash val="solid"/>
          </a:ln>
        </p:spPr>
      </p:sp>
      <p:pic>
        <p:nvPicPr>
          <p:cNvPr id="22" name="anim4_760" descr="repeat icon">    </p:cNvPr>
          <p:cNvPicPr>
            <a:picLocks noChangeAspect="1"/>
          </p:cNvPicPr>
          <p:nvPr/>
        </p:nvPicPr>
        <p:blipFill>
          <a:blip r:embed="rId4"/>
          <a:stretch>
            <a:fillRect/>
          </a:stretch>
        </p:blipFill>
        <p:spPr>
          <a:xfrm>
            <a:off x="4212275" y="3892235"/>
            <a:ext cx="243962" cy="243962"/>
          </a:xfrm>
          <a:prstGeom prst="rect">
            <a:avLst/>
          </a:prstGeom>
        </p:spPr>
      </p:pic>
      <p:sp>
        <p:nvSpPr>
          <p:cNvPr id="23" name="anim4_761"/>
          <p:cNvSpPr txBox="1"/>
          <p:nvPr/>
        </p:nvSpPr>
        <p:spPr>
          <a:xfrm>
            <a:off x="4727448" y="3749040"/>
            <a:ext cx="2194560" cy="530352"/>
          </a:xfrm>
          <a:prstGeom prst="rect">
            <a:avLst/>
          </a:prstGeom>
          <a:noFill/>
          <a:ln/>
        </p:spPr>
        <p:txBody>
          <a:bodyPr wrap="square" lIns="0" tIns="0" rIns="0" bIns="0" rtlCol="0" anchor="ctr"/>
          <a:lstStyle/>
          <a:p>
            <a:pPr indent="0" marL="0">
              <a:buNone/>
            </a:pPr>
            <a:r>
              <a:rPr lang="en-US" sz="1600" b="1" dirty="0">
                <a:solidFill>
                  <a:srgbClr val="6A4C93"/>
                </a:solidFill>
                <a:latin typeface="Cambria" pitchFamily="34" charset="0"/>
                <a:ea typeface="Cambria" pitchFamily="34" charset="-122"/>
                <a:cs typeface="Cambria" pitchFamily="34" charset="-120"/>
              </a:rPr>
              <a:t>Restraint–binge cycle</a:t>
            </a:r>
            <a:endParaRPr lang="en-US" sz="1600" dirty="0"/>
          </a:p>
        </p:txBody>
      </p:sp>
      <p:sp>
        <p:nvSpPr>
          <p:cNvPr id="24" name="anim4_762"/>
          <p:cNvSpPr txBox="1"/>
          <p:nvPr/>
        </p:nvSpPr>
        <p:spPr>
          <a:xfrm>
            <a:off x="4069080" y="4370832"/>
            <a:ext cx="2834640" cy="777240"/>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Dietary restriction followed by overeating (Fairburn et al. 2003)</a:t>
            </a:r>
            <a:endParaRPr lang="en-US" sz="1250" dirty="0"/>
          </a:p>
        </p:txBody>
      </p:sp>
      <p:sp>
        <p:nvSpPr>
          <p:cNvPr id="25" name="anim5_763"/>
          <p:cNvSpPr/>
          <p:nvPr/>
        </p:nvSpPr>
        <p:spPr>
          <a:xfrm>
            <a:off x="548640" y="5394960"/>
            <a:ext cx="6492240" cy="594360"/>
          </a:xfrm>
          <a:prstGeom prst="roundRect">
            <a:avLst>
              <a:gd name="adj" fmla="val 12308"/>
            </a:avLst>
          </a:prstGeom>
          <a:solidFill>
            <a:srgbClr val="E6F1F3"/>
          </a:solidFill>
          <a:ln w="9525">
            <a:solidFill>
              <a:srgbClr val="CFE3E7"/>
            </a:solidFill>
            <a:prstDash val="solid"/>
          </a:ln>
          <a:effectLst>
            <a:outerShdw sx="100000" sy="100000" kx="0" ky="0" algn="bl" rotWithShape="0" blurRad="114300" dist="31750" dir="5400000">
              <a:srgbClr val="1B1F24">
                <a:alpha val="14000"/>
              </a:srgbClr>
            </a:outerShdw>
          </a:effectLst>
        </p:spPr>
      </p:sp>
      <p:sp>
        <p:nvSpPr>
          <p:cNvPr id="26" name="anim5_764"/>
          <p:cNvSpPr txBox="1"/>
          <p:nvPr/>
        </p:nvSpPr>
        <p:spPr>
          <a:xfrm>
            <a:off x="731520" y="5394960"/>
            <a:ext cx="6217920" cy="594360"/>
          </a:xfrm>
          <a:prstGeom prst="rect">
            <a:avLst/>
          </a:prstGeom>
          <a:noFill/>
          <a:ln/>
        </p:spPr>
        <p:txBody>
          <a:bodyPr wrap="square" lIns="0" tIns="0" rIns="0" bIns="0" rtlCol="0" anchor="ctr"/>
          <a:lstStyle/>
          <a:p>
            <a:pPr indent="0" marL="0">
              <a:buNone/>
            </a:pPr>
            <a:r>
              <a:rPr lang="en-US" sz="1350" b="1" dirty="0">
                <a:solidFill>
                  <a:srgbClr val="2A7A8C"/>
                </a:solidFill>
                <a:latin typeface="Calibri" pitchFamily="34" charset="0"/>
                <a:ea typeface="Calibri" pitchFamily="34" charset="-122"/>
                <a:cs typeface="Calibri" pitchFamily="34" charset="-120"/>
              </a:rPr>
              <a:t>Not mutually exclusive: </a:t>
            </a:r>
            <a:r>
              <a:rPr lang="en-US" sz="1350" dirty="0">
                <a:solidFill>
                  <a:srgbClr val="1B1F24"/>
                </a:solidFill>
                <a:latin typeface="Calibri" pitchFamily="34" charset="0"/>
                <a:ea typeface="Calibri" pitchFamily="34" charset="-122"/>
                <a:cs typeface="Calibri" pitchFamily="34" charset="-120"/>
              </a:rPr>
              <a:t>weights differ between people; addiction may fit a subgroup.</a:t>
            </a:r>
            <a:endParaRPr lang="en-US" sz="1350" dirty="0"/>
          </a:p>
        </p:txBody>
      </p:sp>
      <p:sp>
        <p:nvSpPr>
          <p:cNvPr id="27" name="anim6_765"/>
          <p:cNvSpPr/>
          <p:nvPr/>
        </p:nvSpPr>
        <p:spPr>
          <a:xfrm>
            <a:off x="7269480" y="1325880"/>
            <a:ext cx="4343400" cy="4663440"/>
          </a:xfrm>
          <a:prstGeom prst="roundRect">
            <a:avLst>
              <a:gd name="adj" fmla="val 1684"/>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28" name="anim6_766"/>
          <p:cNvSpPr txBox="1"/>
          <p:nvPr/>
        </p:nvSpPr>
        <p:spPr>
          <a:xfrm>
            <a:off x="7498080" y="1463040"/>
            <a:ext cx="3931920" cy="411480"/>
          </a:xfrm>
          <a:prstGeom prst="rect">
            <a:avLst/>
          </a:prstGeom>
          <a:noFill/>
          <a:ln/>
        </p:spPr>
        <p:txBody>
          <a:bodyPr wrap="square" lIns="0" tIns="0" rIns="0" bIns="0" rtlCol="0" anchor="t"/>
          <a:lstStyle/>
          <a:p>
            <a:pPr indent="0" marL="0">
              <a:buNone/>
            </a:pPr>
            <a:r>
              <a:rPr lang="en-US" sz="1800" b="1" dirty="0">
                <a:solidFill>
                  <a:srgbClr val="B3393C"/>
                </a:solidFill>
                <a:latin typeface="Cambria" pitchFamily="34" charset="0"/>
                <a:ea typeface="Cambria" pitchFamily="34" charset="-122"/>
                <a:cs typeface="Cambria" pitchFamily="34" charset="-120"/>
              </a:rPr>
              <a:t>Methodological limits</a:t>
            </a:r>
            <a:endParaRPr lang="en-US" sz="1800" dirty="0"/>
          </a:p>
        </p:txBody>
      </p:sp>
      <p:sp>
        <p:nvSpPr>
          <p:cNvPr id="29" name="anim6_767"/>
          <p:cNvSpPr/>
          <p:nvPr/>
        </p:nvSpPr>
        <p:spPr>
          <a:xfrm>
            <a:off x="7498080" y="2011680"/>
            <a:ext cx="475488" cy="475488"/>
          </a:xfrm>
          <a:prstGeom prst="ellipse">
            <a:avLst/>
          </a:prstGeom>
          <a:solidFill>
            <a:srgbClr val="5B6B8C"/>
          </a:solidFill>
          <a:ln w="6350">
            <a:solidFill>
              <a:srgbClr val="5B6B8C"/>
            </a:solidFill>
            <a:prstDash val="solid"/>
          </a:ln>
        </p:spPr>
      </p:sp>
      <p:pic>
        <p:nvPicPr>
          <p:cNvPr id="30" name="anim6_768" descr="clipboard icon">    </p:cNvPr>
          <p:cNvPicPr>
            <a:picLocks noChangeAspect="1"/>
          </p:cNvPicPr>
          <p:nvPr/>
        </p:nvPicPr>
        <p:blipFill>
          <a:blip r:embed="rId5"/>
          <a:stretch>
            <a:fillRect/>
          </a:stretch>
        </p:blipFill>
        <p:spPr>
          <a:xfrm>
            <a:off x="7626462" y="2140062"/>
            <a:ext cx="218724" cy="218724"/>
          </a:xfrm>
          <a:prstGeom prst="rect">
            <a:avLst/>
          </a:prstGeom>
        </p:spPr>
      </p:pic>
      <p:sp>
        <p:nvSpPr>
          <p:cNvPr id="31" name="anim6_769"/>
          <p:cNvSpPr txBox="1"/>
          <p:nvPr/>
        </p:nvSpPr>
        <p:spPr>
          <a:xfrm>
            <a:off x="8138160" y="1956816"/>
            <a:ext cx="3337560" cy="292608"/>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Dietary assessment</a:t>
            </a:r>
            <a:endParaRPr lang="en-US" sz="1350" dirty="0"/>
          </a:p>
        </p:txBody>
      </p:sp>
      <p:sp>
        <p:nvSpPr>
          <p:cNvPr id="32" name="anim6_770"/>
          <p:cNvSpPr txBox="1"/>
          <p:nvPr/>
        </p:nvSpPr>
        <p:spPr>
          <a:xfrm>
            <a:off x="8138160" y="2249424"/>
            <a:ext cx="3337560" cy="365760"/>
          </a:xfrm>
          <a:prstGeom prst="rect">
            <a:avLst/>
          </a:prstGeom>
          <a:noFill/>
          <a:ln/>
        </p:spPr>
        <p:txBody>
          <a:bodyPr wrap="square" lIns="0" tIns="0" rIns="0" bIns="0" rtlCol="0" anchor="t"/>
          <a:lstStyle/>
          <a:p>
            <a:pPr indent="0" marL="0">
              <a:buNone/>
            </a:pPr>
            <a:r>
              <a:rPr lang="en-US" sz="1200" dirty="0">
                <a:solidFill>
                  <a:srgbClr val="5F6B76"/>
                </a:solidFill>
                <a:latin typeface="Calibri" pitchFamily="34" charset="0"/>
                <a:ea typeface="Calibri" pitchFamily="34" charset="-122"/>
                <a:cs typeface="Calibri" pitchFamily="34" charset="-120"/>
              </a:rPr>
              <a:t>FFQs and recalls misclassify NOVA groups</a:t>
            </a:r>
            <a:endParaRPr lang="en-US" sz="1200" dirty="0"/>
          </a:p>
        </p:txBody>
      </p:sp>
      <p:sp>
        <p:nvSpPr>
          <p:cNvPr id="33" name="anim7_771"/>
          <p:cNvSpPr/>
          <p:nvPr/>
        </p:nvSpPr>
        <p:spPr>
          <a:xfrm>
            <a:off x="7498080" y="2788920"/>
            <a:ext cx="475488" cy="475488"/>
          </a:xfrm>
          <a:prstGeom prst="ellipse">
            <a:avLst/>
          </a:prstGeom>
          <a:solidFill>
            <a:srgbClr val="5B6B8C"/>
          </a:solidFill>
          <a:ln w="6350">
            <a:solidFill>
              <a:srgbClr val="5B6B8C"/>
            </a:solidFill>
            <a:prstDash val="solid"/>
          </a:ln>
        </p:spPr>
      </p:sp>
      <p:pic>
        <p:nvPicPr>
          <p:cNvPr id="34" name="anim7_772" descr="users icon">    </p:cNvPr>
          <p:cNvPicPr>
            <a:picLocks noChangeAspect="1"/>
          </p:cNvPicPr>
          <p:nvPr/>
        </p:nvPicPr>
        <p:blipFill>
          <a:blip r:embed="rId6"/>
          <a:stretch>
            <a:fillRect/>
          </a:stretch>
        </p:blipFill>
        <p:spPr>
          <a:xfrm>
            <a:off x="7626462" y="2917302"/>
            <a:ext cx="218724" cy="218724"/>
          </a:xfrm>
          <a:prstGeom prst="rect">
            <a:avLst/>
          </a:prstGeom>
        </p:spPr>
      </p:pic>
      <p:sp>
        <p:nvSpPr>
          <p:cNvPr id="35" name="anim7_773"/>
          <p:cNvSpPr txBox="1"/>
          <p:nvPr/>
        </p:nvSpPr>
        <p:spPr>
          <a:xfrm>
            <a:off x="8138160" y="2734056"/>
            <a:ext cx="3337560" cy="292608"/>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Residual confounding</a:t>
            </a:r>
            <a:endParaRPr lang="en-US" sz="1350" dirty="0"/>
          </a:p>
        </p:txBody>
      </p:sp>
      <p:sp>
        <p:nvSpPr>
          <p:cNvPr id="36" name="anim7_774"/>
          <p:cNvSpPr txBox="1"/>
          <p:nvPr/>
        </p:nvSpPr>
        <p:spPr>
          <a:xfrm>
            <a:off x="8138160" y="3026664"/>
            <a:ext cx="3337560" cy="365760"/>
          </a:xfrm>
          <a:prstGeom prst="rect">
            <a:avLst/>
          </a:prstGeom>
          <a:noFill/>
          <a:ln/>
        </p:spPr>
        <p:txBody>
          <a:bodyPr wrap="square" lIns="0" tIns="0" rIns="0" bIns="0" rtlCol="0" anchor="t"/>
          <a:lstStyle/>
          <a:p>
            <a:pPr indent="0" marL="0">
              <a:buNone/>
            </a:pPr>
            <a:r>
              <a:rPr lang="en-US" sz="1200" dirty="0">
                <a:solidFill>
                  <a:srgbClr val="5F6B76"/>
                </a:solidFill>
                <a:latin typeface="Calibri" pitchFamily="34" charset="0"/>
                <a:ea typeface="Calibri" pitchFamily="34" charset="-122"/>
                <a:cs typeface="Calibri" pitchFamily="34" charset="-120"/>
              </a:rPr>
              <a:t>UPF intake tracks social and lifestyle factors</a:t>
            </a:r>
            <a:endParaRPr lang="en-US" sz="1200" dirty="0"/>
          </a:p>
        </p:txBody>
      </p:sp>
      <p:sp>
        <p:nvSpPr>
          <p:cNvPr id="37" name="anim8_775"/>
          <p:cNvSpPr/>
          <p:nvPr/>
        </p:nvSpPr>
        <p:spPr>
          <a:xfrm>
            <a:off x="7498080" y="3566160"/>
            <a:ext cx="475488" cy="475488"/>
          </a:xfrm>
          <a:prstGeom prst="ellipse">
            <a:avLst/>
          </a:prstGeom>
          <a:solidFill>
            <a:srgbClr val="5B6B8C"/>
          </a:solidFill>
          <a:ln w="6350">
            <a:solidFill>
              <a:srgbClr val="5B6B8C"/>
            </a:solidFill>
            <a:prstDash val="solid"/>
          </a:ln>
        </p:spPr>
      </p:sp>
      <p:pic>
        <p:nvPicPr>
          <p:cNvPr id="38" name="anim8_776" descr="arrow icon">    </p:cNvPr>
          <p:cNvPicPr>
            <a:picLocks noChangeAspect="1"/>
          </p:cNvPicPr>
          <p:nvPr/>
        </p:nvPicPr>
        <p:blipFill>
          <a:blip r:embed="rId7"/>
          <a:stretch>
            <a:fillRect/>
          </a:stretch>
        </p:blipFill>
        <p:spPr>
          <a:xfrm>
            <a:off x="7626462" y="3694542"/>
            <a:ext cx="218724" cy="218724"/>
          </a:xfrm>
          <a:prstGeom prst="rect">
            <a:avLst/>
          </a:prstGeom>
        </p:spPr>
      </p:pic>
      <p:sp>
        <p:nvSpPr>
          <p:cNvPr id="39" name="anim8_777"/>
          <p:cNvSpPr txBox="1"/>
          <p:nvPr/>
        </p:nvSpPr>
        <p:spPr>
          <a:xfrm>
            <a:off x="8138160" y="3511296"/>
            <a:ext cx="3337560" cy="292608"/>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Reverse causation</a:t>
            </a:r>
            <a:endParaRPr lang="en-US" sz="1350" dirty="0"/>
          </a:p>
        </p:txBody>
      </p:sp>
      <p:sp>
        <p:nvSpPr>
          <p:cNvPr id="40" name="anim8_778"/>
          <p:cNvSpPr txBox="1"/>
          <p:nvPr/>
        </p:nvSpPr>
        <p:spPr>
          <a:xfrm>
            <a:off x="8138160" y="3803904"/>
            <a:ext cx="3337560" cy="365760"/>
          </a:xfrm>
          <a:prstGeom prst="rect">
            <a:avLst/>
          </a:prstGeom>
          <a:noFill/>
          <a:ln/>
        </p:spPr>
        <p:txBody>
          <a:bodyPr wrap="square" lIns="0" tIns="0" rIns="0" bIns="0" rtlCol="0" anchor="t"/>
          <a:lstStyle/>
          <a:p>
            <a:pPr indent="0" marL="0">
              <a:buNone/>
            </a:pPr>
            <a:r>
              <a:rPr lang="en-US" sz="1200" dirty="0">
                <a:solidFill>
                  <a:srgbClr val="5F6B76"/>
                </a:solidFill>
                <a:latin typeface="Calibri" pitchFamily="34" charset="0"/>
                <a:ea typeface="Calibri" pitchFamily="34" charset="-122"/>
                <a:cs typeface="Calibri" pitchFamily="34" charset="-120"/>
              </a:rPr>
              <a:t>Mental health ↔ UPF may run both ways</a:t>
            </a:r>
            <a:endParaRPr lang="en-US" sz="1200" dirty="0"/>
          </a:p>
        </p:txBody>
      </p:sp>
      <p:sp>
        <p:nvSpPr>
          <p:cNvPr id="41" name="anim9_779"/>
          <p:cNvSpPr/>
          <p:nvPr/>
        </p:nvSpPr>
        <p:spPr>
          <a:xfrm>
            <a:off x="7498080" y="4343400"/>
            <a:ext cx="475488" cy="475488"/>
          </a:xfrm>
          <a:prstGeom prst="ellipse">
            <a:avLst/>
          </a:prstGeom>
          <a:solidFill>
            <a:srgbClr val="5B6B8C"/>
          </a:solidFill>
          <a:ln w="6350">
            <a:solidFill>
              <a:srgbClr val="5B6B8C"/>
            </a:solidFill>
            <a:prstDash val="solid"/>
          </a:ln>
        </p:spPr>
      </p:sp>
      <p:pic>
        <p:nvPicPr>
          <p:cNvPr id="42" name="anim9_780" descr="chart icon">    </p:cNvPr>
          <p:cNvPicPr>
            <a:picLocks noChangeAspect="1"/>
          </p:cNvPicPr>
          <p:nvPr/>
        </p:nvPicPr>
        <p:blipFill>
          <a:blip r:embed="rId8"/>
          <a:stretch>
            <a:fillRect/>
          </a:stretch>
        </p:blipFill>
        <p:spPr>
          <a:xfrm>
            <a:off x="7626462" y="4471782"/>
            <a:ext cx="218724" cy="218724"/>
          </a:xfrm>
          <a:prstGeom prst="rect">
            <a:avLst/>
          </a:prstGeom>
        </p:spPr>
      </p:pic>
      <p:sp>
        <p:nvSpPr>
          <p:cNvPr id="43" name="anim9_781"/>
          <p:cNvSpPr txBox="1"/>
          <p:nvPr/>
        </p:nvSpPr>
        <p:spPr>
          <a:xfrm>
            <a:off x="8138160" y="4288536"/>
            <a:ext cx="3337560" cy="292608"/>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Excess significance</a:t>
            </a:r>
            <a:endParaRPr lang="en-US" sz="1350" dirty="0"/>
          </a:p>
        </p:txBody>
      </p:sp>
      <p:sp>
        <p:nvSpPr>
          <p:cNvPr id="44" name="anim9_782"/>
          <p:cNvSpPr txBox="1"/>
          <p:nvPr/>
        </p:nvSpPr>
        <p:spPr>
          <a:xfrm>
            <a:off x="8138160" y="4581144"/>
            <a:ext cx="3337560" cy="365760"/>
          </a:xfrm>
          <a:prstGeom prst="rect">
            <a:avLst/>
          </a:prstGeom>
          <a:noFill/>
          <a:ln/>
        </p:spPr>
        <p:txBody>
          <a:bodyPr wrap="square" lIns="0" tIns="0" rIns="0" bIns="0" rtlCol="0" anchor="t"/>
          <a:lstStyle/>
          <a:p>
            <a:pPr indent="0" marL="0">
              <a:buNone/>
            </a:pPr>
            <a:r>
              <a:rPr lang="en-US" sz="1200" dirty="0">
                <a:solidFill>
                  <a:srgbClr val="5F6B76"/>
                </a:solidFill>
                <a:latin typeface="Calibri" pitchFamily="34" charset="0"/>
                <a:ea typeface="Calibri" pitchFamily="34" charset="-122"/>
                <a:cs typeface="Calibri" pitchFamily="34" charset="-120"/>
              </a:rPr>
              <a:t>Small-study effects in some pooled analyses</a:t>
            </a:r>
            <a:endParaRPr lang="en-US" sz="1200" dirty="0"/>
          </a:p>
        </p:txBody>
      </p:sp>
      <p:sp>
        <p:nvSpPr>
          <p:cNvPr id="45" name="anim10_783"/>
          <p:cNvSpPr/>
          <p:nvPr/>
        </p:nvSpPr>
        <p:spPr>
          <a:xfrm>
            <a:off x="7498080" y="5120640"/>
            <a:ext cx="475488" cy="475488"/>
          </a:xfrm>
          <a:prstGeom prst="ellipse">
            <a:avLst/>
          </a:prstGeom>
          <a:solidFill>
            <a:srgbClr val="5B6B8C"/>
          </a:solidFill>
          <a:ln w="6350">
            <a:solidFill>
              <a:srgbClr val="5B6B8C"/>
            </a:solidFill>
            <a:prstDash val="solid"/>
          </a:ln>
        </p:spPr>
      </p:sp>
      <p:pic>
        <p:nvPicPr>
          <p:cNvPr id="46" name="anim10_784" descr="comments icon">    </p:cNvPr>
          <p:cNvPicPr>
            <a:picLocks noChangeAspect="1"/>
          </p:cNvPicPr>
          <p:nvPr/>
        </p:nvPicPr>
        <p:blipFill>
          <a:blip r:embed="rId9"/>
          <a:stretch>
            <a:fillRect/>
          </a:stretch>
        </p:blipFill>
        <p:spPr>
          <a:xfrm>
            <a:off x="7626462" y="5249022"/>
            <a:ext cx="218724" cy="218724"/>
          </a:xfrm>
          <a:prstGeom prst="rect">
            <a:avLst/>
          </a:prstGeom>
        </p:spPr>
      </p:pic>
      <p:sp>
        <p:nvSpPr>
          <p:cNvPr id="47" name="anim10_785"/>
          <p:cNvSpPr txBox="1"/>
          <p:nvPr/>
        </p:nvSpPr>
        <p:spPr>
          <a:xfrm>
            <a:off x="8138160" y="5065776"/>
            <a:ext cx="3337560" cy="292608"/>
          </a:xfrm>
          <a:prstGeom prst="rect">
            <a:avLst/>
          </a:prstGeom>
          <a:noFill/>
          <a:ln/>
        </p:spPr>
        <p:txBody>
          <a:bodyPr wrap="square" lIns="0" tIns="0" rIns="0" bIns="0" rtlCol="0" anchor="t"/>
          <a:lstStyle/>
          <a:p>
            <a:pPr indent="0" marL="0">
              <a:buNone/>
            </a:pPr>
            <a:r>
              <a:rPr lang="en-US" sz="1350" b="1" dirty="0">
                <a:solidFill>
                  <a:srgbClr val="1B1F24"/>
                </a:solidFill>
                <a:latin typeface="Calibri" pitchFamily="34" charset="0"/>
                <a:ea typeface="Calibri" pitchFamily="34" charset="-122"/>
                <a:cs typeface="Calibri" pitchFamily="34" charset="-120"/>
              </a:rPr>
              <a:t>Self-report</a:t>
            </a:r>
            <a:endParaRPr lang="en-US" sz="1350" dirty="0"/>
          </a:p>
        </p:txBody>
      </p:sp>
      <p:sp>
        <p:nvSpPr>
          <p:cNvPr id="48" name="anim10_786"/>
          <p:cNvSpPr txBox="1"/>
          <p:nvPr/>
        </p:nvSpPr>
        <p:spPr>
          <a:xfrm>
            <a:off x="8138160" y="5358384"/>
            <a:ext cx="3337560" cy="365760"/>
          </a:xfrm>
          <a:prstGeom prst="rect">
            <a:avLst/>
          </a:prstGeom>
          <a:noFill/>
          <a:ln/>
        </p:spPr>
        <p:txBody>
          <a:bodyPr wrap="square" lIns="0" tIns="0" rIns="0" bIns="0" rtlCol="0" anchor="t"/>
          <a:lstStyle/>
          <a:p>
            <a:pPr indent="0" marL="0">
              <a:buNone/>
            </a:pPr>
            <a:r>
              <a:rPr lang="en-US" sz="1200" dirty="0">
                <a:solidFill>
                  <a:srgbClr val="5F6B76"/>
                </a:solidFill>
                <a:latin typeface="Calibri" pitchFamily="34" charset="0"/>
                <a:ea typeface="Calibri" pitchFamily="34" charset="-122"/>
                <a:cs typeface="Calibri" pitchFamily="34" charset="-120"/>
              </a:rPr>
              <a:t>YFAS relies on what people say</a:t>
            </a:r>
            <a:endParaRPr lang="en-US" sz="1200" dirty="0"/>
          </a:p>
        </p:txBody>
      </p:sp>
      <p:sp>
        <p:nvSpPr>
          <p:cNvPr id="49" name="Text 3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Rolls 2009; Simpson and Raubenheimer 2005; Robinson et al. 2014; Fairburn et al. 2003; LaFata et al. 2024; Lane et al. 2022, 2024.</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5"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73" fill="hold">
                            <p:stCondLst>
                              <p:cond delay="380"/>
                            </p:stCondLst>
                            <p:childTnLst>
                              <p:par>
                                <p:cTn id="67" presetID="10" presetClass="entr" presetSubtype="0" fill="hold"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childTnLst>
                          </p:cTn>
                        </p:par>
                        <p:par>
                          <p:cTn id="92" fill="hold">
                            <p:stCondLst>
                              <p:cond delay="380"/>
                            </p:stCondLst>
                            <p:childTnLst>
                              <p:par>
                                <p:cTn id="74" presetID="10" presetClass="entr" presetSubtype="0"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par>
                          <p:cTn id="105" fill="hold">
                            <p:stCondLst>
                              <p:cond delay="380"/>
                            </p:stCondLst>
                            <p:childTnLst>
                              <p:par>
                                <p:cTn id="93" presetID="10" presetClass="entr" presetSubtype="0" fill="hold"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450"/>
                                        <p:tgtEl>
                                          <p:spTgt spid="33"/>
                                        </p:tgtEl>
                                      </p:cBhvr>
                                    </p:animEffect>
                                  </p:childTnLst>
                                </p:cTn>
                              </p:par>
                              <p:par>
                                <p:cTn id="96" presetID="10" presetClass="entr" presetSubtype="0" fill="hold"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8" fill="hold">
                            <p:stCondLst>
                              <p:cond delay="380"/>
                            </p:stCondLst>
                            <p:childTnLst>
                              <p:par>
                                <p:cTn id="106" presetID="10" presetClass="entr" presetSubtype="0" fill="hold"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childTnLst>
                          </p:cTn>
                        </p:par>
                        <p:par>
                          <p:cTn id="131" fill="hold">
                            <p:stCondLst>
                              <p:cond delay="380"/>
                            </p:stCondLst>
                            <p:childTnLst>
                              <p:par>
                                <p:cTn id="119" presetID="10" presetClass="entr" presetSubtype="0" fill="hold" nodeType="after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fade">
                                      <p:cBhvr>
                                        <p:cTn id="121" dur="450"/>
                                        <p:tgtEl>
                                          <p:spTgt spid="41"/>
                                        </p:tgtEl>
                                      </p:cBhvr>
                                    </p:animEffect>
                                  </p:childTnLst>
                                </p:cTn>
                              </p:par>
                              <p:par>
                                <p:cTn id="122" presetID="10" presetClass="entr" presetSubtype="0" fill="hold"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450"/>
                                        <p:tgtEl>
                                          <p:spTgt spid="4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450"/>
                                        <p:tgtEl>
                                          <p:spTgt spid="4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450"/>
                                        <p:tgtEl>
                                          <p:spTgt spid="44"/>
                                        </p:tgtEl>
                                      </p:cBhvr>
                                    </p:animEffect>
                                  </p:childTnLst>
                                </p:cTn>
                              </p:par>
                            </p:childTnLst>
                          </p:cTn>
                        </p:par>
                        <p:par>
                          <p:cTn id="144" fill="hold">
                            <p:stCondLst>
                              <p:cond delay="380"/>
                            </p:stCondLst>
                            <p:childTnLst>
                              <p:par>
                                <p:cTn id="132" presetID="10" presetClass="entr" presetSubtype="0" fill="hold" nodeType="after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50"/>
                                        <p:tgtEl>
                                          <p:spTgt spid="45"/>
                                        </p:tgtEl>
                                      </p:cBhvr>
                                    </p:animEffect>
                                  </p:childTnLst>
                                </p:cTn>
                              </p:par>
                              <p:par>
                                <p:cTn id="135" presetID="10" presetClass="entr" presetSubtype="0" fill="hold" nodeType="with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450"/>
                                        <p:tgtEl>
                                          <p:spTgt spid="46"/>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450"/>
                                        <p:tgtEl>
                                          <p:spTgt spid="47"/>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4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8" grpId="0" animBg="1"/>
      <p:bldP spid="19" grpId="0" animBg="1"/>
      <p:bldP spid="23" grpId="0" animBg="1"/>
      <p:bldP spid="24" grpId="0" animBg="1"/>
      <p:bldP spid="26" grpId="0" animBg="1"/>
      <p:bldP spid="28" grpId="0" animBg="1"/>
      <p:bldP spid="31" grpId="0" animBg="1"/>
      <p:bldP spid="32" grpId="0" animBg="1"/>
      <p:bldP spid="35" grpId="0" animBg="1"/>
      <p:bldP spid="36" grpId="0" animBg="1"/>
      <p:bldP spid="39" grpId="0" animBg="1"/>
      <p:bldP spid="40" grpId="0" animBg="1"/>
      <p:bldP spid="43" grpId="0" animBg="1"/>
      <p:bldP spid="44" grpId="0" animBg="1"/>
      <p:bldP spid="47" grpId="0" animBg="1"/>
      <p:bldP spid="4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3B7D5A"/>
                </a:solidFill>
                <a:latin typeface="Cambria" pitchFamily="34" charset="0"/>
                <a:ea typeface="Cambria" pitchFamily="34" charset="-122"/>
                <a:cs typeface="Cambria" pitchFamily="34" charset="-120"/>
              </a:rPr>
              <a:t>06</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Policy</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What can be done without settling the debate?</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6A4C93"/>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A7A8C"/>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D88A1F"/>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5B6B8C"/>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29016" y="5166360"/>
            <a:ext cx="384048" cy="384048"/>
          </a:xfrm>
          <a:prstGeom prst="ellipse">
            <a:avLst/>
          </a:prstGeom>
          <a:solidFill>
            <a:srgbClr val="3B7D5A"/>
          </a:solidFill>
          <a:ln w="25400">
            <a:solidFill>
              <a:srgbClr val="FFFFFF"/>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62872" y="5221224"/>
            <a:ext cx="274320" cy="274320"/>
          </a:xfrm>
          <a:prstGeom prst="ellipse">
            <a:avLst/>
          </a:prstGeom>
          <a:solidFill>
            <a:srgbClr val="2E4A6B"/>
          </a:solidFill>
          <a:ln w="12700">
            <a:solidFill>
              <a:srgbClr val="8FA4BC"/>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787"/>
          <p:cNvSpPr/>
          <p:nvPr/>
        </p:nvSpPr>
        <p:spPr>
          <a:xfrm>
            <a:off x="10607040" y="2240280"/>
            <a:ext cx="960120" cy="960120"/>
          </a:xfrm>
          <a:prstGeom prst="ellipse">
            <a:avLst/>
          </a:prstGeom>
          <a:solidFill>
            <a:srgbClr val="3B7D5A"/>
          </a:solidFill>
          <a:ln w="6350">
            <a:solidFill>
              <a:srgbClr val="3B7D5A"/>
            </a:solidFill>
            <a:prstDash val="solid"/>
          </a:ln>
        </p:spPr>
      </p:sp>
      <p:pic>
        <p:nvPicPr>
          <p:cNvPr id="25" name="ic_788" descr="landmark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individual education is not enough</a:t>
            </a:r>
            <a:endParaRPr lang="en-US" sz="3200" dirty="0"/>
          </a:p>
        </p:txBody>
      </p:sp>
      <p:sp>
        <p:nvSpPr>
          <p:cNvPr id="4" name="anim5_789"/>
          <p:cNvSpPr/>
          <p:nvPr/>
        </p:nvSpPr>
        <p:spPr>
          <a:xfrm>
            <a:off x="2560320" y="1417320"/>
            <a:ext cx="2103120" cy="786384"/>
          </a:xfrm>
          <a:prstGeom prst="rect">
            <a:avLst/>
          </a:prstGeom>
          <a:solidFill>
            <a:srgbClr val="CADCFC"/>
          </a:solidFill>
          <a:ln w="19050">
            <a:solidFill>
              <a:srgbClr val="FFFFFF"/>
            </a:solidFill>
          </a:ln>
        </p:spPr>
        <p:txBody>
          <a:bodyPr wrap="square" lIns="50800" tIns="50800" rIns="50800" bIns="50800" rtlCol="0" anchor="ctr"/>
          <a:lstStyle/>
          <a:p>
            <a:pPr algn="ctr" indent="0" marL="0">
              <a:buNone/>
            </a:pPr>
            <a:r>
              <a:rPr lang="en-US" sz="1350" b="1" dirty="0">
                <a:solidFill>
                  <a:srgbClr val="1F3A5F"/>
                </a:solidFill>
              </a:rPr>
              <a:t>Counseling and education</a:t>
            </a:r>
            <a:endParaRPr lang="en-US" sz="1350" dirty="0"/>
          </a:p>
        </p:txBody>
      </p:sp>
      <p:sp>
        <p:nvSpPr>
          <p:cNvPr id="5" name="anim4_790"/>
          <p:cNvSpPr/>
          <p:nvPr/>
        </p:nvSpPr>
        <p:spPr>
          <a:xfrm>
            <a:off x="2103120" y="2258568"/>
            <a:ext cx="3017520" cy="786384"/>
          </a:xfrm>
          <a:prstGeom prst="rect">
            <a:avLst/>
          </a:prstGeom>
          <a:solidFill>
            <a:srgbClr val="9DBBD3"/>
          </a:solidFill>
          <a:ln w="19050">
            <a:solidFill>
              <a:srgbClr val="FFFFFF"/>
            </a:solidFill>
          </a:ln>
        </p:spPr>
        <p:txBody>
          <a:bodyPr wrap="square" lIns="50800" tIns="50800" rIns="50800" bIns="50800" rtlCol="0" anchor="ctr"/>
          <a:lstStyle/>
          <a:p>
            <a:pPr algn="ctr" indent="0" marL="0">
              <a:buNone/>
            </a:pPr>
            <a:r>
              <a:rPr lang="en-US" sz="1350" b="1" dirty="0">
                <a:solidFill>
                  <a:srgbClr val="1F3A5F"/>
                </a:solidFill>
              </a:rPr>
              <a:t>Clinical interventions</a:t>
            </a:r>
            <a:endParaRPr lang="en-US" sz="1350" dirty="0"/>
          </a:p>
        </p:txBody>
      </p:sp>
      <p:sp>
        <p:nvSpPr>
          <p:cNvPr id="6" name="anim3_791"/>
          <p:cNvSpPr/>
          <p:nvPr/>
        </p:nvSpPr>
        <p:spPr>
          <a:xfrm>
            <a:off x="1645920" y="3099816"/>
            <a:ext cx="3931920" cy="786384"/>
          </a:xfrm>
          <a:prstGeom prst="rect">
            <a:avLst/>
          </a:prstGeom>
          <a:solidFill>
            <a:srgbClr val="5E8DB5"/>
          </a:solidFill>
          <a:ln w="19050">
            <a:solidFill>
              <a:srgbClr val="FFFFFF"/>
            </a:solidFill>
          </a:ln>
        </p:spPr>
        <p:txBody>
          <a:bodyPr wrap="square" lIns="50800" tIns="50800" rIns="50800" bIns="50800" rtlCol="0" anchor="ctr"/>
          <a:lstStyle/>
          <a:p>
            <a:pPr algn="ctr" indent="0" marL="0">
              <a:buNone/>
            </a:pPr>
            <a:r>
              <a:rPr lang="en-US" sz="1350" b="1" dirty="0">
                <a:solidFill>
                  <a:srgbClr val="FFFFFF"/>
                </a:solidFill>
              </a:rPr>
              <a:t>Long-lasting protective interventions</a:t>
            </a:r>
            <a:endParaRPr lang="en-US" sz="1350" dirty="0"/>
          </a:p>
        </p:txBody>
      </p:sp>
      <p:sp>
        <p:nvSpPr>
          <p:cNvPr id="7" name="anim2_792"/>
          <p:cNvSpPr/>
          <p:nvPr/>
        </p:nvSpPr>
        <p:spPr>
          <a:xfrm>
            <a:off x="1188720" y="3941064"/>
            <a:ext cx="4846320" cy="786384"/>
          </a:xfrm>
          <a:prstGeom prst="rect">
            <a:avLst/>
          </a:prstGeom>
          <a:solidFill>
            <a:srgbClr val="2A7A8C"/>
          </a:solidFill>
          <a:ln w="19050">
            <a:solidFill>
              <a:srgbClr val="FFFFFF"/>
            </a:solidFill>
          </a:ln>
        </p:spPr>
        <p:txBody>
          <a:bodyPr wrap="square" lIns="50800" tIns="50800" rIns="50800" bIns="50800" rtlCol="0" anchor="ctr"/>
          <a:lstStyle/>
          <a:p>
            <a:pPr algn="ctr" indent="0" marL="0">
              <a:buNone/>
            </a:pPr>
            <a:r>
              <a:rPr lang="en-US" sz="1350" b="1" dirty="0">
                <a:solidFill>
                  <a:srgbClr val="FFFFFF"/>
                </a:solidFill>
              </a:rPr>
              <a:t>Changing the context: healthy default choices</a:t>
            </a:r>
            <a:endParaRPr lang="en-US" sz="1350" dirty="0"/>
          </a:p>
        </p:txBody>
      </p:sp>
      <p:sp>
        <p:nvSpPr>
          <p:cNvPr id="8" name="anim1_793"/>
          <p:cNvSpPr/>
          <p:nvPr/>
        </p:nvSpPr>
        <p:spPr>
          <a:xfrm>
            <a:off x="731520" y="4782312"/>
            <a:ext cx="5760720" cy="786384"/>
          </a:xfrm>
          <a:prstGeom prst="rect">
            <a:avLst/>
          </a:prstGeom>
          <a:solidFill>
            <a:srgbClr val="1F3A5F"/>
          </a:solidFill>
          <a:ln w="19050">
            <a:solidFill>
              <a:srgbClr val="FFFFFF"/>
            </a:solidFill>
          </a:ln>
        </p:spPr>
        <p:txBody>
          <a:bodyPr wrap="square" lIns="50800" tIns="50800" rIns="50800" bIns="50800" rtlCol="0" anchor="ctr"/>
          <a:lstStyle/>
          <a:p>
            <a:pPr algn="ctr" indent="0" marL="0">
              <a:buNone/>
            </a:pPr>
            <a:r>
              <a:rPr lang="en-US" sz="1350" b="1" dirty="0">
                <a:solidFill>
                  <a:srgbClr val="FFFFFF"/>
                </a:solidFill>
              </a:rPr>
              <a:t>Socioeconomic factors</a:t>
            </a:r>
            <a:endParaRPr lang="en-US" sz="1350" dirty="0"/>
          </a:p>
        </p:txBody>
      </p:sp>
      <p:sp>
        <p:nvSpPr>
          <p:cNvPr id="9" name="anim6_794"/>
          <p:cNvSpPr/>
          <p:nvPr/>
        </p:nvSpPr>
        <p:spPr>
          <a:xfrm>
            <a:off x="502920" y="1417320"/>
            <a:ext cx="0" cy="4023360"/>
          </a:xfrm>
          <a:prstGeom prst="line">
            <a:avLst/>
          </a:prstGeom>
          <a:noFill/>
          <a:ln w="25400">
            <a:solidFill>
              <a:srgbClr val="5F6B76"/>
            </a:solidFill>
            <a:prstDash val="solid"/>
            <a:headEnd type="triangle"/>
          </a:ln>
        </p:spPr>
      </p:sp>
      <p:sp>
        <p:nvSpPr>
          <p:cNvPr id="10" name="anim6_795"/>
          <p:cNvSpPr txBox="1"/>
          <p:nvPr/>
        </p:nvSpPr>
        <p:spPr>
          <a:xfrm>
            <a:off x="91440" y="1280160"/>
            <a:ext cx="365760" cy="2011680"/>
          </a:xfrm>
          <a:prstGeom prst="rect">
            <a:avLst/>
          </a:prstGeom>
          <a:noFill/>
          <a:ln/>
        </p:spPr>
        <p:txBody>
          <a:bodyPr wrap="square" lIns="0" tIns="0" rIns="0" bIns="0" rtlCol="0" anchor="ctr" vert="vert270"/>
          <a:lstStyle/>
          <a:p>
            <a:pPr algn="ctr" indent="0" marL="0">
              <a:buNone/>
            </a:pPr>
            <a:r>
              <a:rPr lang="en-US" sz="1100" dirty="0">
                <a:solidFill>
                  <a:srgbClr val="5F6B76"/>
                </a:solidFill>
                <a:latin typeface="Calibri" pitchFamily="34" charset="0"/>
                <a:ea typeface="Calibri" pitchFamily="34" charset="-122"/>
                <a:cs typeface="Calibri" pitchFamily="34" charset="-120"/>
              </a:rPr>
              <a:t>More individual effort needed</a:t>
            </a:r>
            <a:endParaRPr lang="en-US" sz="1100" dirty="0"/>
          </a:p>
        </p:txBody>
      </p:sp>
      <p:sp>
        <p:nvSpPr>
          <p:cNvPr id="11" name="anim6_796"/>
          <p:cNvSpPr/>
          <p:nvPr/>
        </p:nvSpPr>
        <p:spPr>
          <a:xfrm>
            <a:off x="6720840" y="1417320"/>
            <a:ext cx="0" cy="4023360"/>
          </a:xfrm>
          <a:prstGeom prst="line">
            <a:avLst/>
          </a:prstGeom>
          <a:noFill/>
          <a:ln w="25400">
            <a:solidFill>
              <a:srgbClr val="2A7A8C"/>
            </a:solidFill>
            <a:prstDash val="solid"/>
            <a:tailEnd type="triangle"/>
          </a:ln>
        </p:spPr>
      </p:sp>
      <p:sp>
        <p:nvSpPr>
          <p:cNvPr id="12" name="anim6_797"/>
          <p:cNvSpPr txBox="1"/>
          <p:nvPr/>
        </p:nvSpPr>
        <p:spPr>
          <a:xfrm>
            <a:off x="6766560" y="3429000"/>
            <a:ext cx="320040" cy="2011680"/>
          </a:xfrm>
          <a:prstGeom prst="rect">
            <a:avLst/>
          </a:prstGeom>
          <a:noFill/>
          <a:ln/>
        </p:spPr>
        <p:txBody>
          <a:bodyPr wrap="square" lIns="0" tIns="0" rIns="0" bIns="0" rtlCol="0" anchor="ctr" vert="vert270"/>
          <a:lstStyle/>
          <a:p>
            <a:pPr algn="ctr" indent="0" marL="0">
              <a:buNone/>
            </a:pPr>
            <a:r>
              <a:rPr lang="en-US" sz="1100" b="1" dirty="0">
                <a:solidFill>
                  <a:srgbClr val="2A7A8C"/>
                </a:solidFill>
                <a:latin typeface="Calibri" pitchFamily="34" charset="0"/>
                <a:ea typeface="Calibri" pitchFamily="34" charset="-122"/>
                <a:cs typeface="Calibri" pitchFamily="34" charset="-120"/>
              </a:rPr>
              <a:t>Greater population impact</a:t>
            </a:r>
            <a:endParaRPr lang="en-US" sz="1100" dirty="0"/>
          </a:p>
        </p:txBody>
      </p:sp>
      <p:sp>
        <p:nvSpPr>
          <p:cNvPr id="13" name="anim7_798"/>
          <p:cNvSpPr/>
          <p:nvPr/>
        </p:nvSpPr>
        <p:spPr>
          <a:xfrm>
            <a:off x="7178040" y="1325880"/>
            <a:ext cx="4434840" cy="1600200"/>
          </a:xfrm>
          <a:prstGeom prst="roundRect">
            <a:avLst>
              <a:gd name="adj" fmla="val 457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4" name="anim7_799"/>
          <p:cNvSpPr/>
          <p:nvPr/>
        </p:nvSpPr>
        <p:spPr>
          <a:xfrm>
            <a:off x="7315200" y="1481328"/>
            <a:ext cx="530352" cy="530352"/>
          </a:xfrm>
          <a:prstGeom prst="ellipse">
            <a:avLst/>
          </a:prstGeom>
          <a:solidFill>
            <a:srgbClr val="2A7A8C"/>
          </a:solidFill>
          <a:ln w="6350">
            <a:solidFill>
              <a:srgbClr val="2A7A8C"/>
            </a:solidFill>
            <a:prstDash val="solid"/>
          </a:ln>
        </p:spPr>
      </p:sp>
      <p:pic>
        <p:nvPicPr>
          <p:cNvPr id="15" name="anim7_800" descr="utensils icon">    </p:cNvPr>
          <p:cNvPicPr>
            <a:picLocks noChangeAspect="1"/>
          </p:cNvPicPr>
          <p:nvPr/>
        </p:nvPicPr>
        <p:blipFill>
          <a:blip r:embed="rId1"/>
          <a:stretch>
            <a:fillRect/>
          </a:stretch>
        </p:blipFill>
        <p:spPr>
          <a:xfrm>
            <a:off x="7458395" y="1624523"/>
            <a:ext cx="243962" cy="243962"/>
          </a:xfrm>
          <a:prstGeom prst="rect">
            <a:avLst/>
          </a:prstGeom>
        </p:spPr>
      </p:pic>
      <p:sp>
        <p:nvSpPr>
          <p:cNvPr id="16" name="anim7_801"/>
          <p:cNvSpPr txBox="1"/>
          <p:nvPr/>
        </p:nvSpPr>
        <p:spPr>
          <a:xfrm>
            <a:off x="7973568" y="1417320"/>
            <a:ext cx="3520440" cy="1417320"/>
          </a:xfrm>
          <a:prstGeom prst="rect">
            <a:avLst/>
          </a:prstGeom>
          <a:noFill/>
          <a:ln/>
        </p:spPr>
        <p:txBody>
          <a:bodyPr wrap="square" lIns="0" tIns="0" rIns="0" bIns="0" rtlCol="0" anchor="ctr"/>
          <a:lstStyle/>
          <a:p>
            <a:pPr indent="0" marL="0">
              <a:buNone/>
            </a:pPr>
            <a:r>
              <a:rPr lang="en-US" sz="1250" b="1" dirty="0">
                <a:solidFill>
                  <a:srgbClr val="2A7A8C"/>
                </a:solidFill>
                <a:latin typeface="Calibri" pitchFamily="34" charset="0"/>
                <a:ea typeface="Calibri" pitchFamily="34" charset="-122"/>
                <a:cs typeface="Calibri" pitchFamily="34" charset="-120"/>
              </a:rPr>
              <a:t>Environment over willpower. </a:t>
            </a:r>
            <a:r>
              <a:rPr lang="en-US" sz="1250" dirty="0">
                <a:solidFill>
                  <a:srgbClr val="1B1F24"/>
                </a:solidFill>
                <a:latin typeface="Calibri" pitchFamily="34" charset="0"/>
                <a:ea typeface="Calibri" pitchFamily="34" charset="-122"/>
                <a:cs typeface="Calibri" pitchFamily="34" charset="-120"/>
              </a:rPr>
              <a:t>If products and settings drive intake beyond need, education alone shifts the burden onto individuals; environmental measures work without constant self-control.</a:t>
            </a:r>
            <a:endParaRPr lang="en-US" sz="1250" dirty="0"/>
          </a:p>
        </p:txBody>
      </p:sp>
      <p:sp>
        <p:nvSpPr>
          <p:cNvPr id="17" name="anim8_802"/>
          <p:cNvSpPr/>
          <p:nvPr/>
        </p:nvSpPr>
        <p:spPr>
          <a:xfrm>
            <a:off x="7178040" y="3063240"/>
            <a:ext cx="4434840" cy="1417320"/>
          </a:xfrm>
          <a:prstGeom prst="roundRect">
            <a:avLst>
              <a:gd name="adj" fmla="val 516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8" name="anim8_803"/>
          <p:cNvSpPr/>
          <p:nvPr/>
        </p:nvSpPr>
        <p:spPr>
          <a:xfrm>
            <a:off x="7315200" y="3218688"/>
            <a:ext cx="530352" cy="530352"/>
          </a:xfrm>
          <a:prstGeom prst="ellipse">
            <a:avLst/>
          </a:prstGeom>
          <a:solidFill>
            <a:srgbClr val="3B7D5A"/>
          </a:solidFill>
          <a:ln w="6350">
            <a:solidFill>
              <a:srgbClr val="3B7D5A"/>
            </a:solidFill>
            <a:prstDash val="solid"/>
          </a:ln>
        </p:spPr>
      </p:sp>
      <p:pic>
        <p:nvPicPr>
          <p:cNvPr id="19" name="anim8_804" descr="people icon">    </p:cNvPr>
          <p:cNvPicPr>
            <a:picLocks noChangeAspect="1"/>
          </p:cNvPicPr>
          <p:nvPr/>
        </p:nvPicPr>
        <p:blipFill>
          <a:blip r:embed="rId2"/>
          <a:stretch>
            <a:fillRect/>
          </a:stretch>
        </p:blipFill>
        <p:spPr>
          <a:xfrm>
            <a:off x="7458395" y="3361883"/>
            <a:ext cx="243962" cy="243962"/>
          </a:xfrm>
          <a:prstGeom prst="rect">
            <a:avLst/>
          </a:prstGeom>
        </p:spPr>
      </p:pic>
      <p:sp>
        <p:nvSpPr>
          <p:cNvPr id="20" name="anim8_805"/>
          <p:cNvSpPr txBox="1"/>
          <p:nvPr/>
        </p:nvSpPr>
        <p:spPr>
          <a:xfrm>
            <a:off x="7973568" y="3127248"/>
            <a:ext cx="3520440" cy="1280160"/>
          </a:xfrm>
          <a:prstGeom prst="rect">
            <a:avLst/>
          </a:prstGeom>
          <a:noFill/>
          <a:ln/>
        </p:spPr>
        <p:txBody>
          <a:bodyPr wrap="square" lIns="0" tIns="0" rIns="0" bIns="0" rtlCol="0" anchor="ctr"/>
          <a:lstStyle/>
          <a:p>
            <a:pPr indent="0" marL="0">
              <a:buNone/>
            </a:pPr>
            <a:r>
              <a:rPr lang="en-US" sz="1250" b="1" dirty="0">
                <a:solidFill>
                  <a:srgbClr val="3B7D5A"/>
                </a:solidFill>
                <a:latin typeface="Calibri" pitchFamily="34" charset="0"/>
                <a:ea typeface="Calibri" pitchFamily="34" charset="-122"/>
                <a:cs typeface="Calibri" pitchFamily="34" charset="-120"/>
              </a:rPr>
              <a:t>Equity. </a:t>
            </a:r>
            <a:r>
              <a:rPr lang="en-US" sz="1250" dirty="0">
                <a:solidFill>
                  <a:srgbClr val="1B1F24"/>
                </a:solidFill>
                <a:latin typeface="Calibri" pitchFamily="34" charset="0"/>
                <a:ea typeface="Calibri" pitchFamily="34" charset="-122"/>
                <a:cs typeface="Calibri" pitchFamily="34" charset="-120"/>
              </a:rPr>
              <a:t>Downstream campaigns may favor advantaged groups; structural and fiscal measures can narrow gaps. Mexico: largest drop in lowest-SES households.</a:t>
            </a:r>
            <a:endParaRPr lang="en-US" sz="1250" dirty="0"/>
          </a:p>
        </p:txBody>
      </p:sp>
      <p:sp>
        <p:nvSpPr>
          <p:cNvPr id="21" name="anim9_806"/>
          <p:cNvSpPr/>
          <p:nvPr/>
        </p:nvSpPr>
        <p:spPr>
          <a:xfrm>
            <a:off x="7178040" y="4617720"/>
            <a:ext cx="4434840" cy="1325880"/>
          </a:xfrm>
          <a:prstGeom prst="roundRect">
            <a:avLst>
              <a:gd name="adj" fmla="val 5517"/>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22" name="anim9_807"/>
          <p:cNvSpPr/>
          <p:nvPr/>
        </p:nvSpPr>
        <p:spPr>
          <a:xfrm>
            <a:off x="7315200" y="4773168"/>
            <a:ext cx="530352" cy="530352"/>
          </a:xfrm>
          <a:prstGeom prst="ellipse">
            <a:avLst/>
          </a:prstGeom>
          <a:solidFill>
            <a:srgbClr val="D88A1F"/>
          </a:solidFill>
          <a:ln w="6350">
            <a:solidFill>
              <a:srgbClr val="D88A1F"/>
            </a:solidFill>
            <a:prstDash val="solid"/>
          </a:ln>
        </p:spPr>
      </p:sp>
      <p:pic>
        <p:nvPicPr>
          <p:cNvPr id="23" name="anim9_808" descr="warn icon">    </p:cNvPr>
          <p:cNvPicPr>
            <a:picLocks noChangeAspect="1"/>
          </p:cNvPicPr>
          <p:nvPr/>
        </p:nvPicPr>
        <p:blipFill>
          <a:blip r:embed="rId3"/>
          <a:stretch>
            <a:fillRect/>
          </a:stretch>
        </p:blipFill>
        <p:spPr>
          <a:xfrm>
            <a:off x="7458395" y="4916363"/>
            <a:ext cx="243962" cy="243962"/>
          </a:xfrm>
          <a:prstGeom prst="rect">
            <a:avLst/>
          </a:prstGeom>
        </p:spPr>
      </p:pic>
      <p:sp>
        <p:nvSpPr>
          <p:cNvPr id="24" name="anim9_809"/>
          <p:cNvSpPr txBox="1"/>
          <p:nvPr/>
        </p:nvSpPr>
        <p:spPr>
          <a:xfrm>
            <a:off x="7973568" y="4663440"/>
            <a:ext cx="3520440" cy="1234440"/>
          </a:xfrm>
          <a:prstGeom prst="rect">
            <a:avLst/>
          </a:prstGeom>
          <a:noFill/>
          <a:ln/>
        </p:spPr>
        <p:txBody>
          <a:bodyPr wrap="square" lIns="0" tIns="0" rIns="0" bIns="0" rtlCol="0" anchor="ctr"/>
          <a:lstStyle/>
          <a:p>
            <a:pPr indent="0" marL="0">
              <a:buNone/>
            </a:pPr>
            <a:r>
              <a:rPr lang="en-US" sz="1250" b="1" dirty="0">
                <a:solidFill>
                  <a:srgbClr val="9A5E0B"/>
                </a:solidFill>
                <a:latin typeface="Calibri" pitchFamily="34" charset="0"/>
                <a:ea typeface="Calibri" pitchFamily="34" charset="-122"/>
                <a:cs typeface="Calibri" pitchFamily="34" charset="-120"/>
              </a:rPr>
              <a:t>Read outcomes carefully. </a:t>
            </a:r>
            <a:r>
              <a:rPr lang="en-US" sz="1250" dirty="0">
                <a:solidFill>
                  <a:srgbClr val="1B1F24"/>
                </a:solidFill>
                <a:latin typeface="Calibri" pitchFamily="34" charset="0"/>
                <a:ea typeface="Calibri" pitchFamily="34" charset="-122"/>
                <a:cs typeface="Calibri" pitchFamily="34" charset="-120"/>
              </a:rPr>
              <a:t>Most evaluations measure purchases, reformulation or ad exposure — not intake or disease.</a:t>
            </a:r>
            <a:endParaRPr lang="en-US" sz="1250" dirty="0"/>
          </a:p>
        </p:txBody>
      </p:sp>
      <p:sp>
        <p:nvSpPr>
          <p:cNvPr id="25" name="Text 19"/>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Frieden 2010; Swinburn et al. 2011; Lorenc et al. 2013; Colchero et al. 2017.</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5"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childTnLst>
                          </p:cTn>
                        </p:par>
                        <p:par>
                          <p:cTn id="10"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childTnLst>
                          </p:cTn>
                        </p:par>
                        <p:par>
                          <p:cTn id="14" fill="hold">
                            <p:stCondLst>
                              <p:cond delay="38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par>
                          <p:cTn id="18" fill="hold">
                            <p:stCondLst>
                              <p:cond delay="38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childTnLst>
                          </p:cTn>
                        </p:par>
                        <p:par>
                          <p:cTn id="22"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450"/>
                                        <p:tgtEl>
                                          <p:spTgt spid="4"/>
                                        </p:tgtEl>
                                      </p:cBhvr>
                                    </p:animEffect>
                                  </p:childTnLst>
                                </p:cTn>
                              </p:par>
                            </p:childTnLst>
                          </p:cTn>
                        </p:par>
                        <p:par>
                          <p:cTn id="35" fill="hold">
                            <p:stCondLst>
                              <p:cond delay="380"/>
                            </p:stCondLst>
                            <p:childTnLst>
                              <p:par>
                                <p:cTn id="23" presetID="10"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childTnLst>
                          </p:cTn>
                        </p:par>
                        <p:par>
                          <p:cTn id="48" fill="hold">
                            <p:stCondLst>
                              <p:cond delay="380"/>
                            </p:stCondLst>
                            <p:childTnLst>
                              <p:par>
                                <p:cTn id="36" presetID="10"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childTnLst>
                          </p:cTn>
                        </p:par>
                        <p:par>
                          <p:cTn id="61" fill="hold">
                            <p:stCondLst>
                              <p:cond delay="380"/>
                            </p:stCondLst>
                            <p:childTnLst>
                              <p:par>
                                <p:cTn id="49" presetID="10" presetClass="entr" presetSubtype="0" fill="hold" nodeType="after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5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5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50"/>
                                        <p:tgtEl>
                                          <p:spTgt spid="20"/>
                                        </p:tgtEl>
                                      </p:cBhvr>
                                    </p:animEffect>
                                  </p:childTnLst>
                                </p:cTn>
                              </p:par>
                            </p:childTnLst>
                          </p:cTn>
                        </p:par>
                        <p:par>
                          <p:cTn id="74" fill="hold">
                            <p:stCondLst>
                              <p:cond delay="380"/>
                            </p:stCondLst>
                            <p:childTnLst>
                              <p:par>
                                <p:cTn id="62" presetID="10" presetClass="entr" presetSubtype="0" fill="hold"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2" grpId="0" animBg="1"/>
      <p:bldP spid="16" grpId="0" animBg="1"/>
      <p:bldP spid="20"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Chile’s Law 20,606: warning labels as a policy package</a:t>
            </a:r>
            <a:endParaRPr lang="en-US" sz="3200" dirty="0"/>
          </a:p>
        </p:txBody>
      </p:sp>
      <p:sp>
        <p:nvSpPr>
          <p:cNvPr id="4" name="anim1_810"/>
          <p:cNvSpPr/>
          <p:nvPr/>
        </p:nvSpPr>
        <p:spPr>
          <a:xfrm>
            <a:off x="685800" y="1371600"/>
            <a:ext cx="1417320" cy="1417320"/>
          </a:xfrm>
          <a:prstGeom prst="octagon">
            <a:avLst/>
          </a:prstGeom>
          <a:solidFill>
            <a:srgbClr val="111111"/>
          </a:solidFill>
          <a:ln w="31750">
            <a:solidFill>
              <a:srgbClr val="FFFFFF"/>
            </a:solidFill>
            <a:prstDash val="solid"/>
          </a:ln>
          <a:effectLst>
            <a:outerShdw sx="100000" sy="100000" kx="0" ky="0" algn="bl" rotWithShape="0" blurRad="114300" dist="31750" dir="5400000">
              <a:srgbClr val="1B1F24">
                <a:alpha val="14000"/>
              </a:srgbClr>
            </a:outerShdw>
          </a:effectLst>
        </p:spPr>
      </p:sp>
      <p:sp>
        <p:nvSpPr>
          <p:cNvPr id="5" name="anim1_811"/>
          <p:cNvSpPr/>
          <p:nvPr/>
        </p:nvSpPr>
        <p:spPr>
          <a:xfrm>
            <a:off x="749808" y="1435608"/>
            <a:ext cx="1289304" cy="1289304"/>
          </a:xfrm>
          <a:prstGeom prst="octagon">
            <a:avLst/>
          </a:prstGeom>
          <a:solidFill>
            <a:srgbClr val="111111"/>
          </a:solidFill>
          <a:ln w="15875">
            <a:solidFill>
              <a:srgbClr val="FFFFFF"/>
            </a:solidFill>
            <a:prstDash val="solid"/>
          </a:ln>
        </p:spPr>
      </p:sp>
      <p:sp>
        <p:nvSpPr>
          <p:cNvPr id="6" name="anim1_812"/>
          <p:cNvSpPr txBox="1"/>
          <p:nvPr/>
        </p:nvSpPr>
        <p:spPr>
          <a:xfrm>
            <a:off x="795528" y="1691640"/>
            <a:ext cx="1197864"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IN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SUGARS</a:t>
            </a:r>
            <a:endParaRPr lang="en-US" sz="1400" dirty="0"/>
          </a:p>
        </p:txBody>
      </p:sp>
      <p:sp>
        <p:nvSpPr>
          <p:cNvPr id="7" name="anim1_813"/>
          <p:cNvSpPr/>
          <p:nvPr/>
        </p:nvSpPr>
        <p:spPr>
          <a:xfrm>
            <a:off x="2286000" y="1371600"/>
            <a:ext cx="1417320" cy="1417320"/>
          </a:xfrm>
          <a:prstGeom prst="octagon">
            <a:avLst/>
          </a:prstGeom>
          <a:solidFill>
            <a:srgbClr val="111111"/>
          </a:solidFill>
          <a:ln w="31750">
            <a:solidFill>
              <a:srgbClr val="FFFFFF"/>
            </a:solidFill>
            <a:prstDash val="solid"/>
          </a:ln>
          <a:effectLst>
            <a:outerShdw sx="100000" sy="100000" kx="0" ky="0" algn="bl" rotWithShape="0" blurRad="114300" dist="31750" dir="5400000">
              <a:srgbClr val="1B1F24">
                <a:alpha val="14000"/>
              </a:srgbClr>
            </a:outerShdw>
          </a:effectLst>
        </p:spPr>
      </p:sp>
      <p:sp>
        <p:nvSpPr>
          <p:cNvPr id="8" name="anim1_814"/>
          <p:cNvSpPr/>
          <p:nvPr/>
        </p:nvSpPr>
        <p:spPr>
          <a:xfrm>
            <a:off x="2350008" y="1435608"/>
            <a:ext cx="1289304" cy="1289304"/>
          </a:xfrm>
          <a:prstGeom prst="octagon">
            <a:avLst/>
          </a:prstGeom>
          <a:solidFill>
            <a:srgbClr val="111111"/>
          </a:solidFill>
          <a:ln w="15875">
            <a:solidFill>
              <a:srgbClr val="FFFFFF"/>
            </a:solidFill>
            <a:prstDash val="solid"/>
          </a:ln>
        </p:spPr>
      </p:sp>
      <p:sp>
        <p:nvSpPr>
          <p:cNvPr id="9" name="anim1_815"/>
          <p:cNvSpPr txBox="1"/>
          <p:nvPr/>
        </p:nvSpPr>
        <p:spPr>
          <a:xfrm>
            <a:off x="2395728" y="1691640"/>
            <a:ext cx="1197864"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IN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SODIUM</a:t>
            </a:r>
            <a:endParaRPr lang="en-US" sz="1400" dirty="0"/>
          </a:p>
        </p:txBody>
      </p:sp>
      <p:sp>
        <p:nvSpPr>
          <p:cNvPr id="10" name="anim1_816"/>
          <p:cNvSpPr/>
          <p:nvPr/>
        </p:nvSpPr>
        <p:spPr>
          <a:xfrm>
            <a:off x="685800" y="2971800"/>
            <a:ext cx="1417320" cy="1417320"/>
          </a:xfrm>
          <a:prstGeom prst="octagon">
            <a:avLst/>
          </a:prstGeom>
          <a:solidFill>
            <a:srgbClr val="111111"/>
          </a:solidFill>
          <a:ln w="31750">
            <a:solidFill>
              <a:srgbClr val="FFFFFF"/>
            </a:solidFill>
            <a:prstDash val="solid"/>
          </a:ln>
          <a:effectLst>
            <a:outerShdw sx="100000" sy="100000" kx="0" ky="0" algn="bl" rotWithShape="0" blurRad="114300" dist="31750" dir="5400000">
              <a:srgbClr val="1B1F24">
                <a:alpha val="14000"/>
              </a:srgbClr>
            </a:outerShdw>
          </a:effectLst>
        </p:spPr>
      </p:sp>
      <p:sp>
        <p:nvSpPr>
          <p:cNvPr id="11" name="anim1_817"/>
          <p:cNvSpPr/>
          <p:nvPr/>
        </p:nvSpPr>
        <p:spPr>
          <a:xfrm>
            <a:off x="749808" y="3035808"/>
            <a:ext cx="1289304" cy="1289304"/>
          </a:xfrm>
          <a:prstGeom prst="octagon">
            <a:avLst/>
          </a:prstGeom>
          <a:solidFill>
            <a:srgbClr val="111111"/>
          </a:solidFill>
          <a:ln w="15875">
            <a:solidFill>
              <a:srgbClr val="FFFFFF"/>
            </a:solidFill>
            <a:prstDash val="solid"/>
          </a:ln>
        </p:spPr>
      </p:sp>
      <p:sp>
        <p:nvSpPr>
          <p:cNvPr id="12" name="anim1_818"/>
          <p:cNvSpPr txBox="1"/>
          <p:nvPr/>
        </p:nvSpPr>
        <p:spPr>
          <a:xfrm>
            <a:off x="795528" y="3291840"/>
            <a:ext cx="1197864"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IN</a:t>
            </a:r>
            <a:endParaRPr lang="en-US" sz="1400" dirty="0"/>
          </a:p>
          <a:p>
            <a:pPr algn="ctr" indent="0" marL="0">
              <a:buNone/>
            </a:pPr>
            <a:r>
              <a:rPr lang="en-US" sz="1150" b="1" dirty="0">
                <a:solidFill>
                  <a:srgbClr val="FFFFFF"/>
                </a:solidFill>
                <a:latin typeface="Calibri" pitchFamily="34" charset="0"/>
                <a:ea typeface="Calibri" pitchFamily="34" charset="-122"/>
                <a:cs typeface="Calibri" pitchFamily="34" charset="-120"/>
              </a:rPr>
              <a:t>SATURATED FAT</a:t>
            </a:r>
            <a:endParaRPr lang="en-US" sz="1400" dirty="0"/>
          </a:p>
        </p:txBody>
      </p:sp>
      <p:sp>
        <p:nvSpPr>
          <p:cNvPr id="13" name="anim1_819"/>
          <p:cNvSpPr/>
          <p:nvPr/>
        </p:nvSpPr>
        <p:spPr>
          <a:xfrm>
            <a:off x="2286000" y="2971800"/>
            <a:ext cx="1417320" cy="1417320"/>
          </a:xfrm>
          <a:prstGeom prst="octagon">
            <a:avLst/>
          </a:prstGeom>
          <a:solidFill>
            <a:srgbClr val="111111"/>
          </a:solidFill>
          <a:ln w="31750">
            <a:solidFill>
              <a:srgbClr val="FFFFFF"/>
            </a:solidFill>
            <a:prstDash val="solid"/>
          </a:ln>
          <a:effectLst>
            <a:outerShdw sx="100000" sy="100000" kx="0" ky="0" algn="bl" rotWithShape="0" blurRad="114300" dist="31750" dir="5400000">
              <a:srgbClr val="1B1F24">
                <a:alpha val="14000"/>
              </a:srgbClr>
            </a:outerShdw>
          </a:effectLst>
        </p:spPr>
      </p:sp>
      <p:sp>
        <p:nvSpPr>
          <p:cNvPr id="14" name="anim1_820"/>
          <p:cNvSpPr/>
          <p:nvPr/>
        </p:nvSpPr>
        <p:spPr>
          <a:xfrm>
            <a:off x="2350008" y="3035808"/>
            <a:ext cx="1289304" cy="1289304"/>
          </a:xfrm>
          <a:prstGeom prst="octagon">
            <a:avLst/>
          </a:prstGeom>
          <a:solidFill>
            <a:srgbClr val="111111"/>
          </a:solidFill>
          <a:ln w="15875">
            <a:solidFill>
              <a:srgbClr val="FFFFFF"/>
            </a:solidFill>
            <a:prstDash val="solid"/>
          </a:ln>
        </p:spPr>
      </p:sp>
      <p:sp>
        <p:nvSpPr>
          <p:cNvPr id="15" name="anim1_821"/>
          <p:cNvSpPr txBox="1"/>
          <p:nvPr/>
        </p:nvSpPr>
        <p:spPr>
          <a:xfrm>
            <a:off x="2395728" y="3291840"/>
            <a:ext cx="1197864"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IN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CALORIES</a:t>
            </a:r>
            <a:endParaRPr lang="en-US" sz="1400" dirty="0"/>
          </a:p>
        </p:txBody>
      </p:sp>
      <p:sp>
        <p:nvSpPr>
          <p:cNvPr id="16" name="Text 13"/>
          <p:cNvSpPr txBox="1"/>
          <p:nvPr/>
        </p:nvSpPr>
        <p:spPr>
          <a:xfrm>
            <a:off x="548640" y="4645152"/>
            <a:ext cx="3474720" cy="274320"/>
          </a:xfrm>
          <a:prstGeom prst="rect">
            <a:avLst/>
          </a:prstGeom>
          <a:noFill/>
          <a:ln/>
        </p:spPr>
        <p:txBody>
          <a:bodyPr wrap="square" lIns="0" tIns="0" rIns="0" bIns="0" rtlCol="0" anchor="t"/>
          <a:lstStyle/>
          <a:p>
            <a:pPr indent="0" marL="0">
              <a:buNone/>
            </a:pPr>
            <a:r>
              <a:rPr lang="en-US" sz="1150" b="1" dirty="0">
                <a:solidFill>
                  <a:srgbClr val="7A8591"/>
                </a:solidFill>
                <a:latin typeface="Calibri" pitchFamily="34" charset="0"/>
                <a:ea typeface="Calibri" pitchFamily="34" charset="-122"/>
                <a:cs typeface="Calibri" pitchFamily="34" charset="-120"/>
              </a:rPr>
              <a:t>Three components, implemented in phases from 2016</a:t>
            </a:r>
            <a:endParaRPr lang="en-US" sz="1150" dirty="0"/>
          </a:p>
        </p:txBody>
      </p:sp>
      <p:pic>
        <p:nvPicPr>
          <p:cNvPr id="17" name="anim2_822" descr="Black octagon warning labels">    </p:cNvPr>
          <p:cNvPicPr>
            <a:picLocks noChangeAspect="1"/>
          </p:cNvPicPr>
          <p:nvPr/>
        </p:nvPicPr>
        <p:blipFill>
          <a:blip r:embed="rId1"/>
          <a:stretch>
            <a:fillRect/>
          </a:stretch>
        </p:blipFill>
        <p:spPr>
          <a:xfrm>
            <a:off x="594360" y="4956048"/>
            <a:ext cx="274320" cy="274320"/>
          </a:xfrm>
          <a:prstGeom prst="rect">
            <a:avLst/>
          </a:prstGeom>
        </p:spPr>
      </p:pic>
      <p:sp>
        <p:nvSpPr>
          <p:cNvPr id="18" name="anim2_823"/>
          <p:cNvSpPr txBox="1"/>
          <p:nvPr/>
        </p:nvSpPr>
        <p:spPr>
          <a:xfrm>
            <a:off x="1005840" y="4928616"/>
            <a:ext cx="3108960" cy="329184"/>
          </a:xfrm>
          <a:prstGeom prst="rect">
            <a:avLst/>
          </a:prstGeom>
          <a:noFill/>
          <a:ln/>
        </p:spPr>
        <p:txBody>
          <a:bodyPr wrap="square" lIns="0" tIns="0" rIns="0" bIns="0" rtlCol="0" anchor="ctr"/>
          <a:lstStyle/>
          <a:p>
            <a:pPr indent="0" marL="0">
              <a:buNone/>
            </a:pPr>
            <a:r>
              <a:rPr lang="en-US" sz="1250" dirty="0">
                <a:solidFill>
                  <a:srgbClr val="1B1F24"/>
                </a:solidFill>
                <a:latin typeface="Calibri" pitchFamily="34" charset="0"/>
                <a:ea typeface="Calibri" pitchFamily="34" charset="-122"/>
                <a:cs typeface="Calibri" pitchFamily="34" charset="-120"/>
              </a:rPr>
              <a:t>Black octagon warning labels</a:t>
            </a:r>
            <a:endParaRPr lang="en-US" sz="1250" dirty="0"/>
          </a:p>
        </p:txBody>
      </p:sp>
      <p:pic>
        <p:nvPicPr>
          <p:cNvPr id="19" name="anim2_824" descr="Marketing restrictions to children">    </p:cNvPr>
          <p:cNvPicPr>
            <a:picLocks noChangeAspect="1"/>
          </p:cNvPicPr>
          <p:nvPr/>
        </p:nvPicPr>
        <p:blipFill>
          <a:blip r:embed="rId2"/>
          <a:stretch>
            <a:fillRect/>
          </a:stretch>
        </p:blipFill>
        <p:spPr>
          <a:xfrm>
            <a:off x="594360" y="5321808"/>
            <a:ext cx="274320" cy="274320"/>
          </a:xfrm>
          <a:prstGeom prst="rect">
            <a:avLst/>
          </a:prstGeom>
        </p:spPr>
      </p:pic>
      <p:sp>
        <p:nvSpPr>
          <p:cNvPr id="20" name="anim2_825"/>
          <p:cNvSpPr txBox="1"/>
          <p:nvPr/>
        </p:nvSpPr>
        <p:spPr>
          <a:xfrm>
            <a:off x="1005840" y="5294376"/>
            <a:ext cx="3108960" cy="329184"/>
          </a:xfrm>
          <a:prstGeom prst="rect">
            <a:avLst/>
          </a:prstGeom>
          <a:noFill/>
          <a:ln/>
        </p:spPr>
        <p:txBody>
          <a:bodyPr wrap="square" lIns="0" tIns="0" rIns="0" bIns="0" rtlCol="0" anchor="ctr"/>
          <a:lstStyle/>
          <a:p>
            <a:pPr indent="0" marL="0">
              <a:buNone/>
            </a:pPr>
            <a:r>
              <a:rPr lang="en-US" sz="1250" dirty="0">
                <a:solidFill>
                  <a:srgbClr val="1B1F24"/>
                </a:solidFill>
                <a:latin typeface="Calibri" pitchFamily="34" charset="0"/>
                <a:ea typeface="Calibri" pitchFamily="34" charset="-122"/>
                <a:cs typeface="Calibri" pitchFamily="34" charset="-120"/>
              </a:rPr>
              <a:t>Marketing restrictions to children</a:t>
            </a:r>
            <a:endParaRPr lang="en-US" sz="1250" dirty="0"/>
          </a:p>
        </p:txBody>
      </p:sp>
      <p:pic>
        <p:nvPicPr>
          <p:cNvPr id="21" name="anim2_826" descr="No sale of “high-in” products in schools">    </p:cNvPr>
          <p:cNvPicPr>
            <a:picLocks noChangeAspect="1"/>
          </p:cNvPicPr>
          <p:nvPr/>
        </p:nvPicPr>
        <p:blipFill>
          <a:blip r:embed="rId3"/>
          <a:stretch>
            <a:fillRect/>
          </a:stretch>
        </p:blipFill>
        <p:spPr>
          <a:xfrm>
            <a:off x="594360" y="5687568"/>
            <a:ext cx="274320" cy="274320"/>
          </a:xfrm>
          <a:prstGeom prst="rect">
            <a:avLst/>
          </a:prstGeom>
        </p:spPr>
      </p:pic>
      <p:sp>
        <p:nvSpPr>
          <p:cNvPr id="22" name="anim2_827"/>
          <p:cNvSpPr txBox="1"/>
          <p:nvPr/>
        </p:nvSpPr>
        <p:spPr>
          <a:xfrm>
            <a:off x="1005840" y="5660136"/>
            <a:ext cx="3108960" cy="329184"/>
          </a:xfrm>
          <a:prstGeom prst="rect">
            <a:avLst/>
          </a:prstGeom>
          <a:noFill/>
          <a:ln/>
        </p:spPr>
        <p:txBody>
          <a:bodyPr wrap="square" lIns="0" tIns="0" rIns="0" bIns="0" rtlCol="0" anchor="ctr"/>
          <a:lstStyle/>
          <a:p>
            <a:pPr indent="0" marL="0">
              <a:buNone/>
            </a:pPr>
            <a:r>
              <a:rPr lang="en-US" sz="1250" dirty="0">
                <a:solidFill>
                  <a:srgbClr val="1B1F24"/>
                </a:solidFill>
                <a:latin typeface="Calibri" pitchFamily="34" charset="0"/>
                <a:ea typeface="Calibri" pitchFamily="34" charset="-122"/>
                <a:cs typeface="Calibri" pitchFamily="34" charset="-120"/>
              </a:rPr>
              <a:t>No sale of “high-in” products in schools</a:t>
            </a:r>
            <a:endParaRPr lang="en-US" sz="1250" dirty="0"/>
          </a:p>
        </p:txBody>
      </p:sp>
      <p:graphicFrame>
        <p:nvGraphicFramePr>
          <p:cNvPr id="23" name="chartChile" descr=""/>
          <p:cNvGraphicFramePr/>
          <p:nvPr/>
        </p:nvGraphicFramePr>
        <p:xfrm>
          <a:off x="4160520" y="1280160"/>
          <a:ext cx="7452360" cy="3520440"/>
        </p:xfrm>
        <a:graphic xmlns:a="http://schemas.openxmlformats.org/drawingml/2006/main">
          <a:graphicData uri="http://schemas.openxmlformats.org/drawingml/2006/chart">
            <c:chart xmlns:c="http://schemas.openxmlformats.org/drawingml/2006/chart" r:id="rId4"/>
          </a:graphicData>
        </a:graphic>
      </p:graphicFrame>
      <p:sp>
        <p:nvSpPr>
          <p:cNvPr id="24" name="anim3_828"/>
          <p:cNvSpPr/>
          <p:nvPr/>
        </p:nvSpPr>
        <p:spPr>
          <a:xfrm>
            <a:off x="4297680" y="4937760"/>
            <a:ext cx="7315200" cy="1024128"/>
          </a:xfrm>
          <a:prstGeom prst="roundRect">
            <a:avLst>
              <a:gd name="adj" fmla="val 7143"/>
            </a:avLst>
          </a:prstGeom>
          <a:solidFill>
            <a:srgbClr val="FBF0DD"/>
          </a:solidFill>
          <a:ln w="9525">
            <a:solidFill>
              <a:srgbClr val="F0DDBB"/>
            </a:solidFill>
            <a:prstDash val="solid"/>
          </a:ln>
          <a:effectLst>
            <a:outerShdw sx="100000" sy="100000" kx="0" ky="0" algn="bl" rotWithShape="0" blurRad="114300" dist="31750" dir="5400000">
              <a:srgbClr val="1B1F24">
                <a:alpha val="14000"/>
              </a:srgbClr>
            </a:outerShdw>
          </a:effectLst>
        </p:spPr>
      </p:sp>
      <p:sp>
        <p:nvSpPr>
          <p:cNvPr id="25" name="anim3_829"/>
          <p:cNvSpPr/>
          <p:nvPr/>
        </p:nvSpPr>
        <p:spPr>
          <a:xfrm>
            <a:off x="4462272" y="5120640"/>
            <a:ext cx="530352" cy="530352"/>
          </a:xfrm>
          <a:prstGeom prst="ellipse">
            <a:avLst/>
          </a:prstGeom>
          <a:solidFill>
            <a:srgbClr val="D88A1F"/>
          </a:solidFill>
          <a:ln w="6350">
            <a:solidFill>
              <a:srgbClr val="D88A1F"/>
            </a:solidFill>
            <a:prstDash val="solid"/>
          </a:ln>
        </p:spPr>
      </p:sp>
      <p:pic>
        <p:nvPicPr>
          <p:cNvPr id="26" name="anim3_830" descr="warn icon">    </p:cNvPr>
          <p:cNvPicPr>
            <a:picLocks noChangeAspect="1"/>
          </p:cNvPicPr>
          <p:nvPr/>
        </p:nvPicPr>
        <p:blipFill>
          <a:blip r:embed="rId5"/>
          <a:stretch>
            <a:fillRect/>
          </a:stretch>
        </p:blipFill>
        <p:spPr>
          <a:xfrm>
            <a:off x="4605467" y="5263835"/>
            <a:ext cx="243962" cy="243962"/>
          </a:xfrm>
          <a:prstGeom prst="rect">
            <a:avLst/>
          </a:prstGeom>
        </p:spPr>
      </p:pic>
      <p:sp>
        <p:nvSpPr>
          <p:cNvPr id="27" name="anim3_831"/>
          <p:cNvSpPr txBox="1"/>
          <p:nvPr/>
        </p:nvSpPr>
        <p:spPr>
          <a:xfrm>
            <a:off x="5120640" y="4956048"/>
            <a:ext cx="6355080" cy="987552"/>
          </a:xfrm>
          <a:prstGeom prst="rect">
            <a:avLst/>
          </a:prstGeom>
          <a:noFill/>
          <a:ln/>
        </p:spPr>
        <p:txBody>
          <a:bodyPr wrap="square" lIns="0" tIns="0" rIns="0" bIns="0" rtlCol="0" anchor="ctr"/>
          <a:lstStyle/>
          <a:p>
            <a:pPr indent="0" marL="0">
              <a:buNone/>
            </a:pPr>
            <a:r>
              <a:rPr lang="en-US" sz="1300" b="1" dirty="0">
                <a:solidFill>
                  <a:srgbClr val="9A5E0B"/>
                </a:solidFill>
                <a:latin typeface="Calibri" pitchFamily="34" charset="0"/>
                <a:ea typeface="Calibri" pitchFamily="34" charset="-122"/>
                <a:cs typeface="Calibri" pitchFamily="34" charset="-120"/>
              </a:rPr>
              <a:t>Effect of the package, not of the label alone. </a:t>
            </a:r>
            <a:r>
              <a:rPr lang="en-US" sz="1300" dirty="0">
                <a:solidFill>
                  <a:srgbClr val="1B1F24"/>
                </a:solidFill>
                <a:latin typeface="Calibri" pitchFamily="34" charset="0"/>
                <a:ea typeface="Calibri" pitchFamily="34" charset="-122"/>
                <a:cs typeface="Calibri" pitchFamily="34" charset="-120"/>
              </a:rPr>
              <a:t>Purchases are not intake; changes were similar across socioeconomic groups; data cover only part of household purchases.</a:t>
            </a:r>
            <a:endParaRPr lang="en-US" sz="1300" dirty="0"/>
          </a:p>
        </p:txBody>
      </p:sp>
      <p:sp>
        <p:nvSpPr>
          <p:cNvPr id="28" name="Text 20"/>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Taillie et al. 2020 (first-year beverage purchases); Taillie et al. 2024 (three-year purchases).</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2" fill="hold">
                      <p:stCondLst>
                        <p:cond delay="indefinite"/>
                        <p:cond evt="onBegin" delay="0">
                          <p:tn val="2"/>
                        </p:cond>
                      </p:stCondLst>
                      <p:childTnLst>
                        <p:par>
                          <p:cTn id="39"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58" fill="hold">
                            <p:stCondLst>
                              <p:cond delay="380"/>
                            </p:stCondLst>
                            <p:childTnLst>
                              <p:par>
                                <p:cTn id="40" presetID="10" presetClass="entr" presetSubtype="0"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50"/>
                                        <p:tgtEl>
                                          <p:spTgt spid="22"/>
                                        </p:tgtEl>
                                      </p:cBhvr>
                                    </p:animEffect>
                                  </p:childTnLst>
                                </p:cTn>
                              </p:par>
                            </p:childTnLst>
                          </p:cTn>
                        </p:par>
                        <p:par>
                          <p:cTn id="71" fill="hold">
                            <p:stCondLst>
                              <p:cond delay="380"/>
                            </p:stCondLst>
                            <p:childTnLst>
                              <p:par>
                                <p:cTn id="59" presetID="10" presetClass="entr" presetSubtype="0" fill="hold"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P spid="18" grpId="0" animBg="1"/>
      <p:bldP spid="20" grpId="0" animBg="1"/>
      <p:bldP spid="22" grpId="0" animBg="1"/>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Sugar-sweetened beverage taxes: flat vs tiered</a:t>
            </a:r>
            <a:endParaRPr lang="en-US" sz="3200" dirty="0"/>
          </a:p>
        </p:txBody>
      </p:sp>
      <p:sp>
        <p:nvSpPr>
          <p:cNvPr id="4" name="anim1_832"/>
          <p:cNvSpPr/>
          <p:nvPr/>
        </p:nvSpPr>
        <p:spPr>
          <a:xfrm>
            <a:off x="548640" y="1325880"/>
            <a:ext cx="5440680" cy="3794760"/>
          </a:xfrm>
          <a:prstGeom prst="roundRect">
            <a:avLst>
              <a:gd name="adj" fmla="val 192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833"/>
          <p:cNvSpPr/>
          <p:nvPr/>
        </p:nvSpPr>
        <p:spPr>
          <a:xfrm>
            <a:off x="731520" y="1463040"/>
            <a:ext cx="548640" cy="548640"/>
          </a:xfrm>
          <a:prstGeom prst="ellipse">
            <a:avLst/>
          </a:prstGeom>
          <a:solidFill>
            <a:srgbClr val="D88A1F"/>
          </a:solidFill>
          <a:ln w="6350">
            <a:solidFill>
              <a:srgbClr val="D88A1F"/>
            </a:solidFill>
            <a:prstDash val="solid"/>
          </a:ln>
        </p:spPr>
      </p:sp>
      <p:pic>
        <p:nvPicPr>
          <p:cNvPr id="6" name="anim1_834" descr="coins icon">    </p:cNvPr>
          <p:cNvPicPr>
            <a:picLocks noChangeAspect="1"/>
          </p:cNvPicPr>
          <p:nvPr/>
        </p:nvPicPr>
        <p:blipFill>
          <a:blip r:embed="rId1"/>
          <a:stretch>
            <a:fillRect/>
          </a:stretch>
        </p:blipFill>
        <p:spPr>
          <a:xfrm>
            <a:off x="879653" y="1611173"/>
            <a:ext cx="252374" cy="252374"/>
          </a:xfrm>
          <a:prstGeom prst="rect">
            <a:avLst/>
          </a:prstGeom>
        </p:spPr>
      </p:pic>
      <p:sp>
        <p:nvSpPr>
          <p:cNvPr id="7" name="anim1_835"/>
          <p:cNvSpPr txBox="1"/>
          <p:nvPr/>
        </p:nvSpPr>
        <p:spPr>
          <a:xfrm>
            <a:off x="1417320" y="1481328"/>
            <a:ext cx="4389120" cy="411480"/>
          </a:xfrm>
          <a:prstGeom prst="rect">
            <a:avLst/>
          </a:prstGeom>
          <a:noFill/>
          <a:ln/>
        </p:spPr>
        <p:txBody>
          <a:bodyPr wrap="square" lIns="0" tIns="0" rIns="0" bIns="0" rtlCol="0" anchor="ctr"/>
          <a:lstStyle/>
          <a:p>
            <a:pPr indent="0" marL="0">
              <a:buNone/>
            </a:pPr>
            <a:r>
              <a:rPr lang="en-US" sz="1800" b="1" dirty="0">
                <a:solidFill>
                  <a:srgbClr val="B06A0A"/>
                </a:solidFill>
                <a:latin typeface="Cambria" pitchFamily="34" charset="0"/>
                <a:ea typeface="Cambria" pitchFamily="34" charset="-122"/>
                <a:cs typeface="Cambria" pitchFamily="34" charset="-120"/>
              </a:rPr>
              <a:t>Mexico, 2014: flat tax</a:t>
            </a:r>
            <a:endParaRPr lang="en-US" sz="1800" dirty="0"/>
          </a:p>
        </p:txBody>
      </p:sp>
      <p:sp>
        <p:nvSpPr>
          <p:cNvPr id="8" name="anim1_836"/>
          <p:cNvSpPr txBox="1"/>
          <p:nvPr/>
        </p:nvSpPr>
        <p:spPr>
          <a:xfrm>
            <a:off x="1417320" y="1874520"/>
            <a:ext cx="4389120" cy="27432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1 peso per liter on sugar-sweetened beverages</a:t>
            </a:r>
            <a:endParaRPr lang="en-US" sz="1250" dirty="0"/>
          </a:p>
        </p:txBody>
      </p:sp>
      <p:graphicFrame>
        <p:nvGraphicFramePr>
          <p:cNvPr id="9" name="chartMexico" descr=""/>
          <p:cNvGraphicFramePr/>
          <p:nvPr/>
        </p:nvGraphicFramePr>
        <p:xfrm>
          <a:off x="685800" y="2194560"/>
          <a:ext cx="3017520" cy="2834640"/>
        </p:xfrm>
        <a:graphic xmlns:a="http://schemas.openxmlformats.org/drawingml/2006/main">
          <a:graphicData uri="http://schemas.openxmlformats.org/drawingml/2006/chart">
            <c:chart xmlns:c="http://schemas.openxmlformats.org/drawingml/2006/chart" r:id="rId2"/>
          </a:graphicData>
        </a:graphic>
      </p:graphicFrame>
      <p:sp>
        <p:nvSpPr>
          <p:cNvPr id="10" name="anim2_837"/>
          <p:cNvSpPr txBox="1"/>
          <p:nvPr/>
        </p:nvSpPr>
        <p:spPr>
          <a:xfrm>
            <a:off x="3794760" y="2331720"/>
            <a:ext cx="2057400" cy="26974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1F24"/>
                </a:solidFill>
                <a:latin typeface="Calibri" pitchFamily="34" charset="0"/>
                <a:ea typeface="Calibri" pitchFamily="34" charset="-122"/>
                <a:cs typeface="Calibri" pitchFamily="34" charset="-120"/>
              </a:rPr>
              <a:t>Year 1: −6% on average, −12% by December; untaxed drinks +4%</a:t>
            </a:r>
            <a:endParaRPr lang="en-US" sz="1150" dirty="0"/>
          </a:p>
          <a:p>
            <a:pPr marL="342900" indent="-342900">
              <a:spcAft>
                <a:spcPts val="500"/>
              </a:spcAft>
              <a:buSzPct val="100000"/>
              <a:buChar char="•"/>
            </a:pPr>
            <a:r>
              <a:rPr lang="en-US" sz="1150" dirty="0">
                <a:solidFill>
                  <a:srgbClr val="1B1F24"/>
                </a:solidFill>
                <a:latin typeface="Calibri" pitchFamily="34" charset="0"/>
                <a:ea typeface="Calibri" pitchFamily="34" charset="-122"/>
                <a:cs typeface="Calibri" pitchFamily="34" charset="-120"/>
              </a:rPr>
              <a:t>Two-year mean: −7.6%</a:t>
            </a:r>
            <a:endParaRPr lang="en-US" sz="1150" dirty="0"/>
          </a:p>
          <a:p>
            <a:pPr marL="342900" indent="-342900">
              <a:spcAft>
                <a:spcPts val="500"/>
              </a:spcAft>
              <a:buSzPct val="100000"/>
              <a:buChar char="•"/>
            </a:pPr>
            <a:r>
              <a:rPr lang="en-US" sz="1150" dirty="0">
                <a:solidFill>
                  <a:srgbClr val="1B1F24"/>
                </a:solidFill>
                <a:latin typeface="Calibri" pitchFamily="34" charset="0"/>
                <a:ea typeface="Calibri" pitchFamily="34" charset="-122"/>
                <a:cs typeface="Calibri" pitchFamily="34" charset="-120"/>
              </a:rPr>
              <a:t>Equity is not automatic: regressive burden and substitution must be measured</a:t>
            </a:r>
            <a:endParaRPr lang="en-US" sz="1150" dirty="0"/>
          </a:p>
        </p:txBody>
      </p:sp>
      <p:sp>
        <p:nvSpPr>
          <p:cNvPr id="11" name="anim3_838"/>
          <p:cNvSpPr/>
          <p:nvPr/>
        </p:nvSpPr>
        <p:spPr>
          <a:xfrm>
            <a:off x="6172200" y="1325880"/>
            <a:ext cx="5440680" cy="3794760"/>
          </a:xfrm>
          <a:prstGeom prst="roundRect">
            <a:avLst>
              <a:gd name="adj" fmla="val 1928"/>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2" name="anim3_839"/>
          <p:cNvSpPr/>
          <p:nvPr/>
        </p:nvSpPr>
        <p:spPr>
          <a:xfrm>
            <a:off x="6355080" y="1463040"/>
            <a:ext cx="548640" cy="548640"/>
          </a:xfrm>
          <a:prstGeom prst="ellipse">
            <a:avLst/>
          </a:prstGeom>
          <a:solidFill>
            <a:srgbClr val="2A7A8C"/>
          </a:solidFill>
          <a:ln w="6350">
            <a:solidFill>
              <a:srgbClr val="2A7A8C"/>
            </a:solidFill>
            <a:prstDash val="solid"/>
          </a:ln>
        </p:spPr>
      </p:sp>
      <p:pic>
        <p:nvPicPr>
          <p:cNvPr id="13" name="anim3_840" descr="droplet icon">    </p:cNvPr>
          <p:cNvPicPr>
            <a:picLocks noChangeAspect="1"/>
          </p:cNvPicPr>
          <p:nvPr/>
        </p:nvPicPr>
        <p:blipFill>
          <a:blip r:embed="rId3"/>
          <a:stretch>
            <a:fillRect/>
          </a:stretch>
        </p:blipFill>
        <p:spPr>
          <a:xfrm>
            <a:off x="6503213" y="1611173"/>
            <a:ext cx="252374" cy="252374"/>
          </a:xfrm>
          <a:prstGeom prst="rect">
            <a:avLst/>
          </a:prstGeom>
        </p:spPr>
      </p:pic>
      <p:sp>
        <p:nvSpPr>
          <p:cNvPr id="14" name="anim3_841"/>
          <p:cNvSpPr txBox="1"/>
          <p:nvPr/>
        </p:nvSpPr>
        <p:spPr>
          <a:xfrm>
            <a:off x="7040880" y="1481328"/>
            <a:ext cx="4434840" cy="411480"/>
          </a:xfrm>
          <a:prstGeom prst="rect">
            <a:avLst/>
          </a:prstGeom>
          <a:noFill/>
          <a:ln/>
        </p:spPr>
        <p:txBody>
          <a:bodyPr wrap="square" lIns="0" tIns="0" rIns="0" bIns="0" rtlCol="0" anchor="ctr"/>
          <a:lstStyle/>
          <a:p>
            <a:pPr indent="0" marL="0">
              <a:buNone/>
            </a:pPr>
            <a:r>
              <a:rPr lang="en-US" sz="1800" b="1" dirty="0">
                <a:solidFill>
                  <a:srgbClr val="2A7A8C"/>
                </a:solidFill>
                <a:latin typeface="Cambria" pitchFamily="34" charset="0"/>
                <a:ea typeface="Cambria" pitchFamily="34" charset="-122"/>
                <a:cs typeface="Cambria" pitchFamily="34" charset="-120"/>
              </a:rPr>
              <a:t>United Kingdom, 2018: tiered levy</a:t>
            </a:r>
            <a:endParaRPr lang="en-US" sz="1800" dirty="0"/>
          </a:p>
        </p:txBody>
      </p:sp>
      <p:sp>
        <p:nvSpPr>
          <p:cNvPr id="15" name="anim3_842"/>
          <p:cNvSpPr txBox="1"/>
          <p:nvPr/>
        </p:nvSpPr>
        <p:spPr>
          <a:xfrm>
            <a:off x="7040880" y="1874520"/>
            <a:ext cx="4434840" cy="27432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Announced 2016 · implemented April 2018 · paid by producers</a:t>
            </a:r>
            <a:endParaRPr lang="en-US" sz="1250" dirty="0"/>
          </a:p>
        </p:txBody>
      </p:sp>
      <p:sp>
        <p:nvSpPr>
          <p:cNvPr id="16" name="anim4_843"/>
          <p:cNvSpPr/>
          <p:nvPr/>
        </p:nvSpPr>
        <p:spPr>
          <a:xfrm>
            <a:off x="6400800" y="2286000"/>
            <a:ext cx="3840480" cy="420624"/>
          </a:xfrm>
          <a:prstGeom prst="rect">
            <a:avLst/>
          </a:prstGeom>
          <a:solidFill>
            <a:srgbClr val="2A7A8C"/>
          </a:solidFill>
          <a:ln w="12700">
            <a:solidFill>
              <a:srgbClr val="FFFFFF"/>
            </a:solidFill>
            <a:prstDash val="solid"/>
          </a:ln>
        </p:spPr>
      </p:sp>
      <p:sp>
        <p:nvSpPr>
          <p:cNvPr id="17" name="anim4_844"/>
          <p:cNvSpPr txBox="1"/>
          <p:nvPr/>
        </p:nvSpPr>
        <p:spPr>
          <a:xfrm>
            <a:off x="6510528" y="2286000"/>
            <a:ext cx="365760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8 g sugar / 100 mL   </a:t>
            </a:r>
            <a:r>
              <a:rPr lang="en-US" sz="1250" dirty="0">
                <a:solidFill>
                  <a:srgbClr val="FFFFFF"/>
                </a:solidFill>
                <a:latin typeface="Calibri" pitchFamily="34" charset="0"/>
                <a:ea typeface="Calibri" pitchFamily="34" charset="-122"/>
                <a:cs typeface="Calibri" pitchFamily="34" charset="-120"/>
              </a:rPr>
              <a:t>£0.24 per liter</a:t>
            </a:r>
            <a:endParaRPr lang="en-US" sz="1250" dirty="0"/>
          </a:p>
        </p:txBody>
      </p:sp>
      <p:sp>
        <p:nvSpPr>
          <p:cNvPr id="18" name="anim4_845"/>
          <p:cNvSpPr/>
          <p:nvPr/>
        </p:nvSpPr>
        <p:spPr>
          <a:xfrm>
            <a:off x="6400800" y="2788920"/>
            <a:ext cx="3108960" cy="420624"/>
          </a:xfrm>
          <a:prstGeom prst="rect">
            <a:avLst/>
          </a:prstGeom>
          <a:solidFill>
            <a:srgbClr val="5FA3B1"/>
          </a:solidFill>
          <a:ln w="12700">
            <a:solidFill>
              <a:srgbClr val="FFFFFF"/>
            </a:solidFill>
            <a:prstDash val="solid"/>
          </a:ln>
        </p:spPr>
      </p:sp>
      <p:sp>
        <p:nvSpPr>
          <p:cNvPr id="19" name="anim4_846"/>
          <p:cNvSpPr txBox="1"/>
          <p:nvPr/>
        </p:nvSpPr>
        <p:spPr>
          <a:xfrm>
            <a:off x="6510528" y="2788920"/>
            <a:ext cx="292608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5 to &lt; 8 g / 100 mL   </a:t>
            </a:r>
            <a:r>
              <a:rPr lang="en-US" sz="1250" dirty="0">
                <a:solidFill>
                  <a:srgbClr val="FFFFFF"/>
                </a:solidFill>
                <a:latin typeface="Calibri" pitchFamily="34" charset="0"/>
                <a:ea typeface="Calibri" pitchFamily="34" charset="-122"/>
                <a:cs typeface="Calibri" pitchFamily="34" charset="-120"/>
              </a:rPr>
              <a:t>£0.18 per liter</a:t>
            </a:r>
            <a:endParaRPr lang="en-US" sz="1250" dirty="0"/>
          </a:p>
        </p:txBody>
      </p:sp>
      <p:sp>
        <p:nvSpPr>
          <p:cNvPr id="20" name="anim4_847"/>
          <p:cNvSpPr/>
          <p:nvPr/>
        </p:nvSpPr>
        <p:spPr>
          <a:xfrm>
            <a:off x="6400800" y="3291840"/>
            <a:ext cx="2377440" cy="420624"/>
          </a:xfrm>
          <a:prstGeom prst="rect">
            <a:avLst/>
          </a:prstGeom>
          <a:solidFill>
            <a:srgbClr val="B7D6DC"/>
          </a:solidFill>
          <a:ln w="12700">
            <a:solidFill>
              <a:srgbClr val="FFFFFF"/>
            </a:solidFill>
            <a:prstDash val="solid"/>
          </a:ln>
        </p:spPr>
      </p:sp>
      <p:sp>
        <p:nvSpPr>
          <p:cNvPr id="21" name="anim4_848"/>
          <p:cNvSpPr txBox="1"/>
          <p:nvPr/>
        </p:nvSpPr>
        <p:spPr>
          <a:xfrm>
            <a:off x="6510528" y="3291840"/>
            <a:ext cx="2194560" cy="420624"/>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&lt; 5 g / 100 mL   </a:t>
            </a:r>
            <a:r>
              <a:rPr lang="en-US" sz="1250" dirty="0">
                <a:solidFill>
                  <a:srgbClr val="1B1F24"/>
                </a:solidFill>
                <a:latin typeface="Calibri" pitchFamily="34" charset="0"/>
                <a:ea typeface="Calibri" pitchFamily="34" charset="-122"/>
                <a:cs typeface="Calibri" pitchFamily="34" charset="-120"/>
              </a:rPr>
              <a:t>exempt</a:t>
            </a:r>
            <a:endParaRPr lang="en-US" sz="1250" dirty="0"/>
          </a:p>
        </p:txBody>
      </p:sp>
      <p:sp>
        <p:nvSpPr>
          <p:cNvPr id="22" name="anim5_849"/>
          <p:cNvSpPr txBox="1"/>
          <p:nvPr/>
        </p:nvSpPr>
        <p:spPr>
          <a:xfrm>
            <a:off x="6400800" y="3886200"/>
            <a:ext cx="1417320" cy="502920"/>
          </a:xfrm>
          <a:prstGeom prst="rect">
            <a:avLst/>
          </a:prstGeom>
          <a:noFill/>
          <a:ln/>
        </p:spPr>
        <p:txBody>
          <a:bodyPr wrap="square" lIns="0" tIns="0" rIns="0" bIns="0" rtlCol="0" anchor="ctr"/>
          <a:lstStyle/>
          <a:p>
            <a:pPr indent="0" marL="0">
              <a:buNone/>
            </a:pPr>
            <a:r>
              <a:rPr lang="en-US" sz="2100" b="1" dirty="0">
                <a:solidFill>
                  <a:srgbClr val="2A7A8C"/>
                </a:solidFill>
                <a:latin typeface="Cambria" pitchFamily="34" charset="0"/>
                <a:ea typeface="Cambria" pitchFamily="34" charset="-122"/>
                <a:cs typeface="Cambria" pitchFamily="34" charset="-120"/>
              </a:rPr>
              <a:t>15.4%</a:t>
            </a:r>
            <a:endParaRPr lang="en-US" sz="2100" dirty="0"/>
          </a:p>
        </p:txBody>
      </p:sp>
      <p:sp>
        <p:nvSpPr>
          <p:cNvPr id="23" name="anim5_850"/>
          <p:cNvSpPr txBox="1"/>
          <p:nvPr/>
        </p:nvSpPr>
        <p:spPr>
          <a:xfrm>
            <a:off x="7863840" y="3886200"/>
            <a:ext cx="3611880" cy="502920"/>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of drinks still above the lower threshold by February 2019</a:t>
            </a:r>
            <a:endParaRPr lang="en-US" sz="1200" dirty="0"/>
          </a:p>
        </p:txBody>
      </p:sp>
      <p:sp>
        <p:nvSpPr>
          <p:cNvPr id="24" name="anim5_851"/>
          <p:cNvSpPr txBox="1"/>
          <p:nvPr/>
        </p:nvSpPr>
        <p:spPr>
          <a:xfrm>
            <a:off x="6400800" y="4453128"/>
            <a:ext cx="1417320" cy="502920"/>
          </a:xfrm>
          <a:prstGeom prst="rect">
            <a:avLst/>
          </a:prstGeom>
          <a:noFill/>
          <a:ln/>
        </p:spPr>
        <p:txBody>
          <a:bodyPr wrap="square" lIns="0" tIns="0" rIns="0" bIns="0" rtlCol="0" anchor="ctr"/>
          <a:lstStyle/>
          <a:p>
            <a:pPr indent="0" marL="0">
              <a:buNone/>
            </a:pPr>
            <a:r>
              <a:rPr lang="en-US" sz="2100" b="1" dirty="0">
                <a:solidFill>
                  <a:srgbClr val="2A7A8C"/>
                </a:solidFill>
                <a:latin typeface="Cambria" pitchFamily="34" charset="0"/>
                <a:ea typeface="Cambria" pitchFamily="34" charset="-122"/>
                <a:cs typeface="Cambria" pitchFamily="34" charset="-120"/>
              </a:rPr>
              <a:t>−33.8 pp</a:t>
            </a:r>
            <a:endParaRPr lang="en-US" sz="2100" dirty="0"/>
          </a:p>
        </p:txBody>
      </p:sp>
      <p:sp>
        <p:nvSpPr>
          <p:cNvPr id="25" name="anim5_852"/>
          <p:cNvSpPr txBox="1"/>
          <p:nvPr/>
        </p:nvSpPr>
        <p:spPr>
          <a:xfrm>
            <a:off x="7863840" y="4453128"/>
            <a:ext cx="3611880" cy="502920"/>
          </a:xfrm>
          <a:prstGeom prst="rect">
            <a:avLst/>
          </a:prstGeom>
          <a:noFill/>
          <a:ln/>
        </p:spPr>
        <p:txBody>
          <a:bodyPr wrap="square" lIns="0" tIns="0" rIns="0" bIns="0" rtlCol="0" anchor="ctr"/>
          <a:lstStyle/>
          <a:p>
            <a:pPr indent="0" marL="0">
              <a:buNone/>
            </a:pPr>
            <a:r>
              <a:rPr lang="en-US" sz="1200" dirty="0">
                <a:solidFill>
                  <a:srgbClr val="1B1F24"/>
                </a:solidFill>
                <a:latin typeface="Calibri" pitchFamily="34" charset="0"/>
                <a:ea typeface="Calibri" pitchFamily="34" charset="-122"/>
                <a:cs typeface="Calibri" pitchFamily="34" charset="-120"/>
              </a:rPr>
              <a:t>drinks above 5 g/100 mL vs pre-policy trend — mainly via reformulation</a:t>
            </a:r>
            <a:endParaRPr lang="en-US" sz="1200" dirty="0"/>
          </a:p>
        </p:txBody>
      </p:sp>
      <p:sp>
        <p:nvSpPr>
          <p:cNvPr id="26" name="anim6_853"/>
          <p:cNvSpPr/>
          <p:nvPr/>
        </p:nvSpPr>
        <p:spPr>
          <a:xfrm>
            <a:off x="548640" y="5285232"/>
            <a:ext cx="11064240" cy="713232"/>
          </a:xfrm>
          <a:prstGeom prst="roundRect">
            <a:avLst>
              <a:gd name="adj" fmla="val 10256"/>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27" name="anim6_854"/>
          <p:cNvSpPr/>
          <p:nvPr/>
        </p:nvSpPr>
        <p:spPr>
          <a:xfrm>
            <a:off x="713232" y="5376672"/>
            <a:ext cx="512064" cy="512064"/>
          </a:xfrm>
          <a:prstGeom prst="ellipse">
            <a:avLst/>
          </a:prstGeom>
          <a:solidFill>
            <a:srgbClr val="1F3A5F"/>
          </a:solidFill>
          <a:ln w="6350">
            <a:solidFill>
              <a:srgbClr val="1F3A5F"/>
            </a:solidFill>
            <a:prstDash val="solid"/>
          </a:ln>
        </p:spPr>
      </p:sp>
      <p:pic>
        <p:nvPicPr>
          <p:cNvPr id="28" name="anim6_855" descr="flag icon">    </p:cNvPr>
          <p:cNvPicPr>
            <a:picLocks noChangeAspect="1"/>
          </p:cNvPicPr>
          <p:nvPr/>
        </p:nvPicPr>
        <p:blipFill>
          <a:blip r:embed="rId4"/>
          <a:stretch>
            <a:fillRect/>
          </a:stretch>
        </p:blipFill>
        <p:spPr>
          <a:xfrm>
            <a:off x="851489" y="5514929"/>
            <a:ext cx="235549" cy="235549"/>
          </a:xfrm>
          <a:prstGeom prst="rect">
            <a:avLst/>
          </a:prstGeom>
        </p:spPr>
      </p:pic>
      <p:sp>
        <p:nvSpPr>
          <p:cNvPr id="29" name="anim6_856"/>
          <p:cNvSpPr txBox="1"/>
          <p:nvPr/>
        </p:nvSpPr>
        <p:spPr>
          <a:xfrm>
            <a:off x="1371600" y="5303520"/>
            <a:ext cx="10104120" cy="676656"/>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For Iran: </a:t>
            </a:r>
            <a:r>
              <a:rPr lang="en-US" sz="1350" dirty="0">
                <a:solidFill>
                  <a:srgbClr val="1B1F24"/>
                </a:solidFill>
                <a:latin typeface="Calibri" pitchFamily="34" charset="0"/>
                <a:ea typeface="Calibri" pitchFamily="34" charset="-122"/>
                <a:cs typeface="Calibri" pitchFamily="34" charset="-120"/>
              </a:rPr>
              <a:t>a tiered per-gram sugar tax merits modelling — not yet a recommendation. Needs local data on price elasticity, substitution, inflation and enforcement.</a:t>
            </a:r>
            <a:endParaRPr lang="en-US" sz="1350" dirty="0"/>
          </a:p>
        </p:txBody>
      </p:sp>
      <p:sp>
        <p:nvSpPr>
          <p:cNvPr id="30" name="Text 2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Colchero et al. 2016, 2017; Scarborough et al. 2020. UK data not sales-weighted: purchases cannot be inferred.</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22"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childTnLst>
                          </p:cTn>
                        </p:par>
                        <p:par>
                          <p:cTn id="38" fill="hold">
                            <p:stCondLst>
                              <p:cond delay="38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childTnLst>
                          </p:cTn>
                        </p:par>
                        <p:par>
                          <p:cTn id="57" fill="hold">
                            <p:stCondLst>
                              <p:cond delay="380"/>
                            </p:stCondLst>
                            <p:childTnLst>
                              <p:par>
                                <p:cTn id="39" presetID="10" presetClass="entr" presetSubtype="0" fill="hold"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childTnLst>
                          </p:cTn>
                        </p:par>
                        <p:par>
                          <p:cTn id="70" fill="hold">
                            <p:stCondLst>
                              <p:cond delay="380"/>
                            </p:stCondLst>
                            <p:childTnLst>
                              <p:par>
                                <p:cTn id="58" presetID="10"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childTnLst>
                          </p:cTn>
                        </p:par>
                        <p:par>
                          <p:cTn id="83" fill="hold">
                            <p:stCondLst>
                              <p:cond delay="380"/>
                            </p:stCondLst>
                            <p:childTnLst>
                              <p:par>
                                <p:cTn id="71" presetID="10" presetClass="entr" presetSubtype="0" fill="hold" nodeType="after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4" grpId="0" animBg="1"/>
      <p:bldP spid="15" grpId="0" animBg="1"/>
      <p:bldP spid="17" grpId="0" animBg="1"/>
      <p:bldP spid="19" grpId="0" animBg="1"/>
      <p:bldP spid="21" grpId="0" animBg="1"/>
      <p:bldP spid="22" grpId="0" animBg="1"/>
      <p:bldP spid="23" grpId="0" animBg="1"/>
      <p:bldP spid="24" grpId="0" animBg="1"/>
      <p:bldP spid="25" grpId="0" animBg="1"/>
      <p:bldP spid="2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Marketing, schools, guidelines — and the tobacco analogy</a:t>
            </a:r>
            <a:endParaRPr lang="en-US" sz="3200" dirty="0"/>
          </a:p>
        </p:txBody>
      </p:sp>
      <p:sp>
        <p:nvSpPr>
          <p:cNvPr id="4" name="anim1_857"/>
          <p:cNvSpPr/>
          <p:nvPr/>
        </p:nvSpPr>
        <p:spPr>
          <a:xfrm>
            <a:off x="548640" y="1325880"/>
            <a:ext cx="5440680" cy="2212848"/>
          </a:xfrm>
          <a:prstGeom prst="roundRect">
            <a:avLst>
              <a:gd name="adj" fmla="val 330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858"/>
          <p:cNvSpPr/>
          <p:nvPr/>
        </p:nvSpPr>
        <p:spPr>
          <a:xfrm>
            <a:off x="749808" y="1508760"/>
            <a:ext cx="548640" cy="548640"/>
          </a:xfrm>
          <a:prstGeom prst="ellipse">
            <a:avLst/>
          </a:prstGeom>
          <a:solidFill>
            <a:srgbClr val="B3393C"/>
          </a:solidFill>
          <a:ln w="6350">
            <a:solidFill>
              <a:srgbClr val="B3393C"/>
            </a:solidFill>
            <a:prstDash val="solid"/>
          </a:ln>
        </p:spPr>
      </p:sp>
      <p:pic>
        <p:nvPicPr>
          <p:cNvPr id="6" name="anim1_859" descr="tv icon">    </p:cNvPr>
          <p:cNvPicPr>
            <a:picLocks noChangeAspect="1"/>
          </p:cNvPicPr>
          <p:nvPr/>
        </p:nvPicPr>
        <p:blipFill>
          <a:blip r:embed="rId1"/>
          <a:stretch>
            <a:fillRect/>
          </a:stretch>
        </p:blipFill>
        <p:spPr>
          <a:xfrm>
            <a:off x="897941" y="1656893"/>
            <a:ext cx="252374" cy="252374"/>
          </a:xfrm>
          <a:prstGeom prst="rect">
            <a:avLst/>
          </a:prstGeom>
        </p:spPr>
      </p:pic>
      <p:sp>
        <p:nvSpPr>
          <p:cNvPr id="7" name="anim1_860"/>
          <p:cNvSpPr txBox="1"/>
          <p:nvPr/>
        </p:nvSpPr>
        <p:spPr>
          <a:xfrm>
            <a:off x="1444752" y="1508760"/>
            <a:ext cx="4389120" cy="548640"/>
          </a:xfrm>
          <a:prstGeom prst="rect">
            <a:avLst/>
          </a:prstGeom>
          <a:noFill/>
          <a:ln/>
        </p:spPr>
        <p:txBody>
          <a:bodyPr wrap="square" lIns="0" tIns="0" rIns="0" bIns="0" rtlCol="0" anchor="ctr"/>
          <a:lstStyle/>
          <a:p>
            <a:pPr indent="0" marL="0">
              <a:buNone/>
            </a:pPr>
            <a:r>
              <a:rPr lang="en-US" sz="1700" b="1" dirty="0">
                <a:solidFill>
                  <a:srgbClr val="B3393C"/>
                </a:solidFill>
                <a:latin typeface="Cambria" pitchFamily="34" charset="0"/>
                <a:ea typeface="Cambria" pitchFamily="34" charset="-122"/>
                <a:cs typeface="Cambria" pitchFamily="34" charset="-120"/>
              </a:rPr>
              <a:t>Marketing to children</a:t>
            </a:r>
            <a:endParaRPr lang="en-US" sz="1700" dirty="0"/>
          </a:p>
        </p:txBody>
      </p:sp>
      <p:sp>
        <p:nvSpPr>
          <p:cNvPr id="8" name="anim1_861"/>
          <p:cNvSpPr txBox="1"/>
          <p:nvPr/>
        </p:nvSpPr>
        <p:spPr>
          <a:xfrm>
            <a:off x="777240" y="2148840"/>
            <a:ext cx="5029200" cy="1325880"/>
          </a:xfrm>
          <a:prstGeom prst="rect">
            <a:avLst/>
          </a:prstGeom>
          <a:noFill/>
          <a:ln/>
        </p:spPr>
        <p:txBody>
          <a:bodyPr wrap="square" lIns="0" tIns="0" rIns="0" bIns="0" rtlCol="0" anchor="t"/>
          <a:lstStyle/>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WHO 2010: </a:t>
            </a:r>
            <a:r>
              <a:rPr lang="en-US" sz="1250" dirty="0">
                <a:solidFill>
                  <a:srgbClr val="1B1F24"/>
                </a:solidFill>
                <a:latin typeface="Calibri" pitchFamily="34" charset="0"/>
                <a:ea typeface="Calibri" pitchFamily="34" charset="-122"/>
                <a:cs typeface="Calibri" pitchFamily="34" charset="-120"/>
              </a:rPr>
              <a:t>recommendations on marketing to children</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UK: </a:t>
            </a:r>
            <a:r>
              <a:rPr lang="en-US" sz="1250" dirty="0">
                <a:solidFill>
                  <a:srgbClr val="1B1F24"/>
                </a:solidFill>
                <a:latin typeface="Calibri" pitchFamily="34" charset="0"/>
                <a:ea typeface="Calibri" pitchFamily="34" charset="-122"/>
                <a:cs typeface="Calibri" pitchFamily="34" charset="-120"/>
              </a:rPr>
              <a:t>“less healthy” TV ads before 9 p.m. and paid online ads restricted from 5 January 2026</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Chile: </a:t>
            </a:r>
            <a:r>
              <a:rPr lang="en-US" sz="1250" dirty="0">
                <a:solidFill>
                  <a:srgbClr val="1B1F24"/>
                </a:solidFill>
                <a:latin typeface="Calibri" pitchFamily="34" charset="0"/>
                <a:ea typeface="Calibri" pitchFamily="34" charset="-122"/>
                <a:cs typeface="Calibri" pitchFamily="34" charset="-120"/>
              </a:rPr>
              <a:t>TV ad exposure −44% (preschoolers), −58% (adolescents)</a:t>
            </a:r>
            <a:endParaRPr lang="en-US" sz="1250" dirty="0"/>
          </a:p>
        </p:txBody>
      </p:sp>
      <p:sp>
        <p:nvSpPr>
          <p:cNvPr id="9" name="anim2_862"/>
          <p:cNvSpPr/>
          <p:nvPr/>
        </p:nvSpPr>
        <p:spPr>
          <a:xfrm>
            <a:off x="6172200" y="1325880"/>
            <a:ext cx="5440680" cy="2212848"/>
          </a:xfrm>
          <a:prstGeom prst="roundRect">
            <a:avLst>
              <a:gd name="adj" fmla="val 330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0" name="anim2_863"/>
          <p:cNvSpPr/>
          <p:nvPr/>
        </p:nvSpPr>
        <p:spPr>
          <a:xfrm>
            <a:off x="6373368" y="1508760"/>
            <a:ext cx="548640" cy="548640"/>
          </a:xfrm>
          <a:prstGeom prst="ellipse">
            <a:avLst/>
          </a:prstGeom>
          <a:solidFill>
            <a:srgbClr val="1F3A5F"/>
          </a:solidFill>
          <a:ln w="6350">
            <a:solidFill>
              <a:srgbClr val="1F3A5F"/>
            </a:solidFill>
            <a:prstDash val="solid"/>
          </a:ln>
        </p:spPr>
      </p:sp>
      <p:pic>
        <p:nvPicPr>
          <p:cNvPr id="11" name="anim2_864" descr="school icon">    </p:cNvPr>
          <p:cNvPicPr>
            <a:picLocks noChangeAspect="1"/>
          </p:cNvPicPr>
          <p:nvPr/>
        </p:nvPicPr>
        <p:blipFill>
          <a:blip r:embed="rId2"/>
          <a:stretch>
            <a:fillRect/>
          </a:stretch>
        </p:blipFill>
        <p:spPr>
          <a:xfrm>
            <a:off x="6521501" y="1656893"/>
            <a:ext cx="252374" cy="252374"/>
          </a:xfrm>
          <a:prstGeom prst="rect">
            <a:avLst/>
          </a:prstGeom>
        </p:spPr>
      </p:pic>
      <p:sp>
        <p:nvSpPr>
          <p:cNvPr id="12" name="anim2_865"/>
          <p:cNvSpPr txBox="1"/>
          <p:nvPr/>
        </p:nvSpPr>
        <p:spPr>
          <a:xfrm>
            <a:off x="7068312" y="1508760"/>
            <a:ext cx="4389120" cy="548640"/>
          </a:xfrm>
          <a:prstGeom prst="rect">
            <a:avLst/>
          </a:prstGeom>
          <a:noFill/>
          <a:ln/>
        </p:spPr>
        <p:txBody>
          <a:bodyPr wrap="square" lIns="0" tIns="0" rIns="0" bIns="0" rtlCol="0" anchor="ctr"/>
          <a:lstStyle/>
          <a:p>
            <a:pPr indent="0" marL="0">
              <a:buNone/>
            </a:pPr>
            <a:r>
              <a:rPr lang="en-US" sz="1700" b="1" dirty="0">
                <a:solidFill>
                  <a:srgbClr val="1F3A5F"/>
                </a:solidFill>
                <a:latin typeface="Cambria" pitchFamily="34" charset="0"/>
                <a:ea typeface="Cambria" pitchFamily="34" charset="-122"/>
                <a:cs typeface="Cambria" pitchFamily="34" charset="-120"/>
              </a:rPr>
              <a:t>School food environment</a:t>
            </a:r>
            <a:endParaRPr lang="en-US" sz="1700" dirty="0"/>
          </a:p>
        </p:txBody>
      </p:sp>
      <p:sp>
        <p:nvSpPr>
          <p:cNvPr id="13" name="anim2_866"/>
          <p:cNvSpPr txBox="1"/>
          <p:nvPr/>
        </p:nvSpPr>
        <p:spPr>
          <a:xfrm>
            <a:off x="6400800" y="2148840"/>
            <a:ext cx="5029200" cy="13258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Limit sales of low-nutrition products; remove sugary drinks from vending machines</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Strengthen school meals built on fresh, minimally processed foods</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Chile: </a:t>
            </a:r>
            <a:r>
              <a:rPr lang="en-US" sz="1250" dirty="0">
                <a:solidFill>
                  <a:srgbClr val="1B1F24"/>
                </a:solidFill>
                <a:latin typeface="Calibri" pitchFamily="34" charset="0"/>
                <a:ea typeface="Calibri" pitchFamily="34" charset="-122"/>
                <a:cs typeface="Calibri" pitchFamily="34" charset="-120"/>
              </a:rPr>
              <a:t>school sales ban was part of the package</a:t>
            </a:r>
            <a:endParaRPr lang="en-US" sz="1250" dirty="0"/>
          </a:p>
        </p:txBody>
      </p:sp>
      <p:sp>
        <p:nvSpPr>
          <p:cNvPr id="14" name="anim3_867"/>
          <p:cNvSpPr/>
          <p:nvPr/>
        </p:nvSpPr>
        <p:spPr>
          <a:xfrm>
            <a:off x="548640" y="3703320"/>
            <a:ext cx="5440680" cy="2212848"/>
          </a:xfrm>
          <a:prstGeom prst="roundRect">
            <a:avLst>
              <a:gd name="adj" fmla="val 330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868"/>
          <p:cNvSpPr/>
          <p:nvPr/>
        </p:nvSpPr>
        <p:spPr>
          <a:xfrm>
            <a:off x="749808" y="3886200"/>
            <a:ext cx="548640" cy="548640"/>
          </a:xfrm>
          <a:prstGeom prst="ellipse">
            <a:avLst/>
          </a:prstGeom>
          <a:solidFill>
            <a:srgbClr val="3B7D5A"/>
          </a:solidFill>
          <a:ln w="6350">
            <a:solidFill>
              <a:srgbClr val="3B7D5A"/>
            </a:solidFill>
            <a:prstDash val="solid"/>
          </a:ln>
        </p:spPr>
      </p:sp>
      <p:pic>
        <p:nvPicPr>
          <p:cNvPr id="16" name="anim3_869" descr="book icon">    </p:cNvPr>
          <p:cNvPicPr>
            <a:picLocks noChangeAspect="1"/>
          </p:cNvPicPr>
          <p:nvPr/>
        </p:nvPicPr>
        <p:blipFill>
          <a:blip r:embed="rId3"/>
          <a:stretch>
            <a:fillRect/>
          </a:stretch>
        </p:blipFill>
        <p:spPr>
          <a:xfrm>
            <a:off x="897941" y="4034333"/>
            <a:ext cx="252374" cy="252374"/>
          </a:xfrm>
          <a:prstGeom prst="rect">
            <a:avLst/>
          </a:prstGeom>
        </p:spPr>
      </p:pic>
      <p:sp>
        <p:nvSpPr>
          <p:cNvPr id="17" name="anim3_870"/>
          <p:cNvSpPr txBox="1"/>
          <p:nvPr/>
        </p:nvSpPr>
        <p:spPr>
          <a:xfrm>
            <a:off x="1444752" y="3886200"/>
            <a:ext cx="4389120" cy="548640"/>
          </a:xfrm>
          <a:prstGeom prst="rect">
            <a:avLst/>
          </a:prstGeom>
          <a:noFill/>
          <a:ln/>
        </p:spPr>
        <p:txBody>
          <a:bodyPr wrap="square" lIns="0" tIns="0" rIns="0" bIns="0" rtlCol="0" anchor="ctr"/>
          <a:lstStyle/>
          <a:p>
            <a:pPr indent="0" marL="0">
              <a:buNone/>
            </a:pPr>
            <a:r>
              <a:rPr lang="en-US" sz="1700" b="1" dirty="0">
                <a:solidFill>
                  <a:srgbClr val="3B7D5A"/>
                </a:solidFill>
                <a:latin typeface="Cambria" pitchFamily="34" charset="0"/>
                <a:ea typeface="Cambria" pitchFamily="34" charset="-122"/>
                <a:cs typeface="Cambria" pitchFamily="34" charset="-120"/>
              </a:rPr>
              <a:t>Processing in dietary guidelines</a:t>
            </a:r>
            <a:endParaRPr lang="en-US" sz="1700" dirty="0"/>
          </a:p>
        </p:txBody>
      </p:sp>
      <p:sp>
        <p:nvSpPr>
          <p:cNvPr id="18" name="anim3_871"/>
          <p:cNvSpPr txBox="1"/>
          <p:nvPr/>
        </p:nvSpPr>
        <p:spPr>
          <a:xfrm>
            <a:off x="777240" y="4526280"/>
            <a:ext cx="5029200" cy="1325880"/>
          </a:xfrm>
          <a:prstGeom prst="rect">
            <a:avLst/>
          </a:prstGeom>
          <a:noFill/>
          <a:ln/>
        </p:spPr>
        <p:txBody>
          <a:bodyPr wrap="square" lIns="0" tIns="0" rIns="0" bIns="0" rtlCol="0" anchor="t"/>
          <a:lstStyle/>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Brazil 2014 “golden rule”: </a:t>
            </a:r>
            <a:r>
              <a:rPr lang="en-US" sz="1250" dirty="0">
                <a:solidFill>
                  <a:srgbClr val="1B1F24"/>
                </a:solidFill>
                <a:latin typeface="Calibri" pitchFamily="34" charset="0"/>
                <a:ea typeface="Calibri" pitchFamily="34" charset="-122"/>
                <a:cs typeface="Calibri" pitchFamily="34" charset="-120"/>
              </a:rPr>
              <a:t>prefer natural or minimally processed foods and freshly made meals to UPF</a:t>
            </a:r>
            <a:endParaRPr lang="en-US" sz="1250" dirty="0"/>
          </a:p>
          <a:p>
            <a:pPr marL="342900" indent="-342900">
              <a:spcAft>
                <a:spcPts val="300"/>
              </a:spcAft>
              <a:buSzPct val="100000"/>
              <a:buChar char="•"/>
            </a:pPr>
            <a:r>
              <a:rPr lang="en-US" sz="1250" dirty="0">
                <a:solidFill>
                  <a:srgbClr val="1B1F24"/>
                </a:solidFill>
                <a:latin typeface="Calibri" pitchFamily="34" charset="0"/>
                <a:ea typeface="Calibri" pitchFamily="34" charset="-122"/>
                <a:cs typeface="Calibri" pitchFamily="34" charset="-120"/>
              </a:rPr>
              <a:t>Followed to varying degrees by Uruguay, Peru, Ecuador, France, Belgium and Canada (106 guidelines reviewed)</a:t>
            </a:r>
            <a:endParaRPr lang="en-US" sz="1250" dirty="0"/>
          </a:p>
        </p:txBody>
      </p:sp>
      <p:sp>
        <p:nvSpPr>
          <p:cNvPr id="19" name="anim4_872"/>
          <p:cNvSpPr/>
          <p:nvPr/>
        </p:nvSpPr>
        <p:spPr>
          <a:xfrm>
            <a:off x="6172200" y="3703320"/>
            <a:ext cx="5440680" cy="2212848"/>
          </a:xfrm>
          <a:prstGeom prst="roundRect">
            <a:avLst>
              <a:gd name="adj" fmla="val 3306"/>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4_873"/>
          <p:cNvSpPr/>
          <p:nvPr/>
        </p:nvSpPr>
        <p:spPr>
          <a:xfrm>
            <a:off x="6373368" y="3886200"/>
            <a:ext cx="548640" cy="548640"/>
          </a:xfrm>
          <a:prstGeom prst="ellipse">
            <a:avLst/>
          </a:prstGeom>
          <a:solidFill>
            <a:srgbClr val="5B6B8C"/>
          </a:solidFill>
          <a:ln w="6350">
            <a:solidFill>
              <a:srgbClr val="5B6B8C"/>
            </a:solidFill>
            <a:prstDash val="solid"/>
          </a:ln>
        </p:spPr>
      </p:sp>
      <p:pic>
        <p:nvPicPr>
          <p:cNvPr id="21" name="anim4_874" descr="smoking icon">    </p:cNvPr>
          <p:cNvPicPr>
            <a:picLocks noChangeAspect="1"/>
          </p:cNvPicPr>
          <p:nvPr/>
        </p:nvPicPr>
        <p:blipFill>
          <a:blip r:embed="rId4"/>
          <a:stretch>
            <a:fillRect/>
          </a:stretch>
        </p:blipFill>
        <p:spPr>
          <a:xfrm>
            <a:off x="6521501" y="4034333"/>
            <a:ext cx="252374" cy="252374"/>
          </a:xfrm>
          <a:prstGeom prst="rect">
            <a:avLst/>
          </a:prstGeom>
        </p:spPr>
      </p:pic>
      <p:sp>
        <p:nvSpPr>
          <p:cNvPr id="22" name="anim4_875"/>
          <p:cNvSpPr txBox="1"/>
          <p:nvPr/>
        </p:nvSpPr>
        <p:spPr>
          <a:xfrm>
            <a:off x="7068312" y="3886200"/>
            <a:ext cx="4389120" cy="548640"/>
          </a:xfrm>
          <a:prstGeom prst="rect">
            <a:avLst/>
          </a:prstGeom>
          <a:noFill/>
          <a:ln/>
        </p:spPr>
        <p:txBody>
          <a:bodyPr wrap="square" lIns="0" tIns="0" rIns="0" bIns="0" rtlCol="0" anchor="ctr"/>
          <a:lstStyle/>
          <a:p>
            <a:pPr indent="0" marL="0">
              <a:buNone/>
            </a:pPr>
            <a:r>
              <a:rPr lang="en-US" sz="1700" b="1" dirty="0">
                <a:solidFill>
                  <a:srgbClr val="5B6B8C"/>
                </a:solidFill>
                <a:latin typeface="Cambria" pitchFamily="34" charset="0"/>
                <a:ea typeface="Cambria" pitchFamily="34" charset="-122"/>
                <a:cs typeface="Cambria" pitchFamily="34" charset="-120"/>
              </a:rPr>
              <a:t>The tobacco analogy</a:t>
            </a:r>
            <a:endParaRPr lang="en-US" sz="1700" dirty="0"/>
          </a:p>
        </p:txBody>
      </p:sp>
      <p:sp>
        <p:nvSpPr>
          <p:cNvPr id="23" name="anim4_876"/>
          <p:cNvSpPr txBox="1"/>
          <p:nvPr/>
        </p:nvSpPr>
        <p:spPr>
          <a:xfrm>
            <a:off x="6400800" y="4526280"/>
            <a:ext cx="5029200" cy="1325880"/>
          </a:xfrm>
          <a:prstGeom prst="rect">
            <a:avLst/>
          </a:prstGeom>
          <a:noFill/>
          <a:ln/>
        </p:spPr>
        <p:txBody>
          <a:bodyPr wrap="square" lIns="0" tIns="0" rIns="0" bIns="0" rtlCol="0" anchor="t"/>
          <a:lstStyle/>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1980–2001: </a:t>
            </a:r>
            <a:r>
              <a:rPr lang="en-US" sz="1250" dirty="0">
                <a:solidFill>
                  <a:srgbClr val="1B1F24"/>
                </a:solidFill>
                <a:latin typeface="Calibri" pitchFamily="34" charset="0"/>
                <a:ea typeface="Calibri" pitchFamily="34" charset="-122"/>
                <a:cs typeface="Calibri" pitchFamily="34" charset="-120"/>
              </a:rPr>
              <a:t>US tobacco companies owned major food companies; their products were 29% (fat–sodium) and 80% (carb–sodium) more likely to be hyper-palatable</a:t>
            </a:r>
            <a:endParaRPr lang="en-US" sz="1250" dirty="0"/>
          </a:p>
          <a:p>
            <a:pPr marL="342900" indent="-342900">
              <a:spcAft>
                <a:spcPts val="300"/>
              </a:spcAft>
              <a:buSzPct val="100000"/>
              <a:buChar char="•"/>
            </a:pPr>
            <a:r>
              <a:rPr lang="en-US" sz="1250" b="1" dirty="0">
                <a:solidFill>
                  <a:srgbClr val="1B1F24"/>
                </a:solidFill>
                <a:latin typeface="Calibri" pitchFamily="34" charset="0"/>
                <a:ea typeface="Calibri" pitchFamily="34" charset="-122"/>
                <a:cs typeface="Calibri" pitchFamily="34" charset="-120"/>
              </a:rPr>
              <a:t>Limits: </a:t>
            </a:r>
            <a:r>
              <a:rPr lang="en-US" sz="1250" dirty="0">
                <a:solidFill>
                  <a:srgbClr val="1B1F24"/>
                </a:solidFill>
                <a:latin typeface="Calibri" pitchFamily="34" charset="0"/>
                <a:ea typeface="Calibri" pitchFamily="34" charset="-122"/>
                <a:cs typeface="Calibri" pitchFamily="34" charset="-120"/>
              </a:rPr>
              <a:t>food is essential, UPF is heterogeneous, there is no single “nicotine”</a:t>
            </a:r>
            <a:endParaRPr lang="en-US" sz="1250" dirty="0"/>
          </a:p>
        </p:txBody>
      </p:sp>
      <p:sp>
        <p:nvSpPr>
          <p:cNvPr id="24" name="Text 17"/>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WHO 2010; UK Advertising Regulations 2024; Dillman Carpentier et al. 2020; Brazil MoH 2014; Koios et al. 2022; Fazzino et al. 2024; Gilmore et al. 2023.</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Options for Iran: evidence, facilitators, barriers</a:t>
            </a:r>
            <a:endParaRPr lang="en-US" sz="3200" dirty="0"/>
          </a:p>
        </p:txBody>
      </p:sp>
      <p:graphicFrame>
        <p:nvGraphicFramePr>
          <p:cNvPr id="38" name="iran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874520"/>
                <a:gridCol w="1280160"/>
                <a:gridCol w="2788920"/>
                <a:gridCol w="2377440"/>
                <a:gridCol w="27432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Intervention</a:t>
                      </a:r>
                      <a:endParaRPr lang="en-US" sz="120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Documented effect (intermediate)</a:t>
                      </a:r>
                      <a:endParaRPr lang="en-US" sz="120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Facilitator in Iran</a:t>
                      </a:r>
                      <a:endParaRPr lang="en-US" sz="120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3B7D5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Barrier in Iran</a:t>
                      </a:r>
                      <a:endParaRPr lang="en-US" sz="120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B3393C"/>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Warning-label package</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Chile 2016</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Regulated products: sugar −36.8%, energy −23.0%</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Existing nutrition-labeling infrastructure</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Regulatory revision; inter-agency coordination; industry resistance</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Tiered sugar tax</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UK SDIL 2018</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Drinks above 5 g/100 mL: −33.8 pp (reformulation)</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Existing tax system</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Tax–FDA coordination; distribution and substitution</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Flat SSB tax</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Mexico 2014</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Purchases −7.6% (two-year mean); largest in lowest SES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Simple to implement</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Shift to untaxed drinks; regressivity</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Marketing limits for children</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Chile; WHO 2010</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TV ad exposure −44% (preschool), −58% (adolescents)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Oversight of official media</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Digital and social media hard to monitor</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School food environment</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Chile, Brazil</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Part of packages; independent effect unclear</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Ministry of Education canteen rules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Canteen economics; healthy alternatives; monitoring</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Processing in guidelines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Brazil 2014</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Message framework shifts; present in many guidelines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Little new infrastructure needed</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Public communication; behavioral effect unevaluated</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548640">
                <a:tc>
                  <a:txBody>
                    <a:bodyPr/>
                    <a:lstStyle/>
                    <a:p>
                      <a:pPr indent="0" marL="0">
                        <a:buNone/>
                      </a:pPr>
                      <a:r>
                        <a:rPr lang="en-US" sz="1150" b="1" dirty="0">
                          <a:solidFill>
                            <a:srgbClr val="1F3A5F"/>
                          </a:solidFill>
                          <a:latin typeface="Calibri" pitchFamily="34" charset="0"/>
                          <a:ea typeface="Calibri" pitchFamily="34" charset="-122"/>
                          <a:cs typeface="Calibri" pitchFamily="34" charset="-120"/>
                        </a:rPr>
                        <a:t>National UPF monitoring</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BF0DD"/>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NHANES, NDNS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BF0DD"/>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Enables trends, burden and policy evaluation</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BF0DD"/>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Add a module to existing surveys</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BF0DD"/>
                    </a:solidFill>
                  </a:tcPr>
                </a:tc>
                <a:tc>
                  <a:txBody>
                    <a:bodyPr/>
                    <a:lstStyle/>
                    <a:p>
                      <a:pPr indent="0" marL="0">
                        <a:buNone/>
                      </a:pPr>
                      <a:r>
                        <a:rPr lang="en-US" sz="1150" dirty="0">
                          <a:solidFill>
                            <a:srgbClr val="1B1F24"/>
                          </a:solidFill>
                          <a:latin typeface="Calibri" pitchFamily="34" charset="0"/>
                          <a:ea typeface="Calibri" pitchFamily="34" charset="-122"/>
                          <a:cs typeface="Calibri" pitchFamily="34" charset="-120"/>
                        </a:rPr>
                        <a:t>Cost; standard NOVA coding; coder training</a:t>
                      </a:r>
                      <a:endParaRPr lang="en-US" sz="1150" dirty="0">
                        <a:latin typeface="Calibri" charset="0"/>
                        <a:ea typeface="Calibri" charset="0"/>
                        <a:cs typeface="Calibri" charset="0"/>
                      </a:endParaRPr>
                    </a:p>
                  </a:txBody>
                  <a:tcPr marL="76200" marR="762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BF0DD"/>
                    </a:solidFill>
                  </a:tcPr>
                </a:tc>
              </a:tr>
            </a:tbl>
          </a:graphicData>
        </a:graphic>
      </p:graphicFrame>
      <p:sp>
        <p:nvSpPr>
          <p:cNvPr id="5" name="Text 1"/>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100" i="1" dirty="0">
                <a:solidFill>
                  <a:srgbClr val="5F6B76"/>
                </a:solidFill>
                <a:latin typeface="Calibri" pitchFamily="34" charset="0"/>
                <a:ea typeface="Calibri" pitchFamily="34" charset="-122"/>
                <a:cs typeface="Calibri" pitchFamily="34" charset="-120"/>
              </a:rPr>
              <a:t>Feasibility columns are the author’s qualitative assessment (infrastructure, cost, monitoring capacity, stakeholder resistance) — not a formal feasibility or stakeholder analysis. Highlighted row: a prerequisite for evaluating all the others.</a:t>
            </a:r>
            <a:endParaRPr lang="en-US" sz="11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secnum"/>
          <p:cNvSpPr txBox="1"/>
          <p:nvPr/>
        </p:nvSpPr>
        <p:spPr>
          <a:xfrm>
            <a:off x="640080" y="1874520"/>
            <a:ext cx="2103120" cy="2011680"/>
          </a:xfrm>
          <a:prstGeom prst="rect">
            <a:avLst/>
          </a:prstGeom>
          <a:noFill/>
          <a:ln/>
        </p:spPr>
        <p:txBody>
          <a:bodyPr wrap="square" lIns="0" tIns="0" rIns="0" bIns="0" rtlCol="0" anchor="ctr"/>
          <a:lstStyle/>
          <a:p>
            <a:pPr indent="0" marL="0">
              <a:buNone/>
            </a:pPr>
            <a:r>
              <a:rPr lang="en-US" sz="11000" b="1" dirty="0">
                <a:solidFill>
                  <a:srgbClr val="3F7FB5"/>
                </a:solidFill>
                <a:latin typeface="Cambria" pitchFamily="34" charset="0"/>
                <a:ea typeface="Cambria" pitchFamily="34" charset="-122"/>
                <a:cs typeface="Cambria" pitchFamily="34" charset="-120"/>
              </a:rPr>
              <a:t>07</a:t>
            </a:r>
            <a:endParaRPr lang="en-US" sz="11000" dirty="0"/>
          </a:p>
        </p:txBody>
      </p:sp>
      <p:sp>
        <p:nvSpPr>
          <p:cNvPr id="4" name="Text 0"/>
          <p:cNvSpPr/>
          <p:nvPr>
            <p:ph idx="100" type="title" hasCustomPrompt="1"/>
          </p:nvPr>
        </p:nvSpPr>
        <p:spPr>
          <a:xfrm>
            <a:off x="2788920" y="2331720"/>
            <a:ext cx="7589520" cy="1005840"/>
          </a:xfrm>
          <a:prstGeom prst="rect">
            <a:avLst/>
          </a:prstGeom>
          <a:noFill/>
          <a:ln/>
        </p:spPr>
        <p:txBody>
          <a:bodyPr wrap="square" lIns="0" tIns="0" rIns="0" bIns="0" rtlCol="0" anchor="ctr"/>
          <a:lstStyle/>
          <a:p>
            <a:pPr algn="l" indent="0" marL="0">
              <a:buNone/>
            </a:pPr>
            <a:r>
              <a:rPr lang="en-US" sz="4200" b="1" dirty="0">
                <a:solidFill>
                  <a:schemeClr val="bg1"/>
                </a:solidFill>
                <a:latin typeface="Cambria" pitchFamily="34" charset="0"/>
                <a:ea typeface="Cambria" pitchFamily="34" charset="-122"/>
                <a:cs typeface="Cambria" pitchFamily="34" charset="-120"/>
              </a:rPr>
              <a:t>Vulnerability and the Clinic</a:t>
            </a:r>
            <a:endParaRPr lang="en-US" sz="4200" dirty="0"/>
          </a:p>
        </p:txBody>
      </p:sp>
      <p:sp>
        <p:nvSpPr>
          <p:cNvPr id="5" name="Text 0"/>
          <p:cNvSpPr/>
          <p:nvPr>
            <p:ph idx="101" type="body" hasCustomPrompt="1"/>
          </p:nvPr>
        </p:nvSpPr>
        <p:spPr>
          <a:xfrm>
            <a:off x="2788920" y="3383280"/>
            <a:ext cx="7589520" cy="731520"/>
          </a:xfrm>
          <a:prstGeom prst="rect">
            <a:avLst/>
          </a:prstGeom>
          <a:noFill/>
          <a:ln/>
        </p:spPr>
        <p:txBody>
          <a:bodyPr wrap="square" lIns="0" tIns="0" rIns="0" bIns="0" rtlCol="0" anchor="t"/>
          <a:lstStyle/>
          <a:p>
            <a:pPr algn="l" indent="0" marL="0">
              <a:buNone/>
            </a:pPr>
            <a:r>
              <a:rPr lang="en-US" sz="2100" i="1" dirty="0">
                <a:solidFill>
                  <a:srgbClr val="CADCFC"/>
                </a:solidFill>
                <a:latin typeface="Calibri" pitchFamily="34" charset="0"/>
                <a:ea typeface="Calibri" pitchFamily="34" charset="-122"/>
                <a:cs typeface="Calibri" pitchFamily="34" charset="-120"/>
              </a:rPr>
              <a:t>Who is most at risk — and what should clinicians say?</a:t>
            </a:r>
            <a:endParaRPr lang="en-US" sz="2100" dirty="0"/>
          </a:p>
        </p:txBody>
      </p:sp>
      <p:sp>
        <p:nvSpPr>
          <p:cNvPr id="6" name="trackline"/>
          <p:cNvSpPr/>
          <p:nvPr/>
        </p:nvSpPr>
        <p:spPr>
          <a:xfrm>
            <a:off x="2926080" y="5358384"/>
            <a:ext cx="7552944" cy="0"/>
          </a:xfrm>
          <a:prstGeom prst="line">
            <a:avLst/>
          </a:prstGeom>
          <a:noFill/>
          <a:ln w="15875">
            <a:solidFill>
              <a:srgbClr val="8FA4BC"/>
            </a:solidFill>
            <a:prstDash val="solid"/>
          </a:ln>
        </p:spPr>
      </p:sp>
      <p:sp>
        <p:nvSpPr>
          <p:cNvPr id="7" name="trk0"/>
          <p:cNvSpPr/>
          <p:nvPr/>
        </p:nvSpPr>
        <p:spPr>
          <a:xfrm>
            <a:off x="2788920" y="5221224"/>
            <a:ext cx="274320" cy="274320"/>
          </a:xfrm>
          <a:prstGeom prst="ellipse">
            <a:avLst/>
          </a:prstGeom>
          <a:solidFill>
            <a:srgbClr val="B3393C"/>
          </a:solidFill>
          <a:ln w="12700">
            <a:solidFill>
              <a:srgbClr val="8FA4BC"/>
            </a:solidFill>
            <a:prstDash val="solid"/>
          </a:ln>
        </p:spPr>
      </p:sp>
      <p:sp>
        <p:nvSpPr>
          <p:cNvPr id="8" name="Text 5"/>
          <p:cNvSpPr txBox="1"/>
          <p:nvPr/>
        </p:nvSpPr>
        <p:spPr>
          <a:xfrm>
            <a:off x="237744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Ultra-processed foods</a:t>
            </a:r>
            <a:endParaRPr lang="en-US" sz="1050" dirty="0"/>
          </a:p>
        </p:txBody>
      </p:sp>
      <p:sp>
        <p:nvSpPr>
          <p:cNvPr id="9" name="trk1"/>
          <p:cNvSpPr/>
          <p:nvPr/>
        </p:nvSpPr>
        <p:spPr>
          <a:xfrm>
            <a:off x="3867912" y="5221224"/>
            <a:ext cx="274320" cy="274320"/>
          </a:xfrm>
          <a:prstGeom prst="ellipse">
            <a:avLst/>
          </a:prstGeom>
          <a:solidFill>
            <a:srgbClr val="6A4C93"/>
          </a:solidFill>
          <a:ln w="12700">
            <a:solidFill>
              <a:srgbClr val="8FA4BC"/>
            </a:solidFill>
            <a:prstDash val="solid"/>
          </a:ln>
        </p:spPr>
      </p:sp>
      <p:sp>
        <p:nvSpPr>
          <p:cNvPr id="10" name="Text 7"/>
          <p:cNvSpPr txBox="1"/>
          <p:nvPr/>
        </p:nvSpPr>
        <p:spPr>
          <a:xfrm>
            <a:off x="3456432"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Food addiction</a:t>
            </a:r>
            <a:endParaRPr lang="en-US" sz="1050" dirty="0"/>
          </a:p>
        </p:txBody>
      </p:sp>
      <p:sp>
        <p:nvSpPr>
          <p:cNvPr id="11" name="trk2"/>
          <p:cNvSpPr/>
          <p:nvPr/>
        </p:nvSpPr>
        <p:spPr>
          <a:xfrm>
            <a:off x="4946904" y="5221224"/>
            <a:ext cx="274320" cy="274320"/>
          </a:xfrm>
          <a:prstGeom prst="ellipse">
            <a:avLst/>
          </a:prstGeom>
          <a:solidFill>
            <a:srgbClr val="2A7A8C"/>
          </a:solidFill>
          <a:ln w="12700">
            <a:solidFill>
              <a:srgbClr val="8FA4BC"/>
            </a:solidFill>
            <a:prstDash val="solid"/>
          </a:ln>
        </p:spPr>
      </p:sp>
      <p:sp>
        <p:nvSpPr>
          <p:cNvPr id="12" name="Text 9"/>
          <p:cNvSpPr txBox="1"/>
          <p:nvPr/>
        </p:nvSpPr>
        <p:spPr>
          <a:xfrm>
            <a:off x="453542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Mechanisms</a:t>
            </a:r>
            <a:endParaRPr lang="en-US" sz="1050" dirty="0"/>
          </a:p>
        </p:txBody>
      </p:sp>
      <p:sp>
        <p:nvSpPr>
          <p:cNvPr id="13" name="trk3"/>
          <p:cNvSpPr/>
          <p:nvPr/>
        </p:nvSpPr>
        <p:spPr>
          <a:xfrm>
            <a:off x="6025896" y="5221224"/>
            <a:ext cx="274320" cy="274320"/>
          </a:xfrm>
          <a:prstGeom prst="ellipse">
            <a:avLst/>
          </a:prstGeom>
          <a:solidFill>
            <a:srgbClr val="D88A1F"/>
          </a:solidFill>
          <a:ln w="12700">
            <a:solidFill>
              <a:srgbClr val="8FA4BC"/>
            </a:solidFill>
            <a:prstDash val="solid"/>
          </a:ln>
        </p:spPr>
      </p:sp>
      <p:sp>
        <p:nvSpPr>
          <p:cNvPr id="14" name="Text 11"/>
          <p:cNvSpPr txBox="1"/>
          <p:nvPr/>
        </p:nvSpPr>
        <p:spPr>
          <a:xfrm>
            <a:off x="5614416"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Human evidence</a:t>
            </a:r>
            <a:endParaRPr lang="en-US" sz="1050" dirty="0"/>
          </a:p>
        </p:txBody>
      </p:sp>
      <p:sp>
        <p:nvSpPr>
          <p:cNvPr id="15" name="trk4"/>
          <p:cNvSpPr/>
          <p:nvPr/>
        </p:nvSpPr>
        <p:spPr>
          <a:xfrm>
            <a:off x="7104888" y="5221224"/>
            <a:ext cx="274320" cy="274320"/>
          </a:xfrm>
          <a:prstGeom prst="ellipse">
            <a:avLst/>
          </a:prstGeom>
          <a:solidFill>
            <a:srgbClr val="5B6B8C"/>
          </a:solidFill>
          <a:ln w="12700">
            <a:solidFill>
              <a:srgbClr val="8FA4BC"/>
            </a:solidFill>
            <a:prstDash val="solid"/>
          </a:ln>
        </p:spPr>
      </p:sp>
      <p:sp>
        <p:nvSpPr>
          <p:cNvPr id="16" name="Text 13"/>
          <p:cNvSpPr txBox="1"/>
          <p:nvPr/>
        </p:nvSpPr>
        <p:spPr>
          <a:xfrm>
            <a:off x="6693408"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The debate</a:t>
            </a:r>
            <a:endParaRPr lang="en-US" sz="1050" dirty="0"/>
          </a:p>
        </p:txBody>
      </p:sp>
      <p:sp>
        <p:nvSpPr>
          <p:cNvPr id="17" name="trk5"/>
          <p:cNvSpPr/>
          <p:nvPr/>
        </p:nvSpPr>
        <p:spPr>
          <a:xfrm>
            <a:off x="8183880" y="5221224"/>
            <a:ext cx="274320" cy="274320"/>
          </a:xfrm>
          <a:prstGeom prst="ellipse">
            <a:avLst/>
          </a:prstGeom>
          <a:solidFill>
            <a:srgbClr val="3B7D5A"/>
          </a:solidFill>
          <a:ln w="12700">
            <a:solidFill>
              <a:srgbClr val="8FA4BC"/>
            </a:solidFill>
            <a:prstDash val="solid"/>
          </a:ln>
        </p:spPr>
      </p:sp>
      <p:sp>
        <p:nvSpPr>
          <p:cNvPr id="18" name="Text 15"/>
          <p:cNvSpPr txBox="1"/>
          <p:nvPr/>
        </p:nvSpPr>
        <p:spPr>
          <a:xfrm>
            <a:off x="7772400"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Policy</a:t>
            </a:r>
            <a:endParaRPr lang="en-US" sz="1050" dirty="0"/>
          </a:p>
        </p:txBody>
      </p:sp>
      <p:sp>
        <p:nvSpPr>
          <p:cNvPr id="19" name="trk6"/>
          <p:cNvSpPr/>
          <p:nvPr/>
        </p:nvSpPr>
        <p:spPr>
          <a:xfrm>
            <a:off x="9208008" y="5166360"/>
            <a:ext cx="384048" cy="384048"/>
          </a:xfrm>
          <a:prstGeom prst="ellipse">
            <a:avLst/>
          </a:prstGeom>
          <a:solidFill>
            <a:srgbClr val="3F7FB5"/>
          </a:solidFill>
          <a:ln w="25400">
            <a:solidFill>
              <a:srgbClr val="FFFFFF"/>
            </a:solidFill>
            <a:prstDash val="solid"/>
          </a:ln>
        </p:spPr>
      </p:sp>
      <p:sp>
        <p:nvSpPr>
          <p:cNvPr id="20" name="Text 17"/>
          <p:cNvSpPr txBox="1"/>
          <p:nvPr/>
        </p:nvSpPr>
        <p:spPr>
          <a:xfrm>
            <a:off x="8851392" y="5623560"/>
            <a:ext cx="109728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Vulnerable groups and clinic</a:t>
            </a:r>
            <a:endParaRPr lang="en-US" sz="1050" dirty="0"/>
          </a:p>
        </p:txBody>
      </p:sp>
      <p:sp>
        <p:nvSpPr>
          <p:cNvPr id="21" name="trk7"/>
          <p:cNvSpPr/>
          <p:nvPr/>
        </p:nvSpPr>
        <p:spPr>
          <a:xfrm>
            <a:off x="10341864" y="5221224"/>
            <a:ext cx="274320" cy="274320"/>
          </a:xfrm>
          <a:prstGeom prst="ellipse">
            <a:avLst/>
          </a:prstGeom>
          <a:solidFill>
            <a:srgbClr val="2E4A6B"/>
          </a:solidFill>
          <a:ln w="12700">
            <a:solidFill>
              <a:srgbClr val="8FA4BC"/>
            </a:solidFill>
            <a:prstDash val="solid"/>
          </a:ln>
        </p:spPr>
      </p:sp>
      <p:sp>
        <p:nvSpPr>
          <p:cNvPr id="22" name="Text 19"/>
          <p:cNvSpPr txBox="1"/>
          <p:nvPr/>
        </p:nvSpPr>
        <p:spPr>
          <a:xfrm>
            <a:off x="9930384" y="5623560"/>
            <a:ext cx="1097280" cy="457200"/>
          </a:xfrm>
          <a:prstGeom prst="rect">
            <a:avLst/>
          </a:prstGeom>
          <a:noFill/>
          <a:ln/>
        </p:spPr>
        <p:txBody>
          <a:bodyPr wrap="square" lIns="0" tIns="0" rIns="0" bIns="0" rtlCol="0" anchor="t"/>
          <a:lstStyle/>
          <a:p>
            <a:pPr algn="ctr" indent="0" marL="0">
              <a:buNone/>
            </a:pPr>
            <a:r>
              <a:rPr lang="en-US" sz="1050" dirty="0">
                <a:solidFill>
                  <a:srgbClr val="9FB2C8"/>
                </a:solidFill>
                <a:latin typeface="Calibri" pitchFamily="34" charset="0"/>
                <a:ea typeface="Calibri" pitchFamily="34" charset="-122"/>
                <a:cs typeface="Calibri" pitchFamily="34" charset="-120"/>
              </a:rPr>
              <a:t>Conclusions</a:t>
            </a:r>
            <a:endParaRPr lang="en-US" sz="1050" dirty="0"/>
          </a:p>
        </p:txBody>
      </p:sp>
      <p:sp>
        <p:nvSpPr>
          <p:cNvPr id="23" name="Text 20"/>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1"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
        <p:nvSpPr>
          <p:cNvPr id="24" name="ic_877"/>
          <p:cNvSpPr/>
          <p:nvPr/>
        </p:nvSpPr>
        <p:spPr>
          <a:xfrm>
            <a:off x="10607040" y="2240280"/>
            <a:ext cx="960120" cy="960120"/>
          </a:xfrm>
          <a:prstGeom prst="ellipse">
            <a:avLst/>
          </a:prstGeom>
          <a:solidFill>
            <a:srgbClr val="3F7FB5"/>
          </a:solidFill>
          <a:ln w="6350">
            <a:solidFill>
              <a:srgbClr val="3F7FB5"/>
            </a:solidFill>
            <a:prstDash val="solid"/>
          </a:ln>
        </p:spPr>
      </p:sp>
      <p:pic>
        <p:nvPicPr>
          <p:cNvPr id="25" name="ic_878" descr="child icon">    </p:cNvPr>
          <p:cNvPicPr>
            <a:picLocks noChangeAspect="1"/>
          </p:cNvPicPr>
          <p:nvPr/>
        </p:nvPicPr>
        <p:blipFill>
          <a:blip r:embed="rId2"/>
          <a:stretch>
            <a:fillRect/>
          </a:stretch>
        </p:blipFill>
        <p:spPr>
          <a:xfrm>
            <a:off x="10866272" y="2499512"/>
            <a:ext cx="441655" cy="441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Who is most vulnerable?</a:t>
            </a:r>
            <a:endParaRPr lang="en-US" sz="3200" dirty="0"/>
          </a:p>
        </p:txBody>
      </p:sp>
      <p:sp>
        <p:nvSpPr>
          <p:cNvPr id="4" name="anim1_879"/>
          <p:cNvSpPr/>
          <p:nvPr/>
        </p:nvSpPr>
        <p:spPr>
          <a:xfrm>
            <a:off x="548640" y="1325880"/>
            <a:ext cx="3566160" cy="461772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880"/>
          <p:cNvSpPr/>
          <p:nvPr/>
        </p:nvSpPr>
        <p:spPr>
          <a:xfrm>
            <a:off x="749808" y="1481328"/>
            <a:ext cx="566928" cy="566928"/>
          </a:xfrm>
          <a:prstGeom prst="ellipse">
            <a:avLst/>
          </a:prstGeom>
          <a:solidFill>
            <a:srgbClr val="1F3A5F"/>
          </a:solidFill>
          <a:ln w="6350">
            <a:solidFill>
              <a:srgbClr val="1F3A5F"/>
            </a:solidFill>
            <a:prstDash val="solid"/>
          </a:ln>
        </p:spPr>
      </p:sp>
      <p:pic>
        <p:nvPicPr>
          <p:cNvPr id="6" name="anim1_881" descr="child icon">    </p:cNvPr>
          <p:cNvPicPr>
            <a:picLocks noChangeAspect="1"/>
          </p:cNvPicPr>
          <p:nvPr/>
        </p:nvPicPr>
        <p:blipFill>
          <a:blip r:embed="rId1"/>
          <a:stretch>
            <a:fillRect/>
          </a:stretch>
        </p:blipFill>
        <p:spPr>
          <a:xfrm>
            <a:off x="902879" y="1634399"/>
            <a:ext cx="260787" cy="260787"/>
          </a:xfrm>
          <a:prstGeom prst="rect">
            <a:avLst/>
          </a:prstGeom>
        </p:spPr>
      </p:pic>
      <p:sp>
        <p:nvSpPr>
          <p:cNvPr id="7" name="anim1_882"/>
          <p:cNvSpPr txBox="1"/>
          <p:nvPr/>
        </p:nvSpPr>
        <p:spPr>
          <a:xfrm>
            <a:off x="1463040" y="1481328"/>
            <a:ext cx="2560320" cy="566928"/>
          </a:xfrm>
          <a:prstGeom prst="rect">
            <a:avLst/>
          </a:prstGeom>
          <a:noFill/>
          <a:ln/>
        </p:spPr>
        <p:txBody>
          <a:bodyPr wrap="square" lIns="0" tIns="0" rIns="0" bIns="0" rtlCol="0" anchor="ctr"/>
          <a:lstStyle/>
          <a:p>
            <a:pPr indent="0" marL="0">
              <a:buNone/>
            </a:pPr>
            <a:r>
              <a:rPr lang="en-US" sz="1650" b="1" dirty="0">
                <a:solidFill>
                  <a:srgbClr val="1F3A5F"/>
                </a:solidFill>
                <a:latin typeface="Cambria" pitchFamily="34" charset="0"/>
                <a:ea typeface="Cambria" pitchFamily="34" charset="-122"/>
                <a:cs typeface="Cambria" pitchFamily="34" charset="-120"/>
              </a:rPr>
              <a:t>Children and adolescents</a:t>
            </a:r>
            <a:endParaRPr lang="en-US" sz="1650" dirty="0"/>
          </a:p>
        </p:txBody>
      </p:sp>
      <p:sp>
        <p:nvSpPr>
          <p:cNvPr id="8" name="anim1_883"/>
          <p:cNvSpPr txBox="1"/>
          <p:nvPr/>
        </p:nvSpPr>
        <p:spPr>
          <a:xfrm>
            <a:off x="731520" y="2194560"/>
            <a:ext cx="1066800" cy="502920"/>
          </a:xfrm>
          <a:prstGeom prst="rect">
            <a:avLst/>
          </a:prstGeom>
          <a:noFill/>
          <a:ln/>
        </p:spPr>
        <p:txBody>
          <a:bodyPr wrap="square" lIns="0" tIns="0" rIns="0" bIns="0" rtlCol="0" anchor="ctr"/>
          <a:lstStyle/>
          <a:p>
            <a:pPr algn="ctr" indent="0" marL="0">
              <a:buNone/>
            </a:pPr>
            <a:r>
              <a:rPr lang="en-US" sz="2400" b="1" dirty="0">
                <a:solidFill>
                  <a:srgbClr val="1F3A5F"/>
                </a:solidFill>
                <a:latin typeface="Cambria" pitchFamily="34" charset="0"/>
                <a:ea typeface="Cambria" pitchFamily="34" charset="-122"/>
                <a:cs typeface="Cambria" pitchFamily="34" charset="-120"/>
              </a:rPr>
              <a:t>15%</a:t>
            </a:r>
            <a:endParaRPr lang="en-US" sz="2400" dirty="0"/>
          </a:p>
        </p:txBody>
      </p:sp>
      <p:sp>
        <p:nvSpPr>
          <p:cNvPr id="9" name="anim1_884"/>
          <p:cNvSpPr txBox="1"/>
          <p:nvPr/>
        </p:nvSpPr>
        <p:spPr>
          <a:xfrm>
            <a:off x="731520" y="2697480"/>
            <a:ext cx="10668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all samples</a:t>
            </a:r>
            <a:endParaRPr lang="en-US" sz="1100" dirty="0"/>
          </a:p>
        </p:txBody>
      </p:sp>
      <p:sp>
        <p:nvSpPr>
          <p:cNvPr id="10" name="anim1_885"/>
          <p:cNvSpPr txBox="1"/>
          <p:nvPr/>
        </p:nvSpPr>
        <p:spPr>
          <a:xfrm>
            <a:off x="1798320" y="2194560"/>
            <a:ext cx="1066800" cy="502920"/>
          </a:xfrm>
          <a:prstGeom prst="rect">
            <a:avLst/>
          </a:prstGeom>
          <a:noFill/>
          <a:ln/>
        </p:spPr>
        <p:txBody>
          <a:bodyPr wrap="square" lIns="0" tIns="0" rIns="0" bIns="0" rtlCol="0" anchor="ctr"/>
          <a:lstStyle/>
          <a:p>
            <a:pPr algn="ctr" indent="0" marL="0">
              <a:buNone/>
            </a:pPr>
            <a:r>
              <a:rPr lang="en-US" sz="2400" b="1" dirty="0">
                <a:solidFill>
                  <a:srgbClr val="1F3A5F"/>
                </a:solidFill>
                <a:latin typeface="Cambria" pitchFamily="34" charset="0"/>
                <a:ea typeface="Cambria" pitchFamily="34" charset="-122"/>
                <a:cs typeface="Cambria" pitchFamily="34" charset="-120"/>
              </a:rPr>
              <a:t>12%</a:t>
            </a:r>
            <a:endParaRPr lang="en-US" sz="2400" dirty="0"/>
          </a:p>
        </p:txBody>
      </p:sp>
      <p:sp>
        <p:nvSpPr>
          <p:cNvPr id="11" name="anim1_886"/>
          <p:cNvSpPr txBox="1"/>
          <p:nvPr/>
        </p:nvSpPr>
        <p:spPr>
          <a:xfrm>
            <a:off x="1798320" y="2697480"/>
            <a:ext cx="10668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community</a:t>
            </a:r>
            <a:endParaRPr lang="en-US" sz="1100" dirty="0"/>
          </a:p>
        </p:txBody>
      </p:sp>
      <p:sp>
        <p:nvSpPr>
          <p:cNvPr id="12" name="anim1_887"/>
          <p:cNvSpPr txBox="1"/>
          <p:nvPr/>
        </p:nvSpPr>
        <p:spPr>
          <a:xfrm>
            <a:off x="2865120" y="2194560"/>
            <a:ext cx="1066800" cy="502920"/>
          </a:xfrm>
          <a:prstGeom prst="rect">
            <a:avLst/>
          </a:prstGeom>
          <a:noFill/>
          <a:ln/>
        </p:spPr>
        <p:txBody>
          <a:bodyPr wrap="square" lIns="0" tIns="0" rIns="0" bIns="0" rtlCol="0" anchor="ctr"/>
          <a:lstStyle/>
          <a:p>
            <a:pPr algn="ctr" indent="0" marL="0">
              <a:buNone/>
            </a:pPr>
            <a:r>
              <a:rPr lang="en-US" sz="2400" b="1" dirty="0">
                <a:solidFill>
                  <a:srgbClr val="1F3A5F"/>
                </a:solidFill>
                <a:latin typeface="Cambria" pitchFamily="34" charset="0"/>
                <a:ea typeface="Cambria" pitchFamily="34" charset="-122"/>
                <a:cs typeface="Cambria" pitchFamily="34" charset="-120"/>
              </a:rPr>
              <a:t>19%</a:t>
            </a:r>
            <a:endParaRPr lang="en-US" sz="2400" dirty="0"/>
          </a:p>
        </p:txBody>
      </p:sp>
      <p:sp>
        <p:nvSpPr>
          <p:cNvPr id="13" name="anim1_888"/>
          <p:cNvSpPr txBox="1"/>
          <p:nvPr/>
        </p:nvSpPr>
        <p:spPr>
          <a:xfrm>
            <a:off x="2865120" y="2697480"/>
            <a:ext cx="10668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overweight</a:t>
            </a:r>
            <a:endParaRPr lang="en-US" sz="1100" dirty="0"/>
          </a:p>
        </p:txBody>
      </p:sp>
      <p:sp>
        <p:nvSpPr>
          <p:cNvPr id="14" name="anim1_889"/>
          <p:cNvSpPr txBox="1"/>
          <p:nvPr/>
        </p:nvSpPr>
        <p:spPr>
          <a:xfrm>
            <a:off x="749808" y="3017520"/>
            <a:ext cx="3154680" cy="457200"/>
          </a:xfrm>
          <a:prstGeom prst="rect">
            <a:avLst/>
          </a:prstGeom>
          <a:noFill/>
          <a:ln/>
        </p:spPr>
        <p:txBody>
          <a:bodyPr wrap="square" lIns="0" tIns="0" rIns="0" bIns="0" rtlCol="0" anchor="t"/>
          <a:lstStyle/>
          <a:p>
            <a:pPr algn="ctr" indent="0" marL="0">
              <a:buNone/>
            </a:pPr>
            <a:r>
              <a:rPr lang="en-US" sz="1100" i="1" dirty="0">
                <a:solidFill>
                  <a:srgbClr val="1F3A5F"/>
                </a:solidFill>
                <a:latin typeface="Calibri" pitchFamily="34" charset="0"/>
                <a:ea typeface="Calibri" pitchFamily="34" charset="-122"/>
                <a:cs typeface="Calibri" pitchFamily="34" charset="-120"/>
              </a:rPr>
              <a:t>YFAS-defined food addiction (Yekaninejad et al. 2021)</a:t>
            </a:r>
            <a:endParaRPr lang="en-US" sz="1100" dirty="0"/>
          </a:p>
        </p:txBody>
      </p:sp>
      <p:sp>
        <p:nvSpPr>
          <p:cNvPr id="15" name="anim1_890"/>
          <p:cNvSpPr/>
          <p:nvPr/>
        </p:nvSpPr>
        <p:spPr>
          <a:xfrm>
            <a:off x="822960" y="3547872"/>
            <a:ext cx="3017520" cy="0"/>
          </a:xfrm>
          <a:prstGeom prst="line">
            <a:avLst/>
          </a:prstGeom>
          <a:noFill/>
          <a:ln w="12700">
            <a:solidFill>
              <a:srgbClr val="D5DCE3"/>
            </a:solidFill>
            <a:prstDash val="solid"/>
          </a:ln>
        </p:spPr>
      </p:sp>
      <p:sp>
        <p:nvSpPr>
          <p:cNvPr id="16" name="anim1_891"/>
          <p:cNvSpPr txBox="1"/>
          <p:nvPr/>
        </p:nvSpPr>
        <p:spPr>
          <a:xfrm>
            <a:off x="749808" y="3639312"/>
            <a:ext cx="3200400" cy="22402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Prefrontal control still maturing: reward–control imbalance (Casey et al. 2008)</a:t>
            </a:r>
            <a:endParaRPr lang="en-US" sz="1200" dirty="0"/>
          </a:p>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Heavy exposure to food marketing</a:t>
            </a:r>
            <a:endParaRPr lang="en-US" sz="1200" dirty="0"/>
          </a:p>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Food preferences form early but stay malleable (Birch 1999)</a:t>
            </a:r>
            <a:endParaRPr lang="en-US" sz="1200" dirty="0"/>
          </a:p>
        </p:txBody>
      </p:sp>
      <p:sp>
        <p:nvSpPr>
          <p:cNvPr id="17" name="anim2_892"/>
          <p:cNvSpPr/>
          <p:nvPr/>
        </p:nvSpPr>
        <p:spPr>
          <a:xfrm>
            <a:off x="4297680" y="1325880"/>
            <a:ext cx="3566160" cy="461772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8" name="anim2_893"/>
          <p:cNvSpPr/>
          <p:nvPr/>
        </p:nvSpPr>
        <p:spPr>
          <a:xfrm>
            <a:off x="4498848" y="1481328"/>
            <a:ext cx="566928" cy="566928"/>
          </a:xfrm>
          <a:prstGeom prst="ellipse">
            <a:avLst/>
          </a:prstGeom>
          <a:solidFill>
            <a:srgbClr val="6A4C93"/>
          </a:solidFill>
          <a:ln w="6350">
            <a:solidFill>
              <a:srgbClr val="6A4C93"/>
            </a:solidFill>
            <a:prstDash val="solid"/>
          </a:ln>
        </p:spPr>
      </p:sp>
      <p:pic>
        <p:nvPicPr>
          <p:cNvPr id="19" name="anim2_894" descr="weight icon">    </p:cNvPr>
          <p:cNvPicPr>
            <a:picLocks noChangeAspect="1"/>
          </p:cNvPicPr>
          <p:nvPr/>
        </p:nvPicPr>
        <p:blipFill>
          <a:blip r:embed="rId2"/>
          <a:stretch>
            <a:fillRect/>
          </a:stretch>
        </p:blipFill>
        <p:spPr>
          <a:xfrm>
            <a:off x="4651919" y="1634399"/>
            <a:ext cx="260787" cy="260787"/>
          </a:xfrm>
          <a:prstGeom prst="rect">
            <a:avLst/>
          </a:prstGeom>
        </p:spPr>
      </p:pic>
      <p:sp>
        <p:nvSpPr>
          <p:cNvPr id="20" name="anim2_895"/>
          <p:cNvSpPr txBox="1"/>
          <p:nvPr/>
        </p:nvSpPr>
        <p:spPr>
          <a:xfrm>
            <a:off x="5212080" y="1481328"/>
            <a:ext cx="2560320" cy="566928"/>
          </a:xfrm>
          <a:prstGeom prst="rect">
            <a:avLst/>
          </a:prstGeom>
          <a:noFill/>
          <a:ln/>
        </p:spPr>
        <p:txBody>
          <a:bodyPr wrap="square" lIns="0" tIns="0" rIns="0" bIns="0" rtlCol="0" anchor="ctr"/>
          <a:lstStyle/>
          <a:p>
            <a:pPr indent="0" marL="0">
              <a:buNone/>
            </a:pPr>
            <a:r>
              <a:rPr lang="en-US" sz="1650" b="1" dirty="0">
                <a:solidFill>
                  <a:srgbClr val="6A4C93"/>
                </a:solidFill>
                <a:latin typeface="Cambria" pitchFamily="34" charset="0"/>
                <a:ea typeface="Cambria" pitchFamily="34" charset="-122"/>
                <a:cs typeface="Cambria" pitchFamily="34" charset="-120"/>
              </a:rPr>
              <a:t>Obesity and eating disorders</a:t>
            </a:r>
            <a:endParaRPr lang="en-US" sz="1650" dirty="0"/>
          </a:p>
        </p:txBody>
      </p:sp>
      <p:sp>
        <p:nvSpPr>
          <p:cNvPr id="21" name="anim2_896"/>
          <p:cNvSpPr txBox="1"/>
          <p:nvPr/>
        </p:nvSpPr>
        <p:spPr>
          <a:xfrm>
            <a:off x="4480560" y="2194560"/>
            <a:ext cx="1600200" cy="502920"/>
          </a:xfrm>
          <a:prstGeom prst="rect">
            <a:avLst/>
          </a:prstGeom>
          <a:noFill/>
          <a:ln/>
        </p:spPr>
        <p:txBody>
          <a:bodyPr wrap="square" lIns="0" tIns="0" rIns="0" bIns="0" rtlCol="0" anchor="ctr"/>
          <a:lstStyle/>
          <a:p>
            <a:pPr algn="ctr" indent="0" marL="0">
              <a:buNone/>
            </a:pPr>
            <a:r>
              <a:rPr lang="en-US" sz="2400" b="1" dirty="0">
                <a:solidFill>
                  <a:srgbClr val="6A4C93"/>
                </a:solidFill>
                <a:latin typeface="Cambria" pitchFamily="34" charset="0"/>
                <a:ea typeface="Cambria" pitchFamily="34" charset="-122"/>
                <a:cs typeface="Cambria" pitchFamily="34" charset="-120"/>
              </a:rPr>
              <a:t>11.1%</a:t>
            </a:r>
            <a:endParaRPr lang="en-US" sz="2400" dirty="0"/>
          </a:p>
        </p:txBody>
      </p:sp>
      <p:sp>
        <p:nvSpPr>
          <p:cNvPr id="22" name="anim2_897"/>
          <p:cNvSpPr txBox="1"/>
          <p:nvPr/>
        </p:nvSpPr>
        <p:spPr>
          <a:xfrm>
            <a:off x="4480560" y="2697480"/>
            <a:ext cx="16002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healthy weight</a:t>
            </a:r>
            <a:endParaRPr lang="en-US" sz="1100" dirty="0"/>
          </a:p>
        </p:txBody>
      </p:sp>
      <p:sp>
        <p:nvSpPr>
          <p:cNvPr id="23" name="anim2_898"/>
          <p:cNvSpPr txBox="1"/>
          <p:nvPr/>
        </p:nvSpPr>
        <p:spPr>
          <a:xfrm>
            <a:off x="6080760" y="2194560"/>
            <a:ext cx="1600200" cy="502920"/>
          </a:xfrm>
          <a:prstGeom prst="rect">
            <a:avLst/>
          </a:prstGeom>
          <a:noFill/>
          <a:ln/>
        </p:spPr>
        <p:txBody>
          <a:bodyPr wrap="square" lIns="0" tIns="0" rIns="0" bIns="0" rtlCol="0" anchor="ctr"/>
          <a:lstStyle/>
          <a:p>
            <a:pPr algn="ctr" indent="0" marL="0">
              <a:buNone/>
            </a:pPr>
            <a:r>
              <a:rPr lang="en-US" sz="2400" b="1" dirty="0">
                <a:solidFill>
                  <a:srgbClr val="6A4C93"/>
                </a:solidFill>
                <a:latin typeface="Cambria" pitchFamily="34" charset="0"/>
                <a:ea typeface="Cambria" pitchFamily="34" charset="-122"/>
                <a:cs typeface="Cambria" pitchFamily="34" charset="-120"/>
              </a:rPr>
              <a:t>24.9%</a:t>
            </a:r>
            <a:endParaRPr lang="en-US" sz="2400" dirty="0"/>
          </a:p>
        </p:txBody>
      </p:sp>
      <p:sp>
        <p:nvSpPr>
          <p:cNvPr id="24" name="anim2_899"/>
          <p:cNvSpPr txBox="1"/>
          <p:nvPr/>
        </p:nvSpPr>
        <p:spPr>
          <a:xfrm>
            <a:off x="6080760" y="2697480"/>
            <a:ext cx="16002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overweight or obesity</a:t>
            </a:r>
            <a:endParaRPr lang="en-US" sz="1100" dirty="0"/>
          </a:p>
        </p:txBody>
      </p:sp>
      <p:sp>
        <p:nvSpPr>
          <p:cNvPr id="25" name="anim2_900"/>
          <p:cNvSpPr txBox="1"/>
          <p:nvPr/>
        </p:nvSpPr>
        <p:spPr>
          <a:xfrm>
            <a:off x="4498848" y="3017520"/>
            <a:ext cx="3154680" cy="457200"/>
          </a:xfrm>
          <a:prstGeom prst="rect">
            <a:avLst/>
          </a:prstGeom>
          <a:noFill/>
          <a:ln/>
        </p:spPr>
        <p:txBody>
          <a:bodyPr wrap="square" lIns="0" tIns="0" rIns="0" bIns="0" rtlCol="0" anchor="t"/>
          <a:lstStyle/>
          <a:p>
            <a:pPr algn="ctr" indent="0" marL="0">
              <a:buNone/>
            </a:pPr>
            <a:r>
              <a:rPr lang="en-US" sz="1100" i="1" dirty="0">
                <a:solidFill>
                  <a:srgbClr val="6A4C93"/>
                </a:solidFill>
                <a:latin typeface="Calibri" pitchFamily="34" charset="0"/>
                <a:ea typeface="Calibri" pitchFamily="34" charset="-122"/>
                <a:cs typeface="Calibri" pitchFamily="34" charset="-120"/>
              </a:rPr>
              <a:t>Correlation, not identity: BMI is no proxy (Pursey et al. 2014)</a:t>
            </a:r>
            <a:endParaRPr lang="en-US" sz="1100" dirty="0"/>
          </a:p>
        </p:txBody>
      </p:sp>
      <p:sp>
        <p:nvSpPr>
          <p:cNvPr id="26" name="anim2_901"/>
          <p:cNvSpPr/>
          <p:nvPr/>
        </p:nvSpPr>
        <p:spPr>
          <a:xfrm>
            <a:off x="4572000" y="3547872"/>
            <a:ext cx="3017520" cy="0"/>
          </a:xfrm>
          <a:prstGeom prst="line">
            <a:avLst/>
          </a:prstGeom>
          <a:noFill/>
          <a:ln w="12700">
            <a:solidFill>
              <a:srgbClr val="D5DCE3"/>
            </a:solidFill>
            <a:prstDash val="solid"/>
          </a:ln>
        </p:spPr>
      </p:sp>
      <p:sp>
        <p:nvSpPr>
          <p:cNvPr id="27" name="anim2_902"/>
          <p:cNvSpPr txBox="1"/>
          <p:nvPr/>
        </p:nvSpPr>
        <p:spPr>
          <a:xfrm>
            <a:off x="4498848" y="3639312"/>
            <a:ext cx="3200400" cy="22402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BED: 92.4% met DSM-IV dependence criteria with “binge eating” in place of “substance” (n = 79; Cassin and von Ranson 2007)</a:t>
            </a:r>
            <a:endParaRPr lang="en-US" sz="1200" dirty="0"/>
          </a:p>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12/12 with BED and 5/12 without met mild SUD criteria (qualitative; Curtis and Davis 2014)</a:t>
            </a:r>
            <a:endParaRPr lang="en-US" sz="1200" dirty="0"/>
          </a:p>
        </p:txBody>
      </p:sp>
      <p:sp>
        <p:nvSpPr>
          <p:cNvPr id="28" name="anim3_903"/>
          <p:cNvSpPr/>
          <p:nvPr/>
        </p:nvSpPr>
        <p:spPr>
          <a:xfrm>
            <a:off x="8046720" y="1325880"/>
            <a:ext cx="3566160" cy="4617720"/>
          </a:xfrm>
          <a:prstGeom prst="roundRect">
            <a:avLst>
              <a:gd name="adj" fmla="val 2051"/>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9" name="anim3_904"/>
          <p:cNvSpPr/>
          <p:nvPr/>
        </p:nvSpPr>
        <p:spPr>
          <a:xfrm>
            <a:off x="8247888" y="1481328"/>
            <a:ext cx="566928" cy="566928"/>
          </a:xfrm>
          <a:prstGeom prst="ellipse">
            <a:avLst/>
          </a:prstGeom>
          <a:solidFill>
            <a:srgbClr val="2A7A8C"/>
          </a:solidFill>
          <a:ln w="6350">
            <a:solidFill>
              <a:srgbClr val="2A7A8C"/>
            </a:solidFill>
            <a:prstDash val="solid"/>
          </a:ln>
        </p:spPr>
      </p:sp>
      <p:pic>
        <p:nvPicPr>
          <p:cNvPr id="30" name="anim3_905" descr="people icon">    </p:cNvPr>
          <p:cNvPicPr>
            <a:picLocks noChangeAspect="1"/>
          </p:cNvPicPr>
          <p:nvPr/>
        </p:nvPicPr>
        <p:blipFill>
          <a:blip r:embed="rId3"/>
          <a:stretch>
            <a:fillRect/>
          </a:stretch>
        </p:blipFill>
        <p:spPr>
          <a:xfrm>
            <a:off x="8400959" y="1634399"/>
            <a:ext cx="260787" cy="260787"/>
          </a:xfrm>
          <a:prstGeom prst="rect">
            <a:avLst/>
          </a:prstGeom>
        </p:spPr>
      </p:pic>
      <p:sp>
        <p:nvSpPr>
          <p:cNvPr id="31" name="anim3_906"/>
          <p:cNvSpPr txBox="1"/>
          <p:nvPr/>
        </p:nvSpPr>
        <p:spPr>
          <a:xfrm>
            <a:off x="8961120" y="1481328"/>
            <a:ext cx="2560320" cy="566928"/>
          </a:xfrm>
          <a:prstGeom prst="rect">
            <a:avLst/>
          </a:prstGeom>
          <a:noFill/>
          <a:ln/>
        </p:spPr>
        <p:txBody>
          <a:bodyPr wrap="square" lIns="0" tIns="0" rIns="0" bIns="0" rtlCol="0" anchor="ctr"/>
          <a:lstStyle/>
          <a:p>
            <a:pPr indent="0" marL="0">
              <a:buNone/>
            </a:pPr>
            <a:r>
              <a:rPr lang="en-US" sz="1650" b="1" dirty="0">
                <a:solidFill>
                  <a:srgbClr val="2A7A8C"/>
                </a:solidFill>
                <a:latin typeface="Cambria" pitchFamily="34" charset="0"/>
                <a:ea typeface="Cambria" pitchFamily="34" charset="-122"/>
                <a:cs typeface="Cambria" pitchFamily="34" charset="-120"/>
              </a:rPr>
              <a:t>Mental health and income</a:t>
            </a:r>
            <a:endParaRPr lang="en-US" sz="1650" dirty="0"/>
          </a:p>
        </p:txBody>
      </p:sp>
      <p:sp>
        <p:nvSpPr>
          <p:cNvPr id="32" name="anim3_907"/>
          <p:cNvSpPr txBox="1"/>
          <p:nvPr/>
        </p:nvSpPr>
        <p:spPr>
          <a:xfrm>
            <a:off x="8229600" y="2194560"/>
            <a:ext cx="1600200" cy="502920"/>
          </a:xfrm>
          <a:prstGeom prst="rect">
            <a:avLst/>
          </a:prstGeom>
          <a:noFill/>
          <a:ln/>
        </p:spPr>
        <p:txBody>
          <a:bodyPr wrap="square" lIns="0" tIns="0" rIns="0" bIns="0" rtlCol="0" anchor="ctr"/>
          <a:lstStyle/>
          <a:p>
            <a:pPr algn="ctr" indent="0" marL="0">
              <a:buNone/>
            </a:pPr>
            <a:r>
              <a:rPr lang="en-US" sz="2000" b="1" dirty="0">
                <a:solidFill>
                  <a:srgbClr val="2A7A8C"/>
                </a:solidFill>
                <a:latin typeface="Cambria" pitchFamily="34" charset="0"/>
                <a:ea typeface="Cambria" pitchFamily="34" charset="-122"/>
                <a:cs typeface="Cambria" pitchFamily="34" charset="-120"/>
              </a:rPr>
              <a:t>OR 1.44</a:t>
            </a:r>
            <a:endParaRPr lang="en-US" sz="2000" dirty="0"/>
          </a:p>
        </p:txBody>
      </p:sp>
      <p:sp>
        <p:nvSpPr>
          <p:cNvPr id="33" name="anim3_908"/>
          <p:cNvSpPr txBox="1"/>
          <p:nvPr/>
        </p:nvSpPr>
        <p:spPr>
          <a:xfrm>
            <a:off x="8229600" y="2697480"/>
            <a:ext cx="16002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depression</a:t>
            </a:r>
            <a:endParaRPr lang="en-US" sz="1100" dirty="0"/>
          </a:p>
        </p:txBody>
      </p:sp>
      <p:sp>
        <p:nvSpPr>
          <p:cNvPr id="34" name="anim3_909"/>
          <p:cNvSpPr txBox="1"/>
          <p:nvPr/>
        </p:nvSpPr>
        <p:spPr>
          <a:xfrm>
            <a:off x="9829800" y="2194560"/>
            <a:ext cx="1600200" cy="502920"/>
          </a:xfrm>
          <a:prstGeom prst="rect">
            <a:avLst/>
          </a:prstGeom>
          <a:noFill/>
          <a:ln/>
        </p:spPr>
        <p:txBody>
          <a:bodyPr wrap="square" lIns="0" tIns="0" rIns="0" bIns="0" rtlCol="0" anchor="ctr"/>
          <a:lstStyle/>
          <a:p>
            <a:pPr algn="ctr" indent="0" marL="0">
              <a:buNone/>
            </a:pPr>
            <a:r>
              <a:rPr lang="en-US" sz="2000" b="1" dirty="0">
                <a:solidFill>
                  <a:srgbClr val="2A7A8C"/>
                </a:solidFill>
                <a:latin typeface="Cambria" pitchFamily="34" charset="0"/>
                <a:ea typeface="Cambria" pitchFamily="34" charset="-122"/>
                <a:cs typeface="Cambria" pitchFamily="34" charset="-120"/>
              </a:rPr>
              <a:t>OR 1.48</a:t>
            </a:r>
            <a:endParaRPr lang="en-US" sz="2000" dirty="0"/>
          </a:p>
        </p:txBody>
      </p:sp>
      <p:sp>
        <p:nvSpPr>
          <p:cNvPr id="35" name="anim3_910"/>
          <p:cNvSpPr txBox="1"/>
          <p:nvPr/>
        </p:nvSpPr>
        <p:spPr>
          <a:xfrm>
            <a:off x="9829800" y="2697480"/>
            <a:ext cx="1600200" cy="274320"/>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anxiety</a:t>
            </a:r>
            <a:endParaRPr lang="en-US" sz="1100" dirty="0"/>
          </a:p>
        </p:txBody>
      </p:sp>
      <p:sp>
        <p:nvSpPr>
          <p:cNvPr id="36" name="anim3_911"/>
          <p:cNvSpPr txBox="1"/>
          <p:nvPr/>
        </p:nvSpPr>
        <p:spPr>
          <a:xfrm>
            <a:off x="8247888" y="3017520"/>
            <a:ext cx="3154680" cy="457200"/>
          </a:xfrm>
          <a:prstGeom prst="rect">
            <a:avLst/>
          </a:prstGeom>
          <a:noFill/>
          <a:ln/>
        </p:spPr>
        <p:txBody>
          <a:bodyPr wrap="square" lIns="0" tIns="0" rIns="0" bIns="0" rtlCol="0" anchor="t"/>
          <a:lstStyle/>
          <a:p>
            <a:pPr algn="ctr" indent="0" marL="0">
              <a:buNone/>
            </a:pPr>
            <a:r>
              <a:rPr lang="en-US" sz="1100" i="1" dirty="0">
                <a:solidFill>
                  <a:srgbClr val="2A7A8C"/>
                </a:solidFill>
                <a:latin typeface="Calibri" pitchFamily="34" charset="0"/>
                <a:ea typeface="Calibri" pitchFamily="34" charset="-122"/>
                <a:cs typeface="Calibri" pitchFamily="34" charset="-120"/>
              </a:rPr>
              <a:t>Mostly cross-sectional; possibly bidirectional (Lane et al. 2022)</a:t>
            </a:r>
            <a:endParaRPr lang="en-US" sz="1100" dirty="0"/>
          </a:p>
        </p:txBody>
      </p:sp>
      <p:sp>
        <p:nvSpPr>
          <p:cNvPr id="37" name="anim3_912"/>
          <p:cNvSpPr/>
          <p:nvPr/>
        </p:nvSpPr>
        <p:spPr>
          <a:xfrm>
            <a:off x="8321040" y="3547872"/>
            <a:ext cx="3017520" cy="0"/>
          </a:xfrm>
          <a:prstGeom prst="line">
            <a:avLst/>
          </a:prstGeom>
          <a:noFill/>
          <a:ln w="12700">
            <a:solidFill>
              <a:srgbClr val="D5DCE3"/>
            </a:solidFill>
            <a:prstDash val="solid"/>
          </a:ln>
        </p:spPr>
      </p:sp>
      <p:sp>
        <p:nvSpPr>
          <p:cNvPr id="38" name="anim3_913"/>
          <p:cNvSpPr txBox="1"/>
          <p:nvPr/>
        </p:nvSpPr>
        <p:spPr>
          <a:xfrm>
            <a:off x="8247888" y="3639312"/>
            <a:ext cx="3200400" cy="22402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US data: stronger link with food insecurity (LaFata et al. 2024)</a:t>
            </a:r>
            <a:endParaRPr lang="en-US" sz="1200" dirty="0"/>
          </a:p>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Iran: inflation → more cereals, less fruit; sanctions → most food groups fell, more so in low-income homes, bread rose</a:t>
            </a:r>
            <a:endParaRPr lang="en-US" sz="1200" dirty="0"/>
          </a:p>
          <a:p>
            <a:pPr marL="342900" indent="-342900">
              <a:spcAft>
                <a:spcPts val="500"/>
              </a:spcAft>
              <a:buSzPct val="100000"/>
              <a:buChar char="•"/>
            </a:pPr>
            <a:r>
              <a:rPr lang="en-US" sz="1200" dirty="0">
                <a:solidFill>
                  <a:srgbClr val="1B1F24"/>
                </a:solidFill>
                <a:latin typeface="Calibri" pitchFamily="34" charset="0"/>
                <a:ea typeface="Calibri" pitchFamily="34" charset="-122"/>
                <a:cs typeface="Calibri" pitchFamily="34" charset="-120"/>
              </a:rPr>
              <a:t>Restrictive UPF policy needs affordable alternatives</a:t>
            </a:r>
            <a:endParaRPr lang="en-US" sz="1200" dirty="0"/>
          </a:p>
        </p:txBody>
      </p:sp>
      <p:sp>
        <p:nvSpPr>
          <p:cNvPr id="39" name="Text 3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Yekaninejad et al. 2021; Casey et al. 2008; Birch 1999; Pursey et al. 2014; Cassin and von Ranson 2007; Curtis and Davis 2014; Lane et al. 2022; LaFata et al. 2024; Rahbarinejad et al. 2025; RezaeeDaryakenari et al. 2024.</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1" fill="hold">
                      <p:stCondLst>
                        <p:cond delay="indefinite"/>
                        <p:cond evt="onBegin" delay="0">
                          <p:tn val="2"/>
                        </p:cond>
                      </p:stCondLst>
                      <p:childTnLst>
                        <p:par>
                          <p:cTn id="42"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5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5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par>
                          <p:cTn id="76" fill="hold">
                            <p:stCondLst>
                              <p:cond delay="380"/>
                            </p:stCondLst>
                            <p:childTnLst>
                              <p:par>
                                <p:cTn id="43" presetID="10" presetClass="entr" presetSubtype="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par>
                          <p:cTn id="110" fill="hold">
                            <p:stCondLst>
                              <p:cond delay="380"/>
                            </p:stCondLst>
                            <p:childTnLst>
                              <p:par>
                                <p:cTn id="77" presetID="10" presetClass="entr" presetSubtype="0" fill="hold"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6" grpId="0" animBg="1"/>
      <p:bldP spid="20" grpId="0" animBg="1"/>
      <p:bldP spid="21" grpId="0" animBg="1"/>
      <p:bldP spid="22" grpId="0" animBg="1"/>
      <p:bldP spid="23" grpId="0" animBg="1"/>
      <p:bldP spid="24" grpId="0" animBg="1"/>
      <p:bldP spid="25" grpId="0" animBg="1"/>
      <p:bldP spid="27" grpId="0" animBg="1"/>
      <p:bldP spid="31" grpId="0" animBg="1"/>
      <p:bldP spid="32" grpId="0" animBg="1"/>
      <p:bldP spid="33" grpId="0" animBg="1"/>
      <p:bldP spid="34" grpId="0" animBg="1"/>
      <p:bldP spid="35" grpId="0" animBg="1"/>
      <p:bldP spid="36" grpId="0" animBg="1"/>
      <p:bldP spid="3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Clinical implications: abstinence, moderation, stigma</a:t>
            </a:r>
            <a:endParaRPr lang="en-US" sz="3200" dirty="0"/>
          </a:p>
        </p:txBody>
      </p:sp>
      <p:sp>
        <p:nvSpPr>
          <p:cNvPr id="4" name="anim1_914"/>
          <p:cNvSpPr/>
          <p:nvPr/>
        </p:nvSpPr>
        <p:spPr>
          <a:xfrm>
            <a:off x="548640" y="1325880"/>
            <a:ext cx="3566160" cy="3657600"/>
          </a:xfrm>
          <a:prstGeom prst="roundRect">
            <a:avLst>
              <a:gd name="adj" fmla="val 2051"/>
            </a:avLst>
          </a:prstGeom>
          <a:solidFill>
            <a:srgbClr val="F8E9E9"/>
          </a:solidFill>
          <a:ln w="9525">
            <a:solidFill>
              <a:srgbClr val="EBCACB"/>
            </a:solidFill>
            <a:prstDash val="solid"/>
          </a:ln>
          <a:effectLst>
            <a:outerShdw sx="100000" sy="100000" kx="0" ky="0" algn="bl" rotWithShape="0" blurRad="114300" dist="31750" dir="5400000">
              <a:srgbClr val="1B1F24">
                <a:alpha val="14000"/>
              </a:srgbClr>
            </a:outerShdw>
          </a:effectLst>
        </p:spPr>
      </p:sp>
      <p:sp>
        <p:nvSpPr>
          <p:cNvPr id="5" name="anim1_915"/>
          <p:cNvSpPr/>
          <p:nvPr/>
        </p:nvSpPr>
        <p:spPr>
          <a:xfrm>
            <a:off x="731520" y="1481328"/>
            <a:ext cx="548640" cy="548640"/>
          </a:xfrm>
          <a:prstGeom prst="ellipse">
            <a:avLst/>
          </a:prstGeom>
          <a:solidFill>
            <a:srgbClr val="B3393C"/>
          </a:solidFill>
          <a:ln w="6350">
            <a:solidFill>
              <a:srgbClr val="B3393C"/>
            </a:solidFill>
            <a:prstDash val="solid"/>
          </a:ln>
        </p:spPr>
      </p:sp>
      <p:pic>
        <p:nvPicPr>
          <p:cNvPr id="6" name="anim1_916" descr="ban icon">    </p:cNvPr>
          <p:cNvPicPr>
            <a:picLocks noChangeAspect="1"/>
          </p:cNvPicPr>
          <p:nvPr/>
        </p:nvPicPr>
        <p:blipFill>
          <a:blip r:embed="rId1"/>
          <a:stretch>
            <a:fillRect/>
          </a:stretch>
        </p:blipFill>
        <p:spPr>
          <a:xfrm>
            <a:off x="879653" y="1629461"/>
            <a:ext cx="252374" cy="252374"/>
          </a:xfrm>
          <a:prstGeom prst="rect">
            <a:avLst/>
          </a:prstGeom>
        </p:spPr>
      </p:pic>
      <p:sp>
        <p:nvSpPr>
          <p:cNvPr id="7" name="anim1_917"/>
          <p:cNvSpPr txBox="1"/>
          <p:nvPr/>
        </p:nvSpPr>
        <p:spPr>
          <a:xfrm>
            <a:off x="1417320" y="1508760"/>
            <a:ext cx="2651760" cy="411480"/>
          </a:xfrm>
          <a:prstGeom prst="rect">
            <a:avLst/>
          </a:prstGeom>
          <a:noFill/>
          <a:ln/>
        </p:spPr>
        <p:txBody>
          <a:bodyPr wrap="square" lIns="0" tIns="0" rIns="0" bIns="0" rtlCol="0" anchor="ctr"/>
          <a:lstStyle/>
          <a:p>
            <a:pPr indent="0" marL="0">
              <a:buNone/>
            </a:pPr>
            <a:r>
              <a:rPr lang="en-US" sz="1550" b="1" dirty="0">
                <a:solidFill>
                  <a:srgbClr val="B3393C"/>
                </a:solidFill>
                <a:latin typeface="Cambria" pitchFamily="34" charset="0"/>
                <a:ea typeface="Cambria" pitchFamily="34" charset="-122"/>
                <a:cs typeface="Cambria" pitchFamily="34" charset="-120"/>
              </a:rPr>
              <a:t>Abstain from “trigger foods”?</a:t>
            </a:r>
            <a:endParaRPr lang="en-US" sz="1550" dirty="0"/>
          </a:p>
        </p:txBody>
      </p:sp>
      <p:sp>
        <p:nvSpPr>
          <p:cNvPr id="8" name="anim1_918"/>
          <p:cNvSpPr txBox="1"/>
          <p:nvPr/>
        </p:nvSpPr>
        <p:spPr>
          <a:xfrm>
            <a:off x="749808" y="2194560"/>
            <a:ext cx="3200400" cy="27432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Food itself cannot be given up; proposals target specific foods or features</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Peer-support models (e.g., Overeaters Anonymous) are not evidence-based treatment</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One 10–14-week UPF-abstinence pilot; rigorous RCTs still needed</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Restriction can maintain binge eating</a:t>
            </a:r>
            <a:endParaRPr lang="en-US" sz="1250" dirty="0"/>
          </a:p>
        </p:txBody>
      </p:sp>
      <p:sp>
        <p:nvSpPr>
          <p:cNvPr id="9" name="anim2_919"/>
          <p:cNvSpPr/>
          <p:nvPr/>
        </p:nvSpPr>
        <p:spPr>
          <a:xfrm>
            <a:off x="4297680" y="1325880"/>
            <a:ext cx="3566160" cy="3657600"/>
          </a:xfrm>
          <a:prstGeom prst="roundRect">
            <a:avLst>
              <a:gd name="adj" fmla="val 2051"/>
            </a:avLst>
          </a:prstGeom>
          <a:solidFill>
            <a:srgbClr val="E8F2EC"/>
          </a:solidFill>
          <a:ln w="9525">
            <a:solidFill>
              <a:srgbClr val="CFE3D6"/>
            </a:solidFill>
            <a:prstDash val="solid"/>
          </a:ln>
          <a:effectLst>
            <a:outerShdw sx="100000" sy="100000" kx="0" ky="0" algn="bl" rotWithShape="0" blurRad="114300" dist="31750" dir="5400000">
              <a:srgbClr val="1B1F24">
                <a:alpha val="14000"/>
              </a:srgbClr>
            </a:outerShdw>
          </a:effectLst>
        </p:spPr>
      </p:sp>
      <p:sp>
        <p:nvSpPr>
          <p:cNvPr id="10" name="anim2_920"/>
          <p:cNvSpPr/>
          <p:nvPr/>
        </p:nvSpPr>
        <p:spPr>
          <a:xfrm>
            <a:off x="4480560" y="1481328"/>
            <a:ext cx="548640" cy="548640"/>
          </a:xfrm>
          <a:prstGeom prst="ellipse">
            <a:avLst/>
          </a:prstGeom>
          <a:solidFill>
            <a:srgbClr val="3B7D5A"/>
          </a:solidFill>
          <a:ln w="6350">
            <a:solidFill>
              <a:srgbClr val="3B7D5A"/>
            </a:solidFill>
            <a:prstDash val="solid"/>
          </a:ln>
        </p:spPr>
      </p:sp>
      <p:pic>
        <p:nvPicPr>
          <p:cNvPr id="11" name="anim2_921" descr="stethoscope icon">    </p:cNvPr>
          <p:cNvPicPr>
            <a:picLocks noChangeAspect="1"/>
          </p:cNvPicPr>
          <p:nvPr/>
        </p:nvPicPr>
        <p:blipFill>
          <a:blip r:embed="rId2"/>
          <a:stretch>
            <a:fillRect/>
          </a:stretch>
        </p:blipFill>
        <p:spPr>
          <a:xfrm>
            <a:off x="4628693" y="1629461"/>
            <a:ext cx="252374" cy="252374"/>
          </a:xfrm>
          <a:prstGeom prst="rect">
            <a:avLst/>
          </a:prstGeom>
        </p:spPr>
      </p:pic>
      <p:sp>
        <p:nvSpPr>
          <p:cNvPr id="12" name="anim2_922"/>
          <p:cNvSpPr txBox="1"/>
          <p:nvPr/>
        </p:nvSpPr>
        <p:spPr>
          <a:xfrm>
            <a:off x="5166360" y="1508760"/>
            <a:ext cx="2651760" cy="411480"/>
          </a:xfrm>
          <a:prstGeom prst="rect">
            <a:avLst/>
          </a:prstGeom>
          <a:noFill/>
          <a:ln/>
        </p:spPr>
        <p:txBody>
          <a:bodyPr wrap="square" lIns="0" tIns="0" rIns="0" bIns="0" rtlCol="0" anchor="ctr"/>
          <a:lstStyle/>
          <a:p>
            <a:pPr indent="0" marL="0">
              <a:buNone/>
            </a:pPr>
            <a:r>
              <a:rPr lang="en-US" sz="1550" b="1" dirty="0">
                <a:solidFill>
                  <a:srgbClr val="3B7D5A"/>
                </a:solidFill>
                <a:latin typeface="Cambria" pitchFamily="34" charset="0"/>
                <a:ea typeface="Cambria" pitchFamily="34" charset="-122"/>
                <a:cs typeface="Cambria" pitchFamily="34" charset="-120"/>
              </a:rPr>
              <a:t>What already works</a:t>
            </a:r>
            <a:endParaRPr lang="en-US" sz="1550" dirty="0"/>
          </a:p>
        </p:txBody>
      </p:sp>
      <p:sp>
        <p:nvSpPr>
          <p:cNvPr id="13" name="anim2_923"/>
          <p:cNvSpPr txBox="1"/>
          <p:nvPr/>
        </p:nvSpPr>
        <p:spPr>
          <a:xfrm>
            <a:off x="4498848" y="2194560"/>
            <a:ext cx="3200400" cy="27432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CBT and interpersonal therapy: strong evidence in binge-eating disorder (Hilbert et al. 2019)</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Harm reduction and moderation are accepted goals in addiction care (Marlatt and Witkiewitz 2010)</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Open question: does the addiction model add clinical value?</a:t>
            </a:r>
            <a:endParaRPr lang="en-US" sz="1250" dirty="0"/>
          </a:p>
        </p:txBody>
      </p:sp>
      <p:sp>
        <p:nvSpPr>
          <p:cNvPr id="14" name="anim3_924"/>
          <p:cNvSpPr/>
          <p:nvPr/>
        </p:nvSpPr>
        <p:spPr>
          <a:xfrm>
            <a:off x="8046720" y="1325880"/>
            <a:ext cx="3566160" cy="3657600"/>
          </a:xfrm>
          <a:prstGeom prst="roundRect">
            <a:avLst>
              <a:gd name="adj" fmla="val 2051"/>
            </a:avLst>
          </a:prstGeom>
          <a:solidFill>
            <a:srgbClr val="EFEAF6"/>
          </a:solidFill>
          <a:ln w="9525">
            <a:solidFill>
              <a:srgbClr val="DCD3EA"/>
            </a:solidFill>
            <a:prstDash val="solid"/>
          </a:ln>
          <a:effectLst>
            <a:outerShdw sx="100000" sy="100000" kx="0" ky="0" algn="bl" rotWithShape="0" blurRad="114300" dist="31750" dir="5400000">
              <a:srgbClr val="1B1F24">
                <a:alpha val="14000"/>
              </a:srgbClr>
            </a:outerShdw>
          </a:effectLst>
        </p:spPr>
      </p:sp>
      <p:sp>
        <p:nvSpPr>
          <p:cNvPr id="15" name="anim3_925"/>
          <p:cNvSpPr/>
          <p:nvPr/>
        </p:nvSpPr>
        <p:spPr>
          <a:xfrm>
            <a:off x="8229600" y="1481328"/>
            <a:ext cx="548640" cy="548640"/>
          </a:xfrm>
          <a:prstGeom prst="ellipse">
            <a:avLst/>
          </a:prstGeom>
          <a:solidFill>
            <a:srgbClr val="6A4C93"/>
          </a:solidFill>
          <a:ln w="6350">
            <a:solidFill>
              <a:srgbClr val="6A4C93"/>
            </a:solidFill>
            <a:prstDash val="solid"/>
          </a:ln>
        </p:spPr>
      </p:sp>
      <p:pic>
        <p:nvPicPr>
          <p:cNvPr id="16" name="anim3_926" descr="heartCrack icon">    </p:cNvPr>
          <p:cNvPicPr>
            <a:picLocks noChangeAspect="1"/>
          </p:cNvPicPr>
          <p:nvPr/>
        </p:nvPicPr>
        <p:blipFill>
          <a:blip r:embed="rId3"/>
          <a:stretch>
            <a:fillRect/>
          </a:stretch>
        </p:blipFill>
        <p:spPr>
          <a:xfrm>
            <a:off x="8377733" y="1629461"/>
            <a:ext cx="252374" cy="252374"/>
          </a:xfrm>
          <a:prstGeom prst="rect">
            <a:avLst/>
          </a:prstGeom>
        </p:spPr>
      </p:pic>
      <p:sp>
        <p:nvSpPr>
          <p:cNvPr id="17" name="anim3_927"/>
          <p:cNvSpPr txBox="1"/>
          <p:nvPr/>
        </p:nvSpPr>
        <p:spPr>
          <a:xfrm>
            <a:off x="8915400" y="1508760"/>
            <a:ext cx="2651760" cy="411480"/>
          </a:xfrm>
          <a:prstGeom prst="rect">
            <a:avLst/>
          </a:prstGeom>
          <a:noFill/>
          <a:ln/>
        </p:spPr>
        <p:txBody>
          <a:bodyPr wrap="square" lIns="0" tIns="0" rIns="0" bIns="0" rtlCol="0" anchor="ctr"/>
          <a:lstStyle/>
          <a:p>
            <a:pPr indent="0" marL="0">
              <a:buNone/>
            </a:pPr>
            <a:r>
              <a:rPr lang="en-US" sz="1550" b="1" dirty="0">
                <a:solidFill>
                  <a:srgbClr val="6A4C93"/>
                </a:solidFill>
                <a:latin typeface="Cambria" pitchFamily="34" charset="0"/>
                <a:ea typeface="Cambria" pitchFamily="34" charset="-122"/>
                <a:cs typeface="Cambria" pitchFamily="34" charset="-120"/>
              </a:rPr>
              <a:t>Stigma cuts both ways</a:t>
            </a:r>
            <a:endParaRPr lang="en-US" sz="1550" dirty="0"/>
          </a:p>
        </p:txBody>
      </p:sp>
      <p:sp>
        <p:nvSpPr>
          <p:cNvPr id="18" name="anim3_928"/>
          <p:cNvSpPr txBox="1"/>
          <p:nvPr/>
        </p:nvSpPr>
        <p:spPr>
          <a:xfrm>
            <a:off x="8247888" y="2194560"/>
            <a:ext cx="3200400" cy="2743200"/>
          </a:xfrm>
          <a:prstGeom prst="rect">
            <a:avLst/>
          </a:prstGeom>
          <a:noFill/>
          <a:ln/>
        </p:spPr>
        <p:txBody>
          <a:bodyPr wrap="square" lIns="0" tIns="0" rIns="0" bIns="0" rtlCol="0" anchor="t"/>
          <a:lstStyle/>
          <a:p>
            <a:pPr indent="0" marL="0">
              <a:buNone/>
            </a:pPr>
            <a:r>
              <a:rPr lang="en-US" sz="1250" b="1" dirty="0">
                <a:solidFill>
                  <a:srgbClr val="3B7D5A"/>
                </a:solidFill>
                <a:latin typeface="Calibri" pitchFamily="34" charset="0"/>
                <a:ea typeface="Calibri" pitchFamily="34" charset="-122"/>
                <a:cs typeface="Calibri" pitchFamily="34" charset="-120"/>
              </a:rPr>
              <a:t>+  </a:t>
            </a:r>
            <a:r>
              <a:rPr lang="en-US" sz="1250" dirty="0">
                <a:solidFill>
                  <a:srgbClr val="1B1F24"/>
                </a:solidFill>
                <a:latin typeface="Calibri" pitchFamily="34" charset="0"/>
                <a:ea typeface="Calibri" pitchFamily="34" charset="-122"/>
                <a:cs typeface="Calibri" pitchFamily="34" charset="-120"/>
              </a:rPr>
              <a:t>Addiction framing reduced blame and stigma in an experiment (Latner et al. 2014)</a:t>
            </a:r>
            <a:endParaRPr lang="en-US" sz="1250" dirty="0"/>
          </a:p>
          <a:p>
            <a:pPr indent="0" marL="0">
              <a:buNone/>
            </a:pPr>
            <a:r>
              <a:rPr lang="en-US" sz="600" dirty="0">
                <a:solidFill>
                  <a:srgbClr val="1B1F24"/>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B3393C"/>
                </a:solidFill>
                <a:latin typeface="Calibri" pitchFamily="34" charset="0"/>
                <a:ea typeface="Calibri" pitchFamily="34" charset="-122"/>
                <a:cs typeface="Calibri" pitchFamily="34" charset="-120"/>
              </a:rPr>
              <a:t>−  </a:t>
            </a:r>
            <a:r>
              <a:rPr lang="en-US" sz="1250" dirty="0">
                <a:solidFill>
                  <a:srgbClr val="1B1F24"/>
                </a:solidFill>
                <a:latin typeface="Calibri" pitchFamily="34" charset="0"/>
                <a:ea typeface="Calibri" pitchFamily="34" charset="-122"/>
                <a:cs typeface="Calibri" pitchFamily="34" charset="-120"/>
              </a:rPr>
              <a:t>Belief in food addiction may prompt restriction → craving → disinhibited eating; still a hypothesis (Ruddock and Hardman 2017)</a:t>
            </a:r>
            <a:endParaRPr lang="en-US" sz="1250" dirty="0"/>
          </a:p>
        </p:txBody>
      </p:sp>
      <p:sp>
        <p:nvSpPr>
          <p:cNvPr id="19" name="anim4_929"/>
          <p:cNvSpPr/>
          <p:nvPr/>
        </p:nvSpPr>
        <p:spPr>
          <a:xfrm>
            <a:off x="548640" y="5138928"/>
            <a:ext cx="11064240" cy="822960"/>
          </a:xfrm>
          <a:prstGeom prst="roundRect">
            <a:avLst>
              <a:gd name="adj" fmla="val 8889"/>
            </a:avLst>
          </a:prstGeom>
          <a:solidFill>
            <a:srgbClr val="E8EEF5"/>
          </a:solidFill>
          <a:ln w="9525">
            <a:solidFill>
              <a:srgbClr val="D3DDE8"/>
            </a:solidFill>
            <a:prstDash val="solid"/>
          </a:ln>
          <a:effectLst>
            <a:outerShdw sx="100000" sy="100000" kx="0" ky="0" algn="bl" rotWithShape="0" blurRad="114300" dist="31750" dir="5400000">
              <a:srgbClr val="1B1F24">
                <a:alpha val="14000"/>
              </a:srgbClr>
            </a:outerShdw>
          </a:effectLst>
        </p:spPr>
      </p:sp>
      <p:sp>
        <p:nvSpPr>
          <p:cNvPr id="20" name="anim4_930"/>
          <p:cNvSpPr/>
          <p:nvPr/>
        </p:nvSpPr>
        <p:spPr>
          <a:xfrm>
            <a:off x="731520" y="5257800"/>
            <a:ext cx="566928" cy="566928"/>
          </a:xfrm>
          <a:prstGeom prst="ellipse">
            <a:avLst/>
          </a:prstGeom>
          <a:solidFill>
            <a:srgbClr val="1F3A5F"/>
          </a:solidFill>
          <a:ln w="6350">
            <a:solidFill>
              <a:srgbClr val="1F3A5F"/>
            </a:solidFill>
            <a:prstDash val="solid"/>
          </a:ln>
        </p:spPr>
      </p:sp>
      <p:pic>
        <p:nvPicPr>
          <p:cNvPr id="21" name="anim4_931" descr="doctor icon">    </p:cNvPr>
          <p:cNvPicPr>
            <a:picLocks noChangeAspect="1"/>
          </p:cNvPicPr>
          <p:nvPr/>
        </p:nvPicPr>
        <p:blipFill>
          <a:blip r:embed="rId4"/>
          <a:stretch>
            <a:fillRect/>
          </a:stretch>
        </p:blipFill>
        <p:spPr>
          <a:xfrm>
            <a:off x="884591" y="5410871"/>
            <a:ext cx="260787" cy="260787"/>
          </a:xfrm>
          <a:prstGeom prst="rect">
            <a:avLst/>
          </a:prstGeom>
        </p:spPr>
      </p:pic>
      <p:sp>
        <p:nvSpPr>
          <p:cNvPr id="22" name="anim4_932"/>
          <p:cNvSpPr txBox="1"/>
          <p:nvPr/>
        </p:nvSpPr>
        <p:spPr>
          <a:xfrm>
            <a:off x="1463040" y="5166360"/>
            <a:ext cx="10012680" cy="7772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Clinical bottom line: </a:t>
            </a:r>
            <a:r>
              <a:rPr lang="en-US" sz="1400" dirty="0">
                <a:solidFill>
                  <a:srgbClr val="1B1F24"/>
                </a:solidFill>
                <a:latin typeface="Calibri" pitchFamily="34" charset="0"/>
                <a:ea typeface="Calibri" pitchFamily="34" charset="-122"/>
                <a:cs typeface="Calibri" pitchFamily="34" charset="-120"/>
              </a:rPr>
              <a:t>no blanket advice to abstain from trigger foods; individualize after clinical assessment, and use addiction language without denying the person’s agency.</a:t>
            </a:r>
            <a:endParaRPr lang="en-US" sz="1400" dirty="0"/>
          </a:p>
        </p:txBody>
      </p:sp>
      <p:sp>
        <p:nvSpPr>
          <p:cNvPr id="23" name="Text 16"/>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Sources: LaFata et al. 2024; Fairburn et al. 2003; Hilbert et al. 2019; Marlatt and Witkiewitz 2010; Hebebrand and Gearhardt 2021; Latner et al. 2014; Ruddock and Hardman 2017.</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4"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3"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of this review and eight research gaps</a:t>
            </a:r>
            <a:endParaRPr lang="en-US" sz="3200" dirty="0"/>
          </a:p>
        </p:txBody>
      </p:sp>
      <p:sp>
        <p:nvSpPr>
          <p:cNvPr id="4" name="anim1_933"/>
          <p:cNvSpPr/>
          <p:nvPr/>
        </p:nvSpPr>
        <p:spPr>
          <a:xfrm>
            <a:off x="548640" y="1325880"/>
            <a:ext cx="3429000" cy="4617720"/>
          </a:xfrm>
          <a:prstGeom prst="roundRect">
            <a:avLst>
              <a:gd name="adj" fmla="val 2133"/>
            </a:avLst>
          </a:prstGeom>
          <a:solidFill>
            <a:srgbClr val="EEF2F6"/>
          </a:solidFill>
          <a:ln w="9525">
            <a:solidFill>
              <a:srgbClr val="DCE2E8"/>
            </a:solidFill>
            <a:prstDash val="solid"/>
          </a:ln>
          <a:effectLst>
            <a:outerShdw sx="100000" sy="100000" kx="0" ky="0" algn="bl" rotWithShape="0" blurRad="114300" dist="31750" dir="5400000">
              <a:srgbClr val="1B1F24">
                <a:alpha val="14000"/>
              </a:srgbClr>
            </a:outerShdw>
          </a:effectLst>
        </p:spPr>
      </p:sp>
      <p:sp>
        <p:nvSpPr>
          <p:cNvPr id="5" name="anim1_934"/>
          <p:cNvSpPr txBox="1"/>
          <p:nvPr/>
        </p:nvSpPr>
        <p:spPr>
          <a:xfrm>
            <a:off x="749808" y="1444752"/>
            <a:ext cx="3017520" cy="411480"/>
          </a:xfrm>
          <a:prstGeom prst="rect">
            <a:avLst/>
          </a:prstGeom>
          <a:noFill/>
          <a:ln/>
        </p:spPr>
        <p:txBody>
          <a:bodyPr wrap="square" lIns="0" tIns="0" rIns="0" bIns="0" rtlCol="0" anchor="ctr"/>
          <a:lstStyle/>
          <a:p>
            <a:pPr indent="0" marL="0">
              <a:buNone/>
            </a:pPr>
            <a:r>
              <a:rPr lang="en-US" sz="1700" b="1" dirty="0">
                <a:solidFill>
                  <a:srgbClr val="5B6B8C"/>
                </a:solidFill>
                <a:latin typeface="Cambria" pitchFamily="34" charset="0"/>
                <a:ea typeface="Cambria" pitchFamily="34" charset="-122"/>
                <a:cs typeface="Cambria" pitchFamily="34" charset="-120"/>
              </a:rPr>
              <a:t>Limitations</a:t>
            </a:r>
            <a:endParaRPr lang="en-US" sz="1700" dirty="0"/>
          </a:p>
        </p:txBody>
      </p:sp>
      <p:sp>
        <p:nvSpPr>
          <p:cNvPr id="6" name="anim1_935"/>
          <p:cNvSpPr txBox="1"/>
          <p:nvPr/>
        </p:nvSpPr>
        <p:spPr>
          <a:xfrm>
            <a:off x="749808" y="1920240"/>
            <a:ext cx="3063240" cy="393192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Narrative review: possible selection bias</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No predefined criteria; no uniform GRADE appraisal</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NIH four-arm trial (NCT05290064) completed but unpublished: data preliminary</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Iranian evidence fragmented and partly indirect</a:t>
            </a:r>
            <a:endParaRPr lang="en-US" sz="1250" dirty="0"/>
          </a:p>
          <a:p>
            <a:pPr marL="342900" indent="-342900">
              <a:spcAft>
                <a:spcPts val="500"/>
              </a:spcAft>
              <a:buSzPct val="100000"/>
              <a:buChar char="•"/>
            </a:pPr>
            <a:r>
              <a:rPr lang="en-US" sz="1250" dirty="0">
                <a:solidFill>
                  <a:srgbClr val="1B1F24"/>
                </a:solidFill>
                <a:latin typeface="Calibri" pitchFamily="34" charset="0"/>
                <a:ea typeface="Calibri" pitchFamily="34" charset="-122"/>
                <a:cs typeface="Calibri" pitchFamily="34" charset="-120"/>
              </a:rPr>
              <a:t>Fast-moving field: needs periodic updating</a:t>
            </a:r>
            <a:endParaRPr lang="en-US" sz="1250" dirty="0"/>
          </a:p>
        </p:txBody>
      </p:sp>
      <p:sp>
        <p:nvSpPr>
          <p:cNvPr id="7" name="anim2_936"/>
          <p:cNvSpPr/>
          <p:nvPr/>
        </p:nvSpPr>
        <p:spPr>
          <a:xfrm>
            <a:off x="4160520" y="1325880"/>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8" name="anim2_937"/>
          <p:cNvSpPr/>
          <p:nvPr/>
        </p:nvSpPr>
        <p:spPr>
          <a:xfrm>
            <a:off x="4297680" y="1600200"/>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anim2_938"/>
          <p:cNvSpPr txBox="1"/>
          <p:nvPr/>
        </p:nvSpPr>
        <p:spPr>
          <a:xfrm>
            <a:off x="4937760" y="1435608"/>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Active factor</a:t>
            </a:r>
            <a:endParaRPr lang="en-US" sz="1450" dirty="0"/>
          </a:p>
        </p:txBody>
      </p:sp>
      <p:sp>
        <p:nvSpPr>
          <p:cNvPr id="10" name="anim2_939"/>
          <p:cNvSpPr txBox="1"/>
          <p:nvPr/>
        </p:nvSpPr>
        <p:spPr>
          <a:xfrm>
            <a:off x="4937760" y="1783080"/>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Multi-arm factorial feeding trials</a:t>
            </a:r>
            <a:endParaRPr lang="en-US" sz="1200" dirty="0"/>
          </a:p>
        </p:txBody>
      </p:sp>
      <p:sp>
        <p:nvSpPr>
          <p:cNvPr id="11" name="anim2_940"/>
          <p:cNvSpPr/>
          <p:nvPr/>
        </p:nvSpPr>
        <p:spPr>
          <a:xfrm>
            <a:off x="7909560" y="1325880"/>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2" name="anim2_941"/>
          <p:cNvSpPr/>
          <p:nvPr/>
        </p:nvSpPr>
        <p:spPr>
          <a:xfrm>
            <a:off x="8046720" y="1600200"/>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anim2_942"/>
          <p:cNvSpPr txBox="1"/>
          <p:nvPr/>
        </p:nvSpPr>
        <p:spPr>
          <a:xfrm>
            <a:off x="8686800" y="1435608"/>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Construct validity</a:t>
            </a:r>
            <a:endParaRPr lang="en-US" sz="1450" dirty="0"/>
          </a:p>
        </p:txBody>
      </p:sp>
      <p:sp>
        <p:nvSpPr>
          <p:cNvPr id="14" name="anim2_943"/>
          <p:cNvSpPr txBox="1"/>
          <p:nvPr/>
        </p:nvSpPr>
        <p:spPr>
          <a:xfrm>
            <a:off x="8686800" y="1783080"/>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YFAS + structured interviews + latent class analysis</a:t>
            </a:r>
            <a:endParaRPr lang="en-US" sz="1200" dirty="0"/>
          </a:p>
        </p:txBody>
      </p:sp>
      <p:sp>
        <p:nvSpPr>
          <p:cNvPr id="15" name="anim3_944"/>
          <p:cNvSpPr/>
          <p:nvPr/>
        </p:nvSpPr>
        <p:spPr>
          <a:xfrm>
            <a:off x="4160520" y="2496312"/>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6" name="anim3_945"/>
          <p:cNvSpPr/>
          <p:nvPr/>
        </p:nvSpPr>
        <p:spPr>
          <a:xfrm>
            <a:off x="4297680" y="2770632"/>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anim3_946"/>
          <p:cNvSpPr txBox="1"/>
          <p:nvPr/>
        </p:nvSpPr>
        <p:spPr>
          <a:xfrm>
            <a:off x="4937760" y="2606040"/>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Natural history</a:t>
            </a:r>
            <a:endParaRPr lang="en-US" sz="1450" dirty="0"/>
          </a:p>
        </p:txBody>
      </p:sp>
      <p:sp>
        <p:nvSpPr>
          <p:cNvPr id="18" name="anim3_947"/>
          <p:cNvSpPr txBox="1"/>
          <p:nvPr/>
        </p:nvSpPr>
        <p:spPr>
          <a:xfrm>
            <a:off x="4937760" y="2953512"/>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Cohorts from childhood into adulthood</a:t>
            </a:r>
            <a:endParaRPr lang="en-US" sz="1200" dirty="0"/>
          </a:p>
        </p:txBody>
      </p:sp>
      <p:sp>
        <p:nvSpPr>
          <p:cNvPr id="19" name="anim3_948"/>
          <p:cNvSpPr/>
          <p:nvPr/>
        </p:nvSpPr>
        <p:spPr>
          <a:xfrm>
            <a:off x="7909560" y="2496312"/>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3_949"/>
          <p:cNvSpPr/>
          <p:nvPr/>
        </p:nvSpPr>
        <p:spPr>
          <a:xfrm>
            <a:off x="8046720" y="2770632"/>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1" name="anim3_950"/>
          <p:cNvSpPr txBox="1"/>
          <p:nvPr/>
        </p:nvSpPr>
        <p:spPr>
          <a:xfrm>
            <a:off x="8686800" y="2606040"/>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Withdrawal</a:t>
            </a:r>
            <a:endParaRPr lang="en-US" sz="1450" dirty="0"/>
          </a:p>
        </p:txBody>
      </p:sp>
      <p:sp>
        <p:nvSpPr>
          <p:cNvPr id="22" name="anim3_951"/>
          <p:cNvSpPr txBox="1"/>
          <p:nvPr/>
        </p:nvSpPr>
        <p:spPr>
          <a:xfrm>
            <a:off x="8686800" y="2953512"/>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Energy-matched selective-elimination trials</a:t>
            </a:r>
            <a:endParaRPr lang="en-US" sz="1200" dirty="0"/>
          </a:p>
        </p:txBody>
      </p:sp>
      <p:sp>
        <p:nvSpPr>
          <p:cNvPr id="23" name="anim4_952"/>
          <p:cNvSpPr/>
          <p:nvPr/>
        </p:nvSpPr>
        <p:spPr>
          <a:xfrm>
            <a:off x="4160520" y="3666744"/>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4" name="anim4_953"/>
          <p:cNvSpPr/>
          <p:nvPr/>
        </p:nvSpPr>
        <p:spPr>
          <a:xfrm>
            <a:off x="4297680" y="3941064"/>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5" name="anim4_954"/>
          <p:cNvSpPr txBox="1"/>
          <p:nvPr/>
        </p:nvSpPr>
        <p:spPr>
          <a:xfrm>
            <a:off x="4937760" y="3776472"/>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Treatment</a:t>
            </a:r>
            <a:endParaRPr lang="en-US" sz="1450" dirty="0"/>
          </a:p>
        </p:txBody>
      </p:sp>
      <p:sp>
        <p:nvSpPr>
          <p:cNvPr id="26" name="anim4_955"/>
          <p:cNvSpPr txBox="1"/>
          <p:nvPr/>
        </p:nvSpPr>
        <p:spPr>
          <a:xfrm>
            <a:off x="4937760" y="4123944"/>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RCTs vs CBT with long-term follow-up</a:t>
            </a:r>
            <a:endParaRPr lang="en-US" sz="1200" dirty="0"/>
          </a:p>
        </p:txBody>
      </p:sp>
      <p:sp>
        <p:nvSpPr>
          <p:cNvPr id="27" name="anim4_956"/>
          <p:cNvSpPr/>
          <p:nvPr/>
        </p:nvSpPr>
        <p:spPr>
          <a:xfrm>
            <a:off x="7909560" y="3666744"/>
            <a:ext cx="3611880" cy="1051560"/>
          </a:xfrm>
          <a:prstGeom prst="roundRect">
            <a:avLst>
              <a:gd name="adj" fmla="val 695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8" name="anim4_957"/>
          <p:cNvSpPr/>
          <p:nvPr/>
        </p:nvSpPr>
        <p:spPr>
          <a:xfrm>
            <a:off x="8046720" y="3941064"/>
            <a:ext cx="502920" cy="502920"/>
          </a:xfrm>
          <a:prstGeom prst="ellipse">
            <a:avLst/>
          </a:prstGeom>
          <a:solidFill>
            <a:srgbClr val="1F3A5F"/>
          </a:solidFill>
          <a:ln>
            <a:solidFill>
              <a:srgbClr val="1F3A5F"/>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29" name="anim4_958"/>
          <p:cNvSpPr txBox="1"/>
          <p:nvPr/>
        </p:nvSpPr>
        <p:spPr>
          <a:xfrm>
            <a:off x="8686800" y="3776472"/>
            <a:ext cx="2743200" cy="347472"/>
          </a:xfrm>
          <a:prstGeom prst="rect">
            <a:avLst/>
          </a:prstGeom>
          <a:noFill/>
          <a:ln/>
        </p:spPr>
        <p:txBody>
          <a:bodyPr wrap="square" lIns="0" tIns="0" rIns="0" bIns="0" rtlCol="0" anchor="t"/>
          <a:lstStyle/>
          <a:p>
            <a:pPr indent="0" marL="0">
              <a:buNone/>
            </a:pPr>
            <a:r>
              <a:rPr lang="en-US" sz="1450" b="1" dirty="0">
                <a:solidFill>
                  <a:srgbClr val="1F3A5F"/>
                </a:solidFill>
                <a:latin typeface="Calibri" pitchFamily="34" charset="0"/>
                <a:ea typeface="Calibri" pitchFamily="34" charset="-122"/>
                <a:cs typeface="Calibri" pitchFamily="34" charset="-120"/>
              </a:rPr>
              <a:t>UPF classification</a:t>
            </a:r>
            <a:endParaRPr lang="en-US" sz="1450" dirty="0"/>
          </a:p>
        </p:txBody>
      </p:sp>
      <p:sp>
        <p:nvSpPr>
          <p:cNvPr id="30" name="anim4_959"/>
          <p:cNvSpPr txBox="1"/>
          <p:nvPr/>
        </p:nvSpPr>
        <p:spPr>
          <a:xfrm>
            <a:off x="8686800" y="4123944"/>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Inter-coder reliability; compare systems</a:t>
            </a:r>
            <a:endParaRPr lang="en-US" sz="1200" dirty="0"/>
          </a:p>
        </p:txBody>
      </p:sp>
      <p:sp>
        <p:nvSpPr>
          <p:cNvPr id="31" name="anim6_960"/>
          <p:cNvSpPr/>
          <p:nvPr/>
        </p:nvSpPr>
        <p:spPr>
          <a:xfrm>
            <a:off x="4160520" y="4837176"/>
            <a:ext cx="3611880" cy="1051560"/>
          </a:xfrm>
          <a:prstGeom prst="roundRect">
            <a:avLst>
              <a:gd name="adj" fmla="val 6957"/>
            </a:avLst>
          </a:prstGeom>
          <a:solidFill>
            <a:srgbClr val="F8E9E9"/>
          </a:solidFill>
          <a:ln w="9525">
            <a:solidFill>
              <a:srgbClr val="B3393C"/>
            </a:solidFill>
            <a:prstDash val="solid"/>
          </a:ln>
          <a:effectLst>
            <a:outerShdw sx="100000" sy="100000" kx="0" ky="0" algn="bl" rotWithShape="0" blurRad="114300" dist="31750" dir="5400000">
              <a:srgbClr val="1B1F24">
                <a:alpha val="14000"/>
              </a:srgbClr>
            </a:outerShdw>
          </a:effectLst>
        </p:spPr>
      </p:sp>
      <p:sp>
        <p:nvSpPr>
          <p:cNvPr id="32" name="anim6_961"/>
          <p:cNvSpPr/>
          <p:nvPr/>
        </p:nvSpPr>
        <p:spPr>
          <a:xfrm>
            <a:off x="4297680" y="5111496"/>
            <a:ext cx="502920" cy="50292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7</a:t>
            </a:r>
            <a:endParaRPr lang="en-US" sz="1700" dirty="0"/>
          </a:p>
        </p:txBody>
      </p:sp>
      <p:sp>
        <p:nvSpPr>
          <p:cNvPr id="33" name="anim6_962"/>
          <p:cNvSpPr txBox="1"/>
          <p:nvPr/>
        </p:nvSpPr>
        <p:spPr>
          <a:xfrm>
            <a:off x="4937760" y="4946904"/>
            <a:ext cx="2743200" cy="347472"/>
          </a:xfrm>
          <a:prstGeom prst="rect">
            <a:avLst/>
          </a:prstGeom>
          <a:noFill/>
          <a:ln/>
        </p:spPr>
        <p:txBody>
          <a:bodyPr wrap="square" lIns="0" tIns="0" rIns="0" bIns="0" rtlCol="0" anchor="t"/>
          <a:lstStyle/>
          <a:p>
            <a:pPr indent="0" marL="0">
              <a:buNone/>
            </a:pPr>
            <a:r>
              <a:rPr lang="en-US" sz="1450" b="1" dirty="0">
                <a:solidFill>
                  <a:srgbClr val="B3393C"/>
                </a:solidFill>
                <a:latin typeface="Calibri" pitchFamily="34" charset="0"/>
                <a:ea typeface="Calibri" pitchFamily="34" charset="-122"/>
                <a:cs typeface="Calibri" pitchFamily="34" charset="-120"/>
              </a:rPr>
              <a:t>Iranian intake data</a:t>
            </a:r>
            <a:endParaRPr lang="en-US" sz="1450" dirty="0"/>
          </a:p>
        </p:txBody>
      </p:sp>
      <p:sp>
        <p:nvSpPr>
          <p:cNvPr id="34" name="anim6_963"/>
          <p:cNvSpPr txBox="1"/>
          <p:nvPr/>
        </p:nvSpPr>
        <p:spPr>
          <a:xfrm>
            <a:off x="4937760" y="5294376"/>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National survey processing module</a:t>
            </a:r>
            <a:endParaRPr lang="en-US" sz="1200" dirty="0"/>
          </a:p>
        </p:txBody>
      </p:sp>
      <p:sp>
        <p:nvSpPr>
          <p:cNvPr id="35" name="anim6_964"/>
          <p:cNvSpPr/>
          <p:nvPr/>
        </p:nvSpPr>
        <p:spPr>
          <a:xfrm>
            <a:off x="7909560" y="4837176"/>
            <a:ext cx="3611880" cy="1051560"/>
          </a:xfrm>
          <a:prstGeom prst="roundRect">
            <a:avLst>
              <a:gd name="adj" fmla="val 6957"/>
            </a:avLst>
          </a:prstGeom>
          <a:solidFill>
            <a:srgbClr val="F8E9E9"/>
          </a:solidFill>
          <a:ln w="9525">
            <a:solidFill>
              <a:srgbClr val="B3393C"/>
            </a:solidFill>
            <a:prstDash val="solid"/>
          </a:ln>
          <a:effectLst>
            <a:outerShdw sx="100000" sy="100000" kx="0" ky="0" algn="bl" rotWithShape="0" blurRad="114300" dist="31750" dir="5400000">
              <a:srgbClr val="1B1F24">
                <a:alpha val="14000"/>
              </a:srgbClr>
            </a:outerShdw>
          </a:effectLst>
        </p:spPr>
      </p:sp>
      <p:sp>
        <p:nvSpPr>
          <p:cNvPr id="36" name="anim6_965"/>
          <p:cNvSpPr/>
          <p:nvPr/>
        </p:nvSpPr>
        <p:spPr>
          <a:xfrm>
            <a:off x="8046720" y="5111496"/>
            <a:ext cx="502920" cy="50292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37" name="anim6_966"/>
          <p:cNvSpPr txBox="1"/>
          <p:nvPr/>
        </p:nvSpPr>
        <p:spPr>
          <a:xfrm>
            <a:off x="8686800" y="4946904"/>
            <a:ext cx="2743200" cy="347472"/>
          </a:xfrm>
          <a:prstGeom prst="rect">
            <a:avLst/>
          </a:prstGeom>
          <a:noFill/>
          <a:ln/>
        </p:spPr>
        <p:txBody>
          <a:bodyPr wrap="square" lIns="0" tIns="0" rIns="0" bIns="0" rtlCol="0" anchor="t"/>
          <a:lstStyle/>
          <a:p>
            <a:pPr indent="0" marL="0">
              <a:buNone/>
            </a:pPr>
            <a:r>
              <a:rPr lang="en-US" sz="1450" b="1" dirty="0">
                <a:solidFill>
                  <a:srgbClr val="B3393C"/>
                </a:solidFill>
                <a:latin typeface="Calibri" pitchFamily="34" charset="0"/>
                <a:ea typeface="Calibri" pitchFamily="34" charset="-122"/>
                <a:cs typeface="Calibri" pitchFamily="34" charset="-120"/>
              </a:rPr>
              <a:t>Policy evaluation in Iran</a:t>
            </a:r>
            <a:endParaRPr lang="en-US" sz="1450" dirty="0"/>
          </a:p>
        </p:txBody>
      </p:sp>
      <p:sp>
        <p:nvSpPr>
          <p:cNvPr id="38" name="anim6_967"/>
          <p:cNvSpPr txBox="1"/>
          <p:nvPr/>
        </p:nvSpPr>
        <p:spPr>
          <a:xfrm>
            <a:off x="8686800" y="5294376"/>
            <a:ext cx="2743200" cy="530352"/>
          </a:xfrm>
          <a:prstGeom prst="rect">
            <a:avLst/>
          </a:prstGeom>
          <a:noFill/>
          <a:ln/>
        </p:spPr>
        <p:txBody>
          <a:bodyPr wrap="square" lIns="0" tIns="0" rIns="0" bIns="0" rtlCol="0" anchor="t"/>
          <a:lstStyle/>
          <a:p>
            <a:pPr indent="0" marL="0">
              <a:buNone/>
            </a:pPr>
            <a:r>
              <a:rPr lang="en-US" sz="1200" dirty="0">
                <a:solidFill>
                  <a:srgbClr val="1B1F24"/>
                </a:solidFill>
                <a:latin typeface="Calibri" pitchFamily="34" charset="0"/>
                <a:ea typeface="Calibri" pitchFamily="34" charset="-122"/>
                <a:cs typeface="Calibri" pitchFamily="34" charset="-120"/>
              </a:rPr>
              <a:t>Interrupted time series of traffic-light labels</a:t>
            </a:r>
            <a:endParaRPr lang="en-US" sz="1200" dirty="0"/>
          </a:p>
        </p:txBody>
      </p:sp>
      <p:sp>
        <p:nvSpPr>
          <p:cNvPr id="39" name="anim6_968"/>
          <p:cNvSpPr/>
          <p:nvPr/>
        </p:nvSpPr>
        <p:spPr>
          <a:xfrm>
            <a:off x="6172200" y="5568696"/>
            <a:ext cx="1463040" cy="237744"/>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900" b="1" dirty="0">
                <a:solidFill>
                  <a:srgbClr val="FFFFFF"/>
                </a:solidFill>
              </a:rPr>
              <a:t>PRIORITY FOR IRAN</a:t>
            </a:r>
            <a:endParaRPr lang="en-US" sz="900" dirty="0"/>
          </a:p>
        </p:txBody>
      </p:sp>
      <p:sp>
        <p:nvSpPr>
          <p:cNvPr id="40" name="anim6_969"/>
          <p:cNvSpPr/>
          <p:nvPr/>
        </p:nvSpPr>
        <p:spPr>
          <a:xfrm>
            <a:off x="9921240" y="5568696"/>
            <a:ext cx="1463040" cy="237744"/>
          </a:xfrm>
          <a:prstGeom prst="roundRect">
            <a:avLst>
              <a:gd name="adj" fmla="val 50000"/>
            </a:avLst>
          </a:prstGeom>
          <a:solidFill>
            <a:srgbClr val="B3393C"/>
          </a:solidFill>
          <a:ln>
            <a:solidFill>
              <a:srgbClr val="B3393C"/>
            </a:solidFill>
          </a:ln>
        </p:spPr>
        <p:txBody>
          <a:bodyPr wrap="square" lIns="0" tIns="0" rIns="0" bIns="0" rtlCol="0" anchor="ctr"/>
          <a:lstStyle/>
          <a:p>
            <a:pPr algn="ctr" indent="0" marL="0">
              <a:buNone/>
            </a:pPr>
            <a:r>
              <a:rPr lang="en-US" sz="900" b="1" dirty="0">
                <a:solidFill>
                  <a:srgbClr val="FFFFFF"/>
                </a:solidFill>
              </a:rPr>
              <a:t>PRIORITY FOR IRAN</a:t>
            </a:r>
            <a:endParaRPr lang="en-US" sz="9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9" fill="hold">
                      <p:stCondLst>
                        <p:cond delay="indefinite"/>
                        <p:cond evt="onBegin" delay="0">
                          <p:tn val="2"/>
                        </p:cond>
                      </p:stCondLst>
                      <p:childTnLst>
                        <p:par>
                          <p:cTn id="12"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37" fill="hold">
                            <p:stCondLst>
                              <p:cond delay="38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5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childTnLst>
                          </p:cTn>
                        </p:par>
                        <p:par>
                          <p:cTn id="62" fill="hold">
                            <p:stCondLst>
                              <p:cond delay="380"/>
                            </p:stCondLst>
                            <p:childTnLst>
                              <p:par>
                                <p:cTn id="38" presetID="10" presetClass="entr" presetSubtype="0"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childTnLst>
                          </p:cTn>
                        </p:par>
                        <p:par>
                          <p:cTn id="87" fill="hold">
                            <p:stCondLst>
                              <p:cond delay="380"/>
                            </p:stCondLst>
                            <p:childTnLst>
                              <p:par>
                                <p:cTn id="63" presetID="10" presetClass="entr" presetSubtype="0"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childTnLst>
                                </p:cTn>
                              </p:par>
                            </p:childTnLst>
                          </p:cTn>
                        </p:par>
                        <p:par>
                          <p:cTn id="118" fill="hold">
                            <p:stCondLst>
                              <p:cond delay="380"/>
                            </p:stCondLst>
                            <p:childTnLst>
                              <p:par>
                                <p:cTn id="88" presetID="10" presetClass="entr" presetSubtype="0" fill="hold" nodeType="after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5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45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45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5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P spid="30" grpId="0" animBg="1"/>
      <p:bldP spid="32" grpId="0" animBg="1"/>
      <p:bldP spid="33" grpId="0" animBg="1"/>
      <p:bldP spid="34" grpId="0" animBg="1"/>
      <p:bldP spid="36" grpId="0" animBg="1"/>
      <p:bldP spid="37" grpId="0" animBg="1"/>
      <p:bldP spid="38" grpId="0" animBg="1"/>
      <p:bldP spid="39" grpId="0" animBg="1"/>
      <p:bldP spid="4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Take-home messages</a:t>
            </a:r>
            <a:endParaRPr lang="en-US" sz="3200" dirty="0"/>
          </a:p>
        </p:txBody>
      </p:sp>
      <p:sp>
        <p:nvSpPr>
          <p:cNvPr id="4" name="anim1_970"/>
          <p:cNvSpPr/>
          <p:nvPr/>
        </p:nvSpPr>
        <p:spPr>
          <a:xfrm>
            <a:off x="548640" y="1325880"/>
            <a:ext cx="7086600" cy="987552"/>
          </a:xfrm>
          <a:prstGeom prst="roundRect">
            <a:avLst>
              <a:gd name="adj" fmla="val 740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anim1_971"/>
          <p:cNvSpPr/>
          <p:nvPr/>
        </p:nvSpPr>
        <p:spPr>
          <a:xfrm>
            <a:off x="713232" y="1545336"/>
            <a:ext cx="548640" cy="548640"/>
          </a:xfrm>
          <a:prstGeom prst="ellipse">
            <a:avLst/>
          </a:prstGeom>
          <a:solidFill>
            <a:srgbClr val="3B7D5A"/>
          </a:solidFill>
          <a:ln>
            <a:solidFill>
              <a:srgbClr val="3B7D5A"/>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anim1_972"/>
          <p:cNvSpPr txBox="1"/>
          <p:nvPr/>
        </p:nvSpPr>
        <p:spPr>
          <a:xfrm>
            <a:off x="1417320" y="1399032"/>
            <a:ext cx="3657600" cy="347472"/>
          </a:xfrm>
          <a:prstGeom prst="rect">
            <a:avLst/>
          </a:prstGeom>
          <a:noFill/>
          <a:ln/>
        </p:spPr>
        <p:txBody>
          <a:bodyPr wrap="square" lIns="0" tIns="0" rIns="0" bIns="0" rtlCol="0" anchor="t"/>
          <a:lstStyle/>
          <a:p>
            <a:pPr indent="0" marL="0">
              <a:buNone/>
            </a:pPr>
            <a:r>
              <a:rPr lang="en-US" sz="1600" b="1" dirty="0">
                <a:solidFill>
                  <a:srgbClr val="3B7D5A"/>
                </a:solidFill>
                <a:latin typeface="Calibri" pitchFamily="34" charset="0"/>
                <a:ea typeface="Calibri" pitchFamily="34" charset="-122"/>
                <a:cs typeface="Calibri" pitchFamily="34" charset="-120"/>
              </a:rPr>
              <a:t>UPF and health</a:t>
            </a:r>
            <a:endParaRPr lang="en-US" sz="1600" dirty="0"/>
          </a:p>
        </p:txBody>
      </p:sp>
      <p:sp>
        <p:nvSpPr>
          <p:cNvPr id="7" name="anim1_973"/>
          <p:cNvSpPr/>
          <p:nvPr/>
        </p:nvSpPr>
        <p:spPr>
          <a:xfrm>
            <a:off x="5623560" y="1417320"/>
            <a:ext cx="1874520" cy="292608"/>
          </a:xfrm>
          <a:prstGeom prst="roundRect">
            <a:avLst>
              <a:gd name="adj" fmla="val 50000"/>
            </a:avLst>
          </a:prstGeom>
          <a:solidFill>
            <a:srgbClr val="3B7D5A"/>
          </a:solidFill>
          <a:ln w="6350">
            <a:solidFill>
              <a:srgbClr val="3B7D5A"/>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RELATIVELY STRONG</a:t>
            </a:r>
            <a:endParaRPr lang="en-US" sz="1050" dirty="0"/>
          </a:p>
        </p:txBody>
      </p:sp>
      <p:sp>
        <p:nvSpPr>
          <p:cNvPr id="8" name="anim1_974"/>
          <p:cNvSpPr txBox="1"/>
          <p:nvPr/>
        </p:nvSpPr>
        <p:spPr>
          <a:xfrm>
            <a:off x="1417320" y="1746504"/>
            <a:ext cx="6080760" cy="53035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Trials and an umbrella review link UPF to higher intake, weight gain and 32 of 45 outcomes — though most observational GRADE is low.</a:t>
            </a:r>
            <a:endParaRPr lang="en-US" sz="1250" dirty="0"/>
          </a:p>
        </p:txBody>
      </p:sp>
      <p:sp>
        <p:nvSpPr>
          <p:cNvPr id="9" name="anim2_975"/>
          <p:cNvSpPr/>
          <p:nvPr/>
        </p:nvSpPr>
        <p:spPr>
          <a:xfrm>
            <a:off x="548640" y="2441448"/>
            <a:ext cx="7086600" cy="987552"/>
          </a:xfrm>
          <a:prstGeom prst="roundRect">
            <a:avLst>
              <a:gd name="adj" fmla="val 740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0" name="anim2_976"/>
          <p:cNvSpPr/>
          <p:nvPr/>
        </p:nvSpPr>
        <p:spPr>
          <a:xfrm>
            <a:off x="713232" y="2660904"/>
            <a:ext cx="548640" cy="548640"/>
          </a:xfrm>
          <a:prstGeom prst="ellipse">
            <a:avLst/>
          </a:prstGeom>
          <a:solidFill>
            <a:srgbClr val="B3393C"/>
          </a:solidFill>
          <a:ln>
            <a:solidFill>
              <a:srgbClr val="B3393C"/>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anim2_977"/>
          <p:cNvSpPr txBox="1"/>
          <p:nvPr/>
        </p:nvSpPr>
        <p:spPr>
          <a:xfrm>
            <a:off x="1417320" y="2514600"/>
            <a:ext cx="3657600" cy="347472"/>
          </a:xfrm>
          <a:prstGeom prst="rect">
            <a:avLst/>
          </a:prstGeom>
          <a:noFill/>
          <a:ln/>
        </p:spPr>
        <p:txBody>
          <a:bodyPr wrap="square" lIns="0" tIns="0" rIns="0" bIns="0" rtlCol="0" anchor="t"/>
          <a:lstStyle/>
          <a:p>
            <a:pPr indent="0" marL="0">
              <a:buNone/>
            </a:pPr>
            <a:r>
              <a:rPr lang="en-US" sz="1600" b="1" dirty="0">
                <a:solidFill>
                  <a:srgbClr val="B3393C"/>
                </a:solidFill>
                <a:latin typeface="Calibri" pitchFamily="34" charset="0"/>
                <a:ea typeface="Calibri" pitchFamily="34" charset="-122"/>
                <a:cs typeface="Calibri" pitchFamily="34" charset="-120"/>
              </a:rPr>
              <a:t>Food addiction</a:t>
            </a:r>
            <a:endParaRPr lang="en-US" sz="1600" dirty="0"/>
          </a:p>
        </p:txBody>
      </p:sp>
      <p:sp>
        <p:nvSpPr>
          <p:cNvPr id="12" name="anim2_978"/>
          <p:cNvSpPr/>
          <p:nvPr/>
        </p:nvSpPr>
        <p:spPr>
          <a:xfrm>
            <a:off x="5623560" y="2532888"/>
            <a:ext cx="1874520" cy="292608"/>
          </a:xfrm>
          <a:prstGeom prst="roundRect">
            <a:avLst>
              <a:gd name="adj" fmla="val 50000"/>
            </a:avLst>
          </a:prstGeom>
          <a:solidFill>
            <a:srgbClr val="B3393C"/>
          </a:solidFill>
          <a:ln w="6350">
            <a:solidFill>
              <a:srgbClr val="B3393C"/>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UNRESOLVED</a:t>
            </a:r>
            <a:endParaRPr lang="en-US" sz="1050" dirty="0"/>
          </a:p>
        </p:txBody>
      </p:sp>
      <p:sp>
        <p:nvSpPr>
          <p:cNvPr id="13" name="anim2_979"/>
          <p:cNvSpPr txBox="1"/>
          <p:nvPr/>
        </p:nvSpPr>
        <p:spPr>
          <a:xfrm>
            <a:off x="1417320" y="2862072"/>
            <a:ext cx="6080760" cy="53035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Not in DSM-5-TR or ICD-11; no identified agent; heterogeneous imaging. Unresolved, but not refuted.</a:t>
            </a:r>
            <a:endParaRPr lang="en-US" sz="1250" dirty="0"/>
          </a:p>
        </p:txBody>
      </p:sp>
      <p:sp>
        <p:nvSpPr>
          <p:cNvPr id="14" name="anim3_980"/>
          <p:cNvSpPr/>
          <p:nvPr/>
        </p:nvSpPr>
        <p:spPr>
          <a:xfrm>
            <a:off x="548640" y="3557016"/>
            <a:ext cx="7086600" cy="987552"/>
          </a:xfrm>
          <a:prstGeom prst="roundRect">
            <a:avLst>
              <a:gd name="adj" fmla="val 740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5" name="anim3_981"/>
          <p:cNvSpPr/>
          <p:nvPr/>
        </p:nvSpPr>
        <p:spPr>
          <a:xfrm>
            <a:off x="713232" y="3776472"/>
            <a:ext cx="548640" cy="548640"/>
          </a:xfrm>
          <a:prstGeom prst="ellipse">
            <a:avLst/>
          </a:prstGeom>
          <a:solidFill>
            <a:srgbClr val="D88A1F"/>
          </a:solidFill>
          <a:ln>
            <a:solidFill>
              <a:srgbClr val="D88A1F"/>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anim3_982"/>
          <p:cNvSpPr txBox="1"/>
          <p:nvPr/>
        </p:nvSpPr>
        <p:spPr>
          <a:xfrm>
            <a:off x="1417320" y="3630168"/>
            <a:ext cx="3657600" cy="347472"/>
          </a:xfrm>
          <a:prstGeom prst="rect">
            <a:avLst/>
          </a:prstGeom>
          <a:noFill/>
          <a:ln/>
        </p:spPr>
        <p:txBody>
          <a:bodyPr wrap="square" lIns="0" tIns="0" rIns="0" bIns="0" rtlCol="0" anchor="t"/>
          <a:lstStyle/>
          <a:p>
            <a:pPr indent="0" marL="0">
              <a:buNone/>
            </a:pPr>
            <a:r>
              <a:rPr lang="en-US" sz="1600" b="1" dirty="0">
                <a:solidFill>
                  <a:srgbClr val="D88A1F"/>
                </a:solidFill>
                <a:latin typeface="Calibri" pitchFamily="34" charset="0"/>
                <a:ea typeface="Calibri" pitchFamily="34" charset="-122"/>
                <a:cs typeface="Calibri" pitchFamily="34" charset="-120"/>
              </a:rPr>
              <a:t>Stay open and testable</a:t>
            </a:r>
            <a:endParaRPr lang="en-US" sz="1600" dirty="0"/>
          </a:p>
        </p:txBody>
      </p:sp>
      <p:sp>
        <p:nvSpPr>
          <p:cNvPr id="17" name="anim3_983"/>
          <p:cNvSpPr/>
          <p:nvPr/>
        </p:nvSpPr>
        <p:spPr>
          <a:xfrm>
            <a:off x="5623560" y="3648456"/>
            <a:ext cx="1874520" cy="292608"/>
          </a:xfrm>
          <a:prstGeom prst="roundRect">
            <a:avLst>
              <a:gd name="adj" fmla="val 50000"/>
            </a:avLst>
          </a:prstGeom>
          <a:solidFill>
            <a:srgbClr val="D88A1F"/>
          </a:solidFill>
          <a:ln w="6350">
            <a:solidFill>
              <a:srgbClr val="D88A1F"/>
            </a:solidFill>
          </a:ln>
        </p:spPr>
        <p:txBody>
          <a:bodyPr wrap="square" lIns="0" tIns="0" rIns="0" bIns="0"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LIMITED</a:t>
            </a:r>
            <a:endParaRPr lang="en-US" sz="1050" dirty="0"/>
          </a:p>
        </p:txBody>
      </p:sp>
      <p:sp>
        <p:nvSpPr>
          <p:cNvPr id="18" name="anim3_984"/>
          <p:cNvSpPr txBox="1"/>
          <p:nvPr/>
        </p:nvSpPr>
        <p:spPr>
          <a:xfrm>
            <a:off x="1417320" y="3977640"/>
            <a:ext cx="6080760" cy="53035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Energy density, eating rate and protein leverage explain much; addiction may fit an undefined subgroup.</a:t>
            </a:r>
            <a:endParaRPr lang="en-US" sz="1250" dirty="0"/>
          </a:p>
        </p:txBody>
      </p:sp>
      <p:sp>
        <p:nvSpPr>
          <p:cNvPr id="19" name="anim4_985"/>
          <p:cNvSpPr/>
          <p:nvPr/>
        </p:nvSpPr>
        <p:spPr>
          <a:xfrm>
            <a:off x="548640" y="4672584"/>
            <a:ext cx="7086600" cy="987552"/>
          </a:xfrm>
          <a:prstGeom prst="roundRect">
            <a:avLst>
              <a:gd name="adj" fmla="val 7407"/>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0" name="anim4_986"/>
          <p:cNvSpPr/>
          <p:nvPr/>
        </p:nvSpPr>
        <p:spPr>
          <a:xfrm>
            <a:off x="713232" y="4892040"/>
            <a:ext cx="548640" cy="548640"/>
          </a:xfrm>
          <a:prstGeom prst="ellipse">
            <a:avLst/>
          </a:prstGeom>
          <a:solidFill>
            <a:srgbClr val="2A7A8C"/>
          </a:solidFill>
          <a:ln>
            <a:solidFill>
              <a:srgbClr val="2A7A8C"/>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anim4_987"/>
          <p:cNvSpPr txBox="1"/>
          <p:nvPr/>
        </p:nvSpPr>
        <p:spPr>
          <a:xfrm>
            <a:off x="1417320" y="4745736"/>
            <a:ext cx="3657600" cy="347472"/>
          </a:xfrm>
          <a:prstGeom prst="rect">
            <a:avLst/>
          </a:prstGeom>
          <a:noFill/>
          <a:ln/>
        </p:spPr>
        <p:txBody>
          <a:bodyPr wrap="square" lIns="0" tIns="0" rIns="0" bIns="0" rtlCol="0" anchor="t"/>
          <a:lstStyle/>
          <a:p>
            <a:pPr indent="0" marL="0">
              <a:buNone/>
            </a:pPr>
            <a:r>
              <a:rPr lang="en-US" sz="1600" b="1" dirty="0">
                <a:solidFill>
                  <a:srgbClr val="2A7A8C"/>
                </a:solidFill>
                <a:latin typeface="Calibri" pitchFamily="34" charset="0"/>
                <a:ea typeface="Calibri" pitchFamily="34" charset="-122"/>
                <a:cs typeface="Calibri" pitchFamily="34" charset="-120"/>
              </a:rPr>
              <a:t>Act now</a:t>
            </a:r>
            <a:endParaRPr lang="en-US" sz="1600" dirty="0"/>
          </a:p>
        </p:txBody>
      </p:sp>
      <p:sp>
        <p:nvSpPr>
          <p:cNvPr id="22" name="anim4_988"/>
          <p:cNvSpPr/>
          <p:nvPr/>
        </p:nvSpPr>
        <p:spPr>
          <a:xfrm>
            <a:off x="5623560" y="4764024"/>
            <a:ext cx="1874520" cy="292608"/>
          </a:xfrm>
          <a:prstGeom prst="roundRect">
            <a:avLst>
              <a:gd name="adj" fmla="val 50000"/>
            </a:avLst>
          </a:prstGeom>
          <a:solidFill>
            <a:srgbClr val="2A7A8C"/>
          </a:solidFill>
          <a:ln w="6350">
            <a:solidFill>
              <a:srgbClr val="2A7A8C"/>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STRONG (INTERMEDIATE)</a:t>
            </a:r>
            <a:endParaRPr lang="en-US" sz="950" dirty="0"/>
          </a:p>
        </p:txBody>
      </p:sp>
      <p:sp>
        <p:nvSpPr>
          <p:cNvPr id="23" name="anim4_989"/>
          <p:cNvSpPr txBox="1"/>
          <p:nvPr/>
        </p:nvSpPr>
        <p:spPr>
          <a:xfrm>
            <a:off x="1417320" y="5093208"/>
            <a:ext cx="6080760" cy="530352"/>
          </a:xfrm>
          <a:prstGeom prst="rect">
            <a:avLst/>
          </a:prstGeom>
          <a:noFill/>
          <a:ln/>
        </p:spPr>
        <p:txBody>
          <a:bodyPr wrap="square" lIns="0" tIns="0" rIns="0" bIns="0" rtlCol="0" anchor="t"/>
          <a:lstStyle/>
          <a:p>
            <a:pPr indent="0" marL="0">
              <a:buNone/>
            </a:pPr>
            <a:r>
              <a:rPr lang="en-US" sz="1250" dirty="0">
                <a:solidFill>
                  <a:srgbClr val="1B1F24"/>
                </a:solidFill>
                <a:latin typeface="Calibri" pitchFamily="34" charset="0"/>
                <a:ea typeface="Calibri" pitchFamily="34" charset="-122"/>
                <a:cs typeface="Calibri" pitchFamily="34" charset="-120"/>
              </a:rPr>
              <a:t>Labels, taxes, marketing and school limits shift purchases, recipes and ad exposure — without settling the debate.</a:t>
            </a:r>
            <a:endParaRPr lang="en-US" sz="1250" dirty="0"/>
          </a:p>
        </p:txBody>
      </p:sp>
      <p:sp>
        <p:nvSpPr>
          <p:cNvPr id="24" name="anim5_990"/>
          <p:cNvSpPr/>
          <p:nvPr/>
        </p:nvSpPr>
        <p:spPr>
          <a:xfrm>
            <a:off x="7863840" y="1325880"/>
            <a:ext cx="3749040" cy="4334256"/>
          </a:xfrm>
          <a:prstGeom prst="roundRect">
            <a:avLst>
              <a:gd name="adj" fmla="val 1951"/>
            </a:avLst>
          </a:prstGeom>
          <a:solidFill>
            <a:srgbClr val="1F3A5F"/>
          </a:solidFill>
          <a:ln w="12700">
            <a:solidFill>
              <a:srgbClr val="1F3A5F"/>
            </a:solidFill>
            <a:prstDash val="solid"/>
          </a:ln>
          <a:effectLst>
            <a:outerShdw sx="100000" sy="100000" kx="0" ky="0" algn="bl" rotWithShape="0" blurRad="114300" dist="31750" dir="5400000">
              <a:srgbClr val="1B1F24">
                <a:alpha val="14000"/>
              </a:srgbClr>
            </a:outerShdw>
          </a:effectLst>
        </p:spPr>
      </p:sp>
      <p:sp>
        <p:nvSpPr>
          <p:cNvPr id="25" name="anim5_991"/>
          <p:cNvSpPr txBox="1"/>
          <p:nvPr/>
        </p:nvSpPr>
        <p:spPr>
          <a:xfrm>
            <a:off x="8092440" y="1463040"/>
            <a:ext cx="548640" cy="54864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5</a:t>
            </a:r>
            <a:endParaRPr lang="en-US" sz="3000" dirty="0"/>
          </a:p>
        </p:txBody>
      </p:sp>
      <p:sp>
        <p:nvSpPr>
          <p:cNvPr id="26" name="anim5_992"/>
          <p:cNvSpPr txBox="1"/>
          <p:nvPr/>
        </p:nvSpPr>
        <p:spPr>
          <a:xfrm>
            <a:off x="8641080" y="1463040"/>
            <a:ext cx="283464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Priorities for Iran</a:t>
            </a:r>
            <a:endParaRPr lang="en-US" sz="1900" dirty="0"/>
          </a:p>
        </p:txBody>
      </p:sp>
      <p:sp>
        <p:nvSpPr>
          <p:cNvPr id="27" name="anim6_993"/>
          <p:cNvSpPr/>
          <p:nvPr/>
        </p:nvSpPr>
        <p:spPr>
          <a:xfrm>
            <a:off x="8092440" y="2240280"/>
            <a:ext cx="603504" cy="603504"/>
          </a:xfrm>
          <a:prstGeom prst="ellipse">
            <a:avLst/>
          </a:prstGeom>
          <a:solidFill>
            <a:srgbClr val="B3393C"/>
          </a:solidFill>
          <a:ln w="6350">
            <a:solidFill>
              <a:srgbClr val="B3393C"/>
            </a:solidFill>
            <a:prstDash val="solid"/>
          </a:ln>
        </p:spPr>
      </p:sp>
      <p:pic>
        <p:nvPicPr>
          <p:cNvPr id="28" name="anim6_994" descr="database icon">    </p:cNvPr>
          <p:cNvPicPr>
            <a:picLocks noChangeAspect="1"/>
          </p:cNvPicPr>
          <p:nvPr/>
        </p:nvPicPr>
        <p:blipFill>
          <a:blip r:embed="rId1"/>
          <a:stretch>
            <a:fillRect/>
          </a:stretch>
        </p:blipFill>
        <p:spPr>
          <a:xfrm>
            <a:off x="8255386" y="2403226"/>
            <a:ext cx="277612" cy="277612"/>
          </a:xfrm>
          <a:prstGeom prst="rect">
            <a:avLst/>
          </a:prstGeom>
        </p:spPr>
      </p:pic>
      <p:sp>
        <p:nvSpPr>
          <p:cNvPr id="29" name="anim6_995"/>
          <p:cNvSpPr txBox="1"/>
          <p:nvPr/>
        </p:nvSpPr>
        <p:spPr>
          <a:xfrm>
            <a:off x="8823960" y="2148840"/>
            <a:ext cx="2651760" cy="78638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Regular national monitoring of UPF in the household basket and diets</a:t>
            </a:r>
            <a:endParaRPr lang="en-US" sz="1350" dirty="0"/>
          </a:p>
        </p:txBody>
      </p:sp>
      <p:sp>
        <p:nvSpPr>
          <p:cNvPr id="30" name="anim7_996"/>
          <p:cNvSpPr/>
          <p:nvPr/>
        </p:nvSpPr>
        <p:spPr>
          <a:xfrm>
            <a:off x="8092440" y="3200400"/>
            <a:ext cx="603504" cy="603504"/>
          </a:xfrm>
          <a:prstGeom prst="ellipse">
            <a:avLst/>
          </a:prstGeom>
          <a:solidFill>
            <a:srgbClr val="B3393C"/>
          </a:solidFill>
          <a:ln w="6350">
            <a:solidFill>
              <a:srgbClr val="B3393C"/>
            </a:solidFill>
            <a:prstDash val="solid"/>
          </a:ln>
        </p:spPr>
      </p:sp>
      <p:pic>
        <p:nvPicPr>
          <p:cNvPr id="31" name="anim7_997" descr="tag icon">    </p:cNvPr>
          <p:cNvPicPr>
            <a:picLocks noChangeAspect="1"/>
          </p:cNvPicPr>
          <p:nvPr/>
        </p:nvPicPr>
        <p:blipFill>
          <a:blip r:embed="rId2"/>
          <a:stretch>
            <a:fillRect/>
          </a:stretch>
        </p:blipFill>
        <p:spPr>
          <a:xfrm>
            <a:off x="8255386" y="3363346"/>
            <a:ext cx="277612" cy="277612"/>
          </a:xfrm>
          <a:prstGeom prst="rect">
            <a:avLst/>
          </a:prstGeom>
        </p:spPr>
      </p:pic>
      <p:sp>
        <p:nvSpPr>
          <p:cNvPr id="32" name="anim7_998"/>
          <p:cNvSpPr txBox="1"/>
          <p:nvPr/>
        </p:nvSpPr>
        <p:spPr>
          <a:xfrm>
            <a:off x="8823960" y="3108960"/>
            <a:ext cx="2651760" cy="78638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Strengthen and evaluate the existing labeling system</a:t>
            </a:r>
            <a:endParaRPr lang="en-US" sz="1350" dirty="0"/>
          </a:p>
        </p:txBody>
      </p:sp>
      <p:sp>
        <p:nvSpPr>
          <p:cNvPr id="33" name="anim8_999"/>
          <p:cNvSpPr/>
          <p:nvPr/>
        </p:nvSpPr>
        <p:spPr>
          <a:xfrm>
            <a:off x="8092440" y="4160520"/>
            <a:ext cx="603504" cy="603504"/>
          </a:xfrm>
          <a:prstGeom prst="ellipse">
            <a:avLst/>
          </a:prstGeom>
          <a:solidFill>
            <a:srgbClr val="B3393C"/>
          </a:solidFill>
          <a:ln w="6350">
            <a:solidFill>
              <a:srgbClr val="B3393C"/>
            </a:solidFill>
            <a:prstDash val="solid"/>
          </a:ln>
        </p:spPr>
      </p:sp>
      <p:pic>
        <p:nvPicPr>
          <p:cNvPr id="34" name="anim8_1000" descr="school icon">    </p:cNvPr>
          <p:cNvPicPr>
            <a:picLocks noChangeAspect="1"/>
          </p:cNvPicPr>
          <p:nvPr/>
        </p:nvPicPr>
        <p:blipFill>
          <a:blip r:embed="rId3"/>
          <a:stretch>
            <a:fillRect/>
          </a:stretch>
        </p:blipFill>
        <p:spPr>
          <a:xfrm>
            <a:off x="8255386" y="4323466"/>
            <a:ext cx="277612" cy="277612"/>
          </a:xfrm>
          <a:prstGeom prst="rect">
            <a:avLst/>
          </a:prstGeom>
        </p:spPr>
      </p:pic>
      <p:sp>
        <p:nvSpPr>
          <p:cNvPr id="35" name="anim8_1001"/>
          <p:cNvSpPr txBox="1"/>
          <p:nvPr/>
        </p:nvSpPr>
        <p:spPr>
          <a:xfrm>
            <a:off x="8823960" y="4069080"/>
            <a:ext cx="2651760" cy="78638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Protect the school food environment</a:t>
            </a:r>
            <a:endParaRPr lang="en-US" sz="1350" dirty="0"/>
          </a:p>
        </p:txBody>
      </p:sp>
      <p:sp>
        <p:nvSpPr>
          <p:cNvPr id="36" name="anim8_1002"/>
          <p:cNvSpPr txBox="1"/>
          <p:nvPr/>
        </p:nvSpPr>
        <p:spPr>
          <a:xfrm>
            <a:off x="8092440" y="5074920"/>
            <a:ext cx="3337560" cy="502920"/>
          </a:xfrm>
          <a:prstGeom prst="rect">
            <a:avLst/>
          </a:prstGeom>
          <a:noFill/>
          <a:ln/>
        </p:spPr>
        <p:txBody>
          <a:bodyPr wrap="square" lIns="0" tIns="0" rIns="0" bIns="0" rtlCol="0" anchor="t"/>
          <a:lstStyle/>
          <a:p>
            <a:pPr indent="0" marL="0">
              <a:buNone/>
            </a:pPr>
            <a:r>
              <a:rPr lang="en-US" sz="1150" i="1" dirty="0">
                <a:solidFill>
                  <a:srgbClr val="CADCFC"/>
                </a:solidFill>
                <a:latin typeface="Calibri" pitchFamily="34" charset="0"/>
                <a:ea typeface="Calibri" pitchFamily="34" charset="-122"/>
                <a:cs typeface="Calibri" pitchFamily="34" charset="-120"/>
              </a:rPr>
              <a:t>Priorities for evaluation — not recommendations based on Iranian evidence.</a:t>
            </a:r>
            <a:endParaRPr lang="en-US" sz="1150" dirty="0"/>
          </a:p>
        </p:txBody>
      </p:sp>
      <p:sp>
        <p:nvSpPr>
          <p:cNvPr id="37" name="anim9_1003"/>
          <p:cNvSpPr/>
          <p:nvPr/>
        </p:nvSpPr>
        <p:spPr>
          <a:xfrm>
            <a:off x="548640" y="5760720"/>
            <a:ext cx="11064240" cy="502920"/>
          </a:xfrm>
          <a:prstGeom prst="roundRect">
            <a:avLst>
              <a:gd name="adj" fmla="val 14545"/>
            </a:avLst>
          </a:prstGeom>
          <a:solidFill>
            <a:srgbClr val="E6F1F3"/>
          </a:solidFill>
          <a:ln w="9525">
            <a:solidFill>
              <a:srgbClr val="CFE3E7"/>
            </a:solidFill>
            <a:prstDash val="solid"/>
          </a:ln>
          <a:effectLst>
            <a:outerShdw sx="100000" sy="100000" kx="0" ky="0" algn="bl" rotWithShape="0" blurRad="114300" dist="31750" dir="5400000">
              <a:srgbClr val="1B1F24">
                <a:alpha val="14000"/>
              </a:srgbClr>
            </a:outerShdw>
          </a:effectLst>
        </p:spPr>
      </p:sp>
      <p:sp>
        <p:nvSpPr>
          <p:cNvPr id="38" name="anim9_1004"/>
          <p:cNvSpPr txBox="1"/>
          <p:nvPr/>
        </p:nvSpPr>
        <p:spPr>
          <a:xfrm>
            <a:off x="731520" y="5760720"/>
            <a:ext cx="10789920" cy="502920"/>
          </a:xfrm>
          <a:prstGeom prst="rect">
            <a:avLst/>
          </a:prstGeom>
          <a:noFill/>
          <a:ln/>
        </p:spPr>
        <p:txBody>
          <a:bodyPr wrap="square" lIns="0" tIns="0" rIns="0" bIns="0" rtlCol="0" anchor="ctr"/>
          <a:lstStyle/>
          <a:p>
            <a:pPr indent="0" marL="0">
              <a:buNone/>
            </a:pPr>
            <a:r>
              <a:rPr lang="en-US" sz="1450" b="1" dirty="0">
                <a:solidFill>
                  <a:srgbClr val="2A7A8C"/>
                </a:solidFill>
                <a:latin typeface="Calibri" pitchFamily="34" charset="0"/>
                <a:ea typeface="Calibri" pitchFamily="34" charset="-122"/>
                <a:cs typeface="Calibri" pitchFamily="34" charset="-120"/>
              </a:rPr>
              <a:t>Answer to the guiding question: </a:t>
            </a:r>
            <a:r>
              <a:rPr lang="en-US" sz="1450" dirty="0">
                <a:solidFill>
                  <a:srgbClr val="1B1F24"/>
                </a:solidFill>
                <a:latin typeface="Calibri" pitchFamily="34" charset="0"/>
                <a:ea typeface="Calibri" pitchFamily="34" charset="-122"/>
                <a:cs typeface="Calibri" pitchFamily="34" charset="-120"/>
              </a:rPr>
              <a:t>no — evidence-based action on ultra-processed foods need not wait for the addiction debate to end.</a:t>
            </a:r>
            <a:endParaRPr lang="en-US" sz="145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7" fill="hold">
                      <p:stCondLst>
                        <p:cond delay="indefinite"/>
                        <p:cond evt="onBegin" delay="0">
                          <p:tn val="2"/>
                        </p:cond>
                      </p:stCondLst>
                      <p:childTnLst>
                        <p:par>
                          <p:cTn id="18" fill="hold">
                            <p:stCondLst>
                              <p:cond delay="0"/>
                            </p:stCondLst>
                            <p:childTnLst>
                              <p:par>
                                <p:cTn id="3" presetID="10" presetClass="entr" presetSubtype="0" fill="hold"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380"/>
                            </p:stCondLst>
                            <p:childTnLst>
                              <p:par>
                                <p:cTn id="35" presetID="10"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6" fill="hold">
                            <p:stCondLst>
                              <p:cond delay="380"/>
                            </p:stCondLst>
                            <p:childTnLst>
                              <p:par>
                                <p:cTn id="51" presetID="10" presetClass="entr" presetSubtype="0"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childTnLst>
                          </p:cTn>
                        </p:par>
                        <p:par>
                          <p:cTn id="76" fill="hold">
                            <p:stCondLst>
                              <p:cond delay="380"/>
                            </p:stCondLst>
                            <p:childTnLst>
                              <p:par>
                                <p:cTn id="67" presetID="10" presetClass="entr" presetSubtype="0" fill="hold"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5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50"/>
                                        <p:tgtEl>
                                          <p:spTgt spid="26"/>
                                        </p:tgtEl>
                                      </p:cBhvr>
                                    </p:animEffect>
                                  </p:childTnLst>
                                </p:cTn>
                              </p:par>
                            </p:childTnLst>
                          </p:cTn>
                        </p:par>
                        <p:par>
                          <p:cTn id="86" fill="hold">
                            <p:stCondLst>
                              <p:cond delay="380"/>
                            </p:stCondLst>
                            <p:childTnLst>
                              <p:par>
                                <p:cTn id="77" presetID="10" presetClass="entr" presetSubtype="0" fill="hold" nodeType="after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50"/>
                                        <p:tgtEl>
                                          <p:spTgt spid="29"/>
                                        </p:tgtEl>
                                      </p:cBhvr>
                                    </p:animEffect>
                                  </p:childTnLst>
                                </p:cTn>
                              </p:par>
                            </p:childTnLst>
                          </p:cTn>
                        </p:par>
                        <p:par>
                          <p:cTn id="96" fill="hold">
                            <p:stCondLst>
                              <p:cond delay="380"/>
                            </p:stCondLst>
                            <p:childTnLst>
                              <p:par>
                                <p:cTn id="87" presetID="10" presetClass="entr" presetSubtype="0" fill="hold" nodeType="after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45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5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childTnLst>
                          </p:cTn>
                        </p:par>
                        <p:par>
                          <p:cTn id="109" fill="hold">
                            <p:stCondLst>
                              <p:cond delay="380"/>
                            </p:stCondLst>
                            <p:childTnLst>
                              <p:par>
                                <p:cTn id="97" presetID="10" presetClass="entr" presetSubtype="0" fill="hold" nodeType="after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50"/>
                                        <p:tgtEl>
                                          <p:spTgt spid="33"/>
                                        </p:tgtEl>
                                      </p:cBhvr>
                                    </p:animEffect>
                                  </p:childTnLst>
                                </p:cTn>
                              </p:par>
                              <p:par>
                                <p:cTn id="100" presetID="10" presetClass="entr" presetSubtype="0" fill="hold"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5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5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50"/>
                                        <p:tgtEl>
                                          <p:spTgt spid="36"/>
                                        </p:tgtEl>
                                      </p:cBhvr>
                                    </p:animEffect>
                                  </p:childTnLst>
                                </p:cTn>
                              </p:par>
                            </p:childTnLst>
                          </p:cTn>
                        </p:par>
                        <p:par>
                          <p:cTn id="116" fill="hold">
                            <p:stCondLst>
                              <p:cond delay="380"/>
                            </p:stCondLst>
                            <p:childTnLst>
                              <p:par>
                                <p:cTn id="110" presetID="10" presetClass="entr" presetSubtype="0" fill="hold" nodeType="after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9" grpId="0" animBg="1"/>
      <p:bldP spid="32" grpId="0" animBg="1"/>
      <p:bldP spid="35" grpId="0" animBg="1"/>
      <p:bldP spid="36" grpId="0" animBg="1"/>
      <p:bldP spid="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0"/>
          <p:cNvSpPr/>
          <p:nvPr>
            <p:ph idx="100" type="title" hasCustomPrompt="1"/>
          </p:nvPr>
        </p:nvSpPr>
        <p:spPr>
          <a:xfrm>
            <a:off x="685800" y="914400"/>
            <a:ext cx="6858000" cy="109728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4" name="Text 1"/>
          <p:cNvSpPr txBox="1"/>
          <p:nvPr/>
        </p:nvSpPr>
        <p:spPr>
          <a:xfrm>
            <a:off x="685800" y="2011680"/>
            <a:ext cx="6400800" cy="502920"/>
          </a:xfrm>
          <a:prstGeom prst="rect">
            <a:avLst/>
          </a:prstGeom>
          <a:noFill/>
          <a:ln/>
        </p:spPr>
        <p:txBody>
          <a:bodyPr wrap="square" lIns="0" tIns="0" rIns="0" bIns="0" rtlCol="0" anchor="t"/>
          <a:lstStyle/>
          <a:p>
            <a:pPr indent="0" marL="0">
              <a:buNone/>
            </a:pPr>
            <a:r>
              <a:rPr lang="en-US" sz="2400" i="1" dirty="0">
                <a:solidFill>
                  <a:srgbClr val="CADCFC"/>
                </a:solidFill>
                <a:latin typeface="Calibri" pitchFamily="34" charset="0"/>
                <a:ea typeface="Calibri" pitchFamily="34" charset="-122"/>
                <a:cs typeface="Calibri" pitchFamily="34" charset="-120"/>
              </a:rPr>
              <a:t>Questions and discussion</a:t>
            </a:r>
            <a:endParaRPr lang="en-US" sz="2400" dirty="0"/>
          </a:p>
        </p:txBody>
      </p:sp>
      <p:sp>
        <p:nvSpPr>
          <p:cNvPr id="5" name="Text 2"/>
          <p:cNvSpPr txBox="1"/>
          <p:nvPr/>
        </p:nvSpPr>
        <p:spPr>
          <a:xfrm>
            <a:off x="685800" y="2606040"/>
            <a:ext cx="6949440" cy="5486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Yasmin Ayatollahi  ·  School of Nutritional Sciences and Dietetics, Tehran University of Medical Sciences</a:t>
            </a:r>
            <a:endParaRPr lang="en-US" sz="1350" dirty="0"/>
          </a:p>
        </p:txBody>
      </p:sp>
      <p:sp>
        <p:nvSpPr>
          <p:cNvPr id="6" name="Text 3"/>
          <p:cNvSpPr txBox="1"/>
          <p:nvPr/>
        </p:nvSpPr>
        <p:spPr>
          <a:xfrm>
            <a:off x="685800" y="3429000"/>
            <a:ext cx="3657600" cy="274320"/>
          </a:xfrm>
          <a:prstGeom prst="rect">
            <a:avLst/>
          </a:prstGeom>
          <a:noFill/>
          <a:ln/>
        </p:spPr>
        <p:txBody>
          <a:bodyPr wrap="square" lIns="0" tIns="0" rIns="0" bIns="0" rtlCol="0" anchor="t"/>
          <a:lstStyle/>
          <a:p>
            <a:pPr indent="0" marL="0">
              <a:buNone/>
            </a:pPr>
            <a:r>
              <a:rPr lang="en-US" sz="1150" b="1" spc="200" kern="0" dirty="0">
                <a:solidFill>
                  <a:srgbClr val="CADCFC"/>
                </a:solidFill>
                <a:latin typeface="Calibri" pitchFamily="34" charset="0"/>
                <a:ea typeface="Calibri" pitchFamily="34" charset="-122"/>
                <a:cs typeface="Calibri" pitchFamily="34" charset="-120"/>
              </a:rPr>
              <a:t>KEY READING</a:t>
            </a:r>
            <a:endParaRPr lang="en-US" sz="1150" dirty="0"/>
          </a:p>
        </p:txBody>
      </p:sp>
      <p:sp>
        <p:nvSpPr>
          <p:cNvPr id="7" name="Text 4"/>
          <p:cNvSpPr txBox="1"/>
          <p:nvPr/>
        </p:nvSpPr>
        <p:spPr>
          <a:xfrm>
            <a:off x="685800" y="3749040"/>
            <a:ext cx="6949440" cy="2377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Hall KD et al. Cell Metab 2019 — inpatient UPF trial</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Dicken SJ et al. Nat Med 2025 — UPF within dietary guidelines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Lane MM et al. BMJ 2024 — umbrella review</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Gearhardt AN, DiFeliceantonio AG. BMJ 2023 — UPF as addictive substances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Ziauddeen H, Fletcher PC. Obes Rev 2013 — is food addiction valid?</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Taillie LS et al. PLOS Med 2020 — Chile’s law</a:t>
            </a:r>
            <a:endParaRPr lang="en-US" sz="1300" dirty="0"/>
          </a:p>
        </p:txBody>
      </p:sp>
      <p:sp>
        <p:nvSpPr>
          <p:cNvPr id="8" name="coct0"/>
          <p:cNvSpPr/>
          <p:nvPr/>
        </p:nvSpPr>
        <p:spPr>
          <a:xfrm>
            <a:off x="8275320" y="1234440"/>
            <a:ext cx="1783080" cy="1783080"/>
          </a:xfrm>
          <a:prstGeom prst="octagon">
            <a:avLst/>
          </a:prstGeom>
          <a:solidFill>
            <a:srgbClr val="B3393C"/>
          </a:solidFill>
          <a:ln w="38100">
            <a:solidFill>
              <a:srgbClr val="FFFFFF"/>
            </a:solidFill>
            <a:prstDash val="solid"/>
          </a:ln>
        </p:spPr>
      </p:sp>
      <p:pic>
        <p:nvPicPr>
          <p:cNvPr id="9" name="cocti0" descr="industry">    </p:cNvPr>
          <p:cNvPicPr>
            <a:picLocks noChangeAspect="1"/>
          </p:cNvPicPr>
          <p:nvPr/>
        </p:nvPicPr>
        <p:blipFill>
          <a:blip r:embed="rId1"/>
          <a:stretch>
            <a:fillRect/>
          </a:stretch>
        </p:blipFill>
        <p:spPr>
          <a:xfrm>
            <a:off x="8774582" y="1733702"/>
            <a:ext cx="784555" cy="784555"/>
          </a:xfrm>
          <a:prstGeom prst="rect">
            <a:avLst/>
          </a:prstGeom>
        </p:spPr>
      </p:pic>
      <p:sp>
        <p:nvSpPr>
          <p:cNvPr id="10" name="coct1"/>
          <p:cNvSpPr/>
          <p:nvPr/>
        </p:nvSpPr>
        <p:spPr>
          <a:xfrm>
            <a:off x="9921240" y="2606040"/>
            <a:ext cx="1783080" cy="1783080"/>
          </a:xfrm>
          <a:prstGeom prst="octagon">
            <a:avLst/>
          </a:prstGeom>
          <a:solidFill>
            <a:srgbClr val="6A4C93"/>
          </a:solidFill>
          <a:ln w="38100">
            <a:solidFill>
              <a:srgbClr val="FFFFFF"/>
            </a:solidFill>
            <a:prstDash val="solid"/>
          </a:ln>
        </p:spPr>
      </p:sp>
      <p:pic>
        <p:nvPicPr>
          <p:cNvPr id="11" name="cocti1" descr="brain">    </p:cNvPr>
          <p:cNvPicPr>
            <a:picLocks noChangeAspect="1"/>
          </p:cNvPicPr>
          <p:nvPr/>
        </p:nvPicPr>
        <p:blipFill>
          <a:blip r:embed="rId2"/>
          <a:stretch>
            <a:fillRect/>
          </a:stretch>
        </p:blipFill>
        <p:spPr>
          <a:xfrm>
            <a:off x="10420502" y="3105302"/>
            <a:ext cx="784555" cy="784555"/>
          </a:xfrm>
          <a:prstGeom prst="rect">
            <a:avLst/>
          </a:prstGeom>
        </p:spPr>
      </p:pic>
      <p:sp>
        <p:nvSpPr>
          <p:cNvPr id="12" name="coct2"/>
          <p:cNvSpPr/>
          <p:nvPr/>
        </p:nvSpPr>
        <p:spPr>
          <a:xfrm>
            <a:off x="8275320" y="3977640"/>
            <a:ext cx="1783080" cy="1783080"/>
          </a:xfrm>
          <a:prstGeom prst="octagon">
            <a:avLst/>
          </a:prstGeom>
          <a:solidFill>
            <a:srgbClr val="3B7D5A"/>
          </a:solidFill>
          <a:ln w="38100">
            <a:solidFill>
              <a:srgbClr val="FFFFFF"/>
            </a:solidFill>
            <a:prstDash val="solid"/>
          </a:ln>
        </p:spPr>
      </p:sp>
      <p:pic>
        <p:nvPicPr>
          <p:cNvPr id="13" name="cocti2" descr="landmark">    </p:cNvPr>
          <p:cNvPicPr>
            <a:picLocks noChangeAspect="1"/>
          </p:cNvPicPr>
          <p:nvPr/>
        </p:nvPicPr>
        <p:blipFill>
          <a:blip r:embed="rId3"/>
          <a:stretch>
            <a:fillRect/>
          </a:stretch>
        </p:blipFill>
        <p:spPr>
          <a:xfrm>
            <a:off x="8774582" y="4476902"/>
            <a:ext cx="784555" cy="784555"/>
          </a:xfrm>
          <a:prstGeom prst="rect">
            <a:avLst/>
          </a:prstGeom>
        </p:spPr>
      </p:pic>
      <p:sp>
        <p:nvSpPr>
          <p:cNvPr id="14" name="Text 8"/>
          <p:cNvSpPr txBox="1"/>
          <p:nvPr/>
        </p:nvSpPr>
        <p:spPr>
          <a:xfrm>
            <a:off x="9966960" y="411480"/>
            <a:ext cx="1737360" cy="320040"/>
          </a:xfrm>
          <a:prstGeom prst="rect">
            <a:avLst/>
          </a:prstGeom>
          <a:noFill/>
          <a:ln/>
        </p:spPr>
        <p:txBody>
          <a:bodyPr wrap="square" lIns="0" tIns="0" rIns="0" bIns="0" rtlCol="0" anchor="t"/>
          <a:lstStyle/>
          <a:p>
            <a:pPr algn="r" indent="0" marL="0">
              <a:buNone/>
            </a:pPr>
            <a:r>
              <a:rPr lang="en-US" sz="1200" u="sng" dirty="0">
                <a:solidFill>
                  <a:srgbClr val="CADCFC"/>
                </a:solidFill>
                <a:latin typeface="Calibri" pitchFamily="34" charset="0"/>
                <a:ea typeface="Calibri" pitchFamily="34" charset="-122"/>
                <a:cs typeface="Calibri" pitchFamily="34" charset="-120"/>
                <a:hlinkClick r:id="rId4" action="ppaction://hlinksldjump" tooltip="Roadmap">
                  <a:extLst>
                    <a:ext uri="{A12FA001-AC4F-418D-AE19-62706E023703}">
                      <ahyp:hlinkClr xmlns:ahyp="http://schemas.microsoft.com/office/drawing/2018/hyperlinkcolor" val="tx"/>
                    </a:ext>
                  </a:extLst>
                </a:hlinkClick>
              </a:rPr>
              <a:t>Back to roadmap</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Backup: arguments for and against food addiction</a:t>
            </a:r>
            <a:endParaRPr lang="en-US" sz="3200" dirty="0"/>
          </a:p>
        </p:txBody>
      </p:sp>
      <p:graphicFrame>
        <p:nvGraphicFramePr>
          <p:cNvPr id="45" name="procon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4480560"/>
                <a:gridCol w="4480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Supportive view</a:t>
                      </a:r>
                      <a:endParaRPr lang="en-US" sz="130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6A4C9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Critical view</a:t>
                      </a:r>
                      <a:endParaRPr lang="en-US" sz="130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B3393C"/>
                    </a:solidFill>
                  </a:tcPr>
                </a:tc>
              </a:tr>
              <a:tr h="603504">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Addictive agent</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Nutrient combinations, delivery speed and food matrix may raise reinforcing potential</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No agent equivalent to a drug has been identified</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603504">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Neural evidence</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Overlap in reward circuits and dopamine; DRD2/OPRM1 markers; supra-additive fat + carb response</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Human imaging heterogeneous, sometimes contradictory</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603504">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Withdrawal</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ProWS: self-reported symptoms after cutting down — preliminary evidence</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Not separable from energy deficit or dietary restriction</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603504">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Terminology</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“Food addiction” highlights product properties and the food environment</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“Eating addiction” is more accurate: the behavior is addictive-like</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603504">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Diagnostic status</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No diagnosis ≠ no phenomenon; gambling entered the classifications</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Evidence insufficient; absent from DSM-5-TR and ICD-11</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Policy implication</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Can support food-environment interventions</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Premature as an independent basis for policy</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6F8FA"/>
                    </a:solidFill>
                  </a:tcPr>
                </a:tc>
              </a:tr>
              <a:tr h="548640">
                <a:tc>
                  <a:txBody>
                    <a:bodyPr/>
                    <a:lstStyle/>
                    <a:p>
                      <a:pPr indent="0" marL="0">
                        <a:buNone/>
                      </a:pPr>
                      <a:r>
                        <a:rPr lang="en-US" sz="1250" b="1" dirty="0">
                          <a:solidFill>
                            <a:srgbClr val="1F3A5F"/>
                          </a:solidFill>
                          <a:latin typeface="Calibri" pitchFamily="34" charset="0"/>
                          <a:ea typeface="Calibri" pitchFamily="34" charset="-122"/>
                          <a:cs typeface="Calibri" pitchFamily="34" charset="-120"/>
                        </a:rPr>
                        <a:t>Stigma</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Can reduce blame and stigma (Latner et al. 2014)</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c>
                  <a:txBody>
                    <a:bodyPr/>
                    <a:lstStyle/>
                    <a:p>
                      <a:pPr indent="0" marL="0">
                        <a:buNone/>
                      </a:pPr>
                      <a:r>
                        <a:rPr lang="en-US" sz="1250" dirty="0">
                          <a:solidFill>
                            <a:srgbClr val="1B1F24"/>
                          </a:solidFill>
                          <a:latin typeface="Calibri" pitchFamily="34" charset="0"/>
                          <a:ea typeface="Calibri" pitchFamily="34" charset="-122"/>
                          <a:cs typeface="Calibri" pitchFamily="34" charset="-120"/>
                        </a:rPr>
                        <a:t>Belief may prompt restriction and adverse eating (Ruddock and Hardman 2017)</a:t>
                      </a:r>
                      <a:endParaRPr lang="en-US" sz="1250" dirty="0">
                        <a:latin typeface="Calibri" charset="0"/>
                        <a:ea typeface="Calibri" charset="0"/>
                        <a:cs typeface="Calibri" charset="0"/>
                      </a:endParaRPr>
                    </a:p>
                  </a:txBody>
                  <a:tcPr marL="88900" marR="88900" marT="38100" marB="38100" anchor="ctr">
                    <a:lnL w="9525" cap="flat" cmpd="sng" algn="ctr">
                      <a:solidFill>
                        <a:srgbClr val="DCE2E8"/>
                      </a:solidFill>
                      <a:prstDash val="solid"/>
                      <a:round/>
                      <a:headEnd type="none" w="med" len="med"/>
                      <a:tailEnd type="none" w="med" len="med"/>
                    </a:lnL>
                    <a:lnR w="9525" cap="flat" cmpd="sng" algn="ctr">
                      <a:solidFill>
                        <a:srgbClr val="DCE2E8"/>
                      </a:solidFill>
                      <a:prstDash val="solid"/>
                      <a:round/>
                      <a:headEnd type="none" w="med" len="med"/>
                      <a:tailEnd type="none" w="med" len="med"/>
                    </a:lnR>
                    <a:lnT w="9525" cap="flat" cmpd="sng" algn="ctr">
                      <a:solidFill>
                        <a:srgbClr val="DCE2E8"/>
                      </a:solidFill>
                      <a:prstDash val="solid"/>
                      <a:round/>
                      <a:headEnd type="none" w="med" len="med"/>
                      <a:tailEnd type="none" w="med" len="med"/>
                    </a:lnT>
                    <a:lnB w="9525" cap="flat" cmpd="sng" algn="ctr">
                      <a:solidFill>
                        <a:srgbClr val="DCE2E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Table 4 of the seminar. Sources: Gearhardt and Schulte 2021; Gearhardt and DiFeliceantonio 2023; Ziauddeen and Fletcher 2013; Ziauddeen et al. 2012; Hebebrand et al. 2014; Schulte et al. 2018.</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ext 0"/>
          <p:cNvSpPr/>
          <p:nvPr>
            <p:ph idx="100" type="title" hasCustomPrompt="1"/>
          </p:nvPr>
        </p:nvSpPr>
        <p:spPr>
          <a:xfrm>
            <a:off x="548640" y="292608"/>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Backup: key numbers at a glance</a:t>
            </a:r>
            <a:endParaRPr lang="en-US" sz="3200" dirty="0"/>
          </a:p>
        </p:txBody>
      </p:sp>
      <p:sp>
        <p:nvSpPr>
          <p:cNvPr id="4" name="card_1005"/>
          <p:cNvSpPr/>
          <p:nvPr/>
        </p:nvSpPr>
        <p:spPr>
          <a:xfrm>
            <a:off x="548640"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 name="Text 2"/>
          <p:cNvSpPr txBox="1"/>
          <p:nvPr/>
        </p:nvSpPr>
        <p:spPr>
          <a:xfrm>
            <a:off x="603504" y="1389888"/>
            <a:ext cx="1645920" cy="502920"/>
          </a:xfrm>
          <a:prstGeom prst="rect">
            <a:avLst/>
          </a:prstGeom>
          <a:noFill/>
          <a:ln/>
        </p:spPr>
        <p:txBody>
          <a:bodyPr wrap="square" lIns="0" tIns="0" rIns="0" bIns="0" rtlCol="0" anchor="ctr"/>
          <a:lstStyle/>
          <a:p>
            <a:pPr algn="ctr" indent="0" marL="0">
              <a:buNone/>
            </a:pPr>
            <a:r>
              <a:rPr lang="en-US" sz="2200" b="1" dirty="0">
                <a:solidFill>
                  <a:srgbClr val="B3393C"/>
                </a:solidFill>
                <a:latin typeface="Cambria" pitchFamily="34" charset="0"/>
                <a:ea typeface="Cambria" pitchFamily="34" charset="-122"/>
                <a:cs typeface="Cambria" pitchFamily="34" charset="-120"/>
              </a:rPr>
              <a:t>58%</a:t>
            </a:r>
            <a:endParaRPr lang="en-US" sz="2200" dirty="0"/>
          </a:p>
        </p:txBody>
      </p:sp>
      <p:sp>
        <p:nvSpPr>
          <p:cNvPr id="6" name="Text 3"/>
          <p:cNvSpPr txBox="1"/>
          <p:nvPr/>
        </p:nvSpPr>
        <p:spPr>
          <a:xfrm>
            <a:off x="640080"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UPF share of energy, US adults</a:t>
            </a:r>
            <a:endParaRPr lang="en-US" sz="1100" dirty="0"/>
          </a:p>
        </p:txBody>
      </p:sp>
      <p:sp>
        <p:nvSpPr>
          <p:cNvPr id="7" name="Text 4"/>
          <p:cNvSpPr txBox="1"/>
          <p:nvPr/>
        </p:nvSpPr>
        <p:spPr>
          <a:xfrm>
            <a:off x="640080"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Steele 2023</a:t>
            </a:r>
            <a:endParaRPr lang="en-US" sz="1000" dirty="0"/>
          </a:p>
        </p:txBody>
      </p:sp>
      <p:sp>
        <p:nvSpPr>
          <p:cNvPr id="8" name="card_1006"/>
          <p:cNvSpPr/>
          <p:nvPr/>
        </p:nvSpPr>
        <p:spPr>
          <a:xfrm>
            <a:off x="2404872"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9" name="Text 6"/>
          <p:cNvSpPr txBox="1"/>
          <p:nvPr/>
        </p:nvSpPr>
        <p:spPr>
          <a:xfrm>
            <a:off x="2459736" y="1389888"/>
            <a:ext cx="1645920" cy="502920"/>
          </a:xfrm>
          <a:prstGeom prst="rect">
            <a:avLst/>
          </a:prstGeom>
          <a:noFill/>
          <a:ln/>
        </p:spPr>
        <p:txBody>
          <a:bodyPr wrap="square" lIns="0" tIns="0" rIns="0" bIns="0" rtlCol="0" anchor="ctr"/>
          <a:lstStyle/>
          <a:p>
            <a:pPr algn="ctr" indent="0" marL="0">
              <a:buNone/>
            </a:pPr>
            <a:r>
              <a:rPr lang="en-US" sz="1700" b="1" dirty="0">
                <a:solidFill>
                  <a:srgbClr val="B3393C"/>
                </a:solidFill>
                <a:latin typeface="Cambria" pitchFamily="34" charset="0"/>
                <a:ea typeface="Cambria" pitchFamily="34" charset="-122"/>
                <a:cs typeface="Cambria" pitchFamily="34" charset="-120"/>
              </a:rPr>
              <a:t>54% · 66%</a:t>
            </a:r>
            <a:endParaRPr lang="en-US" sz="1700" dirty="0"/>
          </a:p>
        </p:txBody>
      </p:sp>
      <p:sp>
        <p:nvSpPr>
          <p:cNvPr id="10" name="Text 7"/>
          <p:cNvSpPr txBox="1"/>
          <p:nvPr/>
        </p:nvSpPr>
        <p:spPr>
          <a:xfrm>
            <a:off x="2496312"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UK adults · adolescents</a:t>
            </a:r>
            <a:endParaRPr lang="en-US" sz="1100" dirty="0"/>
          </a:p>
        </p:txBody>
      </p:sp>
      <p:sp>
        <p:nvSpPr>
          <p:cNvPr id="11" name="Text 8"/>
          <p:cNvSpPr txBox="1"/>
          <p:nvPr/>
        </p:nvSpPr>
        <p:spPr>
          <a:xfrm>
            <a:off x="2496312"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Rauber 2020</a:t>
            </a:r>
            <a:endParaRPr lang="en-US" sz="1000" dirty="0"/>
          </a:p>
        </p:txBody>
      </p:sp>
      <p:sp>
        <p:nvSpPr>
          <p:cNvPr id="12" name="card_1007"/>
          <p:cNvSpPr/>
          <p:nvPr/>
        </p:nvSpPr>
        <p:spPr>
          <a:xfrm>
            <a:off x="4261104"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3" name="Text 10"/>
          <p:cNvSpPr txBox="1"/>
          <p:nvPr/>
        </p:nvSpPr>
        <p:spPr>
          <a:xfrm>
            <a:off x="4315968" y="1389888"/>
            <a:ext cx="1645920" cy="502920"/>
          </a:xfrm>
          <a:prstGeom prst="rect">
            <a:avLst/>
          </a:prstGeom>
          <a:noFill/>
          <a:ln/>
        </p:spPr>
        <p:txBody>
          <a:bodyPr wrap="square" lIns="0" tIns="0" rIns="0" bIns="0" rtlCol="0" anchor="ctr"/>
          <a:lstStyle/>
          <a:p>
            <a:pPr algn="ctr" indent="0" marL="0">
              <a:buNone/>
            </a:pPr>
            <a:r>
              <a:rPr lang="en-US" sz="2200" b="1" dirty="0">
                <a:solidFill>
                  <a:srgbClr val="D88A1F"/>
                </a:solidFill>
                <a:latin typeface="Cambria" pitchFamily="34" charset="0"/>
                <a:ea typeface="Cambria" pitchFamily="34" charset="-122"/>
                <a:cs typeface="Cambria" pitchFamily="34" charset="-120"/>
              </a:rPr>
              <a:t>13.4%</a:t>
            </a:r>
            <a:endParaRPr lang="en-US" sz="2200" dirty="0"/>
          </a:p>
        </p:txBody>
      </p:sp>
      <p:sp>
        <p:nvSpPr>
          <p:cNvPr id="14" name="Text 11"/>
          <p:cNvSpPr txBox="1"/>
          <p:nvPr/>
        </p:nvSpPr>
        <p:spPr>
          <a:xfrm>
            <a:off x="4352544"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Tehran adults, median (TLGS)</a:t>
            </a:r>
            <a:endParaRPr lang="en-US" sz="1100" dirty="0"/>
          </a:p>
        </p:txBody>
      </p:sp>
      <p:sp>
        <p:nvSpPr>
          <p:cNvPr id="15" name="Text 12"/>
          <p:cNvSpPr txBox="1"/>
          <p:nvPr/>
        </p:nvSpPr>
        <p:spPr>
          <a:xfrm>
            <a:off x="4352544"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Moslehi 2024</a:t>
            </a:r>
            <a:endParaRPr lang="en-US" sz="1000" dirty="0"/>
          </a:p>
        </p:txBody>
      </p:sp>
      <p:sp>
        <p:nvSpPr>
          <p:cNvPr id="16" name="card_1008"/>
          <p:cNvSpPr/>
          <p:nvPr/>
        </p:nvSpPr>
        <p:spPr>
          <a:xfrm>
            <a:off x="6117336"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17" name="Text 14"/>
          <p:cNvSpPr txBox="1"/>
          <p:nvPr/>
        </p:nvSpPr>
        <p:spPr>
          <a:xfrm>
            <a:off x="6172200" y="1389888"/>
            <a:ext cx="1645920" cy="502920"/>
          </a:xfrm>
          <a:prstGeom prst="rect">
            <a:avLst/>
          </a:prstGeom>
          <a:noFill/>
          <a:ln/>
        </p:spPr>
        <p:txBody>
          <a:bodyPr wrap="square" lIns="0" tIns="0" rIns="0" bIns="0" rtlCol="0" anchor="ctr"/>
          <a:lstStyle/>
          <a:p>
            <a:pPr algn="ctr" indent="0" marL="0">
              <a:buNone/>
            </a:pPr>
            <a:r>
              <a:rPr lang="en-US" sz="1700" b="1" dirty="0">
                <a:solidFill>
                  <a:srgbClr val="6A4C93"/>
                </a:solidFill>
                <a:latin typeface="Cambria" pitchFamily="34" charset="0"/>
                <a:ea typeface="Cambria" pitchFamily="34" charset="-122"/>
                <a:cs typeface="Cambria" pitchFamily="34" charset="-120"/>
              </a:rPr>
              <a:t>14% · 12%</a:t>
            </a:r>
            <a:endParaRPr lang="en-US" sz="1700" dirty="0"/>
          </a:p>
        </p:txBody>
      </p:sp>
      <p:sp>
        <p:nvSpPr>
          <p:cNvPr id="18" name="Text 15"/>
          <p:cNvSpPr txBox="1"/>
          <p:nvPr/>
        </p:nvSpPr>
        <p:spPr>
          <a:xfrm>
            <a:off x="6208776"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YFAS food addiction: adults · children</a:t>
            </a:r>
            <a:endParaRPr lang="en-US" sz="1100" dirty="0"/>
          </a:p>
        </p:txBody>
      </p:sp>
      <p:sp>
        <p:nvSpPr>
          <p:cNvPr id="19" name="Text 16"/>
          <p:cNvSpPr txBox="1"/>
          <p:nvPr/>
        </p:nvSpPr>
        <p:spPr>
          <a:xfrm>
            <a:off x="6208776"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Gearhardt 2023</a:t>
            </a:r>
            <a:endParaRPr lang="en-US" sz="1000" dirty="0"/>
          </a:p>
        </p:txBody>
      </p:sp>
      <p:sp>
        <p:nvSpPr>
          <p:cNvPr id="20" name="card_1009"/>
          <p:cNvSpPr/>
          <p:nvPr/>
        </p:nvSpPr>
        <p:spPr>
          <a:xfrm>
            <a:off x="7973568"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1" name="Text 18"/>
          <p:cNvSpPr txBox="1"/>
          <p:nvPr/>
        </p:nvSpPr>
        <p:spPr>
          <a:xfrm>
            <a:off x="8028432" y="1389888"/>
            <a:ext cx="1645920" cy="502920"/>
          </a:xfrm>
          <a:prstGeom prst="rect">
            <a:avLst/>
          </a:prstGeom>
          <a:noFill/>
          <a:ln/>
        </p:spPr>
        <p:txBody>
          <a:bodyPr wrap="square" lIns="0" tIns="0" rIns="0" bIns="0" rtlCol="0" anchor="ctr"/>
          <a:lstStyle/>
          <a:p>
            <a:pPr algn="ctr" indent="0" marL="0">
              <a:buNone/>
            </a:pPr>
            <a:r>
              <a:rPr lang="en-US" sz="1400" b="1" dirty="0">
                <a:solidFill>
                  <a:srgbClr val="6A4C93"/>
                </a:solidFill>
                <a:latin typeface="Cambria" pitchFamily="34" charset="0"/>
                <a:ea typeface="Cambria" pitchFamily="34" charset="-122"/>
                <a:cs typeface="Cambria" pitchFamily="34" charset="-120"/>
              </a:rPr>
              <a:t>11.1% · 24.9%</a:t>
            </a:r>
            <a:endParaRPr lang="en-US" sz="1400" dirty="0"/>
          </a:p>
        </p:txBody>
      </p:sp>
      <p:sp>
        <p:nvSpPr>
          <p:cNvPr id="22" name="Text 19"/>
          <p:cNvSpPr txBox="1"/>
          <p:nvPr/>
        </p:nvSpPr>
        <p:spPr>
          <a:xfrm>
            <a:off x="8065008"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healthy weight · overweight or obesity</a:t>
            </a:r>
            <a:endParaRPr lang="en-US" sz="1100" dirty="0"/>
          </a:p>
        </p:txBody>
      </p:sp>
      <p:sp>
        <p:nvSpPr>
          <p:cNvPr id="23" name="Text 20"/>
          <p:cNvSpPr txBox="1"/>
          <p:nvPr/>
        </p:nvSpPr>
        <p:spPr>
          <a:xfrm>
            <a:off x="8065008"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Pursey 2014</a:t>
            </a:r>
            <a:endParaRPr lang="en-US" sz="1000" dirty="0"/>
          </a:p>
        </p:txBody>
      </p:sp>
      <p:sp>
        <p:nvSpPr>
          <p:cNvPr id="24" name="card_1010"/>
          <p:cNvSpPr/>
          <p:nvPr/>
        </p:nvSpPr>
        <p:spPr>
          <a:xfrm>
            <a:off x="9829800" y="1298448"/>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5" name="Text 22"/>
          <p:cNvSpPr txBox="1"/>
          <p:nvPr/>
        </p:nvSpPr>
        <p:spPr>
          <a:xfrm>
            <a:off x="9884664" y="1389888"/>
            <a:ext cx="1645920" cy="502920"/>
          </a:xfrm>
          <a:prstGeom prst="rect">
            <a:avLst/>
          </a:prstGeom>
          <a:noFill/>
          <a:ln/>
        </p:spPr>
        <p:txBody>
          <a:bodyPr wrap="square" lIns="0" tIns="0" rIns="0" bIns="0" rtlCol="0" anchor="ctr"/>
          <a:lstStyle/>
          <a:p>
            <a:pPr algn="ctr" indent="0" marL="0">
              <a:buNone/>
            </a:pPr>
            <a:r>
              <a:rPr lang="en-US" sz="2200" b="1" dirty="0">
                <a:solidFill>
                  <a:srgbClr val="6A4C93"/>
                </a:solidFill>
                <a:latin typeface="Cambria" pitchFamily="34" charset="0"/>
                <a:ea typeface="Cambria" pitchFamily="34" charset="-122"/>
                <a:cs typeface="Cambria" pitchFamily="34" charset="-120"/>
              </a:rPr>
              <a:t>92.4%</a:t>
            </a:r>
            <a:endParaRPr lang="en-US" sz="2200" dirty="0"/>
          </a:p>
        </p:txBody>
      </p:sp>
      <p:sp>
        <p:nvSpPr>
          <p:cNvPr id="26" name="Text 23"/>
          <p:cNvSpPr txBox="1"/>
          <p:nvPr/>
        </p:nvSpPr>
        <p:spPr>
          <a:xfrm>
            <a:off x="9921240" y="1920240"/>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BED meeting dependence criteria (n = 79)</a:t>
            </a:r>
            <a:endParaRPr lang="en-US" sz="1100" dirty="0"/>
          </a:p>
        </p:txBody>
      </p:sp>
      <p:sp>
        <p:nvSpPr>
          <p:cNvPr id="27" name="Text 24"/>
          <p:cNvSpPr txBox="1"/>
          <p:nvPr/>
        </p:nvSpPr>
        <p:spPr>
          <a:xfrm>
            <a:off x="9921240" y="2432304"/>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Cassin 2007</a:t>
            </a:r>
            <a:endParaRPr lang="en-US" sz="1000" dirty="0"/>
          </a:p>
        </p:txBody>
      </p:sp>
      <p:sp>
        <p:nvSpPr>
          <p:cNvPr id="28" name="card_1011"/>
          <p:cNvSpPr/>
          <p:nvPr/>
        </p:nvSpPr>
        <p:spPr>
          <a:xfrm>
            <a:off x="548640"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29" name="Text 26"/>
          <p:cNvSpPr txBox="1"/>
          <p:nvPr/>
        </p:nvSpPr>
        <p:spPr>
          <a:xfrm>
            <a:off x="603504" y="2962656"/>
            <a:ext cx="1645920" cy="502920"/>
          </a:xfrm>
          <a:prstGeom prst="rect">
            <a:avLst/>
          </a:prstGeom>
          <a:noFill/>
          <a:ln/>
        </p:spPr>
        <p:txBody>
          <a:bodyPr wrap="square" lIns="0" tIns="0" rIns="0" bIns="0" rtlCol="0" anchor="ctr"/>
          <a:lstStyle/>
          <a:p>
            <a:pPr algn="ctr" indent="0" marL="0">
              <a:buNone/>
            </a:pPr>
            <a:r>
              <a:rPr lang="en-US" sz="2200" b="1" dirty="0">
                <a:solidFill>
                  <a:srgbClr val="B3393C"/>
                </a:solidFill>
                <a:latin typeface="Cambria" pitchFamily="34" charset="0"/>
                <a:ea typeface="Cambria" pitchFamily="34" charset="-122"/>
                <a:cs typeface="Cambria" pitchFamily="34" charset="-120"/>
              </a:rPr>
              <a:t>+508</a:t>
            </a:r>
            <a:endParaRPr lang="en-US" sz="2200" dirty="0"/>
          </a:p>
        </p:txBody>
      </p:sp>
      <p:sp>
        <p:nvSpPr>
          <p:cNvPr id="30" name="Text 27"/>
          <p:cNvSpPr txBox="1"/>
          <p:nvPr/>
        </p:nvSpPr>
        <p:spPr>
          <a:xfrm>
            <a:off x="640080"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kcal/day on the UPF diet</a:t>
            </a:r>
            <a:endParaRPr lang="en-US" sz="1100" dirty="0"/>
          </a:p>
        </p:txBody>
      </p:sp>
      <p:sp>
        <p:nvSpPr>
          <p:cNvPr id="31" name="Text 28"/>
          <p:cNvSpPr txBox="1"/>
          <p:nvPr/>
        </p:nvSpPr>
        <p:spPr>
          <a:xfrm>
            <a:off x="640080"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Hall 2019</a:t>
            </a:r>
            <a:endParaRPr lang="en-US" sz="1000" dirty="0"/>
          </a:p>
        </p:txBody>
      </p:sp>
      <p:sp>
        <p:nvSpPr>
          <p:cNvPr id="32" name="card_1012"/>
          <p:cNvSpPr/>
          <p:nvPr/>
        </p:nvSpPr>
        <p:spPr>
          <a:xfrm>
            <a:off x="2404872"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3" name="Text 30"/>
          <p:cNvSpPr txBox="1"/>
          <p:nvPr/>
        </p:nvSpPr>
        <p:spPr>
          <a:xfrm>
            <a:off x="2459736" y="2962656"/>
            <a:ext cx="1645920" cy="502920"/>
          </a:xfrm>
          <a:prstGeom prst="rect">
            <a:avLst/>
          </a:prstGeom>
          <a:noFill/>
          <a:ln/>
        </p:spPr>
        <p:txBody>
          <a:bodyPr wrap="square" lIns="0" tIns="0" rIns="0" bIns="0" rtlCol="0" anchor="ctr"/>
          <a:lstStyle/>
          <a:p>
            <a:pPr algn="ctr" indent="0" marL="0">
              <a:buNone/>
            </a:pPr>
            <a:r>
              <a:rPr lang="en-US" sz="1700" b="1" dirty="0">
                <a:solidFill>
                  <a:srgbClr val="B3393C"/>
                </a:solidFill>
                <a:latin typeface="Cambria" pitchFamily="34" charset="0"/>
                <a:ea typeface="Cambria" pitchFamily="34" charset="-122"/>
                <a:cs typeface="Cambria" pitchFamily="34" charset="-120"/>
              </a:rPr>
              <a:t>48 vs 31</a:t>
            </a:r>
            <a:endParaRPr lang="en-US" sz="1700" dirty="0"/>
          </a:p>
        </p:txBody>
      </p:sp>
      <p:sp>
        <p:nvSpPr>
          <p:cNvPr id="34" name="Text 31"/>
          <p:cNvSpPr txBox="1"/>
          <p:nvPr/>
        </p:nvSpPr>
        <p:spPr>
          <a:xfrm>
            <a:off x="2496312"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kcal/min eating rate, UPF vs minimal</a:t>
            </a:r>
            <a:endParaRPr lang="en-US" sz="1100" dirty="0"/>
          </a:p>
        </p:txBody>
      </p:sp>
      <p:sp>
        <p:nvSpPr>
          <p:cNvPr id="35" name="Text 32"/>
          <p:cNvSpPr txBox="1"/>
          <p:nvPr/>
        </p:nvSpPr>
        <p:spPr>
          <a:xfrm>
            <a:off x="2496312"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Hall 2019</a:t>
            </a:r>
            <a:endParaRPr lang="en-US" sz="1000" dirty="0"/>
          </a:p>
        </p:txBody>
      </p:sp>
      <p:sp>
        <p:nvSpPr>
          <p:cNvPr id="36" name="card_1013"/>
          <p:cNvSpPr/>
          <p:nvPr/>
        </p:nvSpPr>
        <p:spPr>
          <a:xfrm>
            <a:off x="4261104"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37" name="Text 34"/>
          <p:cNvSpPr txBox="1"/>
          <p:nvPr/>
        </p:nvSpPr>
        <p:spPr>
          <a:xfrm>
            <a:off x="4315968" y="2962656"/>
            <a:ext cx="1645920" cy="502920"/>
          </a:xfrm>
          <a:prstGeom prst="rect">
            <a:avLst/>
          </a:prstGeom>
          <a:noFill/>
          <a:ln/>
        </p:spPr>
        <p:txBody>
          <a:bodyPr wrap="square" lIns="0" tIns="0" rIns="0" bIns="0" rtlCol="0" anchor="ctr"/>
          <a:lstStyle/>
          <a:p>
            <a:pPr algn="ctr" indent="0" marL="0">
              <a:buNone/>
            </a:pPr>
            <a:r>
              <a:rPr lang="en-US" sz="1400" b="1" dirty="0">
                <a:solidFill>
                  <a:srgbClr val="3B7D5A"/>
                </a:solidFill>
                <a:latin typeface="Cambria" pitchFamily="34" charset="0"/>
                <a:ea typeface="Cambria" pitchFamily="34" charset="-122"/>
                <a:cs typeface="Cambria" pitchFamily="34" charset="-120"/>
              </a:rPr>
              <a:t>−2.06% · −1.05%</a:t>
            </a:r>
            <a:endParaRPr lang="en-US" sz="1400" dirty="0"/>
          </a:p>
        </p:txBody>
      </p:sp>
      <p:sp>
        <p:nvSpPr>
          <p:cNvPr id="38" name="Text 35"/>
          <p:cNvSpPr txBox="1"/>
          <p:nvPr/>
        </p:nvSpPr>
        <p:spPr>
          <a:xfrm>
            <a:off x="4352544"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weight change, minimal vs UPF diet</a:t>
            </a:r>
            <a:endParaRPr lang="en-US" sz="1100" dirty="0"/>
          </a:p>
        </p:txBody>
      </p:sp>
      <p:sp>
        <p:nvSpPr>
          <p:cNvPr id="39" name="Text 36"/>
          <p:cNvSpPr txBox="1"/>
          <p:nvPr/>
        </p:nvSpPr>
        <p:spPr>
          <a:xfrm>
            <a:off x="4352544"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Dicken 2025</a:t>
            </a:r>
            <a:endParaRPr lang="en-US" sz="1000" dirty="0"/>
          </a:p>
        </p:txBody>
      </p:sp>
      <p:sp>
        <p:nvSpPr>
          <p:cNvPr id="40" name="card_1014"/>
          <p:cNvSpPr/>
          <p:nvPr/>
        </p:nvSpPr>
        <p:spPr>
          <a:xfrm>
            <a:off x="6117336"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41" name="Text 38"/>
          <p:cNvSpPr txBox="1"/>
          <p:nvPr/>
        </p:nvSpPr>
        <p:spPr>
          <a:xfrm>
            <a:off x="6172200" y="2962656"/>
            <a:ext cx="1645920" cy="502920"/>
          </a:xfrm>
          <a:prstGeom prst="rect">
            <a:avLst/>
          </a:prstGeom>
          <a:noFill/>
          <a:ln/>
        </p:spPr>
        <p:txBody>
          <a:bodyPr wrap="square" lIns="0" tIns="0" rIns="0" bIns="0" rtlCol="0" anchor="ctr"/>
          <a:lstStyle/>
          <a:p>
            <a:pPr algn="ctr" indent="0" marL="0">
              <a:buNone/>
            </a:pPr>
            <a:r>
              <a:rPr lang="en-US" sz="2200" b="1" dirty="0">
                <a:solidFill>
                  <a:srgbClr val="1F3A5F"/>
                </a:solidFill>
                <a:latin typeface="Cambria" pitchFamily="34" charset="0"/>
                <a:ea typeface="Cambria" pitchFamily="34" charset="-122"/>
                <a:cs typeface="Cambria" pitchFamily="34" charset="-120"/>
              </a:rPr>
              <a:t>32 / 45</a:t>
            </a:r>
            <a:endParaRPr lang="en-US" sz="2200" dirty="0"/>
          </a:p>
        </p:txBody>
      </p:sp>
      <p:sp>
        <p:nvSpPr>
          <p:cNvPr id="42" name="Text 39"/>
          <p:cNvSpPr txBox="1"/>
          <p:nvPr/>
        </p:nvSpPr>
        <p:spPr>
          <a:xfrm>
            <a:off x="6208776"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outcomes with direct associations</a:t>
            </a:r>
            <a:endParaRPr lang="en-US" sz="1100" dirty="0"/>
          </a:p>
        </p:txBody>
      </p:sp>
      <p:sp>
        <p:nvSpPr>
          <p:cNvPr id="43" name="Text 40"/>
          <p:cNvSpPr txBox="1"/>
          <p:nvPr/>
        </p:nvSpPr>
        <p:spPr>
          <a:xfrm>
            <a:off x="6208776"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Lane 2024</a:t>
            </a:r>
            <a:endParaRPr lang="en-US" sz="1000" dirty="0"/>
          </a:p>
        </p:txBody>
      </p:sp>
      <p:sp>
        <p:nvSpPr>
          <p:cNvPr id="44" name="card_1015"/>
          <p:cNvSpPr/>
          <p:nvPr/>
        </p:nvSpPr>
        <p:spPr>
          <a:xfrm>
            <a:off x="7973568"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45" name="Text 42"/>
          <p:cNvSpPr txBox="1"/>
          <p:nvPr/>
        </p:nvSpPr>
        <p:spPr>
          <a:xfrm>
            <a:off x="8028432" y="2962656"/>
            <a:ext cx="1645920" cy="502920"/>
          </a:xfrm>
          <a:prstGeom prst="rect">
            <a:avLst/>
          </a:prstGeom>
          <a:noFill/>
          <a:ln/>
        </p:spPr>
        <p:txBody>
          <a:bodyPr wrap="square" lIns="0" tIns="0" rIns="0" bIns="0" rtlCol="0" anchor="ctr"/>
          <a:lstStyle/>
          <a:p>
            <a:pPr algn="ctr" indent="0" marL="0">
              <a:buNone/>
            </a:pPr>
            <a:r>
              <a:rPr lang="en-US" sz="1400" b="1" dirty="0">
                <a:solidFill>
                  <a:srgbClr val="1F3A5F"/>
                </a:solidFill>
                <a:latin typeface="Cambria" pitchFamily="34" charset="0"/>
                <a:ea typeface="Cambria" pitchFamily="34" charset="-122"/>
                <a:cs typeface="Cambria" pitchFamily="34" charset="-120"/>
              </a:rPr>
              <a:t>0 · 4 · 22 · 19</a:t>
            </a:r>
            <a:endParaRPr lang="en-US" sz="1400" dirty="0"/>
          </a:p>
        </p:txBody>
      </p:sp>
      <p:sp>
        <p:nvSpPr>
          <p:cNvPr id="46" name="Text 43"/>
          <p:cNvSpPr txBox="1"/>
          <p:nvPr/>
        </p:nvSpPr>
        <p:spPr>
          <a:xfrm>
            <a:off x="8065008"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GRADE high · moderate · low · very low</a:t>
            </a:r>
            <a:endParaRPr lang="en-US" sz="1100" dirty="0"/>
          </a:p>
        </p:txBody>
      </p:sp>
      <p:sp>
        <p:nvSpPr>
          <p:cNvPr id="47" name="Text 44"/>
          <p:cNvSpPr txBox="1"/>
          <p:nvPr/>
        </p:nvSpPr>
        <p:spPr>
          <a:xfrm>
            <a:off x="8065008"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Lane 2024</a:t>
            </a:r>
            <a:endParaRPr lang="en-US" sz="1000" dirty="0"/>
          </a:p>
        </p:txBody>
      </p:sp>
      <p:sp>
        <p:nvSpPr>
          <p:cNvPr id="48" name="card_1016"/>
          <p:cNvSpPr/>
          <p:nvPr/>
        </p:nvSpPr>
        <p:spPr>
          <a:xfrm>
            <a:off x="9829800" y="2871216"/>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49" name="Text 46"/>
          <p:cNvSpPr txBox="1"/>
          <p:nvPr/>
        </p:nvSpPr>
        <p:spPr>
          <a:xfrm>
            <a:off x="9884664" y="2962656"/>
            <a:ext cx="1645920" cy="502920"/>
          </a:xfrm>
          <a:prstGeom prst="rect">
            <a:avLst/>
          </a:prstGeom>
          <a:noFill/>
          <a:ln/>
        </p:spPr>
        <p:txBody>
          <a:bodyPr wrap="square" lIns="0" tIns="0" rIns="0" bIns="0" rtlCol="0" anchor="ctr"/>
          <a:lstStyle/>
          <a:p>
            <a:pPr algn="ctr" indent="0" marL="0">
              <a:buNone/>
            </a:pPr>
            <a:r>
              <a:rPr lang="en-US" sz="2200" b="1" dirty="0">
                <a:solidFill>
                  <a:srgbClr val="1F3A5F"/>
                </a:solidFill>
                <a:latin typeface="Cambria" pitchFamily="34" charset="0"/>
                <a:ea typeface="Cambria" pitchFamily="34" charset="-122"/>
                <a:cs typeface="Cambria" pitchFamily="34" charset="-120"/>
              </a:rPr>
              <a:t>HR 1.12</a:t>
            </a:r>
            <a:endParaRPr lang="en-US" sz="2200" dirty="0"/>
          </a:p>
        </p:txBody>
      </p:sp>
      <p:sp>
        <p:nvSpPr>
          <p:cNvPr id="50" name="Text 47"/>
          <p:cNvSpPr txBox="1"/>
          <p:nvPr/>
        </p:nvSpPr>
        <p:spPr>
          <a:xfrm>
            <a:off x="9921240" y="3493008"/>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cancer per +10% UPF energy</a:t>
            </a:r>
            <a:endParaRPr lang="en-US" sz="1100" dirty="0"/>
          </a:p>
        </p:txBody>
      </p:sp>
      <p:sp>
        <p:nvSpPr>
          <p:cNvPr id="51" name="Text 48"/>
          <p:cNvSpPr txBox="1"/>
          <p:nvPr/>
        </p:nvSpPr>
        <p:spPr>
          <a:xfrm>
            <a:off x="9921240" y="4005072"/>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Fiolet 2018</a:t>
            </a:r>
            <a:endParaRPr lang="en-US" sz="1000" dirty="0"/>
          </a:p>
        </p:txBody>
      </p:sp>
      <p:sp>
        <p:nvSpPr>
          <p:cNvPr id="52" name="card_1017"/>
          <p:cNvSpPr/>
          <p:nvPr/>
        </p:nvSpPr>
        <p:spPr>
          <a:xfrm>
            <a:off x="548640"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3" name="Text 50"/>
          <p:cNvSpPr txBox="1"/>
          <p:nvPr/>
        </p:nvSpPr>
        <p:spPr>
          <a:xfrm>
            <a:off x="603504" y="4535424"/>
            <a:ext cx="1645920" cy="502920"/>
          </a:xfrm>
          <a:prstGeom prst="rect">
            <a:avLst/>
          </a:prstGeom>
          <a:noFill/>
          <a:ln/>
        </p:spPr>
        <p:txBody>
          <a:bodyPr wrap="square" lIns="0" tIns="0" rIns="0" bIns="0" rtlCol="0" anchor="ctr"/>
          <a:lstStyle/>
          <a:p>
            <a:pPr algn="ctr" indent="0" marL="0">
              <a:buNone/>
            </a:pPr>
            <a:r>
              <a:rPr lang="en-US" sz="2200" b="1" dirty="0">
                <a:solidFill>
                  <a:srgbClr val="D88A1F"/>
                </a:solidFill>
                <a:latin typeface="Cambria" pitchFamily="34" charset="0"/>
                <a:ea typeface="Cambria" pitchFamily="34" charset="-122"/>
                <a:cs typeface="Cambria" pitchFamily="34" charset="-120"/>
              </a:rPr>
              <a:t>HR 1.28</a:t>
            </a:r>
            <a:endParaRPr lang="en-US" sz="2200" dirty="0"/>
          </a:p>
        </p:txBody>
      </p:sp>
      <p:sp>
        <p:nvSpPr>
          <p:cNvPr id="54" name="Text 51"/>
          <p:cNvSpPr txBox="1"/>
          <p:nvPr/>
        </p:nvSpPr>
        <p:spPr>
          <a:xfrm>
            <a:off x="640080"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prediabetes, top vs bottom tertile</a:t>
            </a:r>
            <a:endParaRPr lang="en-US" sz="1100" dirty="0"/>
          </a:p>
        </p:txBody>
      </p:sp>
      <p:sp>
        <p:nvSpPr>
          <p:cNvPr id="55" name="Text 52"/>
          <p:cNvSpPr txBox="1"/>
          <p:nvPr/>
        </p:nvSpPr>
        <p:spPr>
          <a:xfrm>
            <a:off x="640080"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Moslehi 2024</a:t>
            </a:r>
            <a:endParaRPr lang="en-US" sz="1000" dirty="0"/>
          </a:p>
        </p:txBody>
      </p:sp>
      <p:sp>
        <p:nvSpPr>
          <p:cNvPr id="56" name="card_1018"/>
          <p:cNvSpPr/>
          <p:nvPr/>
        </p:nvSpPr>
        <p:spPr>
          <a:xfrm>
            <a:off x="2404872"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57" name="Text 54"/>
          <p:cNvSpPr txBox="1"/>
          <p:nvPr/>
        </p:nvSpPr>
        <p:spPr>
          <a:xfrm>
            <a:off x="2459736" y="4535424"/>
            <a:ext cx="1645920" cy="502920"/>
          </a:xfrm>
          <a:prstGeom prst="rect">
            <a:avLst/>
          </a:prstGeom>
          <a:noFill/>
          <a:ln/>
        </p:spPr>
        <p:txBody>
          <a:bodyPr wrap="square" lIns="0" tIns="0" rIns="0" bIns="0" rtlCol="0" anchor="ctr"/>
          <a:lstStyle/>
          <a:p>
            <a:pPr algn="ctr" indent="0" marL="0">
              <a:buNone/>
            </a:pPr>
            <a:r>
              <a:rPr lang="en-US" sz="2200" b="1" dirty="0">
                <a:solidFill>
                  <a:srgbClr val="3B7D5A"/>
                </a:solidFill>
                <a:latin typeface="Cambria" pitchFamily="34" charset="0"/>
                <a:ea typeface="Cambria" pitchFamily="34" charset="-122"/>
                <a:cs typeface="Cambria" pitchFamily="34" charset="-120"/>
              </a:rPr>
              <a:t>−23.7%</a:t>
            </a:r>
            <a:endParaRPr lang="en-US" sz="2200" dirty="0"/>
          </a:p>
        </p:txBody>
      </p:sp>
      <p:sp>
        <p:nvSpPr>
          <p:cNvPr id="58" name="Text 55"/>
          <p:cNvSpPr txBox="1"/>
          <p:nvPr/>
        </p:nvSpPr>
        <p:spPr>
          <a:xfrm>
            <a:off x="2496312"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regulated beverage purchases, year 1</a:t>
            </a:r>
            <a:endParaRPr lang="en-US" sz="1100" dirty="0"/>
          </a:p>
        </p:txBody>
      </p:sp>
      <p:sp>
        <p:nvSpPr>
          <p:cNvPr id="59" name="Text 56"/>
          <p:cNvSpPr txBox="1"/>
          <p:nvPr/>
        </p:nvSpPr>
        <p:spPr>
          <a:xfrm>
            <a:off x="2496312"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Taillie 2020</a:t>
            </a:r>
            <a:endParaRPr lang="en-US" sz="1000" dirty="0"/>
          </a:p>
        </p:txBody>
      </p:sp>
      <p:sp>
        <p:nvSpPr>
          <p:cNvPr id="60" name="card_1019"/>
          <p:cNvSpPr/>
          <p:nvPr/>
        </p:nvSpPr>
        <p:spPr>
          <a:xfrm>
            <a:off x="4261104"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1" name="Text 58"/>
          <p:cNvSpPr txBox="1"/>
          <p:nvPr/>
        </p:nvSpPr>
        <p:spPr>
          <a:xfrm>
            <a:off x="4315968" y="4535424"/>
            <a:ext cx="1645920" cy="502920"/>
          </a:xfrm>
          <a:prstGeom prst="rect">
            <a:avLst/>
          </a:prstGeom>
          <a:noFill/>
          <a:ln/>
        </p:spPr>
        <p:txBody>
          <a:bodyPr wrap="square" lIns="0" tIns="0" rIns="0" bIns="0" rtlCol="0" anchor="ctr"/>
          <a:lstStyle/>
          <a:p>
            <a:pPr algn="ctr" indent="0" marL="0">
              <a:buNone/>
            </a:pPr>
            <a:r>
              <a:rPr lang="en-US" sz="2200" b="1" dirty="0">
                <a:solidFill>
                  <a:srgbClr val="3B7D5A"/>
                </a:solidFill>
                <a:latin typeface="Cambria" pitchFamily="34" charset="0"/>
                <a:ea typeface="Cambria" pitchFamily="34" charset="-122"/>
                <a:cs typeface="Cambria" pitchFamily="34" charset="-120"/>
              </a:rPr>
              <a:t>−36.8%</a:t>
            </a:r>
            <a:endParaRPr lang="en-US" sz="2200" dirty="0"/>
          </a:p>
        </p:txBody>
      </p:sp>
      <p:sp>
        <p:nvSpPr>
          <p:cNvPr id="62" name="Text 59"/>
          <p:cNvSpPr txBox="1"/>
          <p:nvPr/>
        </p:nvSpPr>
        <p:spPr>
          <a:xfrm>
            <a:off x="4352544"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sugar purchased, regulated products</a:t>
            </a:r>
            <a:endParaRPr lang="en-US" sz="1100" dirty="0"/>
          </a:p>
        </p:txBody>
      </p:sp>
      <p:sp>
        <p:nvSpPr>
          <p:cNvPr id="63" name="Text 60"/>
          <p:cNvSpPr txBox="1"/>
          <p:nvPr/>
        </p:nvSpPr>
        <p:spPr>
          <a:xfrm>
            <a:off x="4352544"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Taillie 2024</a:t>
            </a:r>
            <a:endParaRPr lang="en-US" sz="1000" dirty="0"/>
          </a:p>
        </p:txBody>
      </p:sp>
      <p:sp>
        <p:nvSpPr>
          <p:cNvPr id="64" name="card_1020"/>
          <p:cNvSpPr/>
          <p:nvPr/>
        </p:nvSpPr>
        <p:spPr>
          <a:xfrm>
            <a:off x="6117336"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5" name="Text 62"/>
          <p:cNvSpPr txBox="1"/>
          <p:nvPr/>
        </p:nvSpPr>
        <p:spPr>
          <a:xfrm>
            <a:off x="6172200" y="4535424"/>
            <a:ext cx="1645920" cy="502920"/>
          </a:xfrm>
          <a:prstGeom prst="rect">
            <a:avLst/>
          </a:prstGeom>
          <a:noFill/>
          <a:ln/>
        </p:spPr>
        <p:txBody>
          <a:bodyPr wrap="square" lIns="0" tIns="0" rIns="0" bIns="0" rtlCol="0" anchor="ctr"/>
          <a:lstStyle/>
          <a:p>
            <a:pPr algn="ctr" indent="0" marL="0">
              <a:buNone/>
            </a:pPr>
            <a:r>
              <a:rPr lang="en-US" sz="2200" b="1" dirty="0">
                <a:solidFill>
                  <a:srgbClr val="2A7A8C"/>
                </a:solidFill>
                <a:latin typeface="Cambria" pitchFamily="34" charset="0"/>
                <a:ea typeface="Cambria" pitchFamily="34" charset="-122"/>
                <a:cs typeface="Cambria" pitchFamily="34" charset="-120"/>
              </a:rPr>
              <a:t>−7.6%</a:t>
            </a:r>
            <a:endParaRPr lang="en-US" sz="2200" dirty="0"/>
          </a:p>
        </p:txBody>
      </p:sp>
      <p:sp>
        <p:nvSpPr>
          <p:cNvPr id="66" name="Text 63"/>
          <p:cNvSpPr txBox="1"/>
          <p:nvPr/>
        </p:nvSpPr>
        <p:spPr>
          <a:xfrm>
            <a:off x="6208776"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taxed beverages, two-year mean</a:t>
            </a:r>
            <a:endParaRPr lang="en-US" sz="1100" dirty="0"/>
          </a:p>
        </p:txBody>
      </p:sp>
      <p:sp>
        <p:nvSpPr>
          <p:cNvPr id="67" name="Text 64"/>
          <p:cNvSpPr txBox="1"/>
          <p:nvPr/>
        </p:nvSpPr>
        <p:spPr>
          <a:xfrm>
            <a:off x="6208776"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Colchero 2017</a:t>
            </a:r>
            <a:endParaRPr lang="en-US" sz="1000" dirty="0"/>
          </a:p>
        </p:txBody>
      </p:sp>
      <p:sp>
        <p:nvSpPr>
          <p:cNvPr id="68" name="card_1021"/>
          <p:cNvSpPr/>
          <p:nvPr/>
        </p:nvSpPr>
        <p:spPr>
          <a:xfrm>
            <a:off x="7973568"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69" name="Text 66"/>
          <p:cNvSpPr txBox="1"/>
          <p:nvPr/>
        </p:nvSpPr>
        <p:spPr>
          <a:xfrm>
            <a:off x="8028432" y="4535424"/>
            <a:ext cx="1645920" cy="502920"/>
          </a:xfrm>
          <a:prstGeom prst="rect">
            <a:avLst/>
          </a:prstGeom>
          <a:noFill/>
          <a:ln/>
        </p:spPr>
        <p:txBody>
          <a:bodyPr wrap="square" lIns="0" tIns="0" rIns="0" bIns="0" rtlCol="0" anchor="ctr"/>
          <a:lstStyle/>
          <a:p>
            <a:pPr algn="ctr" indent="0" marL="0">
              <a:buNone/>
            </a:pPr>
            <a:r>
              <a:rPr lang="en-US" sz="1700" b="1" dirty="0">
                <a:solidFill>
                  <a:srgbClr val="2A7A8C"/>
                </a:solidFill>
                <a:latin typeface="Cambria" pitchFamily="34" charset="0"/>
                <a:ea typeface="Cambria" pitchFamily="34" charset="-122"/>
                <a:cs typeface="Cambria" pitchFamily="34" charset="-120"/>
              </a:rPr>
              <a:t>−33.8 pp</a:t>
            </a:r>
            <a:endParaRPr lang="en-US" sz="1700" dirty="0"/>
          </a:p>
        </p:txBody>
      </p:sp>
      <p:sp>
        <p:nvSpPr>
          <p:cNvPr id="70" name="Text 67"/>
          <p:cNvSpPr txBox="1"/>
          <p:nvPr/>
        </p:nvSpPr>
        <p:spPr>
          <a:xfrm>
            <a:off x="8065008"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UK drinks above 5 g/100 mL</a:t>
            </a:r>
            <a:endParaRPr lang="en-US" sz="1100" dirty="0"/>
          </a:p>
        </p:txBody>
      </p:sp>
      <p:sp>
        <p:nvSpPr>
          <p:cNvPr id="71" name="Text 68"/>
          <p:cNvSpPr txBox="1"/>
          <p:nvPr/>
        </p:nvSpPr>
        <p:spPr>
          <a:xfrm>
            <a:off x="8065008"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Scarborough 2020</a:t>
            </a:r>
            <a:endParaRPr lang="en-US" sz="1000" dirty="0"/>
          </a:p>
        </p:txBody>
      </p:sp>
      <p:sp>
        <p:nvSpPr>
          <p:cNvPr id="72" name="card_1022"/>
          <p:cNvSpPr/>
          <p:nvPr/>
        </p:nvSpPr>
        <p:spPr>
          <a:xfrm>
            <a:off x="9829800" y="4443984"/>
            <a:ext cx="1755648" cy="1444752"/>
          </a:xfrm>
          <a:prstGeom prst="roundRect">
            <a:avLst>
              <a:gd name="adj" fmla="val 5063"/>
            </a:avLst>
          </a:prstGeom>
          <a:solidFill>
            <a:srgbClr val="FFFFFF"/>
          </a:solidFill>
          <a:ln w="9525">
            <a:solidFill>
              <a:srgbClr val="E1E6EC"/>
            </a:solidFill>
            <a:prstDash val="solid"/>
          </a:ln>
          <a:effectLst>
            <a:outerShdw sx="100000" sy="100000" kx="0" ky="0" algn="bl" rotWithShape="0" blurRad="114300" dist="31750" dir="5400000">
              <a:srgbClr val="1B1F24">
                <a:alpha val="14000"/>
              </a:srgbClr>
            </a:outerShdw>
          </a:effectLst>
        </p:spPr>
      </p:sp>
      <p:sp>
        <p:nvSpPr>
          <p:cNvPr id="73" name="Text 70"/>
          <p:cNvSpPr txBox="1"/>
          <p:nvPr/>
        </p:nvSpPr>
        <p:spPr>
          <a:xfrm>
            <a:off x="9884664" y="4535424"/>
            <a:ext cx="1645920" cy="502920"/>
          </a:xfrm>
          <a:prstGeom prst="rect">
            <a:avLst/>
          </a:prstGeom>
          <a:noFill/>
          <a:ln/>
        </p:spPr>
        <p:txBody>
          <a:bodyPr wrap="square" lIns="0" tIns="0" rIns="0" bIns="0" rtlCol="0" anchor="ctr"/>
          <a:lstStyle/>
          <a:p>
            <a:pPr algn="ctr" indent="0" marL="0">
              <a:buNone/>
            </a:pPr>
            <a:r>
              <a:rPr lang="en-US" sz="1700" b="1" dirty="0">
                <a:solidFill>
                  <a:srgbClr val="2A7A8C"/>
                </a:solidFill>
                <a:latin typeface="Cambria" pitchFamily="34" charset="0"/>
                <a:ea typeface="Cambria" pitchFamily="34" charset="-122"/>
                <a:cs typeface="Cambria" pitchFamily="34" charset="-120"/>
              </a:rPr>
              <a:t>−44% · −58%</a:t>
            </a:r>
            <a:endParaRPr lang="en-US" sz="1700" dirty="0"/>
          </a:p>
        </p:txBody>
      </p:sp>
      <p:sp>
        <p:nvSpPr>
          <p:cNvPr id="74" name="Text 71"/>
          <p:cNvSpPr txBox="1"/>
          <p:nvPr/>
        </p:nvSpPr>
        <p:spPr>
          <a:xfrm>
            <a:off x="9921240" y="5065776"/>
            <a:ext cx="1572768" cy="502920"/>
          </a:xfrm>
          <a:prstGeom prst="rect">
            <a:avLst/>
          </a:prstGeom>
          <a:noFill/>
          <a:ln/>
        </p:spPr>
        <p:txBody>
          <a:bodyPr wrap="square" lIns="0" tIns="0" rIns="0" bIns="0" rtlCol="0" anchor="t"/>
          <a:lstStyle/>
          <a:p>
            <a:pPr algn="ctr" indent="0" marL="0">
              <a:buNone/>
            </a:pPr>
            <a:r>
              <a:rPr lang="en-US" sz="1100" dirty="0">
                <a:solidFill>
                  <a:srgbClr val="1B1F24"/>
                </a:solidFill>
                <a:latin typeface="Calibri" pitchFamily="34" charset="0"/>
                <a:ea typeface="Calibri" pitchFamily="34" charset="-122"/>
                <a:cs typeface="Calibri" pitchFamily="34" charset="-120"/>
              </a:rPr>
              <a:t>TV ad exposure, preschool · teens</a:t>
            </a:r>
            <a:endParaRPr lang="en-US" sz="1100" dirty="0"/>
          </a:p>
        </p:txBody>
      </p:sp>
      <p:sp>
        <p:nvSpPr>
          <p:cNvPr id="75" name="Text 72"/>
          <p:cNvSpPr txBox="1"/>
          <p:nvPr/>
        </p:nvSpPr>
        <p:spPr>
          <a:xfrm>
            <a:off x="9921240" y="5577840"/>
            <a:ext cx="1572768" cy="237744"/>
          </a:xfrm>
          <a:prstGeom prst="rect">
            <a:avLst/>
          </a:prstGeom>
          <a:noFill/>
          <a:ln/>
        </p:spPr>
        <p:txBody>
          <a:bodyPr wrap="square" lIns="0" tIns="0" rIns="0" bIns="0" rtlCol="0" anchor="t"/>
          <a:lstStyle/>
          <a:p>
            <a:pPr algn="ctr" indent="0" marL="0">
              <a:buNone/>
            </a:pPr>
            <a:r>
              <a:rPr lang="en-US" sz="1000" i="1" dirty="0">
                <a:solidFill>
                  <a:srgbClr val="7A8591"/>
                </a:solidFill>
                <a:latin typeface="Calibri" pitchFamily="34" charset="0"/>
                <a:ea typeface="Calibri" pitchFamily="34" charset="-122"/>
                <a:cs typeface="Calibri" pitchFamily="34" charset="-120"/>
              </a:rPr>
              <a:t>Dillman Carpentier 2020</a:t>
            </a:r>
            <a:endParaRPr lang="en-US" sz="1000" dirty="0"/>
          </a:p>
        </p:txBody>
      </p:sp>
      <p:sp>
        <p:nvSpPr>
          <p:cNvPr id="76" name="Text 73"/>
          <p:cNvSpPr txBox="1"/>
          <p:nvPr/>
        </p:nvSpPr>
        <p:spPr>
          <a:xfrm>
            <a:off x="548640" y="6053328"/>
            <a:ext cx="11064240" cy="292608"/>
          </a:xfrm>
          <a:prstGeom prst="rect">
            <a:avLst/>
          </a:prstGeom>
          <a:noFill/>
          <a:ln/>
        </p:spPr>
        <p:txBody>
          <a:bodyPr wrap="square" lIns="0" tIns="0" rIns="0" bIns="0" rtlCol="0" anchor="b"/>
          <a:lstStyle/>
          <a:p>
            <a:pPr indent="0" marL="0">
              <a:buNone/>
            </a:pPr>
            <a:r>
              <a:rPr lang="en-US" sz="1000" i="1" dirty="0">
                <a:solidFill>
                  <a:srgbClr val="7A8591"/>
                </a:solidFill>
                <a:latin typeface="Calibri" pitchFamily="34" charset="0"/>
                <a:ea typeface="Calibri" pitchFamily="34" charset="-122"/>
                <a:cs typeface="Calibri" pitchFamily="34" charset="-120"/>
              </a:rPr>
              <a:t>Descriptive figures from different designs and populations: compare with care.</a:t>
            </a:r>
            <a:endParaRPr lang="en-US" sz="1000" dirty="0"/>
          </a:p>
        </p:txBody>
      </p:sp>
      <p:sp>
        <p:nvSpPr>
          <p:cNvPr id="25" name="Slide Number Placeholder 0"/>
          <p:cNvSpPr>
            <a:spLocks noGrp="1"/>
          </p:cNvSpPr>
          <p:nvPr>
            <p:ph type="sldNum" sz="quarter" idx="4294967295"/>
          </p:nvPr>
        </p:nvSpPr>
        <p:spPr>
          <a:xfrm>
            <a:off x="11155680" y="6400800"/>
            <a:ext cx="50292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7A8591"/>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transition spd="med">
    <p:fade/>
  </p:transition>
</p:sld>
</file>

<file path=ppt/theme/theme1.xml><?xml version="1.0" encoding="utf-8"?>
<a:theme xmlns:a="http://schemas.openxmlformats.org/drawingml/2006/main" name="UPF Seminar">
  <a:themeElements>
    <a:clrScheme name="UPF Seminar">
      <a:dk1>
        <a:srgbClr val="1B1F24"/>
      </a:dk1>
      <a:lt1>
        <a:srgbClr val="FFFFFF"/>
      </a:lt1>
      <a:dk2>
        <a:srgbClr val="1F3A5F"/>
      </a:dk2>
      <a:lt2>
        <a:srgbClr val="EEF2F6"/>
      </a:lt2>
      <a:accent1>
        <a:srgbClr val="B3393C"/>
      </a:accent1>
      <a:accent2>
        <a:srgbClr val="2A7A8C"/>
      </a:accent2>
      <a:accent3>
        <a:srgbClr val="D88A1F"/>
      </a:accent3>
      <a:accent4>
        <a:srgbClr val="3B7D5A"/>
      </a:accent4>
      <a:accent5>
        <a:srgbClr val="6A4C93"/>
      </a:accent5>
      <a:accent6>
        <a:srgbClr val="5B6B8C"/>
      </a:accent6>
      <a:hlink>
        <a:srgbClr val="2A7A8C"/>
      </a:hlink>
      <a:folHlink>
        <a:srgbClr val="6A4C93"/>
      </a:folHlink>
    </a:clrScheme>
    <a:fontScheme name="UPF Semin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Tehran University of Medical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Ultra-Processed Foods and Addictive-Like Eating Behaviors</dc:title>
  <dc:subject>Seminar - School of Nutritional Sciences and Dietetics</dc:subject>
  <dc:creator>Yasmin Ayatollahi</dc:creator>
  <cp:lastModifiedBy>Yasmin Ayatollahi</cp:lastModifiedBy>
  <cp:revision>1</cp:revision>
  <dcterms:created xsi:type="dcterms:W3CDTF">2026-10-03T23:05:03Z</dcterms:created>
  <dcterms:modified xsi:type="dcterms:W3CDTF">2026-10-03T23:05:03Z</dcterms:modified>
</cp:coreProperties>
</file>